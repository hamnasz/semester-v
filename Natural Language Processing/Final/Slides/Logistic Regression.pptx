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3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8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4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28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3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8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81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0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2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7CF49-97B2-4914-8293-F2B3F5C30E9F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5E12A-212F-4984-8D5F-1107EA75B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8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rivative-of-the-sigmoid-function/" TargetMode="External"/><Relationship Id="rId2" Type="http://schemas.openxmlformats.org/officeDocument/2006/relationships/hyperlink" Target="https://www.geeksforgeeks.org/getting-started-with-classifica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ml-linear-regression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rivative-of-the-sigmoid-function/" TargetMode="External"/><Relationship Id="rId2" Type="http://schemas.openxmlformats.org/officeDocument/2006/relationships/hyperlink" Target="https://www.geeksforgeeks.org/ml-linear-regressio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robability-gq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recision-recall-and-f1-score-using-r/" TargetMode="External"/><Relationship Id="rId2" Type="http://schemas.openxmlformats.org/officeDocument/2006/relationships/hyperlink" Target="https://www.geeksforgeeks.org/techniques-to-evaluate-accuracy-of-classifier-in-data-min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f1-score-in-machine-learning/" TargetMode="External"/><Relationship Id="rId2" Type="http://schemas.openxmlformats.org/officeDocument/2006/relationships/hyperlink" Target="https://www.geeksforgeeks.org/precision-and-recall-in-information-retrieval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1493" y="3509963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0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9138"/>
          </a:xfrm>
        </p:spPr>
        <p:txBody>
          <a:bodyPr/>
          <a:lstStyle/>
          <a:p>
            <a:r>
              <a:rPr lang="en-US" b="1" dirty="0"/>
              <a:t>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Logistic regression is used for binary </a:t>
            </a:r>
            <a:r>
              <a:rPr lang="en-US" u="sng" dirty="0">
                <a:hlinkClick r:id="rId2"/>
              </a:rPr>
              <a:t>classification</a:t>
            </a:r>
            <a:r>
              <a:rPr lang="en-US" dirty="0"/>
              <a:t> where we use </a:t>
            </a:r>
            <a:r>
              <a:rPr lang="en-US" u="sng" dirty="0">
                <a:hlinkClick r:id="rId3"/>
              </a:rPr>
              <a:t>sigmoid function</a:t>
            </a:r>
            <a:r>
              <a:rPr lang="en-US" dirty="0"/>
              <a:t>, that takes input as independent variables and produces a probability value between 0 and 1.</a:t>
            </a:r>
          </a:p>
          <a:p>
            <a:pPr algn="just"/>
            <a:r>
              <a:rPr lang="en-US" dirty="0"/>
              <a:t>For example, we have two classes Class 0 and Class 1 if the value of the logistic function for an input is greater than 0.5 (threshold value) then it belongs to Class 1 otherwise it belongs to Class 0. It’s referred to as regression because it is the extension of</a:t>
            </a:r>
            <a:r>
              <a:rPr lang="en-US" u="sng" dirty="0">
                <a:hlinkClick r:id="rId4"/>
              </a:rPr>
              <a:t> linear regression</a:t>
            </a:r>
            <a:r>
              <a:rPr lang="en-US" dirty="0"/>
              <a:t> but is mainly used for classification problems.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1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Function – Sigmoid </a:t>
            </a:r>
            <a:r>
              <a:rPr lang="en-US" b="1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US" dirty="0"/>
              <a:t>The sigmoid function is a mathematical function used to map the predicted values to probabilities.</a:t>
            </a:r>
          </a:p>
          <a:p>
            <a:pPr lvl="0" algn="just"/>
            <a:r>
              <a:rPr lang="en-US" dirty="0"/>
              <a:t>It maps any real value into another value within a range of 0 and 1. The value of the logistic regression must be between 0 and 1, which cannot go beyond this limit, so it forms a curve like the “S” form.</a:t>
            </a:r>
          </a:p>
          <a:p>
            <a:pPr lvl="0" algn="just"/>
            <a:r>
              <a:rPr lang="en-US" dirty="0"/>
              <a:t>The S-form curve is called the Sigmoid function or the logistic function.</a:t>
            </a:r>
          </a:p>
          <a:p>
            <a:pPr lvl="0" algn="just"/>
            <a:r>
              <a:rPr lang="en-US" dirty="0"/>
              <a:t>In logistic regression, we use the concept of the threshold value, which defines the probability of either 0 or 1. Such as values above the threshold value tends to 1, and a value below the threshold values tends to 0.</a:t>
            </a:r>
          </a:p>
        </p:txBody>
      </p:sp>
    </p:spTree>
    <p:extLst>
      <p:ext uri="{BB962C8B-B14F-4D97-AF65-F5344CB8AC3E}">
        <p14:creationId xmlns:p14="http://schemas.microsoft.com/office/powerpoint/2010/main" val="343316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of a logistic regression formula and </a:t>
            </a:r>
            <a:r>
              <a:rPr lang="en-US" b="1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logistic regression model uses the logistic function to predict the probability of the occurrence of an event based on the values of the independent variables. Examples include predicting if a crack greater than a certain size will occur in a manufactured specimen, if a student will pass or fail a test, or if a survey respondent will select yes or no on a survey.</a:t>
            </a:r>
          </a:p>
          <a:p>
            <a:r>
              <a:rPr lang="en-US" dirty="0"/>
              <a:t>The probability is calculated using the logistic function, also known as the sigmoid function, which ensures that the output is bounded between 0 and 1.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41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719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of a logistic regression formula and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An example of a logistic function formula can be the following.</a:t>
            </a:r>
          </a:p>
          <a:p>
            <a:pPr marL="0" indent="0">
              <a:buNone/>
            </a:pPr>
            <a:r>
              <a:rPr lang="en-US" dirty="0"/>
              <a:t>                      P = 1 ÷ (1 + e^ − (a + </a:t>
            </a:r>
            <a:r>
              <a:rPr lang="en-US" dirty="0" err="1"/>
              <a:t>bx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Here is what each variable stands for in this logistic regression equation:</a:t>
            </a:r>
          </a:p>
          <a:p>
            <a:pPr lvl="0"/>
            <a:r>
              <a:rPr lang="en-US" dirty="0"/>
              <a:t>P is the probability of the dependent variable being 1.</a:t>
            </a:r>
          </a:p>
          <a:p>
            <a:pPr lvl="0"/>
            <a:r>
              <a:rPr lang="en-US" dirty="0"/>
              <a:t>e is the base of the natural logarithm.</a:t>
            </a:r>
          </a:p>
          <a:p>
            <a:pPr lvl="0"/>
            <a:r>
              <a:rPr lang="en-US" dirty="0"/>
              <a:t>a is the intercept or the bias term.</a:t>
            </a:r>
          </a:p>
          <a:p>
            <a:pPr lvl="0"/>
            <a:r>
              <a:rPr lang="en-US" dirty="0"/>
              <a:t>b is the coefficient for the independent variable.</a:t>
            </a:r>
          </a:p>
          <a:p>
            <a:pPr lvl="0"/>
            <a:r>
              <a:rPr lang="en-US" dirty="0"/>
              <a:t>x is the value of the independent variable.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59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Logistic </a:t>
            </a:r>
            <a:r>
              <a:rPr lang="en-US" b="1" dirty="0" smtClean="0"/>
              <a:t>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On the basis of the categories, Logistic Regression can be classified into three types:</a:t>
            </a:r>
          </a:p>
          <a:p>
            <a:pPr marL="0" lvl="0" indent="0">
              <a:buNone/>
            </a:pPr>
            <a:r>
              <a:rPr lang="en-US" b="1" dirty="0"/>
              <a:t>Binomial:</a:t>
            </a:r>
            <a:r>
              <a:rPr lang="en-US" dirty="0"/>
              <a:t> In binomial Logistic regression, there can be only two possible types of the dependent variables, such as 0 or 1, Pass or Fail, etc.</a:t>
            </a:r>
          </a:p>
          <a:p>
            <a:pPr marL="0" lvl="0" indent="0">
              <a:buNone/>
            </a:pPr>
            <a:r>
              <a:rPr lang="en-US" b="1" dirty="0"/>
              <a:t>Multinomial:</a:t>
            </a:r>
            <a:r>
              <a:rPr lang="en-US" dirty="0"/>
              <a:t> In multinomial Logistic regression, there can be 3 or more possible unordered types of the dependent variable, such as “cat”, “dogs”, or “sheep”</a:t>
            </a:r>
          </a:p>
          <a:p>
            <a:pPr marL="0" lvl="0" indent="0">
              <a:buNone/>
            </a:pPr>
            <a:r>
              <a:rPr lang="en-US" b="1" dirty="0"/>
              <a:t>Ordinal: </a:t>
            </a:r>
            <a:r>
              <a:rPr lang="en-US" dirty="0"/>
              <a:t>In ordinal Logistic regression, there can be 3 or more possible ordered types of dependent variables, such as “low”, “Medium”, or “High”.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87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Logistic Regression work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logistic regression model transforms the </a:t>
            </a:r>
            <a:r>
              <a:rPr lang="en-US" u="sng" dirty="0">
                <a:hlinkClick r:id="rId2"/>
              </a:rPr>
              <a:t>linear regression</a:t>
            </a:r>
            <a:r>
              <a:rPr lang="en-US" dirty="0"/>
              <a:t> function continuous value output into categorical value output using a sigmoid function, which maps any real-valued set of independent variables input into a value between 0 and 1. This function is known as the logistic function.</a:t>
            </a:r>
          </a:p>
          <a:p>
            <a:pPr marL="0" indent="0">
              <a:buNone/>
            </a:pPr>
            <a:r>
              <a:rPr lang="en-US" b="1" dirty="0"/>
              <a:t>Sigmoid Function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Now we use the </a:t>
            </a:r>
            <a:r>
              <a:rPr lang="en-US" u="sng" dirty="0">
                <a:hlinkClick r:id="rId3"/>
              </a:rPr>
              <a:t>sigmoid function</a:t>
            </a:r>
            <a:r>
              <a:rPr lang="en-US" dirty="0"/>
              <a:t> where the input will be z and we find the probability between 0 and 1. i.e. predicted y.</a:t>
            </a:r>
          </a:p>
          <a:p>
            <a:pPr marL="0" indent="0">
              <a:buNone/>
            </a:pPr>
            <a:r>
              <a:rPr lang="en-US" smtClean="0"/>
              <a:t>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08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igmoid function - Geeksforgeeks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83341"/>
            <a:ext cx="10223809" cy="3792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466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 dirty="0"/>
              <a:t>Sigmoid function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As shown above, the figure sigmoid function converts the continuous variable data into the </a:t>
            </a:r>
            <a:r>
              <a:rPr lang="en-US" u="sng" dirty="0">
                <a:hlinkClick r:id="rId2"/>
              </a:rPr>
              <a:t>probability</a:t>
            </a:r>
            <a:r>
              <a:rPr lang="en-US" dirty="0"/>
              <a:t> i.e. between 0 and 1. </a:t>
            </a:r>
          </a:p>
          <a:p>
            <a:r>
              <a:rPr lang="en-US" dirty="0"/>
              <a:t> </a:t>
            </a:r>
            <a:r>
              <a:rPr lang="en-US" i="1" dirty="0"/>
              <a:t>σ</a:t>
            </a:r>
            <a:r>
              <a:rPr lang="en-US" dirty="0"/>
              <a:t>(</a:t>
            </a:r>
            <a:r>
              <a:rPr lang="en-US" i="1" dirty="0"/>
              <a:t>z</a:t>
            </a:r>
            <a:r>
              <a:rPr lang="en-US" dirty="0"/>
              <a:t>)  tends towards 1 as </a:t>
            </a:r>
            <a:r>
              <a:rPr lang="en-US" i="1" dirty="0"/>
              <a:t>z</a:t>
            </a:r>
            <a:r>
              <a:rPr lang="en-US" dirty="0"/>
              <a:t>→∞</a:t>
            </a:r>
          </a:p>
          <a:p>
            <a:r>
              <a:rPr lang="en-US" dirty="0"/>
              <a:t> </a:t>
            </a:r>
            <a:r>
              <a:rPr lang="en-US" i="1" dirty="0"/>
              <a:t>σ</a:t>
            </a:r>
            <a:r>
              <a:rPr lang="en-US" dirty="0"/>
              <a:t>(</a:t>
            </a:r>
            <a:r>
              <a:rPr lang="en-US" i="1" dirty="0"/>
              <a:t>z</a:t>
            </a:r>
            <a:r>
              <a:rPr lang="en-US" dirty="0"/>
              <a:t>)  tends towards 0 as </a:t>
            </a:r>
            <a:r>
              <a:rPr lang="en-US" i="1" dirty="0"/>
              <a:t>z</a:t>
            </a:r>
            <a:r>
              <a:rPr lang="en-US" dirty="0"/>
              <a:t>→−∞</a:t>
            </a:r>
          </a:p>
          <a:p>
            <a:r>
              <a:rPr lang="en-US" i="1" dirty="0"/>
              <a:t>σ</a:t>
            </a:r>
            <a:r>
              <a:rPr lang="en-US" dirty="0"/>
              <a:t>(</a:t>
            </a:r>
            <a:r>
              <a:rPr lang="en-US" i="1" dirty="0"/>
              <a:t>z</a:t>
            </a:r>
            <a:r>
              <a:rPr lang="en-US" dirty="0"/>
              <a:t>)  is always bounded between 0 and 1</a:t>
            </a:r>
          </a:p>
          <a:p>
            <a:pPr marL="0" indent="0">
              <a:buNone/>
            </a:pPr>
            <a:r>
              <a:rPr lang="en-US" dirty="0"/>
              <a:t>where the probability of being a class can be measured as:</a:t>
            </a:r>
          </a:p>
          <a:p>
            <a:pPr marL="0" indent="0">
              <a:buNone/>
            </a:pPr>
            <a:r>
              <a:rPr lang="en-US" dirty="0"/>
              <a:t>P(y=1)=σ(z) </a:t>
            </a:r>
          </a:p>
          <a:p>
            <a:pPr marL="0" indent="0">
              <a:buNone/>
            </a:pPr>
            <a:r>
              <a:rPr lang="en-US" dirty="0"/>
              <a:t>P(y=0)=1−σ(z)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1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Evaluate Logistic Regression Model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evaluate the logistic regression model using the following metrics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Accuracy</a:t>
            </a:r>
            <a:r>
              <a:rPr lang="en-US" dirty="0"/>
              <a:t>:</a:t>
            </a:r>
            <a:r>
              <a:rPr lang="en-US" u="sng" dirty="0">
                <a:hlinkClick r:id="rId2"/>
              </a:rPr>
              <a:t> Accuracy</a:t>
            </a:r>
            <a:r>
              <a:rPr lang="en-US" dirty="0"/>
              <a:t> provides the proportion of correctly classified instances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Precision:</a:t>
            </a:r>
            <a:r>
              <a:rPr lang="en-US" dirty="0"/>
              <a:t> </a:t>
            </a:r>
            <a:r>
              <a:rPr lang="en-US" u="sng" dirty="0">
                <a:hlinkClick r:id="rId3"/>
              </a:rPr>
              <a:t>Precision</a:t>
            </a:r>
            <a:r>
              <a:rPr lang="en-US" dirty="0"/>
              <a:t> focuses on the accuracy of positive predictions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4391025" y="3378821"/>
            <a:ext cx="5109814" cy="88094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4428172" y="4589715"/>
            <a:ext cx="4838491" cy="106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15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Recall (Sensitivity or True Positive Rate</a:t>
            </a:r>
            <a:r>
              <a:rPr lang="en-US" dirty="0"/>
              <a:t>): </a:t>
            </a:r>
            <a:r>
              <a:rPr lang="en-US" u="sng" dirty="0" smtClean="0">
                <a:hlinkClick r:id="rId2"/>
              </a:rPr>
              <a:t>Recall</a:t>
            </a:r>
            <a:r>
              <a:rPr lang="en-US" dirty="0"/>
              <a:t> measures </a:t>
            </a:r>
            <a:r>
              <a:rPr lang="en-US" dirty="0" smtClean="0"/>
              <a:t>the proportion of correctly predicted positive instances among all actual positive instances.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F1 Score</a:t>
            </a:r>
            <a:r>
              <a:rPr lang="en-US" dirty="0"/>
              <a:t>: </a:t>
            </a:r>
            <a:r>
              <a:rPr lang="en-US" u="sng" dirty="0">
                <a:hlinkClick r:id="rId3"/>
              </a:rPr>
              <a:t>F1 score</a:t>
            </a:r>
            <a:r>
              <a:rPr lang="en-US" dirty="0"/>
              <a:t> is the harmonic mean of precision and recall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3757962" y="3128962"/>
            <a:ext cx="5163014" cy="85202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4148254" y="4661210"/>
            <a:ext cx="3813717" cy="60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9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Use </a:t>
            </a:r>
            <a:r>
              <a:rPr lang="en-US" b="1" dirty="0" smtClean="0"/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Healthcare</a:t>
            </a:r>
            <a:r>
              <a:rPr lang="en-US" b="1" dirty="0"/>
              <a:t>:</a:t>
            </a:r>
            <a:r>
              <a:rPr lang="en-US" dirty="0"/>
              <a:t> Predicting the likelihood of a patient having a disease.</a:t>
            </a:r>
          </a:p>
          <a:p>
            <a:pPr marL="0" indent="0">
              <a:buNone/>
            </a:pPr>
            <a:r>
              <a:rPr lang="en-US" b="1" dirty="0"/>
              <a:t>Finance:</a:t>
            </a:r>
            <a:r>
              <a:rPr lang="en-US" dirty="0"/>
              <a:t> Identifying potential loan defaulters.</a:t>
            </a:r>
          </a:p>
          <a:p>
            <a:pPr marL="0" indent="0">
              <a:buNone/>
            </a:pPr>
            <a:r>
              <a:rPr lang="en-US" b="1" dirty="0"/>
              <a:t>E-commerce:</a:t>
            </a:r>
            <a:r>
              <a:rPr lang="en-US" dirty="0"/>
              <a:t> Predicting whether a customer will make a purchase.</a:t>
            </a:r>
          </a:p>
          <a:p>
            <a:pPr marL="0" indent="0">
              <a:buNone/>
            </a:pPr>
            <a:r>
              <a:rPr lang="en-US" b="1" dirty="0"/>
              <a:t>Social Media:</a:t>
            </a:r>
            <a:r>
              <a:rPr lang="en-US" dirty="0"/>
              <a:t> Determining whether a post will go viral.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89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Logistic Regression is a fundamental tool for binary classification problems.</a:t>
            </a:r>
          </a:p>
          <a:p>
            <a:pPr marL="0" indent="0" algn="just">
              <a:buNone/>
            </a:pPr>
            <a:r>
              <a:rPr lang="en-US" dirty="0"/>
              <a:t>It outputs probabilities and is easy to interpret.</a:t>
            </a:r>
          </a:p>
          <a:p>
            <a:pPr marL="0" indent="0" algn="just">
              <a:buNone/>
            </a:pPr>
            <a:r>
              <a:rPr lang="en-US" dirty="0"/>
              <a:t>Proper preprocessing and evaluation are essential for effective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24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493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Logistic Regression</vt:lpstr>
      <vt:lpstr>Logistic Regression</vt:lpstr>
      <vt:lpstr>Logistic Function – Sigmoid Function</vt:lpstr>
      <vt:lpstr>Example of a logistic regression formula and model</vt:lpstr>
      <vt:lpstr>Example of a logistic regression formula and model</vt:lpstr>
      <vt:lpstr>Types of Logistic Regression</vt:lpstr>
      <vt:lpstr>How does Logistic Regression work?</vt:lpstr>
      <vt:lpstr>PowerPoint Presentation</vt:lpstr>
      <vt:lpstr>PowerPoint Presentation</vt:lpstr>
      <vt:lpstr>How to Evaluate Logistic Regression Model?</vt:lpstr>
      <vt:lpstr>PowerPoint Presentation</vt:lpstr>
      <vt:lpstr>Real-World Use Cases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</dc:title>
  <dc:creator>Ms Amna</dc:creator>
  <cp:lastModifiedBy>Muhammad javed</cp:lastModifiedBy>
  <cp:revision>7</cp:revision>
  <dcterms:created xsi:type="dcterms:W3CDTF">2023-10-25T05:51:44Z</dcterms:created>
  <dcterms:modified xsi:type="dcterms:W3CDTF">2024-12-23T11:31:42Z</dcterms:modified>
</cp:coreProperties>
</file>