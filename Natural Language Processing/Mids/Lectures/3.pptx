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  <p:sldMasterId id="2147483709" r:id="rId2"/>
  </p:sldMasterIdLst>
  <p:notesMasterIdLst>
    <p:notesMasterId r:id="rId16"/>
  </p:notesMasterIdLst>
  <p:sldIdLst>
    <p:sldId id="292" r:id="rId3"/>
    <p:sldId id="293" r:id="rId4"/>
    <p:sldId id="294" r:id="rId5"/>
    <p:sldId id="295" r:id="rId6"/>
    <p:sldId id="296" r:id="rId7"/>
    <p:sldId id="297" r:id="rId8"/>
    <p:sldId id="308" r:id="rId9"/>
    <p:sldId id="260" r:id="rId10"/>
    <p:sldId id="301" r:id="rId11"/>
    <p:sldId id="302" r:id="rId12"/>
    <p:sldId id="304" r:id="rId13"/>
    <p:sldId id="305" r:id="rId14"/>
    <p:sldId id="307" r:id="rId15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3238" autoAdjust="0"/>
  </p:normalViewPr>
  <p:slideViewPr>
    <p:cSldViewPr>
      <p:cViewPr varScale="1">
        <p:scale>
          <a:sx n="107" d="100"/>
          <a:sy n="107" d="100"/>
        </p:scale>
        <p:origin x="1734" y="9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10" Type="http://schemas.openxmlformats.org/officeDocument/2006/relationships/slide" Target="slides/slide8.xml"/><Relationship Id="rId19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DDC1DD3-2DEE-4E76-A807-837860728F7D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CDF6158-E14D-46BD-8EDB-6C7D957D1B4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45704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8F304D-9FBF-4B4D-AB5C-790149BB44A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0C0F5D-325B-4660-8632-EBB9EC084D3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FBC7CD5-CB98-4F1C-8F4E-14A8F9EE18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A69AAB-D032-4740-999C-6FECB3BEC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1F2CE2C-3FF8-4ED5-9A0F-6E35B87E8B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32143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D11BF5-D802-48A8-8681-E64C843E46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D563E54-C420-46A7-95A3-D26D99CE95B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9E21E6C-72DA-4925-94EE-0D245623B7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316D8A9-019D-413B-8A1E-F14D6EE3561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50099F-8C38-444A-A7F8-21336A623D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59640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0B43EB3-C47B-49A1-BB67-347B61A6D7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9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E9B96-3C04-415D-86F4-32630CB36F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4"/>
            <a:ext cx="78867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7AA9B9-E771-49B5-9E2D-06EAF24C17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AE7F1A7-FFC1-4BDE-908E-7A849372FA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E47FAB-5890-41CE-8DA9-CB57882217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649825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398E66-B67C-4351-89B6-A169553C0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791AA4-B785-4E02-B612-05E57B25A9E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410E598-0767-477D-B9E8-2BCCF5C5114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825625"/>
            <a:ext cx="38862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6D8C23-6B26-4B19-BEEB-7AEFC2A18F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8CB8FE9-ABD0-4AA5-986C-BC29ECC4F0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47F8042-F61C-495E-8C35-E7989AA7EE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19730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6E21205-E47B-4E88-8DFD-1C6071B7AD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65126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C64C0F1-91A6-4158-8855-0C72083701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4AB615B-6DBF-4632-94D0-3791085A6C9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CB3133-8FE9-4883-B870-D642C1DF037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98078B5-E153-4D81-A163-C758FDB8978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5D200C8-3958-4AE2-85B4-16A6511DDD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A253149-4D4C-46D5-8100-4A3D9F41B0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5B7D50A-B373-419E-9BDA-973DC11187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7662874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13C455-2666-47C6-BF3E-44EE0A2900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BCDB8A3-54C9-4DF0-AF58-847CC781E9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B3A80F5-1CBF-45BD-A6AD-6BE98C141D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7E03123-314A-4412-8618-E5C45344E1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432719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C5179-D82F-40FA-BF21-7AA507CE08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1CC15DB-F842-49C3-B55B-A16E38843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8FDBBF2-4194-4BEA-AC76-A5704F3BBC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0227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B38F8C-D3DE-403C-AF37-746C3367B6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DF2B9D-4546-43D6-91C9-FFB86CF4EA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F656608-3C52-495D-A214-A55C36D0039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898E0AF-DD29-4C26-82C8-ACF8330BE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BC35345-7A18-4D42-9681-50058B9D5D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CB22563-5A9D-4035-99DC-A96787B7BE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212643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AE83F7-E36A-48E5-8DCA-087E21BBE4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22A8EBF-99DA-4706-BCCE-9EBA54596A9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987426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x-non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24EF8FC-B1A6-401C-9069-13842D8C8AE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A73258-FD4E-43EE-BF6C-3DADDEA904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70AB588-D788-4246-8BC5-FC3FB74850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7FFFD2F-0AC3-4390-8990-6C3DDE552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162938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C9B165-E271-4702-AC6D-63BC723EAB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555CA41-5CBD-4E65-95AA-B3EFB8BD3B4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9ACED0-31DD-4C4F-B63A-02250626EB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995553D-FD7D-4432-BC5C-F78462D738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E46CDF-12B4-4900-A154-E219D22E95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63107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29BF1E-BE8B-4353-B936-AE8071F91CD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365125"/>
            <a:ext cx="1971675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B322873-176A-4EA9-9941-DC9941F4750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365125"/>
            <a:ext cx="5800725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35E231-43A9-48DA-833A-A8750A6CA7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B07A8C-6932-4260-BAAA-DBE1B12880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FE6F17-3B9F-4C75-98BF-F79F5D018A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8414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>
  <p:cSld name="1_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7587" y="180223"/>
            <a:ext cx="2728824" cy="3462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0774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5920198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3207587" y="80298"/>
            <a:ext cx="2728824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1"/>
            <a:ext cx="640080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63781613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429487223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27144178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6858000"/>
          </a:xfrm>
          <a:custGeom>
            <a:avLst/>
            <a:gdLst/>
            <a:ahLst/>
            <a:cxnLst/>
            <a:rect l="l" t="t" r="r" b="b"/>
            <a:pathLst>
              <a:path w="9144000" h="5143500">
                <a:moveTo>
                  <a:pt x="9143999" y="5143499"/>
                </a:moveTo>
                <a:lnTo>
                  <a:pt x="0" y="51434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1434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146987860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Blank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39023486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4.pn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5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theme" Target="../theme/theme2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4339B51-54CA-49F5-8966-F46D83C422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x-non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519CFAA-AD75-4697-91AC-85CEC6C6B2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x-non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127230-2512-4F28-A281-14854D1474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584DF0E-25DB-4020-B57D-D15F655DB935}" type="datetimeFigureOut">
              <a:rPr lang="en-US" smtClean="0"/>
              <a:t>9/3/2025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D06234-7A7A-4EED-8F6D-3D8EBC2D1F0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549BF4-1286-4C31-9FB5-ED9DDFE1E6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3BC68C1-E2EB-4987-9422-79A737D71B6A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/>
          <p:cNvGrpSpPr>
            <a:grpSpLocks/>
          </p:cNvGrpSpPr>
          <p:nvPr userDrawn="1"/>
        </p:nvGrpSpPr>
        <p:grpSpPr bwMode="auto">
          <a:xfrm>
            <a:off x="0" y="0"/>
            <a:ext cx="9144000" cy="1116013"/>
            <a:chOff x="0" y="0"/>
            <a:chExt cx="12902105" cy="1115736"/>
          </a:xfrm>
        </p:grpSpPr>
        <p:sp>
          <p:nvSpPr>
            <p:cNvPr id="8" name="Rectangle 7"/>
            <p:cNvSpPr/>
            <p:nvPr/>
          </p:nvSpPr>
          <p:spPr>
            <a:xfrm>
              <a:off x="0" y="0"/>
              <a:ext cx="12902105" cy="1115736"/>
            </a:xfrm>
            <a:prstGeom prst="rect">
              <a:avLst/>
            </a:prstGeom>
            <a:solidFill>
              <a:srgbClr val="D32A2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x-none" dirty="0"/>
            </a:p>
          </p:txBody>
        </p:sp>
        <p:pic>
          <p:nvPicPr>
            <p:cNvPr id="9" name="Picture 8"/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2730" y="155317"/>
              <a:ext cx="1504919" cy="80510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0" name="TextBox 9"/>
            <p:cNvSpPr txBox="1">
              <a:spLocks noChangeArrowheads="1"/>
            </p:cNvSpPr>
            <p:nvPr/>
          </p:nvSpPr>
          <p:spPr bwMode="auto">
            <a:xfrm>
              <a:off x="10719753" y="696917"/>
              <a:ext cx="1619033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 sz="1100">
                  <a:solidFill>
                    <a:schemeClr val="bg1"/>
                  </a:solidFill>
                </a:rPr>
                <a:t>unioffaisalabad</a:t>
              </a:r>
            </a:p>
          </p:txBody>
        </p:sp>
        <p:pic>
          <p:nvPicPr>
            <p:cNvPr id="11" name="Graphic 11"/>
            <p:cNvPicPr>
              <a:picLocks noChangeAspect="1"/>
            </p:cNvPicPr>
            <p:nvPr/>
          </p:nvPicPr>
          <p:blipFill>
            <a:blip r:embed="rId1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9906056" y="403986"/>
              <a:ext cx="261610" cy="26161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2" name="TextBox 11"/>
            <p:cNvSpPr txBox="1">
              <a:spLocks noChangeArrowheads="1"/>
            </p:cNvSpPr>
            <p:nvPr/>
          </p:nvSpPr>
          <p:spPr bwMode="auto">
            <a:xfrm>
              <a:off x="10142944" y="350125"/>
              <a:ext cx="2606404" cy="36933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charset="0"/>
                  <a:cs typeface="Arial" charset="0"/>
                </a:defRPr>
              </a:lvl9pPr>
            </a:lstStyle>
            <a:p>
              <a:r>
                <a:rPr lang="en-US" altLang="en-US">
                  <a:solidFill>
                    <a:schemeClr val="bg1"/>
                  </a:solidFill>
                </a:rPr>
                <a:t>www.tuf.edu.pk</a:t>
              </a:r>
            </a:p>
          </p:txBody>
        </p:sp>
        <p:pic>
          <p:nvPicPr>
            <p:cNvPr id="13" name="Graphic 13"/>
            <p:cNvPicPr>
              <a:picLocks noChangeAspect="1"/>
            </p:cNvPicPr>
            <p:nvPr/>
          </p:nvPicPr>
          <p:blipFill>
            <a:blip r:embed="rId1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591033" y="741997"/>
              <a:ext cx="171450" cy="17145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3"/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0353170" y="749176"/>
              <a:ext cx="171451" cy="1714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401338890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  <p:sldLayoutId id="2147483708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x-non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9144000" cy="763693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 sz="1800"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897738" y="78063"/>
            <a:ext cx="7348525" cy="384721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500" b="0" i="0">
                <a:solidFill>
                  <a:schemeClr val="bg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5300" y="1306041"/>
            <a:ext cx="8419465" cy="2308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1"/>
            <a:ext cx="292608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1"/>
            <a:ext cx="2103120" cy="2769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9/3/2025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847002" y="6473024"/>
            <a:ext cx="230623" cy="307777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‹#›</a:t>
            </a:fld>
            <a:endParaRPr lang="en-US" spc="-50" dirty="0"/>
          </a:p>
        </p:txBody>
      </p:sp>
    </p:spTree>
    <p:extLst>
      <p:ext uri="{BB962C8B-B14F-4D97-AF65-F5344CB8AC3E}">
        <p14:creationId xmlns:p14="http://schemas.microsoft.com/office/powerpoint/2010/main" val="281390513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3" r:id="rId4"/>
    <p:sldLayoutId id="2147483714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ai-bias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hyperlink" Target="https://www.ibm.com/think/topics/speech-recognition" TargetMode="Externa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D32A2A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33400" y="3733800"/>
            <a:ext cx="7688222" cy="875254"/>
          </a:xfrm>
        </p:spPr>
        <p:txBody>
          <a:bodyPr>
            <a:noAutofit/>
          </a:bodyPr>
          <a:lstStyle/>
          <a:p>
            <a:r>
              <a:rPr lang="en-US" sz="4000" b="1" dirty="0">
                <a:solidFill>
                  <a:schemeClr val="bg1"/>
                </a:solidFill>
              </a:rPr>
              <a:t>Natural Language Processing (NLP)</a:t>
            </a:r>
            <a:endParaRPr lang="en-US" sz="4000" dirty="0">
              <a:solidFill>
                <a:schemeClr val="bg1"/>
              </a:solidFill>
            </a:endParaRPr>
          </a:p>
        </p:txBody>
      </p:sp>
      <p:pic>
        <p:nvPicPr>
          <p:cNvPr id="10" name="Graphic 9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192728" y="0"/>
            <a:ext cx="2708768" cy="3611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316329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C370A8-B291-4208-AD52-600D9C751E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"/>
            <a:ext cx="5410200" cy="914400"/>
          </a:xfrm>
        </p:spPr>
        <p:txBody>
          <a:bodyPr>
            <a:normAutofit fontScale="90000"/>
          </a:bodyPr>
          <a:lstStyle/>
          <a:p>
            <a:b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</a:br>
            <a: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  <a:t>Challenges of NLP 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932998-B45B-4068-A192-1B9F6497C04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Even state-of-the-art NLP models are not perfect, just as human speech is prone to error.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As with any AI technology, NLP comes with potential pitfalls.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Human language is filled with ambiguities that make it difficult for programmers to write software that accurately determines the intended meaning of text or voice data.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Human language might take years for humans to learn and many never stop learning.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But then programmers must teach natural language-powered applications to recognize and understand irregularities so their applications can be accurate and useful. 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96587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0E263E-10BF-4E5A-8E05-E802C7A31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18255"/>
            <a:ext cx="6838950" cy="97234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  <a:t>Biased training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C7821-CBFC-4635-840B-80A69AB93BF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As with any AI function, </a:t>
            </a:r>
            <a:r>
              <a:rPr lang="en-US" b="0" i="0" u="none" strike="noStrike" dirty="0">
                <a:solidFill>
                  <a:srgbClr val="0F62FE"/>
                </a:solidFill>
                <a:effectLst/>
                <a:latin typeface="IBM Plex Sans"/>
                <a:hlinkClick r:id="rId2"/>
              </a:rPr>
              <a:t>biased data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 used in training will skew the answers.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The more diverse the users of an NLP function, the more significant this risk becomes, such as in government services, healthcare and HR interactions.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Training datasets scraped from the web, for example, are prone to bias.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462452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D69863-7AE4-4ABB-A466-F60B7D7C0AD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52399"/>
            <a:ext cx="5257800" cy="838201"/>
          </a:xfrm>
        </p:spPr>
        <p:txBody>
          <a:bodyPr>
            <a:normAutofit fontScale="90000"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  <a:t>Misinterpretation</a:t>
            </a:r>
            <a:b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</a:b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1E9EE7-437C-4CA6-ADC8-50DBB24EA6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As in programming, there is a risk of garbage in, garbage out (GIGO). </a:t>
            </a:r>
          </a:p>
          <a:p>
            <a:pPr algn="just"/>
            <a:r>
              <a:rPr lang="en-US" b="0" i="0" u="none" strike="noStrike" dirty="0">
                <a:solidFill>
                  <a:srgbClr val="0F62FE"/>
                </a:solidFill>
                <a:effectLst/>
                <a:latin typeface="IBM Plex Sans"/>
                <a:hlinkClick r:id="rId2"/>
              </a:rPr>
              <a:t>Speech recognition</a:t>
            </a:r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, also known as speech-to-text, is the task of reliably converting voice data into text data.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But NLP solutions can become confused if spoken input is in an obscure dialect, mumbled, homonyms, incorrect grammar, idioms, fragments, mispronunciations, contractions or recorded with too much background noise.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9552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A0A7DC-12E8-427F-BD9F-923AFD50F3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24000" y="0"/>
            <a:ext cx="5562600" cy="1325563"/>
          </a:xfrm>
        </p:spPr>
        <p:txBody>
          <a:bodyPr/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  <a:t>New vocabulary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24619D-3372-4236-A1A6-1B9E12D937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New words are continually being invented or imported.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The conventions of grammar can evolve or be intentionally broken.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In these cases, NLP can either make a best guess or admit it’s unsure and either way, this creates a complication.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09529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EDF787-9EB4-46BD-8923-7DACD2787D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200" y="18255"/>
            <a:ext cx="5486400" cy="1048545"/>
          </a:xfrm>
        </p:spPr>
        <p:txBody>
          <a:bodyPr>
            <a:normAutofit/>
          </a:bodyPr>
          <a:lstStyle/>
          <a:p>
            <a:r>
              <a:rPr lang="en-US" b="0" i="0" dirty="0">
                <a:solidFill>
                  <a:schemeClr val="bg1"/>
                </a:solidFill>
                <a:effectLst/>
                <a:latin typeface="IBM Plex Sans"/>
              </a:rPr>
              <a:t>Tone of voice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CA6A1A-691A-433D-9542-9E9DB95CE7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53331"/>
            <a:ext cx="7886700" cy="4351338"/>
          </a:xfrm>
        </p:spPr>
        <p:txBody>
          <a:bodyPr/>
          <a:lstStyle/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When people speak, their verbal delivery or even body language can give an entirely different meaning than the words alone. </a:t>
            </a:r>
          </a:p>
          <a:p>
            <a:pPr algn="just"/>
            <a:r>
              <a:rPr lang="en-US" b="0" i="0" dirty="0">
                <a:solidFill>
                  <a:srgbClr val="161616"/>
                </a:solidFill>
                <a:effectLst/>
                <a:latin typeface="IBM Plex Sans"/>
              </a:rPr>
              <a:t>Exaggeration for effect, stressing words for importance or sarcasm can be confused by NLP, making the semantic analysis more difficult and less reliable.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00564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4782E28-E322-4FDD-91AB-04A7C4971D9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28650" y="1295400"/>
            <a:ext cx="7886700" cy="4881563"/>
          </a:xfrm>
        </p:spPr>
        <p:txBody>
          <a:bodyPr/>
          <a:lstStyle/>
          <a:p>
            <a:r>
              <a:rPr lang="en-US" sz="3600" b="1" dirty="0"/>
              <a:t>Reading Assignment</a:t>
            </a:r>
          </a:p>
          <a:p>
            <a:r>
              <a:rPr lang="en-US" dirty="0">
                <a:effectLst/>
                <a:highlight>
                  <a:srgbClr val="FFFF00"/>
                </a:highlight>
                <a:latin typeface="Calibri" panose="020F0502020204030204" pitchFamily="34" charset="0"/>
                <a:ea typeface="Times New Roman" panose="02020603050405020304" pitchFamily="18" charset="0"/>
              </a:rPr>
              <a:t>History of NLP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567981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97739" y="935313"/>
            <a:ext cx="7348525" cy="400110"/>
          </a:xfrm>
          <a:prstGeom prst="rect">
            <a:avLst/>
          </a:prstGeom>
        </p:spPr>
        <p:txBody>
          <a:bodyPr vert="horz" wrap="square" lIns="0" tIns="15240" rIns="0" bIns="0" rtlCol="0">
            <a:spAutoFit/>
          </a:bodyPr>
          <a:lstStyle/>
          <a:p>
            <a:pPr marL="1851025">
              <a:spcBef>
                <a:spcPts val="120"/>
              </a:spcBef>
            </a:pPr>
            <a:r>
              <a:rPr dirty="0"/>
              <a:t>We</a:t>
            </a:r>
            <a:r>
              <a:rPr spc="-30" dirty="0"/>
              <a:t> </a:t>
            </a:r>
            <a:r>
              <a:rPr dirty="0"/>
              <a:t>are</a:t>
            </a:r>
            <a:r>
              <a:rPr spc="-30" dirty="0"/>
              <a:t> </a:t>
            </a:r>
            <a:r>
              <a:rPr dirty="0"/>
              <a:t>Waiting</a:t>
            </a:r>
            <a:r>
              <a:rPr spc="-25" dirty="0"/>
              <a:t> </a:t>
            </a:r>
            <a:r>
              <a:rPr dirty="0"/>
              <a:t>for</a:t>
            </a:r>
            <a:r>
              <a:rPr spc="-30" dirty="0"/>
              <a:t> </a:t>
            </a:r>
            <a:r>
              <a:rPr spc="-40" dirty="0"/>
              <a:t>GPT-</a:t>
            </a:r>
            <a:r>
              <a:rPr spc="-50" dirty="0"/>
              <a:t>4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97628" y="1667726"/>
            <a:ext cx="3349045" cy="3998099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8023" y="1818801"/>
            <a:ext cx="4981852" cy="3780391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1557176" y="4050175"/>
            <a:ext cx="572135" cy="291746"/>
          </a:xfrm>
          <a:prstGeom prst="rect">
            <a:avLst/>
          </a:prstGeom>
          <a:solidFill>
            <a:srgbClr val="FFFFFF"/>
          </a:solidFill>
        </p:spPr>
        <p:txBody>
          <a:bodyPr vert="horz" wrap="square" lIns="0" tIns="14604" rIns="0" bIns="0" rtlCol="0">
            <a:spAutoFit/>
          </a:bodyPr>
          <a:lstStyle/>
          <a:p>
            <a:pPr>
              <a:spcBef>
                <a:spcPts val="114"/>
              </a:spcBef>
            </a:pPr>
            <a:endParaRPr sz="600" kern="0">
              <a:solidFill>
                <a:sysClr val="windowText" lastClr="000000"/>
              </a:solidFill>
              <a:latin typeface="Times New Roman"/>
              <a:cs typeface="Times New Roman"/>
            </a:endParaRPr>
          </a:p>
          <a:p>
            <a:pPr marL="200660" marR="92075" indent="-101600"/>
            <a:r>
              <a:rPr sz="600" b="1" kern="0" spc="-10" dirty="0">
                <a:solidFill>
                  <a:sysClr val="windowText" lastClr="000000"/>
                </a:solidFill>
                <a:latin typeface="Arial"/>
                <a:cs typeface="Arial"/>
              </a:rPr>
              <a:t>November</a:t>
            </a:r>
            <a:r>
              <a:rPr sz="600" b="1" kern="0" spc="500" dirty="0">
                <a:solidFill>
                  <a:sysClr val="windowText" lastClr="000000"/>
                </a:solidFill>
                <a:latin typeface="Arial"/>
                <a:cs typeface="Arial"/>
              </a:rPr>
              <a:t> </a:t>
            </a:r>
            <a:r>
              <a:rPr sz="600" b="1" kern="0" spc="-20" dirty="0">
                <a:solidFill>
                  <a:sysClr val="windowText" lastClr="000000"/>
                </a:solidFill>
                <a:latin typeface="Arial"/>
                <a:cs typeface="Arial"/>
              </a:rPr>
              <a:t>2022</a:t>
            </a:r>
            <a:endParaRPr sz="600" kern="0">
              <a:solidFill>
                <a:sysClr val="windowText" lastClr="000000"/>
              </a:solidFill>
              <a:latin typeface="Arial"/>
              <a:cs typeface="Arial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47003" y="8187524"/>
            <a:ext cx="230623" cy="154529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108585">
              <a:spcBef>
                <a:spcPts val="5"/>
              </a:spcBef>
            </a:pPr>
            <a:fld id="{81D60167-4931-47E6-BA6A-407CBD079E47}" type="slidenum">
              <a:rPr kern="0" spc="-50" dirty="0">
                <a:solidFill>
                  <a:prstClr val="black"/>
                </a:solidFill>
              </a:rPr>
              <a:pPr marL="108585">
                <a:spcBef>
                  <a:spcPts val="5"/>
                </a:spcBef>
              </a:pPr>
              <a:t>8</a:t>
            </a:fld>
            <a:endParaRPr kern="0" spc="-50" dirty="0">
              <a:solidFill>
                <a:prstClr val="black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FFF9045A-F693-41CF-8064-76D63E9FAFC5}"/>
              </a:ext>
            </a:extLst>
          </p:cNvPr>
          <p:cNvSpPr txBox="1"/>
          <p:nvPr/>
        </p:nvSpPr>
        <p:spPr>
          <a:xfrm>
            <a:off x="2667000" y="191542"/>
            <a:ext cx="4572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</a:t>
            </a:r>
            <a:r>
              <a:rPr lang="en-US" spc="-3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are</a:t>
            </a:r>
            <a:r>
              <a:rPr lang="en-US" spc="-30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Waiting</a:t>
            </a:r>
            <a:r>
              <a:rPr lang="en-US" spc="-25" dirty="0">
                <a:solidFill>
                  <a:schemeClr val="bg1"/>
                </a:solidFill>
              </a:rPr>
              <a:t> </a:t>
            </a:r>
            <a:r>
              <a:rPr lang="en-US" dirty="0">
                <a:solidFill>
                  <a:schemeClr val="bg1"/>
                </a:solidFill>
              </a:rPr>
              <a:t>for</a:t>
            </a:r>
            <a:r>
              <a:rPr lang="en-US" spc="-30" dirty="0">
                <a:solidFill>
                  <a:schemeClr val="bg1"/>
                </a:solidFill>
              </a:rPr>
              <a:t> </a:t>
            </a:r>
            <a:r>
              <a:rPr lang="en-US" spc="-40" dirty="0">
                <a:solidFill>
                  <a:schemeClr val="bg1"/>
                </a:solidFill>
              </a:rPr>
              <a:t>GPT-</a:t>
            </a:r>
            <a:r>
              <a:rPr lang="en-US" spc="-50" dirty="0">
                <a:solidFill>
                  <a:schemeClr val="bg1"/>
                </a:solidFill>
              </a:rPr>
              <a:t>5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25" y="157862"/>
            <a:ext cx="5897475" cy="905376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747395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Knowledge</a:t>
            </a:r>
            <a:r>
              <a:rPr sz="2900" spc="-90" dirty="0"/>
              <a:t> </a:t>
            </a:r>
            <a:r>
              <a:rPr sz="2900" dirty="0"/>
              <a:t>&amp;</a:t>
            </a:r>
            <a:r>
              <a:rPr sz="2900" spc="-95" dirty="0"/>
              <a:t> </a:t>
            </a:r>
            <a:r>
              <a:rPr sz="2900" dirty="0"/>
              <a:t>Information</a:t>
            </a:r>
            <a:r>
              <a:rPr sz="2900" spc="-90" dirty="0"/>
              <a:t> </a:t>
            </a:r>
            <a:r>
              <a:rPr sz="2900" spc="-10" dirty="0"/>
              <a:t>Extraction</a:t>
            </a:r>
            <a:endParaRPr sz="2900" dirty="0"/>
          </a:p>
        </p:txBody>
      </p:sp>
      <p:sp>
        <p:nvSpPr>
          <p:cNvPr id="3" name="object 3"/>
          <p:cNvSpPr txBox="1"/>
          <p:nvPr/>
        </p:nvSpPr>
        <p:spPr>
          <a:xfrm>
            <a:off x="76200" y="1126676"/>
            <a:ext cx="8657590" cy="62286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4999"/>
              </a:lnSpc>
              <a:spcBef>
                <a:spcPts val="100"/>
              </a:spcBef>
            </a:pPr>
            <a:r>
              <a:rPr dirty="0">
                <a:latin typeface="Arial MT"/>
                <a:cs typeface="Arial MT"/>
              </a:rPr>
              <a:t>Knowledge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graphs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(KGs)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organize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data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from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multiple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sources,</a:t>
            </a:r>
            <a:r>
              <a:rPr spc="-3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capture</a:t>
            </a:r>
            <a:r>
              <a:rPr spc="-30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information </a:t>
            </a:r>
            <a:r>
              <a:rPr dirty="0">
                <a:latin typeface="Arial MT"/>
                <a:cs typeface="Arial MT"/>
              </a:rPr>
              <a:t>about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entities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of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interest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in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a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given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domain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task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(like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people,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places</a:t>
            </a:r>
            <a:r>
              <a:rPr spc="-1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or</a:t>
            </a:r>
            <a:r>
              <a:rPr spc="-2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events)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88340" y="2514600"/>
            <a:ext cx="2846849" cy="2846849"/>
          </a:xfrm>
          <a:prstGeom prst="rect">
            <a:avLst/>
          </a:prstGeom>
        </p:spPr>
      </p:pic>
      <p:sp>
        <p:nvSpPr>
          <p:cNvPr id="5" name="object 5"/>
          <p:cNvSpPr txBox="1"/>
          <p:nvPr/>
        </p:nvSpPr>
        <p:spPr>
          <a:xfrm>
            <a:off x="4953000" y="2514600"/>
            <a:ext cx="3502660" cy="10007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spcBef>
                <a:spcPts val="100"/>
              </a:spcBef>
            </a:pPr>
            <a:r>
              <a:rPr sz="1600" dirty="0">
                <a:latin typeface="Arial MT"/>
                <a:cs typeface="Arial MT"/>
              </a:rPr>
              <a:t>The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Google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Knowledge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Graph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is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35" dirty="0">
                <a:latin typeface="Arial MT"/>
                <a:cs typeface="Arial MT"/>
              </a:rPr>
              <a:t>an </a:t>
            </a:r>
            <a:r>
              <a:rPr sz="1600" dirty="0">
                <a:latin typeface="Arial MT"/>
                <a:cs typeface="Arial MT"/>
              </a:rPr>
              <a:t>enormous</a:t>
            </a:r>
            <a:r>
              <a:rPr sz="1600" spc="-3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database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of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information</a:t>
            </a:r>
            <a:r>
              <a:rPr sz="1600" spc="-30" dirty="0">
                <a:latin typeface="Arial MT"/>
                <a:cs typeface="Arial MT"/>
              </a:rPr>
              <a:t> </a:t>
            </a:r>
            <a:r>
              <a:rPr sz="1600" spc="-20" dirty="0">
                <a:latin typeface="Arial MT"/>
                <a:cs typeface="Arial MT"/>
              </a:rPr>
              <a:t>that </a:t>
            </a:r>
            <a:r>
              <a:rPr sz="1600" dirty="0">
                <a:latin typeface="Arial MT"/>
                <a:cs typeface="Arial MT"/>
              </a:rPr>
              <a:t>enables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Google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provide</a:t>
            </a:r>
            <a:r>
              <a:rPr sz="1600" spc="-2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immediate, </a:t>
            </a:r>
            <a:r>
              <a:rPr sz="1600" dirty="0">
                <a:latin typeface="Arial MT"/>
                <a:cs typeface="Arial MT"/>
              </a:rPr>
              <a:t>factual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answers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to</a:t>
            </a:r>
            <a:r>
              <a:rPr sz="1600" spc="-20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your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questions</a:t>
            </a:r>
            <a:endParaRPr sz="1600" dirty="0">
              <a:latin typeface="Arial MT"/>
              <a:cs typeface="Arial MT"/>
            </a:endParaRPr>
          </a:p>
        </p:txBody>
      </p:sp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9</a:t>
            </a:fld>
            <a:endParaRPr spc="-25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5725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xfrm>
            <a:off x="3207587" y="1010543"/>
            <a:ext cx="2728824" cy="400110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1270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Sentiment</a:t>
            </a:r>
            <a:r>
              <a:rPr spc="-90" dirty="0"/>
              <a:t> </a:t>
            </a:r>
            <a:r>
              <a:rPr spc="-10" dirty="0"/>
              <a:t>Analysis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160950" y="1589847"/>
            <a:ext cx="8107045" cy="314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z="1900" spc="-10" dirty="0">
                <a:latin typeface="Arial MT"/>
                <a:cs typeface="Arial MT"/>
              </a:rPr>
              <a:t>Determine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whether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the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meaning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behind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data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is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positive,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negative,</a:t>
            </a:r>
            <a:r>
              <a:rPr sz="1900" spc="-65" dirty="0">
                <a:latin typeface="Arial MT"/>
                <a:cs typeface="Arial MT"/>
              </a:rPr>
              <a:t> </a:t>
            </a:r>
            <a:r>
              <a:rPr sz="1900" dirty="0">
                <a:latin typeface="Arial MT"/>
                <a:cs typeface="Arial MT"/>
              </a:rPr>
              <a:t>or</a:t>
            </a:r>
            <a:r>
              <a:rPr sz="1900" spc="-70" dirty="0">
                <a:latin typeface="Arial MT"/>
                <a:cs typeface="Arial MT"/>
              </a:rPr>
              <a:t> </a:t>
            </a:r>
            <a:r>
              <a:rPr sz="1900" spc="-10" dirty="0">
                <a:latin typeface="Arial MT"/>
                <a:cs typeface="Arial MT"/>
              </a:rPr>
              <a:t>neutral</a:t>
            </a:r>
            <a:endParaRPr sz="1900">
              <a:latin typeface="Arial MT"/>
              <a:cs typeface="Arial MT"/>
            </a:endParaRP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862687" y="2294501"/>
            <a:ext cx="5418626" cy="3011225"/>
          </a:xfrm>
          <a:prstGeom prst="rect">
            <a:avLst/>
          </a:prstGeom>
        </p:spPr>
      </p:pic>
      <p:sp>
        <p:nvSpPr>
          <p:cNvPr id="6" name="object 6"/>
          <p:cNvSpPr txBox="1">
            <a:spLocks noGrp="1"/>
          </p:cNvSpPr>
          <p:nvPr>
            <p:ph type="sldNum" sz="quarter" idx="7"/>
          </p:nvPr>
        </p:nvSpPr>
        <p:spPr>
          <a:xfrm>
            <a:off x="6457950" y="8176149"/>
            <a:ext cx="2057400" cy="154529"/>
          </a:xfrm>
          <a:prstGeom prst="rect">
            <a:avLst/>
          </a:prstGeom>
        </p:spPr>
        <p:txBody>
          <a:bodyPr vert="horz" wrap="square" lIns="0" tIns="635" rIns="0" bIns="0" rtlCol="0" anchor="ctr">
            <a:spAutoFit/>
          </a:bodyPr>
          <a:lstStyle/>
          <a:p>
            <a:pPr marL="38100">
              <a:spcBef>
                <a:spcPts val="5"/>
              </a:spcBef>
            </a:pPr>
            <a:fld id="{81D60167-4931-47E6-BA6A-407CBD079E47}" type="slidenum">
              <a:rPr spc="-25" dirty="0"/>
              <a:pPr marL="38100">
                <a:spcBef>
                  <a:spcPts val="5"/>
                </a:spcBef>
              </a:pPr>
              <a:t>10</a:t>
            </a:fld>
            <a:endParaRPr spc="-25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28650" y="1538910"/>
            <a:ext cx="7886700" cy="692497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2251075">
              <a:lnSpc>
                <a:spcPct val="100000"/>
              </a:lnSpc>
              <a:spcBef>
                <a:spcPts val="120"/>
              </a:spcBef>
            </a:pPr>
            <a:r>
              <a:rPr dirty="0"/>
              <a:t>Question</a:t>
            </a:r>
            <a:r>
              <a:rPr spc="-175" dirty="0"/>
              <a:t> </a:t>
            </a:r>
            <a:r>
              <a:rPr spc="-10" dirty="0"/>
              <a:t>Answering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554205" y="5188596"/>
            <a:ext cx="4034790" cy="260328"/>
          </a:xfrm>
          <a:prstGeom prst="rect">
            <a:avLst/>
          </a:prstGeom>
        </p:spPr>
        <p:txBody>
          <a:bodyPr vert="horz" wrap="square" lIns="0" tIns="13970" rIns="0" bIns="0" rtlCol="0">
            <a:spAutoFit/>
          </a:bodyPr>
          <a:lstStyle/>
          <a:p>
            <a:pPr marL="12700">
              <a:spcBef>
                <a:spcPts val="110"/>
              </a:spcBef>
            </a:pPr>
            <a:r>
              <a:rPr sz="1600" spc="-10" dirty="0">
                <a:latin typeface="Arial MT"/>
                <a:cs typeface="Arial MT"/>
              </a:rPr>
              <a:t>IBM-</a:t>
            </a:r>
            <a:r>
              <a:rPr sz="1600" dirty="0">
                <a:latin typeface="Arial MT"/>
                <a:cs typeface="Arial MT"/>
              </a:rPr>
              <a:t>Watson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Defeats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Humans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dirty="0">
                <a:latin typeface="Arial MT"/>
                <a:cs typeface="Arial MT"/>
              </a:rPr>
              <a:t>in</a:t>
            </a:r>
            <a:r>
              <a:rPr sz="1600" spc="-15" dirty="0">
                <a:latin typeface="Arial MT"/>
                <a:cs typeface="Arial MT"/>
              </a:rPr>
              <a:t> </a:t>
            </a:r>
            <a:r>
              <a:rPr sz="1600" spc="-10" dirty="0">
                <a:latin typeface="Arial MT"/>
                <a:cs typeface="Arial MT"/>
              </a:rPr>
              <a:t>"Jeopardy!"</a:t>
            </a:r>
            <a:endParaRPr sz="16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256425" y="1600101"/>
            <a:ext cx="4631148" cy="3473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11</a:t>
            </a:fld>
            <a:endParaRPr spc="-25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0" y="857250"/>
            <a:ext cx="9144000" cy="572770"/>
          </a:xfrm>
          <a:custGeom>
            <a:avLst/>
            <a:gdLst/>
            <a:ahLst/>
            <a:cxnLst/>
            <a:rect l="l" t="t" r="r" b="b"/>
            <a:pathLst>
              <a:path w="9144000" h="572770">
                <a:moveTo>
                  <a:pt x="9143999" y="572699"/>
                </a:moveTo>
                <a:lnTo>
                  <a:pt x="0" y="572699"/>
                </a:lnTo>
                <a:lnTo>
                  <a:pt x="0" y="0"/>
                </a:lnTo>
                <a:lnTo>
                  <a:pt x="9143999" y="0"/>
                </a:lnTo>
                <a:lnTo>
                  <a:pt x="9143999" y="572699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628650" y="1655607"/>
            <a:ext cx="7886700" cy="45910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/>
          <a:p>
            <a:pPr marL="1719580">
              <a:lnSpc>
                <a:spcPct val="100000"/>
              </a:lnSpc>
              <a:spcBef>
                <a:spcPts val="100"/>
              </a:spcBef>
            </a:pPr>
            <a:r>
              <a:rPr sz="2900" dirty="0"/>
              <a:t>Spoken</a:t>
            </a:r>
            <a:r>
              <a:rPr sz="2900" spc="-125" dirty="0"/>
              <a:t> </a:t>
            </a:r>
            <a:r>
              <a:rPr sz="2900" dirty="0"/>
              <a:t>Dialog</a:t>
            </a:r>
            <a:r>
              <a:rPr sz="2900" spc="-120" dirty="0"/>
              <a:t> </a:t>
            </a:r>
            <a:r>
              <a:rPr sz="2900" spc="-10" dirty="0"/>
              <a:t>Systems</a:t>
            </a:r>
            <a:endParaRPr sz="2900"/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516000" y="1823726"/>
            <a:ext cx="6249548" cy="3515349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8847001" y="4854767"/>
            <a:ext cx="230623" cy="167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kern="0"/>
            </a:defPPr>
            <a:lvl1pPr>
              <a:defRPr sz="1000" b="0" i="0">
                <a:solidFill>
                  <a:schemeClr val="tx1"/>
                </a:solidFill>
                <a:latin typeface="Arial MT"/>
                <a:cs typeface="Arial MT"/>
              </a:defRPr>
            </a:lvl1pPr>
          </a:lstStyle>
          <a:p>
            <a:pPr marL="108585">
              <a:spcBef>
                <a:spcPts val="5"/>
              </a:spcBef>
            </a:pPr>
            <a:fld id="{81D60167-4931-47E6-BA6A-407CBD079E47}" type="slidenum">
              <a:rPr lang="en-US" spc="-50" smtClean="0"/>
              <a:pPr marL="108585">
                <a:spcBef>
                  <a:spcPts val="5"/>
                </a:spcBef>
              </a:pPr>
              <a:t>12</a:t>
            </a:fld>
            <a:endParaRPr spc="-25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xfrm>
            <a:off x="3207587" y="1010543"/>
            <a:ext cx="2728824" cy="400110"/>
          </a:xfrm>
          <a:prstGeom prst="rect">
            <a:avLst/>
          </a:prstGeom>
        </p:spPr>
        <p:txBody>
          <a:bodyPr vert="horz" wrap="square" lIns="0" tIns="15240" rIns="0" bIns="0" rtlCol="0" anchor="ctr">
            <a:spAutoFit/>
          </a:bodyPr>
          <a:lstStyle/>
          <a:p>
            <a:pPr marL="679450">
              <a:lnSpc>
                <a:spcPct val="100000"/>
              </a:lnSpc>
              <a:spcBef>
                <a:spcPts val="120"/>
              </a:spcBef>
            </a:pPr>
            <a:r>
              <a:rPr spc="-10" dirty="0"/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0949" y="1590354"/>
            <a:ext cx="251460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spcBef>
                <a:spcPts val="100"/>
              </a:spcBef>
            </a:pPr>
            <a:r>
              <a:rPr spc="-25" dirty="0">
                <a:latin typeface="Arial MT"/>
                <a:cs typeface="Arial MT"/>
              </a:rPr>
              <a:t>Today</a:t>
            </a:r>
            <a:r>
              <a:rPr spc="-50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we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dirty="0">
                <a:latin typeface="Arial MT"/>
                <a:cs typeface="Arial MT"/>
              </a:rPr>
              <a:t>learned</a:t>
            </a:r>
            <a:r>
              <a:rPr spc="-45" dirty="0">
                <a:latin typeface="Arial MT"/>
                <a:cs typeface="Arial MT"/>
              </a:rPr>
              <a:t> </a:t>
            </a:r>
            <a:r>
              <a:rPr spc="-10" dirty="0">
                <a:latin typeface="Arial MT"/>
                <a:cs typeface="Arial MT"/>
              </a:rPr>
              <a:t>about:</a:t>
            </a:r>
            <a:endParaRPr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" y="857250"/>
            <a:ext cx="9143999" cy="5143500"/>
          </a:xfrm>
          <a:prstGeom prst="rect">
            <a:avLst/>
          </a:prstGeom>
        </p:spPr>
      </p:pic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xfrm>
            <a:off x="6457950" y="8176149"/>
            <a:ext cx="2057400" cy="154529"/>
          </a:xfrm>
          <a:prstGeom prst="rect">
            <a:avLst/>
          </a:prstGeom>
        </p:spPr>
        <p:txBody>
          <a:bodyPr vert="horz" wrap="square" lIns="0" tIns="635" rIns="0" bIns="0" rtlCol="0" anchor="ctr">
            <a:spAutoFit/>
          </a:bodyPr>
          <a:lstStyle/>
          <a:p>
            <a:pPr marL="38100">
              <a:spcBef>
                <a:spcPts val="5"/>
              </a:spcBef>
            </a:pPr>
            <a:fld id="{81D60167-4931-47E6-BA6A-407CBD079E47}" type="slidenum">
              <a:rPr spc="-25" dirty="0"/>
              <a:pPr marL="38100">
                <a:spcBef>
                  <a:spcPts val="5"/>
                </a:spcBef>
              </a:pPr>
              <a:t>13</a:t>
            </a:fld>
            <a:endParaRPr spc="-25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uf Presentation option 2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97A7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tuf Presentation option 2</Template>
  <TotalTime>557</TotalTime>
  <Words>450</Words>
  <Application>Microsoft Office PowerPoint</Application>
  <PresentationFormat>On-screen Show (4:3)</PresentationFormat>
  <Paragraphs>44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13</vt:i4>
      </vt:variant>
    </vt:vector>
  </HeadingPairs>
  <TitlesOfParts>
    <vt:vector size="21" baseType="lpstr">
      <vt:lpstr>Arial</vt:lpstr>
      <vt:lpstr>Arial MT</vt:lpstr>
      <vt:lpstr>Calibri</vt:lpstr>
      <vt:lpstr>Calibri Light</vt:lpstr>
      <vt:lpstr>IBM Plex Sans</vt:lpstr>
      <vt:lpstr>Times New Roman</vt:lpstr>
      <vt:lpstr>tuf Presentation option 2</vt:lpstr>
      <vt:lpstr>Office Theme</vt:lpstr>
      <vt:lpstr>Natural Language Processing (NLP)</vt:lpstr>
      <vt:lpstr> Challenges of NLP </vt:lpstr>
      <vt:lpstr>Biased training</vt:lpstr>
      <vt:lpstr>Misinterpretation </vt:lpstr>
      <vt:lpstr>New vocabulary</vt:lpstr>
      <vt:lpstr>Tone of voice</vt:lpstr>
      <vt:lpstr>PowerPoint Presentation</vt:lpstr>
      <vt:lpstr>We are Waiting for GPT-4</vt:lpstr>
      <vt:lpstr>Knowledge &amp; Information Extraction</vt:lpstr>
      <vt:lpstr>Sentiment Analysis</vt:lpstr>
      <vt:lpstr>Question Answering</vt:lpstr>
      <vt:lpstr>Spoken Dialog Systems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ayesha anwar</dc:creator>
  <cp:lastModifiedBy>Saima Kanwal</cp:lastModifiedBy>
  <cp:revision>100</cp:revision>
  <dcterms:created xsi:type="dcterms:W3CDTF">2020-01-13T02:53:29Z</dcterms:created>
  <dcterms:modified xsi:type="dcterms:W3CDTF">2025-09-04T05:04:21Z</dcterms:modified>
</cp:coreProperties>
</file>