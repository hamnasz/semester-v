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72" r:id="rId2"/>
    <p:sldId id="259" r:id="rId3"/>
    <p:sldId id="258" r:id="rId4"/>
    <p:sldId id="274" r:id="rId5"/>
    <p:sldId id="260" r:id="rId6"/>
    <p:sldId id="264" r:id="rId7"/>
    <p:sldId id="262" r:id="rId8"/>
    <p:sldId id="265" r:id="rId9"/>
    <p:sldId id="276" r:id="rId10"/>
    <p:sldId id="277" r:id="rId11"/>
    <p:sldId id="268"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3959" autoAdjust="0"/>
  </p:normalViewPr>
  <p:slideViewPr>
    <p:cSldViewPr snapToGrid="0">
      <p:cViewPr varScale="1">
        <p:scale>
          <a:sx n="58" d="100"/>
          <a:sy n="58" d="100"/>
        </p:scale>
        <p:origin x="988"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B5A7D7C-B1F7-4B7D-86BA-BCE66D8A5195}" type="datetimeFigureOut">
              <a:rPr lang="en-PK" smtClean="0"/>
              <a:t>14/11/2025</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93352C-43D2-43E7-8782-A46AF92D7E6D}" type="slidenum">
              <a:rPr lang="en-PK" smtClean="0"/>
              <a:t>‹#›</a:t>
            </a:fld>
            <a:endParaRPr lang="en-PK"/>
          </a:p>
        </p:txBody>
      </p:sp>
    </p:spTree>
    <p:extLst>
      <p:ext uri="{BB962C8B-B14F-4D97-AF65-F5344CB8AC3E}">
        <p14:creationId xmlns:p14="http://schemas.microsoft.com/office/powerpoint/2010/main" val="235424140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Code Analyst</a:t>
            </a:r>
          </a:p>
          <a:p>
            <a:r>
              <a:rPr lang="en-US"/>
              <a:t>Pythonic Pulse</a:t>
            </a:r>
            <a:br>
              <a:rPr lang="en-US"/>
            </a:br>
            <a:r>
              <a:rPr lang="en-US"/>
              <a:t>Neural Novice</a:t>
            </a:r>
            <a:endParaRPr lang="en-PK"/>
          </a:p>
        </p:txBody>
      </p:sp>
      <p:sp>
        <p:nvSpPr>
          <p:cNvPr id="4" name="Slide Number Placeholder 3"/>
          <p:cNvSpPr>
            <a:spLocks noGrp="1"/>
          </p:cNvSpPr>
          <p:nvPr>
            <p:ph type="sldNum" sz="quarter" idx="5"/>
          </p:nvPr>
        </p:nvSpPr>
        <p:spPr/>
        <p:txBody>
          <a:bodyPr/>
          <a:lstStyle/>
          <a:p>
            <a:fld id="{2093352C-43D2-43E7-8782-A46AF92D7E6D}" type="slidenum">
              <a:rPr lang="en-PK" smtClean="0"/>
              <a:t>9</a:t>
            </a:fld>
            <a:endParaRPr lang="en-PK"/>
          </a:p>
        </p:txBody>
      </p:sp>
    </p:spTree>
    <p:extLst>
      <p:ext uri="{BB962C8B-B14F-4D97-AF65-F5344CB8AC3E}">
        <p14:creationId xmlns:p14="http://schemas.microsoft.com/office/powerpoint/2010/main" val="608797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AB5A3B-864D-3D9D-84C5-FF5E3BF147BF}"/>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BC2A9E48-5298-6E5A-E4B5-E22D787E94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ACDA0BD-31EF-4796-C0A7-9DD810E406E4}"/>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5" name="Footer Placeholder 4">
            <a:extLst>
              <a:ext uri="{FF2B5EF4-FFF2-40B4-BE49-F238E27FC236}">
                <a16:creationId xmlns:a16="http://schemas.microsoft.com/office/drawing/2014/main" id="{6B2234CB-3628-8BF8-939A-F96C0493FD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88C9F26-B905-AC0B-D077-1E5E4309CE51}"/>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27425845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FFA096-0F0A-6BAD-5508-16C313F6957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D705F03-3631-EB58-F5F9-DB63770ED5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7024AC9-1D43-77E2-BC26-0AAD5F44B3AF}"/>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5" name="Footer Placeholder 4">
            <a:extLst>
              <a:ext uri="{FF2B5EF4-FFF2-40B4-BE49-F238E27FC236}">
                <a16:creationId xmlns:a16="http://schemas.microsoft.com/office/drawing/2014/main" id="{7EC21F1D-941C-573E-DE43-83603ED910B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14B84CC-0697-BD34-F9F9-50DC40D1875F}"/>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24665581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AEA1C-0F98-755E-45A8-DAEBBC2BFD7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0A8F0FF-F556-EF6C-7DD2-A382F3B58573}"/>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AEB0EEC-EBDB-BF21-20E2-5C33F84B3866}"/>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5" name="Footer Placeholder 4">
            <a:extLst>
              <a:ext uri="{FF2B5EF4-FFF2-40B4-BE49-F238E27FC236}">
                <a16:creationId xmlns:a16="http://schemas.microsoft.com/office/drawing/2014/main" id="{68E8FD0D-B85B-472F-62A0-09BFA2D26E6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C570F69-CFCA-8462-046F-F1D5AA0017EC}"/>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28005412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B9CEAC-08F0-A66C-2C3C-C3D5E1FCEA5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07AA3E7-1D2F-C963-0490-7D9B1A36C65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9C666E6-2121-094D-41AA-C05B32DC36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3A1D352-E663-BCA3-5776-DB64D741C638}"/>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6" name="Footer Placeholder 5">
            <a:extLst>
              <a:ext uri="{FF2B5EF4-FFF2-40B4-BE49-F238E27FC236}">
                <a16:creationId xmlns:a16="http://schemas.microsoft.com/office/drawing/2014/main" id="{08B1229A-BD22-8BCD-E500-A71D1AE454D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DC0EAF0-642C-848D-BEE5-D8F4B054F14F}"/>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356483202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1930CF-2630-6F16-C8D5-0D01B94B532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32CE2DC4-F9A6-73DC-5575-CC67EE125B5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433EB5F-05C8-F42E-4B0D-B0A9DC21985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E6834ED-5CE9-3441-013A-6A91D7DD59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215F897-596C-F89E-9DC0-AB7FEA9CE90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07F30AAC-F3C8-6CC6-FC4F-B4298EFB05A4}"/>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8" name="Footer Placeholder 7">
            <a:extLst>
              <a:ext uri="{FF2B5EF4-FFF2-40B4-BE49-F238E27FC236}">
                <a16:creationId xmlns:a16="http://schemas.microsoft.com/office/drawing/2014/main" id="{72D11253-FFD3-190E-0EC4-FE1888EC2522}"/>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BB360EE-9D33-1302-4919-E6A39495B6B1}"/>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13516027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480EA3-E18E-44AA-B811-3F4D4211BE2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B62B61-4A8F-4B63-F31E-3D663817B573}"/>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4" name="Footer Placeholder 3">
            <a:extLst>
              <a:ext uri="{FF2B5EF4-FFF2-40B4-BE49-F238E27FC236}">
                <a16:creationId xmlns:a16="http://schemas.microsoft.com/office/drawing/2014/main" id="{7B675F63-1BF9-BDEF-C591-40EDD90A28F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D70CA0C-3B07-2E40-555C-BABC19769526}"/>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15407432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2CB9B0F-1088-AAEB-A3FE-B7E53740A269}"/>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3" name="Footer Placeholder 2">
            <a:extLst>
              <a:ext uri="{FF2B5EF4-FFF2-40B4-BE49-F238E27FC236}">
                <a16:creationId xmlns:a16="http://schemas.microsoft.com/office/drawing/2014/main" id="{4AAB0676-A4C1-A0BF-CA4E-3661646CB40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008364B-F7F0-29F6-D81B-346858658660}"/>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3388464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19E771-2294-DDFB-13DD-C8C299A5185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126DA21-7D3C-8ECF-C20E-5AA1A453A0E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46A15FA-EBF1-E070-6900-8A4B7F57A3D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6866C72-ACA3-4598-C373-428DFADEE98F}"/>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6" name="Footer Placeholder 5">
            <a:extLst>
              <a:ext uri="{FF2B5EF4-FFF2-40B4-BE49-F238E27FC236}">
                <a16:creationId xmlns:a16="http://schemas.microsoft.com/office/drawing/2014/main" id="{C5A86C3F-5577-51A8-0803-BEC6311D76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CC6621FE-FA85-13BD-4772-705DE0103119}"/>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10590293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B44AC-8119-4C91-C513-C1889AFA7A3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13EC58F-E877-3AC7-3C3E-14817899E6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9CA5ADF-08A0-A51A-76CB-38741F96F77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6CE17E9-370C-1314-A100-E214D3B67D35}"/>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6" name="Footer Placeholder 5">
            <a:extLst>
              <a:ext uri="{FF2B5EF4-FFF2-40B4-BE49-F238E27FC236}">
                <a16:creationId xmlns:a16="http://schemas.microsoft.com/office/drawing/2014/main" id="{CF71AB7E-1F45-E3B4-6F04-281431F4165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7CFA99F-95BA-94A2-3EF9-9929E36D0081}"/>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855468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BCA522-3528-418E-79C1-8B63C7DF62C0}"/>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B22F675-3150-AC33-6A9B-B294153352F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52FF0B2-5875-CF1D-C71F-F03E183519A4}"/>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5" name="Footer Placeholder 4">
            <a:extLst>
              <a:ext uri="{FF2B5EF4-FFF2-40B4-BE49-F238E27FC236}">
                <a16:creationId xmlns:a16="http://schemas.microsoft.com/office/drawing/2014/main" id="{50D40993-6CA4-78E1-D519-BF64043734A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E1C43E1-7ADE-31B8-B96A-F4DD261B42D4}"/>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52921366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4EB956E-D1C4-D496-BCC8-185903EBF02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CD9B5FA4-EC21-09CC-C001-9E83CF649BE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E845EA7-EA8D-0428-BB1E-4B550D09CFBB}"/>
              </a:ext>
            </a:extLst>
          </p:cNvPr>
          <p:cNvSpPr>
            <a:spLocks noGrp="1"/>
          </p:cNvSpPr>
          <p:nvPr>
            <p:ph type="dt" sz="half" idx="10"/>
          </p:nvPr>
        </p:nvSpPr>
        <p:spPr/>
        <p:txBody>
          <a:bodyPr/>
          <a:lstStyle/>
          <a:p>
            <a:fld id="{FE3DF52D-FED1-4EFF-A6C9-D436748E05C4}" type="datetimeFigureOut">
              <a:rPr lang="en-US" smtClean="0"/>
              <a:t>11/14/2025</a:t>
            </a:fld>
            <a:endParaRPr lang="en-US"/>
          </a:p>
        </p:txBody>
      </p:sp>
      <p:sp>
        <p:nvSpPr>
          <p:cNvPr id="5" name="Footer Placeholder 4">
            <a:extLst>
              <a:ext uri="{FF2B5EF4-FFF2-40B4-BE49-F238E27FC236}">
                <a16:creationId xmlns:a16="http://schemas.microsoft.com/office/drawing/2014/main" id="{0FE42A21-D1CD-9FDC-1FC7-FF4C8720A3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37253-76BF-7CA9-DEF9-5E54510ED3D1}"/>
              </a:ext>
            </a:extLst>
          </p:cNvPr>
          <p:cNvSpPr>
            <a:spLocks noGrp="1"/>
          </p:cNvSpPr>
          <p:nvPr>
            <p:ph type="sldNum" sz="quarter" idx="12"/>
          </p:nvPr>
        </p:nvSpPr>
        <p:spPr/>
        <p:txBody>
          <a:bodyPr/>
          <a:lstStyle/>
          <a:p>
            <a:fld id="{C54EC6E2-B3D6-4378-85F5-0B44E07FAF11}" type="slidenum">
              <a:rPr lang="en-US" smtClean="0"/>
              <a:t>‹#›</a:t>
            </a:fld>
            <a:endParaRPr lang="en-US"/>
          </a:p>
        </p:txBody>
      </p:sp>
    </p:spTree>
    <p:extLst>
      <p:ext uri="{BB962C8B-B14F-4D97-AF65-F5344CB8AC3E}">
        <p14:creationId xmlns:p14="http://schemas.microsoft.com/office/powerpoint/2010/main" val="28289818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6BE1B2-5FE2-4C8C-2E46-5A557C1A9D8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8289729-5535-1AA5-3EAD-CE1F707EF36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0F1CDF3-74ED-5C06-7AA7-22CED5D610B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E3DF52D-FED1-4EFF-A6C9-D436748E05C4}" type="datetimeFigureOut">
              <a:rPr lang="en-US" smtClean="0"/>
              <a:t>11/14/2025</a:t>
            </a:fld>
            <a:endParaRPr lang="en-US"/>
          </a:p>
        </p:txBody>
      </p:sp>
      <p:sp>
        <p:nvSpPr>
          <p:cNvPr id="5" name="Footer Placeholder 4">
            <a:extLst>
              <a:ext uri="{FF2B5EF4-FFF2-40B4-BE49-F238E27FC236}">
                <a16:creationId xmlns:a16="http://schemas.microsoft.com/office/drawing/2014/main" id="{CCFC729E-E457-D1B2-020B-72645FAE7B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D2FE6E3C-C02D-95A8-39C2-7FA78CFF09D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54EC6E2-B3D6-4378-85F5-0B44E07FAF11}" type="slidenum">
              <a:rPr lang="en-US" smtClean="0"/>
              <a:t>‹#›</a:t>
            </a:fld>
            <a:endParaRPr lang="en-US"/>
          </a:p>
        </p:txBody>
      </p:sp>
    </p:spTree>
    <p:extLst>
      <p:ext uri="{BB962C8B-B14F-4D97-AF65-F5344CB8AC3E}">
        <p14:creationId xmlns:p14="http://schemas.microsoft.com/office/powerpoint/2010/main" val="26988545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robot hand with a metal ring&#10;&#10;Description automatically generated">
            <a:extLst>
              <a:ext uri="{FF2B5EF4-FFF2-40B4-BE49-F238E27FC236}">
                <a16:creationId xmlns:a16="http://schemas.microsoft.com/office/drawing/2014/main" id="{9B44858C-90A5-96D9-117F-0997E0F5E000}"/>
              </a:ext>
            </a:extLst>
          </p:cNvPr>
          <p:cNvPicPr>
            <a:picLocks noChangeAspect="1"/>
          </p:cNvPicPr>
          <p:nvPr/>
        </p:nvPicPr>
        <p:blipFill>
          <a:blip r:embed="rId2">
            <a:extLst>
              <a:ext uri="{28A0092B-C50C-407E-A947-70E740481C1C}">
                <a14:useLocalDpi xmlns:a14="http://schemas.microsoft.com/office/drawing/2010/main" val="0"/>
              </a:ext>
            </a:extLst>
          </a:blip>
          <a:srcRect t="7802" b="7802"/>
          <a:stretch>
            <a:fillRect/>
          </a:stretch>
        </p:blipFill>
        <p:spPr>
          <a:xfrm>
            <a:off x="0" y="0"/>
            <a:ext cx="12192000" cy="6858000"/>
          </a:xfrm>
          <a:prstGeom prst="rect">
            <a:avLst/>
          </a:prstGeom>
        </p:spPr>
      </p:pic>
      <p:sp>
        <p:nvSpPr>
          <p:cNvPr id="4" name="Rectangle 3">
            <a:extLst>
              <a:ext uri="{FF2B5EF4-FFF2-40B4-BE49-F238E27FC236}">
                <a16:creationId xmlns:a16="http://schemas.microsoft.com/office/drawing/2014/main" id="{D06E93CD-92E3-06AC-63CD-379D1D2531D1}"/>
              </a:ext>
            </a:extLst>
          </p:cNvPr>
          <p:cNvSpPr/>
          <p:nvPr/>
        </p:nvSpPr>
        <p:spPr>
          <a:xfrm>
            <a:off x="0" y="0"/>
            <a:ext cx="12192000" cy="6858000"/>
          </a:xfrm>
          <a:prstGeom prst="rect">
            <a:avLst/>
          </a:prstGeom>
          <a:gradFill>
            <a:gsLst>
              <a:gs pos="0">
                <a:schemeClr val="tx1"/>
              </a:gs>
              <a:gs pos="100000">
                <a:schemeClr val="tx1">
                  <a:alpha val="42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TextBox 5">
            <a:extLst>
              <a:ext uri="{FF2B5EF4-FFF2-40B4-BE49-F238E27FC236}">
                <a16:creationId xmlns:a16="http://schemas.microsoft.com/office/drawing/2014/main" id="{8D1491BD-006A-1A50-3A13-00CF6E917968}"/>
              </a:ext>
            </a:extLst>
          </p:cNvPr>
          <p:cNvSpPr txBox="1"/>
          <p:nvPr/>
        </p:nvSpPr>
        <p:spPr>
          <a:xfrm>
            <a:off x="547624" y="1843014"/>
            <a:ext cx="11096752" cy="1862048"/>
          </a:xfrm>
          <a:prstGeom prst="rect">
            <a:avLst/>
          </a:prstGeom>
          <a:noFill/>
        </p:spPr>
        <p:txBody>
          <a:bodyPr wrap="square" rtlCol="0">
            <a:spAutoFit/>
          </a:bodyPr>
          <a:lstStyle/>
          <a:p>
            <a:pPr algn="ctr"/>
            <a:r>
              <a:rPr lang="en-US" sz="11500" dirty="0">
                <a:gradFill>
                  <a:gsLst>
                    <a:gs pos="44000">
                      <a:schemeClr val="accent1"/>
                    </a:gs>
                    <a:gs pos="100000">
                      <a:srgbClr val="F9D5BD"/>
                    </a:gs>
                  </a:gsLst>
                  <a:lin ang="0" scaled="1"/>
                </a:gradFill>
                <a:latin typeface="Century Gothic" panose="020B0502020202020204" pitchFamily="34" charset="0"/>
                <a:ea typeface="UD Digi Kyokasho NP-R" panose="020B0400000000000000" pitchFamily="18" charset="-128"/>
                <a:cs typeface="Shruti" panose="020B0502040204020203" pitchFamily="34" charset="0"/>
              </a:rPr>
              <a:t>RAIS</a:t>
            </a:r>
            <a:r>
              <a:rPr lang="en-US" sz="4800" dirty="0">
                <a:gradFill>
                  <a:gsLst>
                    <a:gs pos="44000">
                      <a:schemeClr val="accent1"/>
                    </a:gs>
                    <a:gs pos="100000">
                      <a:srgbClr val="F9D5BD"/>
                    </a:gs>
                  </a:gsLst>
                  <a:lin ang="0" scaled="1"/>
                </a:gradFill>
                <a:latin typeface="Century Gothic" panose="020B0502020202020204" pitchFamily="34" charset="0"/>
                <a:ea typeface="UD Digi Kyokasho NP-R" panose="020B0400000000000000" pitchFamily="18" charset="-128"/>
                <a:cs typeface="Shruti" panose="020B0502040204020203" pitchFamily="34" charset="0"/>
              </a:rPr>
              <a:t>(Robotics And AI Society)</a:t>
            </a:r>
            <a:endParaRPr lang="en-IN" sz="13800" dirty="0">
              <a:gradFill>
                <a:gsLst>
                  <a:gs pos="44000">
                    <a:schemeClr val="accent1"/>
                  </a:gs>
                  <a:gs pos="100000">
                    <a:srgbClr val="F9D5BD"/>
                  </a:gs>
                </a:gsLst>
                <a:lin ang="0" scaled="1"/>
              </a:gradFill>
              <a:latin typeface="Century Gothic" panose="020B0502020202020204" pitchFamily="34" charset="0"/>
              <a:ea typeface="UD Digi Kyokasho NP-R" panose="020B0400000000000000" pitchFamily="18" charset="-128"/>
              <a:cs typeface="Shruti" panose="020B0502040204020203" pitchFamily="34" charset="0"/>
            </a:endParaRPr>
          </a:p>
        </p:txBody>
      </p:sp>
      <p:pic>
        <p:nvPicPr>
          <p:cNvPr id="1032" name="Picture 8" descr="Gemini Docs and API Reference | Google AI for Developers">
            <a:extLst>
              <a:ext uri="{FF2B5EF4-FFF2-40B4-BE49-F238E27FC236}">
                <a16:creationId xmlns:a16="http://schemas.microsoft.com/office/drawing/2014/main" id="{817A915D-2BC1-1395-5FD0-7F17D1D407B2}"/>
              </a:ext>
            </a:extLst>
          </p:cNvPr>
          <p:cNvPicPr>
            <a:picLocks noChangeAspect="1" noChangeArrowheads="1"/>
          </p:cNvPicPr>
          <p:nvPr/>
        </p:nvPicPr>
        <p:blipFill>
          <a:blip r:embed="rId3">
            <a:extLst>
              <a:ext uri="{28A0092B-C50C-407E-A947-70E740481C1C}">
                <a14:useLocalDpi xmlns:a14="http://schemas.microsoft.com/office/drawing/2010/main" val="0"/>
              </a:ext>
            </a:extLst>
          </a:blip>
          <a:stretch>
            <a:fillRect/>
          </a:stretch>
        </p:blipFill>
        <p:spPr bwMode="auto">
          <a:xfrm>
            <a:off x="2548203" y="1685925"/>
            <a:ext cx="845702" cy="528564"/>
          </a:xfrm>
          <a:prstGeom prst="rect">
            <a:avLst/>
          </a:prstGeom>
          <a:noFill/>
          <a:extLst>
            <a:ext uri="{909E8E84-426E-40DD-AFC4-6F175D3DCCD1}">
              <a14:hiddenFill xmlns:a14="http://schemas.microsoft.com/office/drawing/2010/main">
                <a:solidFill>
                  <a:srgbClr val="FFFFFF"/>
                </a:solidFill>
              </a14:hiddenFill>
            </a:ext>
          </a:extLst>
        </p:spPr>
      </p:pic>
      <p:sp>
        <p:nvSpPr>
          <p:cNvPr id="12" name="Frame 11">
            <a:extLst>
              <a:ext uri="{FF2B5EF4-FFF2-40B4-BE49-F238E27FC236}">
                <a16:creationId xmlns:a16="http://schemas.microsoft.com/office/drawing/2014/main" id="{97B8E0B0-F031-741E-CFB1-22C5696B63AD}"/>
              </a:ext>
            </a:extLst>
          </p:cNvPr>
          <p:cNvSpPr/>
          <p:nvPr/>
        </p:nvSpPr>
        <p:spPr>
          <a:xfrm>
            <a:off x="332829" y="322337"/>
            <a:ext cx="11526343" cy="6213326"/>
          </a:xfrm>
          <a:prstGeom prst="frame">
            <a:avLst>
              <a:gd name="adj1" fmla="val 207"/>
            </a:avLst>
          </a:prstGeom>
          <a:gradFill>
            <a:gsLst>
              <a:gs pos="0">
                <a:schemeClr val="accent2">
                  <a:lumMod val="20000"/>
                  <a:lumOff val="80000"/>
                </a:schemeClr>
              </a:gs>
              <a:gs pos="100000">
                <a:schemeClr val="accent1">
                  <a:lumMod val="20000"/>
                  <a:lumOff val="8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5735142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1032"/>
                                        </p:tgtEl>
                                        <p:attrNameLst>
                                          <p:attrName>style.visibility</p:attrName>
                                        </p:attrNameLst>
                                      </p:cBhvr>
                                      <p:to>
                                        <p:strVal val="visible"/>
                                      </p:to>
                                    </p:set>
                                    <p:animEffect transition="in" filter="fade">
                                      <p:cBhvr>
                                        <p:cTn id="7" dur="500"/>
                                        <p:tgtEl>
                                          <p:spTgt spid="103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childTnLst>
                                </p:cTn>
                              </p:par>
                              <p:par>
                                <p:cTn id="11" presetID="10" presetClass="entr" presetSubtype="0" fill="hold" nodeType="withEffect">
                                  <p:stCondLst>
                                    <p:cond delay="0"/>
                                  </p:stCondLst>
                                  <p:childTnLst>
                                    <p:set>
                                      <p:cBhvr>
                                        <p:cTn id="12" dur="1" fill="hold">
                                          <p:stCondLst>
                                            <p:cond delay="0"/>
                                          </p:stCondLst>
                                        </p:cTn>
                                        <p:tgtEl>
                                          <p:spTgt spid="6">
                                            <p:txEl>
                                              <p:pRg st="0" end="0"/>
                                            </p:txEl>
                                          </p:spTgt>
                                        </p:tgtEl>
                                        <p:attrNameLst>
                                          <p:attrName>style.visibility</p:attrName>
                                        </p:attrNameLst>
                                      </p:cBhvr>
                                      <p:to>
                                        <p:strVal val="visible"/>
                                      </p:to>
                                    </p:set>
                                    <p:animEffect transition="in" filter="fade">
                                      <p:cBhvr>
                                        <p:cTn id="13"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r>
              <a:rPr lang="en-US" sz="2800" b="1" dirty="0">
                <a:solidFill>
                  <a:schemeClr val="bg1"/>
                </a:solidFill>
                <a:latin typeface="Century Gothic" panose="020B0502020202020204" pitchFamily="34" charset="0"/>
              </a:rPr>
              <a:t>Purpose and Need</a:t>
            </a:r>
            <a:endParaRPr lang="en-IN" sz="2800" b="1" dirty="0">
              <a:solidFill>
                <a:schemeClr val="bg1"/>
              </a:solidFill>
              <a:latin typeface="Century Gothic" panose="020B0502020202020204" pitchFamily="34" charset="0"/>
            </a:endParaRPr>
          </a:p>
        </p:txBody>
      </p:sp>
      <p:sp>
        <p:nvSpPr>
          <p:cNvPr id="6" name="TextBox 5">
            <a:extLst>
              <a:ext uri="{FF2B5EF4-FFF2-40B4-BE49-F238E27FC236}">
                <a16:creationId xmlns:a16="http://schemas.microsoft.com/office/drawing/2014/main" id="{D802977E-19B5-B2F0-FCE6-140C17521B6A}"/>
              </a:ext>
            </a:extLst>
          </p:cNvPr>
          <p:cNvSpPr txBox="1"/>
          <p:nvPr/>
        </p:nvSpPr>
        <p:spPr>
          <a:xfrm>
            <a:off x="1231655" y="1612275"/>
            <a:ext cx="10379321" cy="1522853"/>
          </a:xfrm>
          <a:prstGeom prst="rect">
            <a:avLst/>
          </a:prstGeom>
          <a:noFill/>
        </p:spPr>
        <p:txBody>
          <a:bodyPr wrap="square">
            <a:spAutoFit/>
          </a:bodyPr>
          <a:lstStyle/>
          <a:p>
            <a:pPr>
              <a:lnSpc>
                <a:spcPct val="150000"/>
              </a:lnSpc>
            </a:pPr>
            <a:r>
              <a:rPr lang="en-US" sz="1600" b="0" i="0" dirty="0">
                <a:solidFill>
                  <a:schemeClr val="bg1"/>
                </a:solidFill>
                <a:effectLst/>
                <a:latin typeface="Century Gothic" panose="020B0502020202020204" pitchFamily="34" charset="0"/>
                <a:cs typeface="Shruti" panose="020B0502040204020203" pitchFamily="34" charset="0"/>
              </a:rPr>
              <a:t>We are entering an era where AI will diagnose, treat, and assist. Traditional computer science teaching is not aligned with how medical minds think. Customized programming education can unlock potential in Students with medical background. Students interested in AI in Healthcare, Agentic AI, and Bioinformatics should have a home to learn, discuss, and grow.</a:t>
            </a:r>
            <a:endParaRPr lang="en-IN" sz="1600" dirty="0">
              <a:solidFill>
                <a:schemeClr val="bg1"/>
              </a:solidFill>
              <a:latin typeface="Century Gothic" panose="020B0502020202020204" pitchFamily="34" charset="0"/>
              <a:cs typeface="Shruti" panose="020B0502040204020203" pitchFamily="34" charset="0"/>
            </a:endParaRPr>
          </a:p>
        </p:txBody>
      </p:sp>
      <p:sp>
        <p:nvSpPr>
          <p:cNvPr id="12" name="TextBox 11">
            <a:extLst>
              <a:ext uri="{FF2B5EF4-FFF2-40B4-BE49-F238E27FC236}">
                <a16:creationId xmlns:a16="http://schemas.microsoft.com/office/drawing/2014/main" id="{AFF0C1AB-E44F-7205-9CD8-E38AA90CE813}"/>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pic>
        <p:nvPicPr>
          <p:cNvPr id="7" name="Picture 6">
            <a:extLst>
              <a:ext uri="{FF2B5EF4-FFF2-40B4-BE49-F238E27FC236}">
                <a16:creationId xmlns:a16="http://schemas.microsoft.com/office/drawing/2014/main" id="{9ECE8E5F-CF8C-1883-CF6B-FCA2D0583AEB}"/>
              </a:ext>
            </a:extLst>
          </p:cNvPr>
          <p:cNvPicPr>
            <a:picLocks noChangeAspect="1"/>
          </p:cNvPicPr>
          <p:nvPr/>
        </p:nvPicPr>
        <p:blipFill>
          <a:blip r:embed="rId3"/>
          <a:stretch>
            <a:fillRect/>
          </a:stretch>
        </p:blipFill>
        <p:spPr>
          <a:xfrm>
            <a:off x="3557587" y="3169861"/>
            <a:ext cx="5076825" cy="3384550"/>
          </a:xfrm>
          <a:prstGeom prst="rect">
            <a:avLst/>
          </a:prstGeom>
        </p:spPr>
      </p:pic>
    </p:spTree>
    <p:extLst>
      <p:ext uri="{BB962C8B-B14F-4D97-AF65-F5344CB8AC3E}">
        <p14:creationId xmlns:p14="http://schemas.microsoft.com/office/powerpoint/2010/main" val="399623145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descr="A white robot hand pointing&#10;&#10;Description automatically generated">
            <a:extLst>
              <a:ext uri="{FF2B5EF4-FFF2-40B4-BE49-F238E27FC236}">
                <a16:creationId xmlns:a16="http://schemas.microsoft.com/office/drawing/2014/main" id="{1912771D-DF42-7220-F2A5-8AE7F7CC7D14}"/>
              </a:ext>
            </a:extLst>
          </p:cNvPr>
          <p:cNvPicPr>
            <a:picLocks noChangeAspect="1"/>
          </p:cNvPicPr>
          <p:nvPr/>
        </p:nvPicPr>
        <p:blipFill>
          <a:blip r:embed="rId2">
            <a:extLst>
              <a:ext uri="{28A0092B-C50C-407E-A947-70E740481C1C}">
                <a14:useLocalDpi xmlns:a14="http://schemas.microsoft.com/office/drawing/2010/main" val="0"/>
              </a:ext>
            </a:extLst>
          </a:blip>
          <a:srcRect l="30718" t="15619" r="8029" b="27446"/>
          <a:stretch>
            <a:fillRect/>
          </a:stretch>
        </p:blipFill>
        <p:spPr>
          <a:xfrm>
            <a:off x="0" y="2702881"/>
            <a:ext cx="6602705" cy="4155120"/>
          </a:xfrm>
          <a:prstGeom prst="rect">
            <a:avLst/>
          </a:prstGeom>
        </p:spPr>
      </p:pic>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r>
              <a:rPr lang="en-IN" sz="2800" b="1" dirty="0">
                <a:solidFill>
                  <a:schemeClr val="bg1"/>
                </a:solidFill>
                <a:latin typeface="Century Gothic" panose="020B0502020202020204" pitchFamily="34" charset="0"/>
              </a:rPr>
              <a:t>Vision of the Society</a:t>
            </a:r>
          </a:p>
        </p:txBody>
      </p:sp>
      <p:sp>
        <p:nvSpPr>
          <p:cNvPr id="6" name="TextBox 5">
            <a:extLst>
              <a:ext uri="{FF2B5EF4-FFF2-40B4-BE49-F238E27FC236}">
                <a16:creationId xmlns:a16="http://schemas.microsoft.com/office/drawing/2014/main" id="{24F4809F-818B-DBC6-7A1C-7FDA8ADF31FD}"/>
              </a:ext>
            </a:extLst>
          </p:cNvPr>
          <p:cNvSpPr txBox="1"/>
          <p:nvPr/>
        </p:nvSpPr>
        <p:spPr>
          <a:xfrm>
            <a:off x="7002756" y="2300236"/>
            <a:ext cx="4389144" cy="2261517"/>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600" b="0" i="0" u="none" strike="noStrike" cap="none" normalizeH="0" baseline="0" dirty="0">
                <a:ln>
                  <a:noFill/>
                </a:ln>
                <a:solidFill>
                  <a:schemeClr val="bg1"/>
                </a:solidFill>
                <a:effectLst/>
                <a:latin typeface="Century Gothic" panose="020B0502020202020204" pitchFamily="34" charset="0"/>
                <a:cs typeface="Shruti" panose="020B0502040204020203" pitchFamily="34" charset="0"/>
              </a:rPr>
              <a:t>To empower CS students from medical </a:t>
            </a:r>
            <a:r>
              <a:rPr lang="en-US" altLang="en-US" sz="1600" dirty="0">
                <a:solidFill>
                  <a:schemeClr val="bg1"/>
                </a:solidFill>
                <a:latin typeface="Century Gothic" panose="020B0502020202020204" pitchFamily="34" charset="0"/>
                <a:cs typeface="Shruti" panose="020B0502040204020203" pitchFamily="34" charset="0"/>
              </a:rPr>
              <a:t>background </a:t>
            </a:r>
            <a:r>
              <a:rPr kumimoji="0" lang="en-US" altLang="en-US" sz="1600" b="0" i="0" u="none" strike="noStrike" cap="none" normalizeH="0" baseline="0" dirty="0">
                <a:ln>
                  <a:noFill/>
                </a:ln>
                <a:solidFill>
                  <a:schemeClr val="bg1"/>
                </a:solidFill>
                <a:effectLst/>
                <a:latin typeface="Century Gothic" panose="020B0502020202020204" pitchFamily="34" charset="0"/>
                <a:cs typeface="Shruti" panose="020B0502040204020203" pitchFamily="34" charset="0"/>
              </a:rPr>
              <a:t>with programming and AI skills, bridging the gap between healthcare and technology, and preparing them for the future of driven by Artificial Intelligence and Agentic AI</a:t>
            </a:r>
          </a:p>
        </p:txBody>
      </p:sp>
      <p:sp>
        <p:nvSpPr>
          <p:cNvPr id="10" name="TextBox 9">
            <a:extLst>
              <a:ext uri="{FF2B5EF4-FFF2-40B4-BE49-F238E27FC236}">
                <a16:creationId xmlns:a16="http://schemas.microsoft.com/office/drawing/2014/main" id="{C122577F-5A47-4AFE-62CD-403405EB6541}"/>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spTree>
    <p:extLst>
      <p:ext uri="{BB962C8B-B14F-4D97-AF65-F5344CB8AC3E}">
        <p14:creationId xmlns:p14="http://schemas.microsoft.com/office/powerpoint/2010/main" val="23998739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pPr algn="l"/>
            <a:r>
              <a:rPr lang="en-IN" sz="2800" b="1" dirty="0">
                <a:solidFill>
                  <a:schemeClr val="bg1"/>
                </a:solidFill>
                <a:latin typeface="Century Gothic" panose="020B0502020202020204" pitchFamily="34" charset="0"/>
              </a:rPr>
              <a:t>Society Structure</a:t>
            </a:r>
          </a:p>
        </p:txBody>
      </p:sp>
      <p:graphicFrame>
        <p:nvGraphicFramePr>
          <p:cNvPr id="7" name="Table 6">
            <a:extLst>
              <a:ext uri="{FF2B5EF4-FFF2-40B4-BE49-F238E27FC236}">
                <a16:creationId xmlns:a16="http://schemas.microsoft.com/office/drawing/2014/main" id="{38AA6E0B-1A3C-4571-BC0F-522B1B00AC64}"/>
              </a:ext>
            </a:extLst>
          </p:cNvPr>
          <p:cNvGraphicFramePr>
            <a:graphicFrameLocks noGrp="1"/>
          </p:cNvGraphicFramePr>
          <p:nvPr>
            <p:extLst>
              <p:ext uri="{D42A27DB-BD31-4B8C-83A1-F6EECF244321}">
                <p14:modId xmlns:p14="http://schemas.microsoft.com/office/powerpoint/2010/main" val="3679958568"/>
              </p:ext>
            </p:extLst>
          </p:nvPr>
        </p:nvGraphicFramePr>
        <p:xfrm>
          <a:off x="448866" y="1969655"/>
          <a:ext cx="11294267" cy="3971072"/>
        </p:xfrm>
        <a:graphic>
          <a:graphicData uri="http://schemas.openxmlformats.org/drawingml/2006/table">
            <a:tbl>
              <a:tblPr firstRow="1" bandRow="1">
                <a:tableStyleId>{5C22544A-7EE6-4342-B048-85BDC9FD1C3A}</a:tableStyleId>
              </a:tblPr>
              <a:tblGrid>
                <a:gridCol w="3380184">
                  <a:extLst>
                    <a:ext uri="{9D8B030D-6E8A-4147-A177-3AD203B41FA5}">
                      <a16:colId xmlns:a16="http://schemas.microsoft.com/office/drawing/2014/main" val="3126995003"/>
                    </a:ext>
                  </a:extLst>
                </a:gridCol>
                <a:gridCol w="7914083">
                  <a:extLst>
                    <a:ext uri="{9D8B030D-6E8A-4147-A177-3AD203B41FA5}">
                      <a16:colId xmlns:a16="http://schemas.microsoft.com/office/drawing/2014/main" val="1764597797"/>
                    </a:ext>
                  </a:extLst>
                </a:gridCol>
              </a:tblGrid>
              <a:tr h="552994">
                <a:tc>
                  <a:txBody>
                    <a:bodyPr/>
                    <a:lstStyle/>
                    <a:p>
                      <a:pPr algn="l"/>
                      <a:r>
                        <a:rPr lang="en-US" sz="2000" b="1">
                          <a:solidFill>
                            <a:schemeClr val="bg1"/>
                          </a:solidFill>
                          <a:effectLst/>
                          <a:latin typeface="Century Gothic" panose="020B0502020202020204" pitchFamily="34" charset="0"/>
                        </a:rPr>
                        <a:t>Position</a:t>
                      </a:r>
                    </a:p>
                  </a:txBody>
                  <a:tcPr marL="54227" marR="54227" marT="27113" marB="27113" anchor="ctr">
                    <a:gradFill>
                      <a:gsLst>
                        <a:gs pos="32000">
                          <a:schemeClr val="accent1"/>
                        </a:gs>
                        <a:gs pos="100000">
                          <a:schemeClr val="accent2">
                            <a:lumMod val="40000"/>
                            <a:lumOff val="60000"/>
                          </a:schemeClr>
                        </a:gs>
                      </a:gsLst>
                      <a:lin ang="0" scaled="1"/>
                    </a:gradFill>
                  </a:tcPr>
                </a:tc>
                <a:tc>
                  <a:txBody>
                    <a:bodyPr/>
                    <a:lstStyle/>
                    <a:p>
                      <a:pPr algn="l"/>
                      <a:r>
                        <a:rPr lang="en-US" sz="2000" b="1" dirty="0">
                          <a:solidFill>
                            <a:schemeClr val="bg1"/>
                          </a:solidFill>
                          <a:effectLst/>
                          <a:latin typeface="Century Gothic" panose="020B0502020202020204" pitchFamily="34" charset="0"/>
                        </a:rPr>
                        <a:t>Role</a:t>
                      </a:r>
                    </a:p>
                  </a:txBody>
                  <a:tcPr marL="54227" marR="54227" marT="27113" marB="27113" anchor="ctr">
                    <a:gradFill>
                      <a:gsLst>
                        <a:gs pos="32000">
                          <a:schemeClr val="accent1"/>
                        </a:gs>
                        <a:gs pos="100000">
                          <a:schemeClr val="accent2">
                            <a:lumMod val="40000"/>
                            <a:lumOff val="60000"/>
                          </a:schemeClr>
                        </a:gs>
                      </a:gsLst>
                      <a:lin ang="0" scaled="1"/>
                    </a:gradFill>
                  </a:tcPr>
                </a:tc>
                <a:extLst>
                  <a:ext uri="{0D108BD9-81ED-4DB2-BD59-A6C34878D82A}">
                    <a16:rowId xmlns:a16="http://schemas.microsoft.com/office/drawing/2014/main" val="283473641"/>
                  </a:ext>
                </a:extLst>
              </a:tr>
              <a:tr h="479362">
                <a:tc>
                  <a:txBody>
                    <a:bodyPr/>
                    <a:lstStyle/>
                    <a:p>
                      <a:pPr algn="l"/>
                      <a:r>
                        <a:rPr lang="en-US" sz="1600" b="0" dirty="0">
                          <a:solidFill>
                            <a:schemeClr val="bg1"/>
                          </a:solidFill>
                          <a:effectLst/>
                          <a:latin typeface="Century Gothic" panose="020B0502020202020204" pitchFamily="34" charset="0"/>
                        </a:rPr>
                        <a:t>President</a:t>
                      </a:r>
                    </a:p>
                  </a:txBody>
                  <a:tcPr marL="54227" marR="54227" marT="27113" marB="27113" anchor="ctr">
                    <a:solidFill>
                      <a:schemeClr val="tx1"/>
                    </a:solidFill>
                  </a:tcPr>
                </a:tc>
                <a:tc>
                  <a:txBody>
                    <a:bodyPr/>
                    <a:lstStyle/>
                    <a:p>
                      <a:pPr algn="l"/>
                      <a:r>
                        <a:rPr lang="en-US" sz="1600" b="0">
                          <a:solidFill>
                            <a:schemeClr val="bg1"/>
                          </a:solidFill>
                          <a:effectLst/>
                          <a:latin typeface="Century Gothic" panose="020B0502020202020204" pitchFamily="34" charset="0"/>
                        </a:rPr>
                        <a:t>Main leader. Organizes meetings, oversees all activities, represents society to university.</a:t>
                      </a:r>
                    </a:p>
                  </a:txBody>
                  <a:tcPr marL="54227" marR="54227" marT="27113" marB="27113" anchor="ctr">
                    <a:solidFill>
                      <a:schemeClr val="tx1"/>
                    </a:solidFill>
                  </a:tcPr>
                </a:tc>
                <a:extLst>
                  <a:ext uri="{0D108BD9-81ED-4DB2-BD59-A6C34878D82A}">
                    <a16:rowId xmlns:a16="http://schemas.microsoft.com/office/drawing/2014/main" val="1287175743"/>
                  </a:ext>
                </a:extLst>
              </a:tr>
              <a:tr h="479362">
                <a:tc>
                  <a:txBody>
                    <a:bodyPr/>
                    <a:lstStyle/>
                    <a:p>
                      <a:pPr algn="l"/>
                      <a:r>
                        <a:rPr lang="en-US" sz="1600" b="0">
                          <a:solidFill>
                            <a:schemeClr val="bg1"/>
                          </a:solidFill>
                          <a:effectLst/>
                          <a:latin typeface="Century Gothic" panose="020B0502020202020204" pitchFamily="34" charset="0"/>
                        </a:rPr>
                        <a:t>General Secretary</a:t>
                      </a:r>
                    </a:p>
                  </a:txBody>
                  <a:tcPr marL="54227" marR="54227" marT="27113" marB="27113" anchor="ctr">
                    <a:solidFill>
                      <a:schemeClr val="tx1"/>
                    </a:solidFill>
                  </a:tcPr>
                </a:tc>
                <a:tc>
                  <a:txBody>
                    <a:bodyPr/>
                    <a:lstStyle/>
                    <a:p>
                      <a:pPr algn="l"/>
                      <a:r>
                        <a:rPr lang="en-US" sz="1600" b="0">
                          <a:solidFill>
                            <a:schemeClr val="bg1"/>
                          </a:solidFill>
                          <a:effectLst/>
                          <a:latin typeface="Century Gothic" panose="020B0502020202020204" pitchFamily="34" charset="0"/>
                        </a:rPr>
                        <a:t>Manages records, handles communications, schedules events.</a:t>
                      </a:r>
                    </a:p>
                  </a:txBody>
                  <a:tcPr marL="54227" marR="54227" marT="27113" marB="27113" anchor="ctr">
                    <a:solidFill>
                      <a:schemeClr val="tx1"/>
                    </a:solidFill>
                  </a:tcPr>
                </a:tc>
                <a:extLst>
                  <a:ext uri="{0D108BD9-81ED-4DB2-BD59-A6C34878D82A}">
                    <a16:rowId xmlns:a16="http://schemas.microsoft.com/office/drawing/2014/main" val="3225169256"/>
                  </a:ext>
                </a:extLst>
              </a:tr>
              <a:tr h="479362">
                <a:tc>
                  <a:txBody>
                    <a:bodyPr/>
                    <a:lstStyle/>
                    <a:p>
                      <a:pPr algn="l"/>
                      <a:r>
                        <a:rPr lang="en-US" sz="1600" b="0">
                          <a:solidFill>
                            <a:schemeClr val="bg1"/>
                          </a:solidFill>
                          <a:effectLst/>
                          <a:latin typeface="Century Gothic" panose="020B0502020202020204" pitchFamily="34" charset="0"/>
                        </a:rPr>
                        <a:t>Vice President (Academics)</a:t>
                      </a:r>
                    </a:p>
                  </a:txBody>
                  <a:tcPr marL="54227" marR="54227" marT="27113" marB="27113" anchor="ctr">
                    <a:solidFill>
                      <a:schemeClr val="tx1"/>
                    </a:solidFill>
                  </a:tcPr>
                </a:tc>
                <a:tc>
                  <a:txBody>
                    <a:bodyPr/>
                    <a:lstStyle/>
                    <a:p>
                      <a:pPr algn="l"/>
                      <a:r>
                        <a:rPr lang="en-US" sz="1600" b="0" dirty="0">
                          <a:solidFill>
                            <a:schemeClr val="bg1"/>
                          </a:solidFill>
                          <a:effectLst/>
                          <a:latin typeface="Century Gothic" panose="020B0502020202020204" pitchFamily="34" charset="0"/>
                        </a:rPr>
                        <a:t>Plans and monitors weekly learning sessions and workshops.</a:t>
                      </a:r>
                    </a:p>
                  </a:txBody>
                  <a:tcPr marL="54227" marR="54227" marT="27113" marB="27113" anchor="ctr">
                    <a:solidFill>
                      <a:schemeClr val="tx1"/>
                    </a:solidFill>
                  </a:tcPr>
                </a:tc>
                <a:extLst>
                  <a:ext uri="{0D108BD9-81ED-4DB2-BD59-A6C34878D82A}">
                    <a16:rowId xmlns:a16="http://schemas.microsoft.com/office/drawing/2014/main" val="1601509659"/>
                  </a:ext>
                </a:extLst>
              </a:tr>
              <a:tr h="479362">
                <a:tc>
                  <a:txBody>
                    <a:bodyPr/>
                    <a:lstStyle/>
                    <a:p>
                      <a:pPr algn="l"/>
                      <a:r>
                        <a:rPr lang="en-US" sz="1600" b="0">
                          <a:solidFill>
                            <a:schemeClr val="bg1"/>
                          </a:solidFill>
                          <a:effectLst/>
                          <a:latin typeface="Century Gothic" panose="020B0502020202020204" pitchFamily="34" charset="0"/>
                        </a:rPr>
                        <a:t>Vice President (Projects)</a:t>
                      </a:r>
                    </a:p>
                  </a:txBody>
                  <a:tcPr marL="54227" marR="54227" marT="27113" marB="27113" anchor="ctr">
                    <a:solidFill>
                      <a:schemeClr val="tx1"/>
                    </a:solidFill>
                  </a:tcPr>
                </a:tc>
                <a:tc>
                  <a:txBody>
                    <a:bodyPr/>
                    <a:lstStyle/>
                    <a:p>
                      <a:pPr algn="l"/>
                      <a:r>
                        <a:rPr lang="en-US" sz="1600" b="0" dirty="0">
                          <a:solidFill>
                            <a:schemeClr val="bg1"/>
                          </a:solidFill>
                          <a:effectLst/>
                          <a:latin typeface="Century Gothic" panose="020B0502020202020204" pitchFamily="34" charset="0"/>
                        </a:rPr>
                        <a:t>Organizes hands-on projects.</a:t>
                      </a:r>
                    </a:p>
                  </a:txBody>
                  <a:tcPr marL="54227" marR="54227" marT="27113" marB="27113" anchor="ctr">
                    <a:solidFill>
                      <a:schemeClr val="tx1"/>
                    </a:solidFill>
                  </a:tcPr>
                </a:tc>
                <a:extLst>
                  <a:ext uri="{0D108BD9-81ED-4DB2-BD59-A6C34878D82A}">
                    <a16:rowId xmlns:a16="http://schemas.microsoft.com/office/drawing/2014/main" val="3710491749"/>
                  </a:ext>
                </a:extLst>
              </a:tr>
              <a:tr h="479362">
                <a:tc>
                  <a:txBody>
                    <a:bodyPr/>
                    <a:lstStyle/>
                    <a:p>
                      <a:pPr algn="l"/>
                      <a:r>
                        <a:rPr lang="en-US" sz="1600" b="0">
                          <a:solidFill>
                            <a:schemeClr val="bg1"/>
                          </a:solidFill>
                          <a:effectLst/>
                          <a:latin typeface="Century Gothic" panose="020B0502020202020204" pitchFamily="34" charset="0"/>
                        </a:rPr>
                        <a:t>Event Coordinator</a:t>
                      </a:r>
                    </a:p>
                  </a:txBody>
                  <a:tcPr marL="54227" marR="54227" marT="27113" marB="27113" anchor="ctr">
                    <a:solidFill>
                      <a:schemeClr val="tx1"/>
                    </a:solidFill>
                  </a:tcPr>
                </a:tc>
                <a:tc>
                  <a:txBody>
                    <a:bodyPr/>
                    <a:lstStyle/>
                    <a:p>
                      <a:pPr algn="l"/>
                      <a:r>
                        <a:rPr lang="en-US" sz="1600" b="0" dirty="0">
                          <a:solidFill>
                            <a:schemeClr val="bg1"/>
                          </a:solidFill>
                          <a:effectLst/>
                          <a:latin typeface="Century Gothic" panose="020B0502020202020204" pitchFamily="34" charset="0"/>
                        </a:rPr>
                        <a:t>Arranges guest lectures, workshops, and special events.</a:t>
                      </a:r>
                    </a:p>
                  </a:txBody>
                  <a:tcPr marL="54227" marR="54227" marT="27113" marB="27113" anchor="ctr">
                    <a:solidFill>
                      <a:schemeClr val="tx1"/>
                    </a:solidFill>
                  </a:tcPr>
                </a:tc>
                <a:extLst>
                  <a:ext uri="{0D108BD9-81ED-4DB2-BD59-A6C34878D82A}">
                    <a16:rowId xmlns:a16="http://schemas.microsoft.com/office/drawing/2014/main" val="431001947"/>
                  </a:ext>
                </a:extLst>
              </a:tr>
              <a:tr h="479362">
                <a:tc>
                  <a:txBody>
                    <a:bodyPr/>
                    <a:lstStyle/>
                    <a:p>
                      <a:pPr algn="l"/>
                      <a:r>
                        <a:rPr lang="en-US" sz="1600" b="0">
                          <a:solidFill>
                            <a:schemeClr val="bg1"/>
                          </a:solidFill>
                          <a:effectLst/>
                          <a:latin typeface="Century Gothic" panose="020B0502020202020204" pitchFamily="34" charset="0"/>
                        </a:rPr>
                        <a:t>Public Relations Officer (PRO)</a:t>
                      </a:r>
                    </a:p>
                  </a:txBody>
                  <a:tcPr marL="54227" marR="54227" marT="27113" marB="27113" anchor="ctr">
                    <a:solidFill>
                      <a:schemeClr val="tx1"/>
                    </a:solidFill>
                  </a:tcPr>
                </a:tc>
                <a:tc>
                  <a:txBody>
                    <a:bodyPr/>
                    <a:lstStyle/>
                    <a:p>
                      <a:pPr algn="l"/>
                      <a:r>
                        <a:rPr lang="fr-FR" sz="1600" b="0" dirty="0" err="1">
                          <a:solidFill>
                            <a:schemeClr val="bg1"/>
                          </a:solidFill>
                          <a:effectLst/>
                          <a:latin typeface="Century Gothic" panose="020B0502020202020204" pitchFamily="34" charset="0"/>
                        </a:rPr>
                        <a:t>Handles</a:t>
                      </a:r>
                      <a:r>
                        <a:rPr lang="fr-FR" sz="1600" b="0" dirty="0">
                          <a:solidFill>
                            <a:schemeClr val="bg1"/>
                          </a:solidFill>
                          <a:effectLst/>
                          <a:latin typeface="Century Gothic" panose="020B0502020202020204" pitchFamily="34" charset="0"/>
                        </a:rPr>
                        <a:t> promotions, social media, </a:t>
                      </a:r>
                      <a:r>
                        <a:rPr lang="fr-FR" sz="1600" b="0" dirty="0" err="1">
                          <a:solidFill>
                            <a:schemeClr val="bg1"/>
                          </a:solidFill>
                          <a:effectLst/>
                          <a:latin typeface="Century Gothic" panose="020B0502020202020204" pitchFamily="34" charset="0"/>
                        </a:rPr>
                        <a:t>student</a:t>
                      </a:r>
                      <a:r>
                        <a:rPr lang="fr-FR" sz="1600" b="0" dirty="0">
                          <a:solidFill>
                            <a:schemeClr val="bg1"/>
                          </a:solidFill>
                          <a:effectLst/>
                          <a:latin typeface="Century Gothic" panose="020B0502020202020204" pitchFamily="34" charset="0"/>
                        </a:rPr>
                        <a:t> engagement.</a:t>
                      </a:r>
                    </a:p>
                  </a:txBody>
                  <a:tcPr marL="54227" marR="54227" marT="27113" marB="27113" anchor="ctr">
                    <a:solidFill>
                      <a:schemeClr val="tx1"/>
                    </a:solidFill>
                  </a:tcPr>
                </a:tc>
                <a:extLst>
                  <a:ext uri="{0D108BD9-81ED-4DB2-BD59-A6C34878D82A}">
                    <a16:rowId xmlns:a16="http://schemas.microsoft.com/office/drawing/2014/main" val="3327063336"/>
                  </a:ext>
                </a:extLst>
              </a:tr>
              <a:tr h="479362">
                <a:tc>
                  <a:txBody>
                    <a:bodyPr/>
                    <a:lstStyle/>
                    <a:p>
                      <a:pPr algn="l"/>
                      <a:r>
                        <a:rPr lang="en-US" sz="1600" b="0" dirty="0">
                          <a:solidFill>
                            <a:schemeClr val="bg1"/>
                          </a:solidFill>
                          <a:effectLst/>
                          <a:latin typeface="Century Gothic" panose="020B0502020202020204" pitchFamily="34" charset="0"/>
                        </a:rPr>
                        <a:t>Executive Members</a:t>
                      </a:r>
                    </a:p>
                  </a:txBody>
                  <a:tcPr marL="54227" marR="54227" marT="27113" marB="27113" anchor="ctr">
                    <a:solidFill>
                      <a:schemeClr val="tx1"/>
                    </a:solidFill>
                  </a:tcPr>
                </a:tc>
                <a:tc>
                  <a:txBody>
                    <a:bodyPr/>
                    <a:lstStyle/>
                    <a:p>
                      <a:pPr algn="l"/>
                      <a:r>
                        <a:rPr lang="en-US" sz="1600" b="0" dirty="0">
                          <a:solidFill>
                            <a:schemeClr val="bg1"/>
                          </a:solidFill>
                          <a:effectLst/>
                          <a:latin typeface="Century Gothic" panose="020B0502020202020204" pitchFamily="34" charset="0"/>
                        </a:rPr>
                        <a:t>Volunteers who help in all tasks (depending on interest/skills).</a:t>
                      </a:r>
                    </a:p>
                  </a:txBody>
                  <a:tcPr marL="54227" marR="54227" marT="27113" marB="27113" anchor="ctr">
                    <a:solidFill>
                      <a:schemeClr val="tx1"/>
                    </a:solidFill>
                  </a:tcPr>
                </a:tc>
                <a:extLst>
                  <a:ext uri="{0D108BD9-81ED-4DB2-BD59-A6C34878D82A}">
                    <a16:rowId xmlns:a16="http://schemas.microsoft.com/office/drawing/2014/main" val="2648815332"/>
                  </a:ext>
                </a:extLst>
              </a:tr>
            </a:tbl>
          </a:graphicData>
        </a:graphic>
      </p:graphicFrame>
    </p:spTree>
    <p:extLst>
      <p:ext uri="{BB962C8B-B14F-4D97-AF65-F5344CB8AC3E}">
        <p14:creationId xmlns:p14="http://schemas.microsoft.com/office/powerpoint/2010/main" val="212735382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pPr algn="l"/>
            <a:r>
              <a:rPr lang="en-IN" sz="2800" b="1" dirty="0">
                <a:solidFill>
                  <a:schemeClr val="bg1"/>
                </a:solidFill>
                <a:latin typeface="Century Gothic" panose="020B0502020202020204" pitchFamily="34" charset="0"/>
              </a:rPr>
              <a:t>Membership Policy</a:t>
            </a:r>
          </a:p>
        </p:txBody>
      </p:sp>
      <p:grpSp>
        <p:nvGrpSpPr>
          <p:cNvPr id="20" name="Group 19">
            <a:extLst>
              <a:ext uri="{FF2B5EF4-FFF2-40B4-BE49-F238E27FC236}">
                <a16:creationId xmlns:a16="http://schemas.microsoft.com/office/drawing/2014/main" id="{C61CD60F-BCE9-FDCE-0F7A-556F2E6F746E}"/>
              </a:ext>
            </a:extLst>
          </p:cNvPr>
          <p:cNvGrpSpPr/>
          <p:nvPr/>
        </p:nvGrpSpPr>
        <p:grpSpPr>
          <a:xfrm>
            <a:off x="1795079" y="2405855"/>
            <a:ext cx="1644234" cy="1644234"/>
            <a:chOff x="2716231" y="3997576"/>
            <a:chExt cx="1644234" cy="1644234"/>
          </a:xfrm>
        </p:grpSpPr>
        <p:sp>
          <p:nvSpPr>
            <p:cNvPr id="15" name="Circle: Hollow 14">
              <a:extLst>
                <a:ext uri="{FF2B5EF4-FFF2-40B4-BE49-F238E27FC236}">
                  <a16:creationId xmlns:a16="http://schemas.microsoft.com/office/drawing/2014/main" id="{4C538EEE-B885-C59C-0C50-FDA050BB216E}"/>
                </a:ext>
              </a:extLst>
            </p:cNvPr>
            <p:cNvSpPr/>
            <p:nvPr/>
          </p:nvSpPr>
          <p:spPr>
            <a:xfrm>
              <a:off x="2716231" y="3997576"/>
              <a:ext cx="1644234" cy="1644234"/>
            </a:xfrm>
            <a:prstGeom prst="donut">
              <a:avLst>
                <a:gd name="adj" fmla="val 2373"/>
              </a:avLst>
            </a:prstGeom>
            <a:gradFill flip="none" rotWithShape="1">
              <a:gsLst>
                <a:gs pos="16000">
                  <a:schemeClr val="accent1"/>
                </a:gs>
                <a:gs pos="100000">
                  <a:schemeClr val="accent2">
                    <a:lumMod val="20000"/>
                    <a:lumOff val="80000"/>
                  </a:schemeClr>
                </a:gs>
              </a:gsLst>
              <a:lin ang="189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solidFill>
                  <a:schemeClr val="tx1"/>
                </a:solidFill>
                <a:latin typeface="Century Gothic" panose="020B0502020202020204" pitchFamily="34" charset="0"/>
                <a:cs typeface="Shruti" panose="020B0502040204020203" pitchFamily="34" charset="0"/>
              </a:endParaRPr>
            </a:p>
          </p:txBody>
        </p:sp>
        <p:sp>
          <p:nvSpPr>
            <p:cNvPr id="17" name="TextBox 16">
              <a:extLst>
                <a:ext uri="{FF2B5EF4-FFF2-40B4-BE49-F238E27FC236}">
                  <a16:creationId xmlns:a16="http://schemas.microsoft.com/office/drawing/2014/main" id="{55AC41DC-1778-C6F3-1D0B-BC15004E12B5}"/>
                </a:ext>
              </a:extLst>
            </p:cNvPr>
            <p:cNvSpPr txBox="1"/>
            <p:nvPr/>
          </p:nvSpPr>
          <p:spPr>
            <a:xfrm>
              <a:off x="3108834" y="4635027"/>
              <a:ext cx="859026" cy="369332"/>
            </a:xfrm>
            <a:prstGeom prst="rect">
              <a:avLst/>
            </a:prstGeom>
            <a:noFill/>
          </p:spPr>
          <p:txBody>
            <a:bodyPr wrap="square" rtlCol="0">
              <a:spAutoFit/>
            </a:bodyPr>
            <a:lstStyle/>
            <a:p>
              <a:pPr algn="ctr"/>
              <a:r>
                <a:rPr lang="en-US" b="1" dirty="0">
                  <a:solidFill>
                    <a:schemeClr val="bg1"/>
                  </a:solidFill>
                  <a:latin typeface="Century Gothic" panose="020B0502020202020204" pitchFamily="34" charset="0"/>
                  <a:cs typeface="Shruti" panose="020B0502040204020203" pitchFamily="34" charset="0"/>
                </a:rPr>
                <a:t>Open</a:t>
              </a:r>
              <a:endParaRPr lang="en-IN" b="1" dirty="0">
                <a:solidFill>
                  <a:schemeClr val="bg1"/>
                </a:solidFill>
                <a:latin typeface="Century Gothic" panose="020B0502020202020204" pitchFamily="34" charset="0"/>
                <a:cs typeface="Shruti" panose="020B0502040204020203" pitchFamily="34" charset="0"/>
              </a:endParaRPr>
            </a:p>
          </p:txBody>
        </p:sp>
      </p:grpSp>
      <p:grpSp>
        <p:nvGrpSpPr>
          <p:cNvPr id="21" name="Group 20">
            <a:extLst>
              <a:ext uri="{FF2B5EF4-FFF2-40B4-BE49-F238E27FC236}">
                <a16:creationId xmlns:a16="http://schemas.microsoft.com/office/drawing/2014/main" id="{B890EFAC-384E-81E9-A019-F12178120FE1}"/>
              </a:ext>
            </a:extLst>
          </p:cNvPr>
          <p:cNvGrpSpPr/>
          <p:nvPr/>
        </p:nvGrpSpPr>
        <p:grpSpPr>
          <a:xfrm>
            <a:off x="5684514" y="2588687"/>
            <a:ext cx="1290246" cy="1293497"/>
            <a:chOff x="5589667" y="4180408"/>
            <a:chExt cx="1290246" cy="1293497"/>
          </a:xfrm>
        </p:grpSpPr>
        <p:grpSp>
          <p:nvGrpSpPr>
            <p:cNvPr id="11" name="Group 10">
              <a:extLst>
                <a:ext uri="{FF2B5EF4-FFF2-40B4-BE49-F238E27FC236}">
                  <a16:creationId xmlns:a16="http://schemas.microsoft.com/office/drawing/2014/main" id="{84DEC8D4-D222-B3D5-6718-38EA303B2E8D}"/>
                </a:ext>
              </a:extLst>
            </p:cNvPr>
            <p:cNvGrpSpPr/>
            <p:nvPr/>
          </p:nvGrpSpPr>
          <p:grpSpPr>
            <a:xfrm>
              <a:off x="5589667" y="4180408"/>
              <a:ext cx="1290246" cy="1293497"/>
              <a:chOff x="5033348" y="0"/>
              <a:chExt cx="1646851" cy="1651000"/>
            </a:xfrm>
          </p:grpSpPr>
          <p:sp>
            <p:nvSpPr>
              <p:cNvPr id="7" name="Rectangle: Rounded Corners 6">
                <a:extLst>
                  <a:ext uri="{FF2B5EF4-FFF2-40B4-BE49-F238E27FC236}">
                    <a16:creationId xmlns:a16="http://schemas.microsoft.com/office/drawing/2014/main" id="{AB2932E3-5323-E54B-AD18-70905240AD8E}"/>
                  </a:ext>
                </a:extLst>
              </p:cNvPr>
              <p:cNvSpPr/>
              <p:nvPr/>
            </p:nvSpPr>
            <p:spPr>
              <a:xfrm>
                <a:off x="5033348" y="0"/>
                <a:ext cx="1646851" cy="1651000"/>
              </a:xfrm>
              <a:prstGeom prst="roundRect">
                <a:avLst/>
              </a:prstGeom>
              <a:gradFill flip="none" rotWithShape="1">
                <a:gsLst>
                  <a:gs pos="31000">
                    <a:schemeClr val="accent1">
                      <a:lumMod val="40000"/>
                      <a:lumOff val="60000"/>
                    </a:schemeClr>
                  </a:gs>
                  <a:gs pos="100000">
                    <a:schemeClr val="accent2">
                      <a:lumMod val="20000"/>
                      <a:lumOff val="8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cs typeface="Shruti" panose="020B0502040204020203" pitchFamily="34" charset="0"/>
                </a:endParaRPr>
              </a:p>
            </p:txBody>
          </p:sp>
          <p:sp>
            <p:nvSpPr>
              <p:cNvPr id="10" name="Rectangle: Rounded Corners 9">
                <a:extLst>
                  <a:ext uri="{FF2B5EF4-FFF2-40B4-BE49-F238E27FC236}">
                    <a16:creationId xmlns:a16="http://schemas.microsoft.com/office/drawing/2014/main" id="{1437F5C3-6D6B-1DD5-7C44-2E6C6175E0CE}"/>
                  </a:ext>
                </a:extLst>
              </p:cNvPr>
              <p:cNvSpPr/>
              <p:nvPr/>
            </p:nvSpPr>
            <p:spPr>
              <a:xfrm>
                <a:off x="5077002" y="43765"/>
                <a:ext cx="1559542" cy="1563470"/>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cs typeface="Shruti" panose="020B0502040204020203" pitchFamily="34" charset="0"/>
                </a:endParaRPr>
              </a:p>
            </p:txBody>
          </p:sp>
        </p:grpSp>
        <p:sp>
          <p:nvSpPr>
            <p:cNvPr id="18" name="TextBox 17">
              <a:extLst>
                <a:ext uri="{FF2B5EF4-FFF2-40B4-BE49-F238E27FC236}">
                  <a16:creationId xmlns:a16="http://schemas.microsoft.com/office/drawing/2014/main" id="{AADB3247-FAEB-F3BC-CF43-84BE0814A0C0}"/>
                </a:ext>
              </a:extLst>
            </p:cNvPr>
            <p:cNvSpPr txBox="1"/>
            <p:nvPr/>
          </p:nvSpPr>
          <p:spPr>
            <a:xfrm>
              <a:off x="5872840" y="4642490"/>
              <a:ext cx="723900" cy="369332"/>
            </a:xfrm>
            <a:prstGeom prst="rect">
              <a:avLst/>
            </a:prstGeom>
            <a:noFill/>
          </p:spPr>
          <p:txBody>
            <a:bodyPr wrap="square" rtlCol="0">
              <a:spAutoFit/>
            </a:bodyPr>
            <a:lstStyle/>
            <a:p>
              <a:pPr algn="ctr"/>
              <a:r>
                <a:rPr lang="en-US" b="1" dirty="0">
                  <a:solidFill>
                    <a:schemeClr val="bg1"/>
                  </a:solidFill>
                  <a:latin typeface="Century Gothic" panose="020B0502020202020204" pitchFamily="34" charset="0"/>
                  <a:cs typeface="Shruti" panose="020B0502040204020203" pitchFamily="34" charset="0"/>
                </a:rPr>
                <a:t>Pro</a:t>
              </a:r>
              <a:endParaRPr lang="en-IN" b="1" dirty="0">
                <a:solidFill>
                  <a:schemeClr val="bg1"/>
                </a:solidFill>
                <a:latin typeface="Century Gothic" panose="020B0502020202020204" pitchFamily="34" charset="0"/>
                <a:cs typeface="Shruti" panose="020B0502040204020203" pitchFamily="34" charset="0"/>
              </a:endParaRPr>
            </a:p>
          </p:txBody>
        </p:sp>
      </p:grpSp>
      <p:grpSp>
        <p:nvGrpSpPr>
          <p:cNvPr id="22" name="Group 21">
            <a:extLst>
              <a:ext uri="{FF2B5EF4-FFF2-40B4-BE49-F238E27FC236}">
                <a16:creationId xmlns:a16="http://schemas.microsoft.com/office/drawing/2014/main" id="{56288A9D-10F7-77AF-5EF9-A0E15CBAF481}"/>
              </a:ext>
            </a:extLst>
          </p:cNvPr>
          <p:cNvGrpSpPr/>
          <p:nvPr/>
        </p:nvGrpSpPr>
        <p:grpSpPr>
          <a:xfrm>
            <a:off x="9390559" y="2679553"/>
            <a:ext cx="1108971" cy="1111765"/>
            <a:chOff x="8366798" y="4271274"/>
            <a:chExt cx="1108971" cy="1111765"/>
          </a:xfrm>
        </p:grpSpPr>
        <p:grpSp>
          <p:nvGrpSpPr>
            <p:cNvPr id="12" name="Group 11">
              <a:extLst>
                <a:ext uri="{FF2B5EF4-FFF2-40B4-BE49-F238E27FC236}">
                  <a16:creationId xmlns:a16="http://schemas.microsoft.com/office/drawing/2014/main" id="{8D312502-A39C-1695-1345-0228B4EBFBD1}"/>
                </a:ext>
              </a:extLst>
            </p:cNvPr>
            <p:cNvGrpSpPr/>
            <p:nvPr/>
          </p:nvGrpSpPr>
          <p:grpSpPr>
            <a:xfrm rot="18909616">
              <a:off x="8366798" y="4271274"/>
              <a:ext cx="1108971" cy="1111765"/>
              <a:chOff x="5033348" y="0"/>
              <a:chExt cx="1646851" cy="1651000"/>
            </a:xfrm>
          </p:grpSpPr>
          <p:sp>
            <p:nvSpPr>
              <p:cNvPr id="13" name="Rectangle: Rounded Corners 12">
                <a:extLst>
                  <a:ext uri="{FF2B5EF4-FFF2-40B4-BE49-F238E27FC236}">
                    <a16:creationId xmlns:a16="http://schemas.microsoft.com/office/drawing/2014/main" id="{43AE583E-8909-2B29-1714-C48DDEBE2678}"/>
                  </a:ext>
                </a:extLst>
              </p:cNvPr>
              <p:cNvSpPr/>
              <p:nvPr/>
            </p:nvSpPr>
            <p:spPr>
              <a:xfrm>
                <a:off x="5033348" y="0"/>
                <a:ext cx="1646851" cy="1651000"/>
              </a:xfrm>
              <a:prstGeom prst="roundRect">
                <a:avLst/>
              </a:prstGeom>
              <a:gradFill flip="none" rotWithShape="1">
                <a:gsLst>
                  <a:gs pos="31000">
                    <a:schemeClr val="accent1">
                      <a:lumMod val="40000"/>
                      <a:lumOff val="60000"/>
                    </a:schemeClr>
                  </a:gs>
                  <a:gs pos="100000">
                    <a:schemeClr val="accent2">
                      <a:lumMod val="20000"/>
                      <a:lumOff val="8000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cs typeface="Shruti" panose="020B0502040204020203" pitchFamily="34" charset="0"/>
                </a:endParaRPr>
              </a:p>
            </p:txBody>
          </p:sp>
          <p:sp>
            <p:nvSpPr>
              <p:cNvPr id="14" name="Rectangle: Rounded Corners 13">
                <a:extLst>
                  <a:ext uri="{FF2B5EF4-FFF2-40B4-BE49-F238E27FC236}">
                    <a16:creationId xmlns:a16="http://schemas.microsoft.com/office/drawing/2014/main" id="{52F6AD9E-CB78-E7F3-DCFE-273E95EF336E}"/>
                  </a:ext>
                </a:extLst>
              </p:cNvPr>
              <p:cNvSpPr/>
              <p:nvPr/>
            </p:nvSpPr>
            <p:spPr>
              <a:xfrm>
                <a:off x="5086796" y="53583"/>
                <a:ext cx="1539954" cy="1543833"/>
              </a:xfrm>
              <a:prstGeom prst="roundRect">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cs typeface="Shruti" panose="020B0502040204020203" pitchFamily="34" charset="0"/>
                </a:endParaRPr>
              </a:p>
            </p:txBody>
          </p:sp>
        </p:grpSp>
        <p:sp>
          <p:nvSpPr>
            <p:cNvPr id="19" name="TextBox 18">
              <a:extLst>
                <a:ext uri="{FF2B5EF4-FFF2-40B4-BE49-F238E27FC236}">
                  <a16:creationId xmlns:a16="http://schemas.microsoft.com/office/drawing/2014/main" id="{45515C73-FDC4-A468-6A4E-728A6475A022}"/>
                </a:ext>
              </a:extLst>
            </p:cNvPr>
            <p:cNvSpPr txBox="1"/>
            <p:nvPr/>
          </p:nvSpPr>
          <p:spPr>
            <a:xfrm>
              <a:off x="8439528" y="4642490"/>
              <a:ext cx="963511" cy="369332"/>
            </a:xfrm>
            <a:prstGeom prst="rect">
              <a:avLst/>
            </a:prstGeom>
            <a:noFill/>
          </p:spPr>
          <p:txBody>
            <a:bodyPr wrap="square" rtlCol="0">
              <a:spAutoFit/>
            </a:bodyPr>
            <a:lstStyle/>
            <a:p>
              <a:pPr algn="ctr"/>
              <a:r>
                <a:rPr lang="en-US" b="1" dirty="0">
                  <a:solidFill>
                    <a:schemeClr val="bg1"/>
                  </a:solidFill>
                  <a:latin typeface="Century Gothic" panose="020B0502020202020204" pitchFamily="34" charset="0"/>
                  <a:cs typeface="Shruti" panose="020B0502040204020203" pitchFamily="34" charset="0"/>
                </a:rPr>
                <a:t>Details</a:t>
              </a:r>
              <a:endParaRPr lang="en-IN" b="1" dirty="0">
                <a:solidFill>
                  <a:schemeClr val="bg1"/>
                </a:solidFill>
                <a:latin typeface="Century Gothic" panose="020B0502020202020204" pitchFamily="34" charset="0"/>
                <a:cs typeface="Shruti" panose="020B0502040204020203" pitchFamily="34" charset="0"/>
              </a:endParaRPr>
            </a:p>
          </p:txBody>
        </p:sp>
      </p:grpSp>
      <p:sp>
        <p:nvSpPr>
          <p:cNvPr id="24" name="TextBox 23">
            <a:extLst>
              <a:ext uri="{FF2B5EF4-FFF2-40B4-BE49-F238E27FC236}">
                <a16:creationId xmlns:a16="http://schemas.microsoft.com/office/drawing/2014/main" id="{A301D03E-9734-8F60-2028-40B43DAE17C7}"/>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sp>
        <p:nvSpPr>
          <p:cNvPr id="26" name="TextBox 25">
            <a:extLst>
              <a:ext uri="{FF2B5EF4-FFF2-40B4-BE49-F238E27FC236}">
                <a16:creationId xmlns:a16="http://schemas.microsoft.com/office/drawing/2014/main" id="{D7BB6F89-42D0-279E-D329-2A2A39783A3F}"/>
              </a:ext>
            </a:extLst>
          </p:cNvPr>
          <p:cNvSpPr txBox="1"/>
          <p:nvPr/>
        </p:nvSpPr>
        <p:spPr>
          <a:xfrm>
            <a:off x="1231655" y="4240690"/>
            <a:ext cx="2771081" cy="523220"/>
          </a:xfrm>
          <a:prstGeom prst="rect">
            <a:avLst/>
          </a:prstGeom>
          <a:noFill/>
        </p:spPr>
        <p:txBody>
          <a:bodyPr wrap="square">
            <a:spAutoFit/>
          </a:bodyPr>
          <a:lstStyle/>
          <a:p>
            <a:pPr algn="ctr"/>
            <a:r>
              <a:rPr lang="en-US" sz="1400" dirty="0">
                <a:solidFill>
                  <a:schemeClr val="bg1"/>
                </a:solidFill>
                <a:latin typeface="Century Gothic" panose="020B0502020202020204" pitchFamily="34" charset="0"/>
              </a:rPr>
              <a:t>Open to all department students.</a:t>
            </a:r>
          </a:p>
        </p:txBody>
      </p:sp>
      <p:sp>
        <p:nvSpPr>
          <p:cNvPr id="29" name="TextBox 28">
            <a:extLst>
              <a:ext uri="{FF2B5EF4-FFF2-40B4-BE49-F238E27FC236}">
                <a16:creationId xmlns:a16="http://schemas.microsoft.com/office/drawing/2014/main" id="{6A942B03-5F2E-381F-23E1-6FD3C6E8B8D6}"/>
              </a:ext>
            </a:extLst>
          </p:cNvPr>
          <p:cNvSpPr txBox="1"/>
          <p:nvPr/>
        </p:nvSpPr>
        <p:spPr>
          <a:xfrm>
            <a:off x="4944095" y="4240690"/>
            <a:ext cx="2771081" cy="954107"/>
          </a:xfrm>
          <a:prstGeom prst="rect">
            <a:avLst/>
          </a:prstGeom>
          <a:noFill/>
        </p:spPr>
        <p:txBody>
          <a:bodyPr wrap="square">
            <a:spAutoFit/>
          </a:bodyPr>
          <a:lstStyle/>
          <a:p>
            <a:r>
              <a:rPr lang="en-US" sz="1400" dirty="0">
                <a:solidFill>
                  <a:schemeClr val="bg1"/>
                </a:solidFill>
                <a:latin typeface="Century Gothic" panose="020B0502020202020204" pitchFamily="34" charset="0"/>
              </a:rPr>
              <a:t>No programming background needed — only passion and curiosity required.</a:t>
            </a:r>
          </a:p>
        </p:txBody>
      </p:sp>
      <p:sp>
        <p:nvSpPr>
          <p:cNvPr id="30" name="TextBox 29">
            <a:extLst>
              <a:ext uri="{FF2B5EF4-FFF2-40B4-BE49-F238E27FC236}">
                <a16:creationId xmlns:a16="http://schemas.microsoft.com/office/drawing/2014/main" id="{70698D74-5895-C4AC-B22E-DB24D43409F1}"/>
              </a:ext>
            </a:extLst>
          </p:cNvPr>
          <p:cNvSpPr txBox="1"/>
          <p:nvPr/>
        </p:nvSpPr>
        <p:spPr>
          <a:xfrm>
            <a:off x="8559503" y="4240690"/>
            <a:ext cx="2771081" cy="523220"/>
          </a:xfrm>
          <a:prstGeom prst="rect">
            <a:avLst/>
          </a:prstGeom>
          <a:noFill/>
        </p:spPr>
        <p:txBody>
          <a:bodyPr wrap="square">
            <a:spAutoFit/>
          </a:bodyPr>
          <a:lstStyle/>
          <a:p>
            <a:pPr algn="ctr"/>
            <a:r>
              <a:rPr lang="en-US" sz="1400" dirty="0">
                <a:solidFill>
                  <a:schemeClr val="bg1"/>
                </a:solidFill>
                <a:latin typeface="Century Gothic" panose="020B0502020202020204" pitchFamily="34" charset="0"/>
              </a:rPr>
              <a:t>Annual registration (Google Form + Specific details).</a:t>
            </a:r>
          </a:p>
        </p:txBody>
      </p:sp>
    </p:spTree>
    <p:extLst>
      <p:ext uri="{BB962C8B-B14F-4D97-AF65-F5344CB8AC3E}">
        <p14:creationId xmlns:p14="http://schemas.microsoft.com/office/powerpoint/2010/main" val="147941101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10" presetClass="entr" presetSubtype="0" fill="hold"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1000"/>
                                        <p:tgtEl>
                                          <p:spTgt spid="20"/>
                                        </p:tgtEl>
                                      </p:cBhvr>
                                    </p:animEffect>
                                  </p:childTnLst>
                                </p:cTn>
                              </p:par>
                              <p:par>
                                <p:cTn id="11" presetID="10" presetClass="entr" presetSubtype="0" fill="hold" nodeType="withEffect">
                                  <p:stCondLst>
                                    <p:cond delay="1000"/>
                                  </p:stCondLst>
                                  <p:childTnLst>
                                    <p:set>
                                      <p:cBhvr>
                                        <p:cTn id="12" dur="1" fill="hold">
                                          <p:stCondLst>
                                            <p:cond delay="0"/>
                                          </p:stCondLst>
                                        </p:cTn>
                                        <p:tgtEl>
                                          <p:spTgt spid="21"/>
                                        </p:tgtEl>
                                        <p:attrNameLst>
                                          <p:attrName>style.visibility</p:attrName>
                                        </p:attrNameLst>
                                      </p:cBhvr>
                                      <p:to>
                                        <p:strVal val="visible"/>
                                      </p:to>
                                    </p:set>
                                    <p:animEffect transition="in" filter="fade">
                                      <p:cBhvr>
                                        <p:cTn id="13" dur="1000"/>
                                        <p:tgtEl>
                                          <p:spTgt spid="21"/>
                                        </p:tgtEl>
                                      </p:cBhvr>
                                    </p:animEffect>
                                  </p:childTnLst>
                                </p:cTn>
                              </p:par>
                              <p:par>
                                <p:cTn id="14" presetID="10" presetClass="entr" presetSubtype="0" fill="hold" nodeType="withEffect">
                                  <p:stCondLst>
                                    <p:cond delay="200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1000"/>
                                        <p:tgtEl>
                                          <p:spTgt spid="22"/>
                                        </p:tgtEl>
                                      </p:cBhvr>
                                    </p:animEffect>
                                  </p:childTnLst>
                                </p:cTn>
                              </p:par>
                              <p:par>
                                <p:cTn id="17" presetID="10" presetClass="entr" presetSubtype="0" fill="hold" nodeType="withEffect">
                                  <p:stCondLst>
                                    <p:cond delay="1000"/>
                                  </p:stCondLst>
                                  <p:childTnLst>
                                    <p:set>
                                      <p:cBhvr>
                                        <p:cTn id="18" dur="1" fill="hold">
                                          <p:stCondLst>
                                            <p:cond delay="0"/>
                                          </p:stCondLst>
                                        </p:cTn>
                                        <p:tgtEl>
                                          <p:spTgt spid="29"/>
                                        </p:tgtEl>
                                        <p:attrNameLst>
                                          <p:attrName>style.visibility</p:attrName>
                                        </p:attrNameLst>
                                      </p:cBhvr>
                                      <p:to>
                                        <p:strVal val="visible"/>
                                      </p:to>
                                    </p:set>
                                    <p:animEffect transition="in" filter="fade">
                                      <p:cBhvr>
                                        <p:cTn id="19" dur="1000"/>
                                        <p:tgtEl>
                                          <p:spTgt spid="29"/>
                                        </p:tgtEl>
                                      </p:cBhvr>
                                    </p:animEffect>
                                  </p:childTnLst>
                                </p:cTn>
                              </p:par>
                              <p:par>
                                <p:cTn id="20" presetID="10" presetClass="entr" presetSubtype="0" fill="hold" nodeType="withEffect">
                                  <p:stCondLst>
                                    <p:cond delay="2000"/>
                                  </p:stCondLst>
                                  <p:childTnLst>
                                    <p:set>
                                      <p:cBhvr>
                                        <p:cTn id="21" dur="1" fill="hold">
                                          <p:stCondLst>
                                            <p:cond delay="0"/>
                                          </p:stCondLst>
                                        </p:cTn>
                                        <p:tgtEl>
                                          <p:spTgt spid="30"/>
                                        </p:tgtEl>
                                        <p:attrNameLst>
                                          <p:attrName>style.visibility</p:attrName>
                                        </p:attrNameLst>
                                      </p:cBhvr>
                                      <p:to>
                                        <p:strVal val="visible"/>
                                      </p:to>
                                    </p:set>
                                    <p:animEffect transition="in" filter="fade">
                                      <p:cBhvr>
                                        <p:cTn id="22" dur="1000"/>
                                        <p:tgtEl>
                                          <p:spTgt spid="3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fade">
                                      <p:cBhvr>
                                        <p:cTn id="25" dur="1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p:bldP spid="29" grpId="0"/>
      <p:bldP spid="30"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r>
              <a:rPr lang="en-IN" sz="2800" b="1" dirty="0">
                <a:solidFill>
                  <a:schemeClr val="bg1"/>
                </a:solidFill>
                <a:latin typeface="Century Gothic" panose="020B0502020202020204" pitchFamily="34" charset="0"/>
              </a:rPr>
              <a:t>Leadership Selection</a:t>
            </a:r>
          </a:p>
        </p:txBody>
      </p:sp>
      <p:sp>
        <p:nvSpPr>
          <p:cNvPr id="5" name="TextBox 4">
            <a:extLst>
              <a:ext uri="{FF2B5EF4-FFF2-40B4-BE49-F238E27FC236}">
                <a16:creationId xmlns:a16="http://schemas.microsoft.com/office/drawing/2014/main" id="{6B096048-4490-95CA-7AAA-87708B079715}"/>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pic>
        <p:nvPicPr>
          <p:cNvPr id="30" name="Picture 29" descr="A person wearing a white and pink garment&#10;&#10;Description automatically generated">
            <a:extLst>
              <a:ext uri="{FF2B5EF4-FFF2-40B4-BE49-F238E27FC236}">
                <a16:creationId xmlns:a16="http://schemas.microsoft.com/office/drawing/2014/main" id="{98A9199E-5147-6752-F6B4-D41F0A006B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70171" y="1513114"/>
            <a:ext cx="5344886" cy="5344886"/>
          </a:xfrm>
          <a:prstGeom prst="rect">
            <a:avLst/>
          </a:prstGeom>
        </p:spPr>
      </p:pic>
      <p:grpSp>
        <p:nvGrpSpPr>
          <p:cNvPr id="36" name="Group 35">
            <a:extLst>
              <a:ext uri="{FF2B5EF4-FFF2-40B4-BE49-F238E27FC236}">
                <a16:creationId xmlns:a16="http://schemas.microsoft.com/office/drawing/2014/main" id="{222D3E50-3C49-C3AC-EF7B-63AB0FF12F0B}"/>
              </a:ext>
            </a:extLst>
          </p:cNvPr>
          <p:cNvGrpSpPr/>
          <p:nvPr/>
        </p:nvGrpSpPr>
        <p:grpSpPr>
          <a:xfrm>
            <a:off x="1212851" y="2050394"/>
            <a:ext cx="5254623" cy="3155291"/>
            <a:chOff x="1212851" y="2050394"/>
            <a:chExt cx="5254623" cy="3155291"/>
          </a:xfrm>
        </p:grpSpPr>
        <p:grpSp>
          <p:nvGrpSpPr>
            <p:cNvPr id="28" name="Group 27">
              <a:extLst>
                <a:ext uri="{FF2B5EF4-FFF2-40B4-BE49-F238E27FC236}">
                  <a16:creationId xmlns:a16="http://schemas.microsoft.com/office/drawing/2014/main" id="{E7EAEED0-3D6F-A19F-9D91-122DAA04B65A}"/>
                </a:ext>
              </a:extLst>
            </p:cNvPr>
            <p:cNvGrpSpPr/>
            <p:nvPr/>
          </p:nvGrpSpPr>
          <p:grpSpPr>
            <a:xfrm>
              <a:off x="1603129" y="2063477"/>
              <a:ext cx="4864345" cy="3133285"/>
              <a:chOff x="1231654" y="1865721"/>
              <a:chExt cx="4864345" cy="3133285"/>
            </a:xfrm>
          </p:grpSpPr>
          <p:sp>
            <p:nvSpPr>
              <p:cNvPr id="7" name="TextBox 6">
                <a:extLst>
                  <a:ext uri="{FF2B5EF4-FFF2-40B4-BE49-F238E27FC236}">
                    <a16:creationId xmlns:a16="http://schemas.microsoft.com/office/drawing/2014/main" id="{EBDE5CD8-9BE9-13DF-15A6-C733848C9EAF}"/>
                  </a:ext>
                </a:extLst>
              </p:cNvPr>
              <p:cNvSpPr txBox="1"/>
              <p:nvPr/>
            </p:nvSpPr>
            <p:spPr>
              <a:xfrm>
                <a:off x="1231654" y="1865721"/>
                <a:ext cx="4864345" cy="369332"/>
              </a:xfrm>
              <a:prstGeom prst="rect">
                <a:avLst/>
              </a:prstGeom>
              <a:noFill/>
            </p:spPr>
            <p:txBody>
              <a:bodyPr wrap="square">
                <a:spAutoFit/>
              </a:bodyPr>
              <a:lstStyle/>
              <a:p>
                <a:pPr>
                  <a:spcBef>
                    <a:spcPts val="1200"/>
                  </a:spcBef>
                  <a:spcAft>
                    <a:spcPts val="600"/>
                  </a:spcAft>
                </a:pPr>
                <a:r>
                  <a:rPr lang="en-US" b="0" i="0" dirty="0">
                    <a:solidFill>
                      <a:schemeClr val="bg1"/>
                    </a:solidFill>
                    <a:effectLst/>
                    <a:latin typeface="Century Gothic" panose="020B0502020202020204" pitchFamily="34" charset="0"/>
                    <a:cs typeface="Sabon Next LT" panose="02000500000000000000" pitchFamily="2" charset="0"/>
                  </a:rPr>
                  <a:t>No Politics Rule</a:t>
                </a:r>
              </a:p>
            </p:txBody>
          </p:sp>
          <p:sp>
            <p:nvSpPr>
              <p:cNvPr id="15" name="TextBox 14">
                <a:extLst>
                  <a:ext uri="{FF2B5EF4-FFF2-40B4-BE49-F238E27FC236}">
                    <a16:creationId xmlns:a16="http://schemas.microsoft.com/office/drawing/2014/main" id="{1AEAB9BF-964D-96FF-DA1E-6C8E0F3AD08E}"/>
                  </a:ext>
                </a:extLst>
              </p:cNvPr>
              <p:cNvSpPr txBox="1"/>
              <p:nvPr/>
            </p:nvSpPr>
            <p:spPr>
              <a:xfrm>
                <a:off x="1231655" y="3317435"/>
                <a:ext cx="4864344" cy="369332"/>
              </a:xfrm>
              <a:prstGeom prst="rect">
                <a:avLst/>
              </a:prstGeom>
              <a:noFill/>
            </p:spPr>
            <p:txBody>
              <a:bodyPr wrap="square">
                <a:spAutoFit/>
              </a:bodyPr>
              <a:lstStyle/>
              <a:p>
                <a:pPr>
                  <a:spcBef>
                    <a:spcPts val="1200"/>
                  </a:spcBef>
                  <a:spcAft>
                    <a:spcPts val="600"/>
                  </a:spcAft>
                </a:pPr>
                <a:r>
                  <a:rPr lang="en-US" sz="1800" b="0" i="0" dirty="0">
                    <a:solidFill>
                      <a:schemeClr val="bg1"/>
                    </a:solidFill>
                    <a:effectLst/>
                    <a:latin typeface="Century Gothic" panose="020B0502020202020204" pitchFamily="34" charset="0"/>
                    <a:cs typeface="Sabon Next LT" panose="02000500000000000000" pitchFamily="2" charset="0"/>
                  </a:rPr>
                  <a:t>Interview</a:t>
                </a:r>
              </a:p>
            </p:txBody>
          </p:sp>
          <p:sp>
            <p:nvSpPr>
              <p:cNvPr id="17" name="TextBox 16">
                <a:extLst>
                  <a:ext uri="{FF2B5EF4-FFF2-40B4-BE49-F238E27FC236}">
                    <a16:creationId xmlns:a16="http://schemas.microsoft.com/office/drawing/2014/main" id="{880E20B5-7480-95E9-A78E-03A5B6D64C97}"/>
                  </a:ext>
                </a:extLst>
              </p:cNvPr>
              <p:cNvSpPr txBox="1"/>
              <p:nvPr/>
            </p:nvSpPr>
            <p:spPr>
              <a:xfrm>
                <a:off x="1231655" y="2591578"/>
                <a:ext cx="4864344"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bg1"/>
                    </a:solidFill>
                    <a:effectLst/>
                    <a:latin typeface="Century Gothic" panose="020B0502020202020204" pitchFamily="34" charset="0"/>
                    <a:cs typeface="Sabon Next LT" panose="02000500000000000000" pitchFamily="2" charset="0"/>
                  </a:rPr>
                  <a:t>AI and Programming basics + Leadership questions</a:t>
                </a:r>
              </a:p>
            </p:txBody>
          </p:sp>
          <p:sp>
            <p:nvSpPr>
              <p:cNvPr id="21" name="TextBox 20">
                <a:extLst>
                  <a:ext uri="{FF2B5EF4-FFF2-40B4-BE49-F238E27FC236}">
                    <a16:creationId xmlns:a16="http://schemas.microsoft.com/office/drawing/2014/main" id="{7975258C-4CD7-0011-C520-577269564293}"/>
                  </a:ext>
                </a:extLst>
              </p:cNvPr>
              <p:cNvSpPr txBox="1"/>
              <p:nvPr/>
            </p:nvSpPr>
            <p:spPr>
              <a:xfrm>
                <a:off x="1231654" y="3873011"/>
                <a:ext cx="4864344" cy="646331"/>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bg1"/>
                    </a:solidFill>
                    <a:effectLst/>
                    <a:latin typeface="Century Gothic" panose="020B0502020202020204" pitchFamily="34" charset="0"/>
                    <a:cs typeface="Sabon Next LT" panose="02000500000000000000" pitchFamily="2" charset="0"/>
                  </a:rPr>
                  <a:t>Only committed and capable students become office-bearers.</a:t>
                </a:r>
              </a:p>
            </p:txBody>
          </p:sp>
          <p:sp>
            <p:nvSpPr>
              <p:cNvPr id="25" name="TextBox 24">
                <a:extLst>
                  <a:ext uri="{FF2B5EF4-FFF2-40B4-BE49-F238E27FC236}">
                    <a16:creationId xmlns:a16="http://schemas.microsoft.com/office/drawing/2014/main" id="{6E5B6405-169E-0381-724F-547AE3124977}"/>
                  </a:ext>
                </a:extLst>
              </p:cNvPr>
              <p:cNvSpPr txBox="1"/>
              <p:nvPr/>
            </p:nvSpPr>
            <p:spPr>
              <a:xfrm>
                <a:off x="1231654" y="4629674"/>
                <a:ext cx="486434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kumimoji="0" lang="en-US" altLang="en-US" sz="1800" b="0" i="0" u="none" strike="noStrike" cap="none" normalizeH="0" baseline="0" dirty="0">
                    <a:ln>
                      <a:noFill/>
                    </a:ln>
                    <a:solidFill>
                      <a:schemeClr val="bg1"/>
                    </a:solidFill>
                    <a:effectLst/>
                    <a:latin typeface="Century Gothic" panose="020B0502020202020204" pitchFamily="34" charset="0"/>
                    <a:cs typeface="Sabon Next LT" panose="02000500000000000000" pitchFamily="2" charset="0"/>
                  </a:rPr>
                  <a:t>Every year re-selection through tests.</a:t>
                </a:r>
              </a:p>
            </p:txBody>
          </p:sp>
        </p:grpSp>
        <p:pic>
          <p:nvPicPr>
            <p:cNvPr id="31" name="Picture 8" descr="Gemini Docs and API Reference | Google AI for Developers">
              <a:extLst>
                <a:ext uri="{FF2B5EF4-FFF2-40B4-BE49-F238E27FC236}">
                  <a16:creationId xmlns:a16="http://schemas.microsoft.com/office/drawing/2014/main" id="{07D6C87B-9700-02B2-8E98-00CD1BD7614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1212851" y="2050394"/>
              <a:ext cx="390278" cy="387178"/>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8" descr="Gemini Docs and API Reference | Google AI for Developers">
              <a:extLst>
                <a:ext uri="{FF2B5EF4-FFF2-40B4-BE49-F238E27FC236}">
                  <a16:creationId xmlns:a16="http://schemas.microsoft.com/office/drawing/2014/main" id="{279461EA-FB86-C07E-6939-EB64E65CD79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1212851" y="2789583"/>
              <a:ext cx="390278" cy="38717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8" descr="Gemini Docs and API Reference | Google AI for Developers">
              <a:extLst>
                <a:ext uri="{FF2B5EF4-FFF2-40B4-BE49-F238E27FC236}">
                  <a16:creationId xmlns:a16="http://schemas.microsoft.com/office/drawing/2014/main" id="{D9E48034-7D35-2147-4EA4-D9D872BF3DD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1212851" y="3507512"/>
              <a:ext cx="390278" cy="387178"/>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8" descr="Gemini Docs and API Reference | Google AI for Developers">
              <a:extLst>
                <a:ext uri="{FF2B5EF4-FFF2-40B4-BE49-F238E27FC236}">
                  <a16:creationId xmlns:a16="http://schemas.microsoft.com/office/drawing/2014/main" id="{364B5F32-C487-9430-6842-72DA6776C5E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1230191" y="4075530"/>
              <a:ext cx="390278" cy="387178"/>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8" descr="Gemini Docs and API Reference | Google AI for Developers">
              <a:extLst>
                <a:ext uri="{FF2B5EF4-FFF2-40B4-BE49-F238E27FC236}">
                  <a16:creationId xmlns:a16="http://schemas.microsoft.com/office/drawing/2014/main" id="{51819FA7-7779-EC78-9C08-55930DACD73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1220666" y="4818507"/>
              <a:ext cx="390278" cy="387178"/>
            </a:xfrm>
            <a:prstGeom prst="rect">
              <a:avLst/>
            </a:prstGeom>
            <a:noFill/>
            <a:extLst>
              <a:ext uri="{909E8E84-426E-40DD-AFC4-6F175D3DCCD1}">
                <a14:hiddenFill xmlns:a14="http://schemas.microsoft.com/office/drawing/2010/main">
                  <a:solidFill>
                    <a:srgbClr val="FFFFFF"/>
                  </a:solidFill>
                </a14:hiddenFill>
              </a:ext>
            </a:extLst>
          </p:spPr>
        </p:pic>
      </p:grpSp>
    </p:spTree>
    <p:extLst>
      <p:ext uri="{BB962C8B-B14F-4D97-AF65-F5344CB8AC3E}">
        <p14:creationId xmlns:p14="http://schemas.microsoft.com/office/powerpoint/2010/main" val="200740991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2" presetClass="entr" presetSubtype="4" fill="hold" nodeType="withEffect">
                                  <p:stCondLst>
                                    <p:cond delay="0"/>
                                  </p:stCondLst>
                                  <p:childTnLst>
                                    <p:set>
                                      <p:cBhvr>
                                        <p:cTn id="9" dur="1" fill="hold">
                                          <p:stCondLst>
                                            <p:cond delay="0"/>
                                          </p:stCondLst>
                                        </p:cTn>
                                        <p:tgtEl>
                                          <p:spTgt spid="30"/>
                                        </p:tgtEl>
                                        <p:attrNameLst>
                                          <p:attrName>style.visibility</p:attrName>
                                        </p:attrNameLst>
                                      </p:cBhvr>
                                      <p:to>
                                        <p:strVal val="visible"/>
                                      </p:to>
                                    </p:set>
                                    <p:anim calcmode="lin" valueType="num">
                                      <p:cBhvr additive="base">
                                        <p:cTn id="10" dur="500" fill="hold"/>
                                        <p:tgtEl>
                                          <p:spTgt spid="30"/>
                                        </p:tgtEl>
                                        <p:attrNameLst>
                                          <p:attrName>ppt_x</p:attrName>
                                        </p:attrNameLst>
                                      </p:cBhvr>
                                      <p:tavLst>
                                        <p:tav tm="0">
                                          <p:val>
                                            <p:strVal val="#ppt_x"/>
                                          </p:val>
                                        </p:tav>
                                        <p:tav tm="100000">
                                          <p:val>
                                            <p:strVal val="#ppt_x"/>
                                          </p:val>
                                        </p:tav>
                                      </p:tavLst>
                                    </p:anim>
                                    <p:anim calcmode="lin" valueType="num">
                                      <p:cBhvr additive="base">
                                        <p:cTn id="11" dur="500" fill="hold"/>
                                        <p:tgtEl>
                                          <p:spTgt spid="3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pPr algn="l"/>
            <a:r>
              <a:rPr lang="en-IN" sz="2800" b="1" dirty="0">
                <a:solidFill>
                  <a:schemeClr val="bg1"/>
                </a:solidFill>
                <a:latin typeface="Century Gothic" panose="020B0502020202020204" pitchFamily="34" charset="0"/>
              </a:rPr>
              <a:t>Leadership Selection</a:t>
            </a:r>
          </a:p>
        </p:txBody>
      </p:sp>
      <p:sp>
        <p:nvSpPr>
          <p:cNvPr id="5" name="TextBox 4">
            <a:extLst>
              <a:ext uri="{FF2B5EF4-FFF2-40B4-BE49-F238E27FC236}">
                <a16:creationId xmlns:a16="http://schemas.microsoft.com/office/drawing/2014/main" id="{7AD5A8A8-6C1A-1AF4-26C1-53E14CC9DA18}"/>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sp>
        <p:nvSpPr>
          <p:cNvPr id="6" name="TextBox 5">
            <a:extLst>
              <a:ext uri="{FF2B5EF4-FFF2-40B4-BE49-F238E27FC236}">
                <a16:creationId xmlns:a16="http://schemas.microsoft.com/office/drawing/2014/main" id="{D0030221-2536-4F63-9C72-FF903ECCDD06}"/>
              </a:ext>
            </a:extLst>
          </p:cNvPr>
          <p:cNvSpPr txBox="1"/>
          <p:nvPr/>
        </p:nvSpPr>
        <p:spPr>
          <a:xfrm>
            <a:off x="1231655" y="1612275"/>
            <a:ext cx="10379321" cy="1153521"/>
          </a:xfrm>
          <a:prstGeom prst="rect">
            <a:avLst/>
          </a:prstGeom>
          <a:noFill/>
        </p:spPr>
        <p:txBody>
          <a:bodyPr wrap="square">
            <a:spAutoFit/>
          </a:bodyPr>
          <a:lstStyle/>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600" b="0" i="0" u="none" strike="noStrike" cap="none" normalizeH="0" baseline="0" dirty="0">
                <a:ln>
                  <a:noFill/>
                </a:ln>
                <a:solidFill>
                  <a:schemeClr val="bg1"/>
                </a:solidFill>
                <a:effectLst/>
                <a:latin typeface="Century Gothic" panose="020B0502020202020204" pitchFamily="34" charset="0"/>
              </a:rPr>
              <a:t>No Politics Rule — Purely based on:</a:t>
            </a:r>
          </a:p>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600" b="0" i="0" u="none" strike="noStrike" cap="none" normalizeH="0" baseline="0" dirty="0">
                <a:ln>
                  <a:noFill/>
                </a:ln>
                <a:solidFill>
                  <a:schemeClr val="bg1"/>
                </a:solidFill>
                <a:effectLst/>
                <a:latin typeface="Century Gothic" panose="020B0502020202020204" pitchFamily="34" charset="0"/>
              </a:rPr>
              <a:t>AI and Programming basics + Leadership questions</a:t>
            </a:r>
          </a:p>
          <a:p>
            <a:pPr marL="0" marR="0" lvl="0" indent="0" algn="l" defTabSz="914400" rtl="0" eaLnBrk="0" fontAlgn="base" latinLnBrk="0" hangingPunct="0">
              <a:lnSpc>
                <a:spcPct val="150000"/>
              </a:lnSpc>
              <a:spcBef>
                <a:spcPct val="0"/>
              </a:spcBef>
              <a:spcAft>
                <a:spcPct val="0"/>
              </a:spcAft>
              <a:buClrTx/>
              <a:buSzTx/>
              <a:buFontTx/>
              <a:buNone/>
            </a:pPr>
            <a:r>
              <a:rPr kumimoji="0" lang="en-US" altLang="en-US" sz="1600" b="0" i="0" u="none" strike="noStrike" cap="none" normalizeH="0" baseline="0" dirty="0">
                <a:ln>
                  <a:noFill/>
                </a:ln>
                <a:solidFill>
                  <a:schemeClr val="bg1"/>
                </a:solidFill>
                <a:effectLst/>
                <a:latin typeface="Century Gothic" panose="020B0502020202020204" pitchFamily="34" charset="0"/>
              </a:rPr>
              <a:t>Interview</a:t>
            </a:r>
          </a:p>
        </p:txBody>
      </p:sp>
      <p:sp>
        <p:nvSpPr>
          <p:cNvPr id="9" name="Rectangle 2">
            <a:extLst>
              <a:ext uri="{FF2B5EF4-FFF2-40B4-BE49-F238E27FC236}">
                <a16:creationId xmlns:a16="http://schemas.microsoft.com/office/drawing/2014/main" id="{81AC1617-B302-EB06-E71C-25A7631134B7}"/>
              </a:ext>
            </a:extLst>
          </p:cNvPr>
          <p:cNvSpPr>
            <a:spLocks noChangeArrowheads="1"/>
          </p:cNvSpPr>
          <p:nvPr/>
        </p:nvSpPr>
        <p:spPr bwMode="auto">
          <a:xfrm>
            <a:off x="0" y="0"/>
            <a:ext cx="37211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pPr>
            <a:br>
              <a:rPr kumimoji="0" lang="en-US" altLang="en-US" sz="1800" b="0" i="0" u="none" strike="noStrike" cap="none" normalizeH="0" baseline="0">
                <a:ln>
                  <a:noFill/>
                </a:ln>
                <a:solidFill>
                  <a:srgbClr val="000000"/>
                </a:solidFill>
                <a:effectLst/>
                <a:latin typeface="Söhne"/>
              </a:rPr>
            </a:br>
            <a:endParaRPr kumimoji="0" lang="en-US" altLang="en-US" sz="1800" b="0" i="0" u="none" strike="noStrike" cap="none" normalizeH="0" baseline="0">
              <a:ln>
                <a:noFill/>
              </a:ln>
              <a:solidFill>
                <a:schemeClr val="tx1"/>
              </a:solidFill>
              <a:effectLst/>
              <a:latin typeface="Arial" panose="020B0604020202020204" pitchFamily="34" charset="0"/>
            </a:endParaRPr>
          </a:p>
        </p:txBody>
      </p:sp>
      <p:grpSp>
        <p:nvGrpSpPr>
          <p:cNvPr id="32" name="Group 31">
            <a:extLst>
              <a:ext uri="{FF2B5EF4-FFF2-40B4-BE49-F238E27FC236}">
                <a16:creationId xmlns:a16="http://schemas.microsoft.com/office/drawing/2014/main" id="{AF4E675C-9133-C9CB-0CBE-4233AB5BB8D2}"/>
              </a:ext>
            </a:extLst>
          </p:cNvPr>
          <p:cNvGrpSpPr/>
          <p:nvPr/>
        </p:nvGrpSpPr>
        <p:grpSpPr>
          <a:xfrm>
            <a:off x="2708705" y="3541912"/>
            <a:ext cx="6774589" cy="1293497"/>
            <a:chOff x="782242" y="4195445"/>
            <a:chExt cx="6774589" cy="1293497"/>
          </a:xfrm>
        </p:grpSpPr>
        <p:sp>
          <p:nvSpPr>
            <p:cNvPr id="13" name="Rectangle: Rounded Corners 12">
              <a:extLst>
                <a:ext uri="{FF2B5EF4-FFF2-40B4-BE49-F238E27FC236}">
                  <a16:creationId xmlns:a16="http://schemas.microsoft.com/office/drawing/2014/main" id="{313CF88A-B304-9CD1-4E75-3D298051E4D1}"/>
                </a:ext>
              </a:extLst>
            </p:cNvPr>
            <p:cNvSpPr/>
            <p:nvPr/>
          </p:nvSpPr>
          <p:spPr>
            <a:xfrm>
              <a:off x="782242" y="4195445"/>
              <a:ext cx="2906633" cy="1293497"/>
            </a:xfrm>
            <a:prstGeom prst="roundRect">
              <a:avLst/>
            </a:prstGeom>
            <a:gradFill>
              <a:gsLst>
                <a:gs pos="23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4" name="Rectangle: Rounded Corners 23">
              <a:extLst>
                <a:ext uri="{FF2B5EF4-FFF2-40B4-BE49-F238E27FC236}">
                  <a16:creationId xmlns:a16="http://schemas.microsoft.com/office/drawing/2014/main" id="{DE6D2D8A-8ACD-F1D6-B463-4B81D80F7020}"/>
                </a:ext>
              </a:extLst>
            </p:cNvPr>
            <p:cNvSpPr/>
            <p:nvPr/>
          </p:nvSpPr>
          <p:spPr>
            <a:xfrm>
              <a:off x="4705735" y="4229100"/>
              <a:ext cx="2851096" cy="1226187"/>
            </a:xfrm>
            <a:prstGeom prst="roundRect">
              <a:avLst/>
            </a:prstGeom>
            <a:gradFill>
              <a:gsLst>
                <a:gs pos="23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9" name="TextBox 28">
              <a:extLst>
                <a:ext uri="{FF2B5EF4-FFF2-40B4-BE49-F238E27FC236}">
                  <a16:creationId xmlns:a16="http://schemas.microsoft.com/office/drawing/2014/main" id="{18A07ACB-1DC6-32BE-D0A7-CFF9B53F49D0}"/>
                </a:ext>
              </a:extLst>
            </p:cNvPr>
            <p:cNvSpPr txBox="1"/>
            <p:nvPr/>
          </p:nvSpPr>
          <p:spPr>
            <a:xfrm>
              <a:off x="846568" y="4426694"/>
              <a:ext cx="2777979" cy="830997"/>
            </a:xfrm>
            <a:prstGeom prst="rect">
              <a:avLst/>
            </a:prstGeom>
            <a:noFill/>
          </p:spPr>
          <p:txBody>
            <a:bodyPr wrap="square">
              <a:spAutoFit/>
            </a:bodyPr>
            <a:lstStyle/>
            <a:p>
              <a:pPr algn="ctr"/>
              <a:r>
                <a:rPr lang="en-US" sz="1600" b="1" i="0" dirty="0">
                  <a:solidFill>
                    <a:schemeClr val="bg1"/>
                  </a:solidFill>
                  <a:effectLst/>
                  <a:latin typeface="Century Gothic" panose="020B0502020202020204" pitchFamily="34" charset="0"/>
                </a:rPr>
                <a:t>Only committed and capable students become office-bearers.</a:t>
              </a:r>
            </a:p>
          </p:txBody>
        </p:sp>
        <p:sp>
          <p:nvSpPr>
            <p:cNvPr id="30" name="TextBox 29">
              <a:extLst>
                <a:ext uri="{FF2B5EF4-FFF2-40B4-BE49-F238E27FC236}">
                  <a16:creationId xmlns:a16="http://schemas.microsoft.com/office/drawing/2014/main" id="{4EAB6862-4F1D-57CF-047B-B86DACBC95B1}"/>
                </a:ext>
              </a:extLst>
            </p:cNvPr>
            <p:cNvSpPr txBox="1"/>
            <p:nvPr/>
          </p:nvSpPr>
          <p:spPr>
            <a:xfrm>
              <a:off x="5051572" y="4426695"/>
              <a:ext cx="2159423" cy="830997"/>
            </a:xfrm>
            <a:prstGeom prst="rect">
              <a:avLst/>
            </a:prstGeom>
            <a:noFill/>
          </p:spPr>
          <p:txBody>
            <a:bodyPr wrap="square">
              <a:spAutoFit/>
            </a:bodyPr>
            <a:lstStyle/>
            <a:p>
              <a:pPr algn="ctr"/>
              <a:r>
                <a:rPr lang="en-US" sz="1600" b="1" i="0" dirty="0">
                  <a:solidFill>
                    <a:schemeClr val="bg1"/>
                  </a:solidFill>
                  <a:effectLst/>
                  <a:latin typeface="Century Gothic" panose="020B0502020202020204" pitchFamily="34" charset="0"/>
                </a:rPr>
                <a:t>Every year re-selection through tests.</a:t>
              </a:r>
            </a:p>
          </p:txBody>
        </p:sp>
      </p:grpSp>
    </p:spTree>
    <p:extLst>
      <p:ext uri="{BB962C8B-B14F-4D97-AF65-F5344CB8AC3E}">
        <p14:creationId xmlns:p14="http://schemas.microsoft.com/office/powerpoint/2010/main" val="359555438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par>
                                <p:cTn id="8" presetID="37" presetClass="entr" presetSubtype="0" fill="hold" nodeType="withEffect">
                                  <p:stCondLst>
                                    <p:cond delay="0"/>
                                  </p:stCondLst>
                                  <p:childTnLst>
                                    <p:set>
                                      <p:cBhvr>
                                        <p:cTn id="9" dur="1" fill="hold">
                                          <p:stCondLst>
                                            <p:cond delay="0"/>
                                          </p:stCondLst>
                                        </p:cTn>
                                        <p:tgtEl>
                                          <p:spTgt spid="32"/>
                                        </p:tgtEl>
                                        <p:attrNameLst>
                                          <p:attrName>style.visibility</p:attrName>
                                        </p:attrNameLst>
                                      </p:cBhvr>
                                      <p:to>
                                        <p:strVal val="visible"/>
                                      </p:to>
                                    </p:set>
                                    <p:animEffect transition="in" filter="fade">
                                      <p:cBhvr>
                                        <p:cTn id="10" dur="1000"/>
                                        <p:tgtEl>
                                          <p:spTgt spid="32"/>
                                        </p:tgtEl>
                                      </p:cBhvr>
                                    </p:animEffect>
                                    <p:anim calcmode="lin" valueType="num">
                                      <p:cBhvr>
                                        <p:cTn id="11" dur="1000" fill="hold"/>
                                        <p:tgtEl>
                                          <p:spTgt spid="32"/>
                                        </p:tgtEl>
                                        <p:attrNameLst>
                                          <p:attrName>ppt_x</p:attrName>
                                        </p:attrNameLst>
                                      </p:cBhvr>
                                      <p:tavLst>
                                        <p:tav tm="0">
                                          <p:val>
                                            <p:strVal val="#ppt_x"/>
                                          </p:val>
                                        </p:tav>
                                        <p:tav tm="100000">
                                          <p:val>
                                            <p:strVal val="#ppt_x"/>
                                          </p:val>
                                        </p:tav>
                                      </p:tavLst>
                                    </p:anim>
                                    <p:anim calcmode="lin" valueType="num">
                                      <p:cBhvr>
                                        <p:cTn id="12" dur="900" decel="100000" fill="hold"/>
                                        <p:tgtEl>
                                          <p:spTgt spid="32"/>
                                        </p:tgtEl>
                                        <p:attrNameLst>
                                          <p:attrName>ppt_y</p:attrName>
                                        </p:attrNameLst>
                                      </p:cBhvr>
                                      <p:tavLst>
                                        <p:tav tm="0">
                                          <p:val>
                                            <p:strVal val="#ppt_y+1"/>
                                          </p:val>
                                        </p:tav>
                                        <p:tav tm="100000">
                                          <p:val>
                                            <p:strVal val="#ppt_y-.03"/>
                                          </p:val>
                                        </p:tav>
                                      </p:tavLst>
                                    </p:anim>
                                    <p:anim calcmode="lin" valueType="num">
                                      <p:cBhvr>
                                        <p:cTn id="13" dur="100" accel="100000" fill="hold">
                                          <p:stCondLst>
                                            <p:cond delay="900"/>
                                          </p:stCondLst>
                                        </p:cTn>
                                        <p:tgtEl>
                                          <p:spTgt spid="32"/>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r>
              <a:rPr lang="en-IN" sz="2800" b="1" dirty="0">
                <a:solidFill>
                  <a:schemeClr val="bg1"/>
                </a:solidFill>
                <a:latin typeface="Century Gothic" panose="020B0502020202020204" pitchFamily="34" charset="0"/>
              </a:rPr>
              <a:t>Activity Model</a:t>
            </a:r>
          </a:p>
        </p:txBody>
      </p:sp>
      <p:sp>
        <p:nvSpPr>
          <p:cNvPr id="5" name="TextBox 4">
            <a:extLst>
              <a:ext uri="{FF2B5EF4-FFF2-40B4-BE49-F238E27FC236}">
                <a16:creationId xmlns:a16="http://schemas.microsoft.com/office/drawing/2014/main" id="{6F7D6253-44E5-836B-5996-1206ADAC8AE4}"/>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grpSp>
        <p:nvGrpSpPr>
          <p:cNvPr id="19" name="Group 18">
            <a:extLst>
              <a:ext uri="{FF2B5EF4-FFF2-40B4-BE49-F238E27FC236}">
                <a16:creationId xmlns:a16="http://schemas.microsoft.com/office/drawing/2014/main" id="{94E8FF68-F397-E2D4-6DF2-822258D62ACE}"/>
              </a:ext>
            </a:extLst>
          </p:cNvPr>
          <p:cNvGrpSpPr/>
          <p:nvPr/>
        </p:nvGrpSpPr>
        <p:grpSpPr>
          <a:xfrm>
            <a:off x="1365126" y="1715213"/>
            <a:ext cx="4730874" cy="4510825"/>
            <a:chOff x="1365126" y="1715213"/>
            <a:chExt cx="4730874" cy="4510825"/>
          </a:xfrm>
        </p:grpSpPr>
        <p:grpSp>
          <p:nvGrpSpPr>
            <p:cNvPr id="18" name="Group 17">
              <a:extLst>
                <a:ext uri="{FF2B5EF4-FFF2-40B4-BE49-F238E27FC236}">
                  <a16:creationId xmlns:a16="http://schemas.microsoft.com/office/drawing/2014/main" id="{81938B7E-7B2C-3F41-4F55-E934C15379C5}"/>
                </a:ext>
              </a:extLst>
            </p:cNvPr>
            <p:cNvGrpSpPr/>
            <p:nvPr/>
          </p:nvGrpSpPr>
          <p:grpSpPr>
            <a:xfrm>
              <a:off x="1365126" y="4876800"/>
              <a:ext cx="4730874" cy="1349238"/>
              <a:chOff x="1365126" y="4876800"/>
              <a:chExt cx="4730874" cy="1349238"/>
            </a:xfrm>
          </p:grpSpPr>
          <p:sp>
            <p:nvSpPr>
              <p:cNvPr id="15" name="Rectangle: Rounded Corners 14">
                <a:extLst>
                  <a:ext uri="{FF2B5EF4-FFF2-40B4-BE49-F238E27FC236}">
                    <a16:creationId xmlns:a16="http://schemas.microsoft.com/office/drawing/2014/main" id="{A060A47F-394C-9DCE-D659-15BD3269C48E}"/>
                  </a:ext>
                </a:extLst>
              </p:cNvPr>
              <p:cNvSpPr/>
              <p:nvPr/>
            </p:nvSpPr>
            <p:spPr>
              <a:xfrm>
                <a:off x="1365126" y="4876800"/>
                <a:ext cx="4730874" cy="1349238"/>
              </a:xfrm>
              <a:prstGeom prst="roundRect">
                <a:avLst>
                  <a:gd name="adj" fmla="val 6075"/>
                </a:avLst>
              </a:prstGeom>
              <a:gradFill>
                <a:gsLst>
                  <a:gs pos="23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TextBox 6">
                <a:extLst>
                  <a:ext uri="{FF2B5EF4-FFF2-40B4-BE49-F238E27FC236}">
                    <a16:creationId xmlns:a16="http://schemas.microsoft.com/office/drawing/2014/main" id="{B97EC3A9-0CAB-36CE-06D2-0EF50CAC2F7A}"/>
                  </a:ext>
                </a:extLst>
              </p:cNvPr>
              <p:cNvSpPr txBox="1"/>
              <p:nvPr/>
            </p:nvSpPr>
            <p:spPr>
              <a:xfrm>
                <a:off x="1516372" y="5082060"/>
                <a:ext cx="4428383" cy="784830"/>
              </a:xfrm>
              <a:prstGeom prst="rect">
                <a:avLst/>
              </a:prstGeom>
              <a:noFill/>
            </p:spPr>
            <p:txBody>
              <a:bodyPr wrap="square">
                <a:spAutoFit/>
              </a:bodyPr>
              <a:lstStyle/>
              <a:p>
                <a:pPr algn="ctr">
                  <a:spcAft>
                    <a:spcPts val="600"/>
                  </a:spcAft>
                </a:pPr>
                <a:r>
                  <a:rPr lang="en-US" sz="2800" b="1" dirty="0">
                    <a:solidFill>
                      <a:schemeClr val="bg1"/>
                    </a:solidFill>
                    <a:latin typeface="Century Gothic" panose="020B0502020202020204" pitchFamily="34" charset="0"/>
                  </a:rPr>
                  <a:t>GITHUB CODESPACE</a:t>
                </a:r>
                <a:endParaRPr lang="en-US" sz="2800" b="1" i="0" dirty="0">
                  <a:solidFill>
                    <a:schemeClr val="bg1"/>
                  </a:solidFill>
                  <a:effectLst/>
                  <a:latin typeface="Century Gothic" panose="020B0502020202020204" pitchFamily="34" charset="0"/>
                </a:endParaRPr>
              </a:p>
              <a:p>
                <a:pPr algn="ctr">
                  <a:spcAft>
                    <a:spcPts val="600"/>
                  </a:spcAft>
                </a:pPr>
                <a:r>
                  <a:rPr lang="en-US" sz="1200" b="0" i="0" dirty="0">
                    <a:solidFill>
                      <a:schemeClr val="bg1"/>
                    </a:solidFill>
                    <a:effectLst/>
                    <a:latin typeface="Century Gothic" panose="020B0502020202020204" pitchFamily="34" charset="0"/>
                  </a:rPr>
                  <a:t>For Coding Purpose</a:t>
                </a:r>
              </a:p>
            </p:txBody>
          </p:sp>
        </p:grpSp>
        <p:grpSp>
          <p:nvGrpSpPr>
            <p:cNvPr id="16" name="Group 15">
              <a:extLst>
                <a:ext uri="{FF2B5EF4-FFF2-40B4-BE49-F238E27FC236}">
                  <a16:creationId xmlns:a16="http://schemas.microsoft.com/office/drawing/2014/main" id="{4739A0D9-FB90-EFF4-42A9-54347B22E32D}"/>
                </a:ext>
              </a:extLst>
            </p:cNvPr>
            <p:cNvGrpSpPr/>
            <p:nvPr/>
          </p:nvGrpSpPr>
          <p:grpSpPr>
            <a:xfrm>
              <a:off x="1365126" y="1715213"/>
              <a:ext cx="4730874" cy="1349238"/>
              <a:chOff x="1365126" y="1715213"/>
              <a:chExt cx="4730874" cy="1349238"/>
            </a:xfrm>
          </p:grpSpPr>
          <p:sp>
            <p:nvSpPr>
              <p:cNvPr id="13" name="Rectangle: Rounded Corners 12">
                <a:extLst>
                  <a:ext uri="{FF2B5EF4-FFF2-40B4-BE49-F238E27FC236}">
                    <a16:creationId xmlns:a16="http://schemas.microsoft.com/office/drawing/2014/main" id="{C768E97E-4923-5C95-EBF2-3739873FA77D}"/>
                  </a:ext>
                </a:extLst>
              </p:cNvPr>
              <p:cNvSpPr/>
              <p:nvPr/>
            </p:nvSpPr>
            <p:spPr>
              <a:xfrm>
                <a:off x="1365126" y="1715213"/>
                <a:ext cx="4730874" cy="1349238"/>
              </a:xfrm>
              <a:prstGeom prst="roundRect">
                <a:avLst>
                  <a:gd name="adj" fmla="val 6075"/>
                </a:avLst>
              </a:prstGeom>
              <a:gradFill>
                <a:gsLst>
                  <a:gs pos="23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8" name="TextBox 7">
                <a:extLst>
                  <a:ext uri="{FF2B5EF4-FFF2-40B4-BE49-F238E27FC236}">
                    <a16:creationId xmlns:a16="http://schemas.microsoft.com/office/drawing/2014/main" id="{D16EB01A-1D78-BBCA-6588-F9B6853D6100}"/>
                  </a:ext>
                </a:extLst>
              </p:cNvPr>
              <p:cNvSpPr txBox="1"/>
              <p:nvPr/>
            </p:nvSpPr>
            <p:spPr>
              <a:xfrm>
                <a:off x="1516371" y="1866612"/>
                <a:ext cx="4428383" cy="1046440"/>
              </a:xfrm>
              <a:prstGeom prst="rect">
                <a:avLst/>
              </a:prstGeom>
              <a:noFill/>
            </p:spPr>
            <p:txBody>
              <a:bodyPr wrap="square">
                <a:spAutoFit/>
              </a:bodyPr>
              <a:lstStyle/>
              <a:p>
                <a:pPr algn="ctr">
                  <a:spcAft>
                    <a:spcPts val="600"/>
                  </a:spcAft>
                </a:pPr>
                <a:r>
                  <a:rPr lang="en-IN" sz="1200" dirty="0">
                    <a:solidFill>
                      <a:schemeClr val="bg1"/>
                    </a:solidFill>
                    <a:latin typeface="Century Gothic" panose="020B0502020202020204" pitchFamily="34" charset="0"/>
                  </a:rPr>
                  <a:t>Profile</a:t>
                </a:r>
                <a:endParaRPr lang="en-IN" sz="1200" b="0" i="0" dirty="0">
                  <a:solidFill>
                    <a:schemeClr val="bg1"/>
                  </a:solidFill>
                  <a:effectLst/>
                  <a:latin typeface="Century Gothic" panose="020B0502020202020204" pitchFamily="34" charset="0"/>
                </a:endParaRPr>
              </a:p>
              <a:p>
                <a:pPr algn="ctr">
                  <a:spcAft>
                    <a:spcPts val="600"/>
                  </a:spcAft>
                </a:pPr>
                <a:r>
                  <a:rPr lang="en-IN" sz="2800" b="1" dirty="0">
                    <a:solidFill>
                      <a:schemeClr val="bg1"/>
                    </a:solidFill>
                    <a:latin typeface="Century Gothic" panose="020B0502020202020204" pitchFamily="34" charset="0"/>
                  </a:rPr>
                  <a:t>GITHUB</a:t>
                </a:r>
                <a:endParaRPr lang="en-IN" sz="2800" b="1" i="0" dirty="0">
                  <a:solidFill>
                    <a:schemeClr val="bg1"/>
                  </a:solidFill>
                  <a:effectLst/>
                  <a:latin typeface="Century Gothic" panose="020B0502020202020204" pitchFamily="34" charset="0"/>
                </a:endParaRPr>
              </a:p>
              <a:p>
                <a:pPr algn="ctr">
                  <a:spcAft>
                    <a:spcPts val="600"/>
                  </a:spcAft>
                </a:pPr>
                <a:r>
                  <a:rPr lang="en-IN" sz="1200" dirty="0">
                    <a:solidFill>
                      <a:schemeClr val="bg1"/>
                    </a:solidFill>
                    <a:latin typeface="Century Gothic" panose="020B0502020202020204" pitchFamily="34" charset="0"/>
                  </a:rPr>
                  <a:t>Post Code</a:t>
                </a:r>
                <a:endParaRPr lang="en-IN" sz="1200" b="0" i="0" dirty="0">
                  <a:solidFill>
                    <a:schemeClr val="bg1"/>
                  </a:solidFill>
                  <a:effectLst/>
                  <a:latin typeface="Century Gothic" panose="020B0502020202020204" pitchFamily="34" charset="0"/>
                </a:endParaRPr>
              </a:p>
            </p:txBody>
          </p:sp>
        </p:grpSp>
        <p:grpSp>
          <p:nvGrpSpPr>
            <p:cNvPr id="17" name="Group 16">
              <a:extLst>
                <a:ext uri="{FF2B5EF4-FFF2-40B4-BE49-F238E27FC236}">
                  <a16:creationId xmlns:a16="http://schemas.microsoft.com/office/drawing/2014/main" id="{A5C8919A-DDFF-02B3-AC07-9591FEF423CD}"/>
                </a:ext>
              </a:extLst>
            </p:cNvPr>
            <p:cNvGrpSpPr/>
            <p:nvPr/>
          </p:nvGrpSpPr>
          <p:grpSpPr>
            <a:xfrm>
              <a:off x="1365126" y="3296006"/>
              <a:ext cx="4730874" cy="1349238"/>
              <a:chOff x="1365126" y="3296006"/>
              <a:chExt cx="4730874" cy="1349238"/>
            </a:xfrm>
          </p:grpSpPr>
          <p:sp>
            <p:nvSpPr>
              <p:cNvPr id="14" name="Rectangle: Rounded Corners 13">
                <a:extLst>
                  <a:ext uri="{FF2B5EF4-FFF2-40B4-BE49-F238E27FC236}">
                    <a16:creationId xmlns:a16="http://schemas.microsoft.com/office/drawing/2014/main" id="{A320FCBA-9E3B-FECD-214A-FCFDA5050391}"/>
                  </a:ext>
                </a:extLst>
              </p:cNvPr>
              <p:cNvSpPr/>
              <p:nvPr/>
            </p:nvSpPr>
            <p:spPr>
              <a:xfrm>
                <a:off x="1365126" y="3296006"/>
                <a:ext cx="4730874" cy="1349238"/>
              </a:xfrm>
              <a:prstGeom prst="roundRect">
                <a:avLst>
                  <a:gd name="adj" fmla="val 6075"/>
                </a:avLst>
              </a:prstGeom>
              <a:gradFill>
                <a:gsLst>
                  <a:gs pos="23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9" name="TextBox 8">
                <a:extLst>
                  <a:ext uri="{FF2B5EF4-FFF2-40B4-BE49-F238E27FC236}">
                    <a16:creationId xmlns:a16="http://schemas.microsoft.com/office/drawing/2014/main" id="{71D5852F-A67D-DF10-5A5B-336FDF0F54E3}"/>
                  </a:ext>
                </a:extLst>
              </p:cNvPr>
              <p:cNvSpPr txBox="1"/>
              <p:nvPr/>
            </p:nvSpPr>
            <p:spPr>
              <a:xfrm>
                <a:off x="1516372" y="3651310"/>
                <a:ext cx="4428383" cy="784830"/>
              </a:xfrm>
              <a:prstGeom prst="rect">
                <a:avLst/>
              </a:prstGeom>
              <a:noFill/>
            </p:spPr>
            <p:txBody>
              <a:bodyPr wrap="square">
                <a:spAutoFit/>
              </a:bodyPr>
              <a:lstStyle/>
              <a:p>
                <a:pPr algn="ctr">
                  <a:spcAft>
                    <a:spcPts val="600"/>
                  </a:spcAft>
                </a:pPr>
                <a:r>
                  <a:rPr lang="en-IN" sz="2800" b="1" dirty="0">
                    <a:solidFill>
                      <a:schemeClr val="bg1"/>
                    </a:solidFill>
                    <a:latin typeface="Century Gothic" panose="020B0502020202020204" pitchFamily="34" charset="0"/>
                  </a:rPr>
                  <a:t>LINKEDIN</a:t>
                </a:r>
                <a:endParaRPr lang="en-IN" sz="2800" b="1" i="0" dirty="0">
                  <a:solidFill>
                    <a:schemeClr val="bg1"/>
                  </a:solidFill>
                  <a:effectLst/>
                  <a:latin typeface="Century Gothic" panose="020B0502020202020204" pitchFamily="34" charset="0"/>
                </a:endParaRPr>
              </a:p>
              <a:p>
                <a:pPr algn="ctr">
                  <a:spcAft>
                    <a:spcPts val="600"/>
                  </a:spcAft>
                </a:pPr>
                <a:r>
                  <a:rPr lang="en-IN" sz="1200" dirty="0">
                    <a:solidFill>
                      <a:schemeClr val="bg1"/>
                    </a:solidFill>
                    <a:latin typeface="Century Gothic" panose="020B0502020202020204" pitchFamily="34" charset="0"/>
                  </a:rPr>
                  <a:t>Post Video of Project</a:t>
                </a:r>
                <a:endParaRPr lang="en-US" sz="1200" b="0" i="0" dirty="0">
                  <a:solidFill>
                    <a:schemeClr val="bg1"/>
                  </a:solidFill>
                  <a:effectLst/>
                  <a:latin typeface="Century Gothic" panose="020B0502020202020204" pitchFamily="34" charset="0"/>
                </a:endParaRPr>
              </a:p>
            </p:txBody>
          </p:sp>
        </p:grpSp>
      </p:grpSp>
      <p:cxnSp>
        <p:nvCxnSpPr>
          <p:cNvPr id="21" name="Straight Arrow Connector 20">
            <a:extLst>
              <a:ext uri="{FF2B5EF4-FFF2-40B4-BE49-F238E27FC236}">
                <a16:creationId xmlns:a16="http://schemas.microsoft.com/office/drawing/2014/main" id="{DDEF117F-42B4-F5A5-CFC1-7FA156F10B18}"/>
              </a:ext>
            </a:extLst>
          </p:cNvPr>
          <p:cNvCxnSpPr/>
          <p:nvPr/>
        </p:nvCxnSpPr>
        <p:spPr>
          <a:xfrm flipH="1" flipV="1">
            <a:off x="6778563" y="1715213"/>
            <a:ext cx="0" cy="4510825"/>
          </a:xfrm>
          <a:prstGeom prst="straightConnector1">
            <a:avLst/>
          </a:prstGeom>
          <a:ln w="63500">
            <a:solidFill>
              <a:schemeClr val="bg1"/>
            </a:solidFill>
            <a:tailEnd type="triangle"/>
          </a:ln>
        </p:spPr>
        <p:style>
          <a:lnRef idx="1">
            <a:schemeClr val="accent1"/>
          </a:lnRef>
          <a:fillRef idx="0">
            <a:schemeClr val="accent1"/>
          </a:fillRef>
          <a:effectRef idx="0">
            <a:schemeClr val="accent1"/>
          </a:effectRef>
          <a:fontRef idx="minor">
            <a:schemeClr val="tx1"/>
          </a:fontRef>
        </p:style>
      </p:cxnSp>
      <p:graphicFrame>
        <p:nvGraphicFramePr>
          <p:cNvPr id="10" name="Table 9">
            <a:extLst>
              <a:ext uri="{FF2B5EF4-FFF2-40B4-BE49-F238E27FC236}">
                <a16:creationId xmlns:a16="http://schemas.microsoft.com/office/drawing/2014/main" id="{DEDC142F-5D3D-8559-56AE-963179178FE2}"/>
              </a:ext>
            </a:extLst>
          </p:cNvPr>
          <p:cNvGraphicFramePr>
            <a:graphicFrameLocks noGrp="1"/>
          </p:cNvGraphicFramePr>
          <p:nvPr/>
        </p:nvGraphicFramePr>
        <p:xfrm>
          <a:off x="7525298" y="1896598"/>
          <a:ext cx="4333874" cy="4293446"/>
        </p:xfrm>
        <a:graphic>
          <a:graphicData uri="http://schemas.openxmlformats.org/drawingml/2006/table">
            <a:tbl>
              <a:tblPr firstRow="1" bandRow="1">
                <a:tableStyleId>{5C22544A-7EE6-4342-B048-85BDC9FD1C3A}</a:tableStyleId>
              </a:tblPr>
              <a:tblGrid>
                <a:gridCol w="1297056">
                  <a:extLst>
                    <a:ext uri="{9D8B030D-6E8A-4147-A177-3AD203B41FA5}">
                      <a16:colId xmlns:a16="http://schemas.microsoft.com/office/drawing/2014/main" val="3126995003"/>
                    </a:ext>
                  </a:extLst>
                </a:gridCol>
                <a:gridCol w="3036818">
                  <a:extLst>
                    <a:ext uri="{9D8B030D-6E8A-4147-A177-3AD203B41FA5}">
                      <a16:colId xmlns:a16="http://schemas.microsoft.com/office/drawing/2014/main" val="1764597797"/>
                    </a:ext>
                  </a:extLst>
                </a:gridCol>
              </a:tblGrid>
              <a:tr h="552994">
                <a:tc>
                  <a:txBody>
                    <a:bodyPr/>
                    <a:lstStyle/>
                    <a:p>
                      <a:pPr algn="l"/>
                      <a:r>
                        <a:rPr lang="en-US" sz="1500" b="1">
                          <a:solidFill>
                            <a:schemeClr val="bg1"/>
                          </a:solidFill>
                          <a:effectLst/>
                          <a:latin typeface="Century Gothic" panose="020B0502020202020204" pitchFamily="34" charset="0"/>
                        </a:rPr>
                        <a:t>Week</a:t>
                      </a:r>
                    </a:p>
                  </a:txBody>
                  <a:tcPr marL="74267" marR="74267" marT="37134" marB="37134" anchor="ctr">
                    <a:gradFill>
                      <a:gsLst>
                        <a:gs pos="32000">
                          <a:schemeClr val="accent1"/>
                        </a:gs>
                        <a:gs pos="100000">
                          <a:schemeClr val="accent2">
                            <a:lumMod val="40000"/>
                            <a:lumOff val="60000"/>
                          </a:schemeClr>
                        </a:gs>
                      </a:gsLst>
                      <a:lin ang="0" scaled="1"/>
                    </a:gradFill>
                  </a:tcPr>
                </a:tc>
                <a:tc>
                  <a:txBody>
                    <a:bodyPr/>
                    <a:lstStyle/>
                    <a:p>
                      <a:pPr algn="l"/>
                      <a:r>
                        <a:rPr lang="en-US" sz="1500" b="1" dirty="0">
                          <a:solidFill>
                            <a:schemeClr val="bg1"/>
                          </a:solidFill>
                          <a:effectLst/>
                          <a:latin typeface="Century Gothic" panose="020B0502020202020204" pitchFamily="34" charset="0"/>
                        </a:rPr>
                        <a:t>Activity</a:t>
                      </a:r>
                    </a:p>
                  </a:txBody>
                  <a:tcPr marL="74267" marR="74267" marT="37134" marB="37134" anchor="ctr">
                    <a:gradFill>
                      <a:gsLst>
                        <a:gs pos="32000">
                          <a:schemeClr val="accent1"/>
                        </a:gs>
                        <a:gs pos="100000">
                          <a:schemeClr val="accent2">
                            <a:lumMod val="40000"/>
                            <a:lumOff val="60000"/>
                          </a:schemeClr>
                        </a:gs>
                      </a:gsLst>
                      <a:lin ang="0" scaled="1"/>
                    </a:gradFill>
                  </a:tcPr>
                </a:tc>
                <a:extLst>
                  <a:ext uri="{0D108BD9-81ED-4DB2-BD59-A6C34878D82A}">
                    <a16:rowId xmlns:a16="http://schemas.microsoft.com/office/drawing/2014/main" val="283473641"/>
                  </a:ext>
                </a:extLst>
              </a:tr>
              <a:tr h="479362">
                <a:tc>
                  <a:txBody>
                    <a:bodyPr/>
                    <a:lstStyle/>
                    <a:p>
                      <a:pPr algn="l"/>
                      <a:r>
                        <a:rPr lang="en-US" sz="1500">
                          <a:solidFill>
                            <a:schemeClr val="bg1"/>
                          </a:solidFill>
                          <a:effectLst/>
                          <a:latin typeface="Century Gothic" panose="020B0502020202020204" pitchFamily="34" charset="0"/>
                        </a:rPr>
                        <a:t>1</a:t>
                      </a:r>
                    </a:p>
                  </a:txBody>
                  <a:tcPr marL="74267" marR="74267" marT="37134" marB="37134" anchor="ctr">
                    <a:solidFill>
                      <a:schemeClr val="tx1"/>
                    </a:solidFill>
                  </a:tcPr>
                </a:tc>
                <a:tc>
                  <a:txBody>
                    <a:bodyPr/>
                    <a:lstStyle/>
                    <a:p>
                      <a:pPr algn="l"/>
                      <a:r>
                        <a:rPr lang="en-US" sz="1500" dirty="0">
                          <a:solidFill>
                            <a:schemeClr val="bg1"/>
                          </a:solidFill>
                          <a:effectLst/>
                          <a:latin typeface="Century Gothic" panose="020B0502020202020204" pitchFamily="34" charset="0"/>
                        </a:rPr>
                        <a:t>Programming Language basics (C++/Python/TypeScript etc.)</a:t>
                      </a:r>
                    </a:p>
                  </a:txBody>
                  <a:tcPr marL="74267" marR="74267" marT="37134" marB="37134" anchor="ctr">
                    <a:solidFill>
                      <a:schemeClr val="tx1"/>
                    </a:solidFill>
                  </a:tcPr>
                </a:tc>
                <a:extLst>
                  <a:ext uri="{0D108BD9-81ED-4DB2-BD59-A6C34878D82A}">
                    <a16:rowId xmlns:a16="http://schemas.microsoft.com/office/drawing/2014/main" val="1287175743"/>
                  </a:ext>
                </a:extLst>
              </a:tr>
              <a:tr h="479362">
                <a:tc>
                  <a:txBody>
                    <a:bodyPr/>
                    <a:lstStyle/>
                    <a:p>
                      <a:pPr algn="l"/>
                      <a:r>
                        <a:rPr lang="en-US" sz="1500">
                          <a:solidFill>
                            <a:schemeClr val="bg1"/>
                          </a:solidFill>
                          <a:effectLst/>
                          <a:latin typeface="Century Gothic" panose="020B0502020202020204" pitchFamily="34" charset="0"/>
                        </a:rPr>
                        <a:t>2</a:t>
                      </a:r>
                    </a:p>
                  </a:txBody>
                  <a:tcPr marL="74267" marR="74267" marT="37134" marB="37134" anchor="ctr">
                    <a:solidFill>
                      <a:schemeClr val="tx1"/>
                    </a:solidFill>
                  </a:tcPr>
                </a:tc>
                <a:tc>
                  <a:txBody>
                    <a:bodyPr/>
                    <a:lstStyle/>
                    <a:p>
                      <a:pPr algn="l"/>
                      <a:r>
                        <a:rPr lang="en-US" sz="1500" dirty="0">
                          <a:solidFill>
                            <a:schemeClr val="bg1"/>
                          </a:solidFill>
                          <a:effectLst/>
                          <a:latin typeface="Century Gothic" panose="020B0502020202020204" pitchFamily="34" charset="0"/>
                        </a:rPr>
                        <a:t>AI concepts (Intro to Machine Learning, Agentic AI)</a:t>
                      </a:r>
                    </a:p>
                  </a:txBody>
                  <a:tcPr marL="74267" marR="74267" marT="37134" marB="37134" anchor="ctr">
                    <a:solidFill>
                      <a:schemeClr val="tx1"/>
                    </a:solidFill>
                  </a:tcPr>
                </a:tc>
                <a:extLst>
                  <a:ext uri="{0D108BD9-81ED-4DB2-BD59-A6C34878D82A}">
                    <a16:rowId xmlns:a16="http://schemas.microsoft.com/office/drawing/2014/main" val="3225169256"/>
                  </a:ext>
                </a:extLst>
              </a:tr>
              <a:tr h="479362">
                <a:tc>
                  <a:txBody>
                    <a:bodyPr/>
                    <a:lstStyle/>
                    <a:p>
                      <a:pPr algn="l"/>
                      <a:r>
                        <a:rPr lang="en-US" sz="1500">
                          <a:solidFill>
                            <a:schemeClr val="bg1"/>
                          </a:solidFill>
                          <a:effectLst/>
                          <a:latin typeface="Century Gothic" panose="020B0502020202020204" pitchFamily="34" charset="0"/>
                        </a:rPr>
                        <a:t>3</a:t>
                      </a:r>
                    </a:p>
                  </a:txBody>
                  <a:tcPr marL="74267" marR="74267" marT="37134" marB="37134" anchor="ctr">
                    <a:solidFill>
                      <a:schemeClr val="tx1"/>
                    </a:solidFill>
                  </a:tcPr>
                </a:tc>
                <a:tc>
                  <a:txBody>
                    <a:bodyPr/>
                    <a:lstStyle/>
                    <a:p>
                      <a:pPr algn="l"/>
                      <a:r>
                        <a:rPr lang="en-US" sz="1500">
                          <a:solidFill>
                            <a:schemeClr val="bg1"/>
                          </a:solidFill>
                          <a:effectLst/>
                          <a:latin typeface="Century Gothic" panose="020B0502020202020204" pitchFamily="34" charset="0"/>
                        </a:rPr>
                        <a:t>Hands-on project kickoff</a:t>
                      </a:r>
                    </a:p>
                  </a:txBody>
                  <a:tcPr marL="74267" marR="74267" marT="37134" marB="37134" anchor="ctr">
                    <a:solidFill>
                      <a:schemeClr val="tx1"/>
                    </a:solidFill>
                  </a:tcPr>
                </a:tc>
                <a:extLst>
                  <a:ext uri="{0D108BD9-81ED-4DB2-BD59-A6C34878D82A}">
                    <a16:rowId xmlns:a16="http://schemas.microsoft.com/office/drawing/2014/main" val="1601509659"/>
                  </a:ext>
                </a:extLst>
              </a:tr>
              <a:tr h="479362">
                <a:tc>
                  <a:txBody>
                    <a:bodyPr/>
                    <a:lstStyle/>
                    <a:p>
                      <a:pPr algn="l"/>
                      <a:r>
                        <a:rPr lang="en-US" sz="1500">
                          <a:solidFill>
                            <a:schemeClr val="bg1"/>
                          </a:solidFill>
                          <a:effectLst/>
                          <a:latin typeface="Century Gothic" panose="020B0502020202020204" pitchFamily="34" charset="0"/>
                        </a:rPr>
                        <a:t>4</a:t>
                      </a:r>
                    </a:p>
                  </a:txBody>
                  <a:tcPr marL="74267" marR="74267" marT="37134" marB="37134" anchor="ctr">
                    <a:solidFill>
                      <a:schemeClr val="tx1"/>
                    </a:solidFill>
                  </a:tcPr>
                </a:tc>
                <a:tc>
                  <a:txBody>
                    <a:bodyPr/>
                    <a:lstStyle/>
                    <a:p>
                      <a:pPr algn="l"/>
                      <a:r>
                        <a:rPr lang="en-US" sz="1500" dirty="0">
                          <a:solidFill>
                            <a:schemeClr val="bg1"/>
                          </a:solidFill>
                          <a:effectLst/>
                          <a:latin typeface="Century Gothic" panose="020B0502020202020204" pitchFamily="34" charset="0"/>
                        </a:rPr>
                        <a:t>Students' mini-presentations</a:t>
                      </a:r>
                    </a:p>
                  </a:txBody>
                  <a:tcPr marL="74267" marR="74267" marT="37134" marB="37134" anchor="ctr">
                    <a:solidFill>
                      <a:schemeClr val="tx1"/>
                    </a:solidFill>
                  </a:tcPr>
                </a:tc>
                <a:extLst>
                  <a:ext uri="{0D108BD9-81ED-4DB2-BD59-A6C34878D82A}">
                    <a16:rowId xmlns:a16="http://schemas.microsoft.com/office/drawing/2014/main" val="3710491749"/>
                  </a:ext>
                </a:extLst>
              </a:tr>
              <a:tr h="479362">
                <a:tc>
                  <a:txBody>
                    <a:bodyPr/>
                    <a:lstStyle/>
                    <a:p>
                      <a:pPr algn="l"/>
                      <a:r>
                        <a:rPr lang="en-US" sz="1500">
                          <a:solidFill>
                            <a:schemeClr val="bg1"/>
                          </a:solidFill>
                          <a:effectLst/>
                          <a:latin typeface="Century Gothic" panose="020B0502020202020204" pitchFamily="34" charset="0"/>
                        </a:rPr>
                        <a:t>5</a:t>
                      </a:r>
                    </a:p>
                  </a:txBody>
                  <a:tcPr marL="74267" marR="74267" marT="37134" marB="37134" anchor="ctr">
                    <a:solidFill>
                      <a:schemeClr val="tx1"/>
                    </a:solidFill>
                  </a:tcPr>
                </a:tc>
                <a:tc>
                  <a:txBody>
                    <a:bodyPr/>
                    <a:lstStyle/>
                    <a:p>
                      <a:pPr algn="l"/>
                      <a:r>
                        <a:rPr lang="en-US" sz="1500">
                          <a:solidFill>
                            <a:schemeClr val="bg1"/>
                          </a:solidFill>
                          <a:effectLst/>
                          <a:latin typeface="Century Gothic" panose="020B0502020202020204" pitchFamily="34" charset="0"/>
                        </a:rPr>
                        <a:t>Guest speaker session</a:t>
                      </a:r>
                    </a:p>
                  </a:txBody>
                  <a:tcPr marL="74267" marR="74267" marT="37134" marB="37134" anchor="ctr">
                    <a:solidFill>
                      <a:schemeClr val="tx1"/>
                    </a:solidFill>
                  </a:tcPr>
                </a:tc>
                <a:extLst>
                  <a:ext uri="{0D108BD9-81ED-4DB2-BD59-A6C34878D82A}">
                    <a16:rowId xmlns:a16="http://schemas.microsoft.com/office/drawing/2014/main" val="431001947"/>
                  </a:ext>
                </a:extLst>
              </a:tr>
              <a:tr h="479362">
                <a:tc>
                  <a:txBody>
                    <a:bodyPr/>
                    <a:lstStyle/>
                    <a:p>
                      <a:pPr algn="l"/>
                      <a:r>
                        <a:rPr lang="en-US" sz="1500" dirty="0">
                          <a:solidFill>
                            <a:schemeClr val="bg1"/>
                          </a:solidFill>
                          <a:effectLst/>
                          <a:latin typeface="Century Gothic" panose="020B0502020202020204" pitchFamily="34" charset="0"/>
                        </a:rPr>
                        <a:t>6</a:t>
                      </a:r>
                    </a:p>
                  </a:txBody>
                  <a:tcPr marL="74267" marR="74267" marT="37134" marB="37134" anchor="ctr">
                    <a:solidFill>
                      <a:schemeClr val="tx1"/>
                    </a:solidFill>
                  </a:tcPr>
                </a:tc>
                <a:tc>
                  <a:txBody>
                    <a:bodyPr/>
                    <a:lstStyle/>
                    <a:p>
                      <a:pPr algn="l"/>
                      <a:r>
                        <a:rPr lang="en-US" sz="1500" dirty="0">
                          <a:solidFill>
                            <a:schemeClr val="bg1"/>
                          </a:solidFill>
                          <a:effectLst/>
                          <a:latin typeface="Century Gothic" panose="020B0502020202020204" pitchFamily="34" charset="0"/>
                        </a:rPr>
                        <a:t>Fun coding competitions</a:t>
                      </a:r>
                    </a:p>
                  </a:txBody>
                  <a:tcPr marL="74267" marR="74267" marT="37134" marB="37134" anchor="ctr">
                    <a:solidFill>
                      <a:schemeClr val="tx1"/>
                    </a:solidFill>
                  </a:tcPr>
                </a:tc>
                <a:extLst>
                  <a:ext uri="{0D108BD9-81ED-4DB2-BD59-A6C34878D82A}">
                    <a16:rowId xmlns:a16="http://schemas.microsoft.com/office/drawing/2014/main" val="3327063336"/>
                  </a:ext>
                </a:extLst>
              </a:tr>
              <a:tr h="479362">
                <a:tc>
                  <a:txBody>
                    <a:bodyPr/>
                    <a:lstStyle/>
                    <a:p>
                      <a:pPr algn="l"/>
                      <a:r>
                        <a:rPr lang="en-US" sz="1500" b="1">
                          <a:solidFill>
                            <a:schemeClr val="bg1"/>
                          </a:solidFill>
                          <a:effectLst/>
                          <a:latin typeface="Century Gothic" panose="020B0502020202020204" pitchFamily="34" charset="0"/>
                        </a:rPr>
                        <a:t>Repeat</a:t>
                      </a:r>
                      <a:endParaRPr lang="en-US" sz="1500">
                        <a:solidFill>
                          <a:schemeClr val="bg1"/>
                        </a:solidFill>
                        <a:effectLst/>
                        <a:latin typeface="Century Gothic" panose="020B0502020202020204" pitchFamily="34" charset="0"/>
                      </a:endParaRPr>
                    </a:p>
                  </a:txBody>
                  <a:tcPr marL="74267" marR="74267" marT="37134" marB="37134" anchor="ctr">
                    <a:solidFill>
                      <a:schemeClr val="tx1"/>
                    </a:solidFill>
                  </a:tcPr>
                </a:tc>
                <a:tc>
                  <a:txBody>
                    <a:bodyPr/>
                    <a:lstStyle/>
                    <a:p>
                      <a:pPr algn="l"/>
                      <a:r>
                        <a:rPr lang="en-US" sz="1500" b="1" dirty="0">
                          <a:solidFill>
                            <a:schemeClr val="bg1"/>
                          </a:solidFill>
                          <a:effectLst/>
                          <a:latin typeface="Century Gothic" panose="020B0502020202020204" pitchFamily="34" charset="0"/>
                        </a:rPr>
                        <a:t>with new themes every 2 months</a:t>
                      </a:r>
                    </a:p>
                  </a:txBody>
                  <a:tcPr marL="74267" marR="74267" marT="37134" marB="37134" anchor="ctr">
                    <a:solidFill>
                      <a:schemeClr val="tx1"/>
                    </a:solidFill>
                  </a:tcPr>
                </a:tc>
                <a:extLst>
                  <a:ext uri="{0D108BD9-81ED-4DB2-BD59-A6C34878D82A}">
                    <a16:rowId xmlns:a16="http://schemas.microsoft.com/office/drawing/2014/main" val="2648815332"/>
                  </a:ext>
                </a:extLst>
              </a:tr>
            </a:tbl>
          </a:graphicData>
        </a:graphic>
      </p:graphicFrame>
    </p:spTree>
    <p:extLst>
      <p:ext uri="{BB962C8B-B14F-4D97-AF65-F5344CB8AC3E}">
        <p14:creationId xmlns:p14="http://schemas.microsoft.com/office/powerpoint/2010/main" val="8575049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pPr algn="l" rtl="0"/>
            <a:r>
              <a:rPr lang="en-IN" sz="2800" b="1" dirty="0">
                <a:solidFill>
                  <a:schemeClr val="bg1"/>
                </a:solidFill>
                <a:latin typeface="Century Gothic" panose="020B0502020202020204" pitchFamily="34" charset="0"/>
              </a:rPr>
              <a:t>Engagement Model</a:t>
            </a:r>
          </a:p>
        </p:txBody>
      </p:sp>
      <p:sp>
        <p:nvSpPr>
          <p:cNvPr id="5" name="TextBox 4">
            <a:extLst>
              <a:ext uri="{FF2B5EF4-FFF2-40B4-BE49-F238E27FC236}">
                <a16:creationId xmlns:a16="http://schemas.microsoft.com/office/drawing/2014/main" id="{8D7125E3-DD7F-79FF-8A59-57896A6FB901}"/>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grpSp>
        <p:nvGrpSpPr>
          <p:cNvPr id="35" name="Group 34">
            <a:extLst>
              <a:ext uri="{FF2B5EF4-FFF2-40B4-BE49-F238E27FC236}">
                <a16:creationId xmlns:a16="http://schemas.microsoft.com/office/drawing/2014/main" id="{F9679C0E-2B4F-72EC-D734-C641E75202D7}"/>
              </a:ext>
            </a:extLst>
          </p:cNvPr>
          <p:cNvGrpSpPr/>
          <p:nvPr/>
        </p:nvGrpSpPr>
        <p:grpSpPr>
          <a:xfrm>
            <a:off x="1271338" y="1730430"/>
            <a:ext cx="9664121" cy="4365571"/>
            <a:chOff x="1499359" y="1730430"/>
            <a:chExt cx="9664121" cy="4365571"/>
          </a:xfrm>
        </p:grpSpPr>
        <p:grpSp>
          <p:nvGrpSpPr>
            <p:cNvPr id="22" name="Group 21">
              <a:extLst>
                <a:ext uri="{FF2B5EF4-FFF2-40B4-BE49-F238E27FC236}">
                  <a16:creationId xmlns:a16="http://schemas.microsoft.com/office/drawing/2014/main" id="{B345DF20-69B1-29BC-DEDF-5A79148000C7}"/>
                </a:ext>
              </a:extLst>
            </p:cNvPr>
            <p:cNvGrpSpPr/>
            <p:nvPr/>
          </p:nvGrpSpPr>
          <p:grpSpPr>
            <a:xfrm>
              <a:off x="6105234" y="1730430"/>
              <a:ext cx="5058246" cy="4365571"/>
              <a:chOff x="6105234" y="1730430"/>
              <a:chExt cx="5058246" cy="4365571"/>
            </a:xfrm>
          </p:grpSpPr>
          <p:sp>
            <p:nvSpPr>
              <p:cNvPr id="7" name="Rectangle: Rounded Corners 6">
                <a:extLst>
                  <a:ext uri="{FF2B5EF4-FFF2-40B4-BE49-F238E27FC236}">
                    <a16:creationId xmlns:a16="http://schemas.microsoft.com/office/drawing/2014/main" id="{655769CC-3E4B-669E-A5DA-32272A1F5318}"/>
                  </a:ext>
                </a:extLst>
              </p:cNvPr>
              <p:cNvSpPr/>
              <p:nvPr/>
            </p:nvSpPr>
            <p:spPr>
              <a:xfrm>
                <a:off x="6105234" y="1730430"/>
                <a:ext cx="5043449" cy="1262153"/>
              </a:xfrm>
              <a:prstGeom prst="roundRect">
                <a:avLst>
                  <a:gd name="adj" fmla="val 11251"/>
                </a:avLst>
              </a:prstGeom>
              <a:gradFill>
                <a:gsLst>
                  <a:gs pos="34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endParaRPr>
              </a:p>
            </p:txBody>
          </p:sp>
          <p:sp>
            <p:nvSpPr>
              <p:cNvPr id="9" name="Rectangle: Rounded Corners 8">
                <a:extLst>
                  <a:ext uri="{FF2B5EF4-FFF2-40B4-BE49-F238E27FC236}">
                    <a16:creationId xmlns:a16="http://schemas.microsoft.com/office/drawing/2014/main" id="{693344E2-6AC8-6653-3BB2-335DD41C8245}"/>
                  </a:ext>
                </a:extLst>
              </p:cNvPr>
              <p:cNvSpPr/>
              <p:nvPr/>
            </p:nvSpPr>
            <p:spPr>
              <a:xfrm>
                <a:off x="6105234" y="3286185"/>
                <a:ext cx="5043449" cy="1262153"/>
              </a:xfrm>
              <a:prstGeom prst="roundRect">
                <a:avLst>
                  <a:gd name="adj" fmla="val 11251"/>
                </a:avLst>
              </a:prstGeom>
              <a:gradFill>
                <a:gsLst>
                  <a:gs pos="34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endParaRPr>
              </a:p>
            </p:txBody>
          </p:sp>
          <p:sp>
            <p:nvSpPr>
              <p:cNvPr id="10" name="Rectangle: Rounded Corners 9">
                <a:extLst>
                  <a:ext uri="{FF2B5EF4-FFF2-40B4-BE49-F238E27FC236}">
                    <a16:creationId xmlns:a16="http://schemas.microsoft.com/office/drawing/2014/main" id="{FF64B577-FB5E-A312-72B5-F2E114D31801}"/>
                  </a:ext>
                </a:extLst>
              </p:cNvPr>
              <p:cNvSpPr/>
              <p:nvPr/>
            </p:nvSpPr>
            <p:spPr>
              <a:xfrm>
                <a:off x="6120031" y="4833848"/>
                <a:ext cx="5043449" cy="1262153"/>
              </a:xfrm>
              <a:prstGeom prst="roundRect">
                <a:avLst>
                  <a:gd name="adj" fmla="val 11251"/>
                </a:avLst>
              </a:prstGeom>
              <a:gradFill>
                <a:gsLst>
                  <a:gs pos="34000">
                    <a:schemeClr val="accent1"/>
                  </a:gs>
                  <a:gs pos="100000">
                    <a:srgbClr val="F9D5BD"/>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endParaRPr>
              </a:p>
            </p:txBody>
          </p:sp>
        </p:grpSp>
        <p:grpSp>
          <p:nvGrpSpPr>
            <p:cNvPr id="21" name="Group 20">
              <a:extLst>
                <a:ext uri="{FF2B5EF4-FFF2-40B4-BE49-F238E27FC236}">
                  <a16:creationId xmlns:a16="http://schemas.microsoft.com/office/drawing/2014/main" id="{CD96BC48-CE8F-5FF6-1264-F2C51A9BD0F3}"/>
                </a:ext>
              </a:extLst>
            </p:cNvPr>
            <p:cNvGrpSpPr/>
            <p:nvPr/>
          </p:nvGrpSpPr>
          <p:grpSpPr>
            <a:xfrm>
              <a:off x="1499359" y="2453869"/>
              <a:ext cx="2918692" cy="2918692"/>
              <a:chOff x="1354216" y="3131127"/>
              <a:chExt cx="2918692" cy="2918692"/>
            </a:xfrm>
          </p:grpSpPr>
          <p:pic>
            <p:nvPicPr>
              <p:cNvPr id="20" name="Picture 19" descr="A hand holding a test tube with blue liquid&#10;&#10;Description automatically generated">
                <a:extLst>
                  <a:ext uri="{FF2B5EF4-FFF2-40B4-BE49-F238E27FC236}">
                    <a16:creationId xmlns:a16="http://schemas.microsoft.com/office/drawing/2014/main" id="{4FFBC427-9785-8720-0939-0D59BC00C55C}"/>
                  </a:ext>
                </a:extLst>
              </p:cNvPr>
              <p:cNvPicPr>
                <a:picLocks noChangeAspect="1"/>
              </p:cNvPicPr>
              <p:nvPr/>
            </p:nvPicPr>
            <p:blipFill>
              <a:blip r:embed="rId4">
                <a:extLst>
                  <a:ext uri="{28A0092B-C50C-407E-A947-70E740481C1C}">
                    <a14:useLocalDpi xmlns:a14="http://schemas.microsoft.com/office/drawing/2010/main" val="0"/>
                  </a:ext>
                </a:extLst>
              </a:blip>
              <a:srcRect l="18898" t="5905" r="18898" b="787"/>
              <a:stretch>
                <a:fillRect/>
              </a:stretch>
            </p:blipFill>
            <p:spPr>
              <a:xfrm>
                <a:off x="1354216" y="3131127"/>
                <a:ext cx="2918692" cy="2918692"/>
              </a:xfrm>
              <a:custGeom>
                <a:avLst/>
                <a:gdLst>
                  <a:gd name="connsiteX0" fmla="*/ 1459346 w 2918692"/>
                  <a:gd name="connsiteY0" fmla="*/ 0 h 2918692"/>
                  <a:gd name="connsiteX1" fmla="*/ 2918692 w 2918692"/>
                  <a:gd name="connsiteY1" fmla="*/ 1459346 h 2918692"/>
                  <a:gd name="connsiteX2" fmla="*/ 1459346 w 2918692"/>
                  <a:gd name="connsiteY2" fmla="*/ 2918692 h 2918692"/>
                  <a:gd name="connsiteX3" fmla="*/ 0 w 2918692"/>
                  <a:gd name="connsiteY3" fmla="*/ 1459346 h 2918692"/>
                  <a:gd name="connsiteX4" fmla="*/ 1459346 w 2918692"/>
                  <a:gd name="connsiteY4" fmla="*/ 0 h 291869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918692" h="2918692">
                    <a:moveTo>
                      <a:pt x="1459346" y="0"/>
                    </a:moveTo>
                    <a:cubicBezTo>
                      <a:pt x="2265321" y="0"/>
                      <a:pt x="2918692" y="653371"/>
                      <a:pt x="2918692" y="1459346"/>
                    </a:cubicBezTo>
                    <a:cubicBezTo>
                      <a:pt x="2918692" y="2265321"/>
                      <a:pt x="2265321" y="2918692"/>
                      <a:pt x="1459346" y="2918692"/>
                    </a:cubicBezTo>
                    <a:cubicBezTo>
                      <a:pt x="653371" y="2918692"/>
                      <a:pt x="0" y="2265321"/>
                      <a:pt x="0" y="1459346"/>
                    </a:cubicBezTo>
                    <a:cubicBezTo>
                      <a:pt x="0" y="653371"/>
                      <a:pt x="653371" y="0"/>
                      <a:pt x="1459346" y="0"/>
                    </a:cubicBezTo>
                    <a:close/>
                  </a:path>
                </a:pathLst>
              </a:custGeom>
            </p:spPr>
          </p:pic>
          <p:sp>
            <p:nvSpPr>
              <p:cNvPr id="18" name="Oval 17">
                <a:extLst>
                  <a:ext uri="{FF2B5EF4-FFF2-40B4-BE49-F238E27FC236}">
                    <a16:creationId xmlns:a16="http://schemas.microsoft.com/office/drawing/2014/main" id="{BF449C74-A78E-065D-82E6-60C61507CDE7}"/>
                  </a:ext>
                </a:extLst>
              </p:cNvPr>
              <p:cNvSpPr/>
              <p:nvPr/>
            </p:nvSpPr>
            <p:spPr>
              <a:xfrm>
                <a:off x="1354216" y="3131127"/>
                <a:ext cx="2918692" cy="2918692"/>
              </a:xfrm>
              <a:prstGeom prst="ellipse">
                <a:avLst/>
              </a:prstGeom>
              <a:gradFill>
                <a:gsLst>
                  <a:gs pos="34000">
                    <a:schemeClr val="accent1">
                      <a:alpha val="69000"/>
                    </a:schemeClr>
                  </a:gs>
                  <a:gs pos="100000">
                    <a:srgbClr val="F9D5BD">
                      <a:alpha val="78000"/>
                    </a:srgbClr>
                  </a:gs>
                </a:gsLst>
                <a:lin ang="0" scaled="1"/>
              </a:gradFill>
              <a:ln w="3175">
                <a:solidFill>
                  <a:schemeClr val="bg1">
                    <a:alpha val="2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b="1">
                  <a:latin typeface="Century Gothic" panose="020B0502020202020204" pitchFamily="34" charset="0"/>
                </a:endParaRPr>
              </a:p>
            </p:txBody>
          </p:sp>
          <p:sp>
            <p:nvSpPr>
              <p:cNvPr id="12" name="TextBox 11">
                <a:extLst>
                  <a:ext uri="{FF2B5EF4-FFF2-40B4-BE49-F238E27FC236}">
                    <a16:creationId xmlns:a16="http://schemas.microsoft.com/office/drawing/2014/main" id="{BA8A2193-EA60-67C0-FCD1-3FCE9627B105}"/>
                  </a:ext>
                </a:extLst>
              </p:cNvPr>
              <p:cNvSpPr txBox="1"/>
              <p:nvPr/>
            </p:nvSpPr>
            <p:spPr>
              <a:xfrm>
                <a:off x="1787738" y="4267307"/>
                <a:ext cx="2051649" cy="646331"/>
              </a:xfrm>
              <a:prstGeom prst="rect">
                <a:avLst/>
              </a:prstGeom>
              <a:noFill/>
            </p:spPr>
            <p:txBody>
              <a:bodyPr wrap="square">
                <a:spAutoFit/>
              </a:bodyPr>
              <a:lstStyle/>
              <a:p>
                <a:pPr algn="ctr"/>
                <a:r>
                  <a:rPr lang="en-US" b="1" i="0" dirty="0">
                    <a:solidFill>
                      <a:schemeClr val="bg1"/>
                    </a:solidFill>
                    <a:effectLst/>
                    <a:latin typeface="Century Gothic" panose="020B0502020202020204" pitchFamily="34" charset="0"/>
                  </a:rPr>
                  <a:t>Gamified Learning</a:t>
                </a:r>
                <a:endParaRPr lang="en-IN" b="1" dirty="0">
                  <a:solidFill>
                    <a:schemeClr val="bg1"/>
                  </a:solidFill>
                  <a:latin typeface="Century Gothic" panose="020B0502020202020204" pitchFamily="34" charset="0"/>
                </a:endParaRPr>
              </a:p>
            </p:txBody>
          </p:sp>
        </p:grpSp>
        <p:cxnSp>
          <p:nvCxnSpPr>
            <p:cNvPr id="24" name="Connector: Elbow 23">
              <a:extLst>
                <a:ext uri="{FF2B5EF4-FFF2-40B4-BE49-F238E27FC236}">
                  <a16:creationId xmlns:a16="http://schemas.microsoft.com/office/drawing/2014/main" id="{6573E95A-469F-E199-8410-15B080AD0D08}"/>
                </a:ext>
              </a:extLst>
            </p:cNvPr>
            <p:cNvCxnSpPr>
              <a:stCxn id="18" idx="6"/>
              <a:endCxn id="7" idx="1"/>
            </p:cNvCxnSpPr>
            <p:nvPr/>
          </p:nvCxnSpPr>
          <p:spPr>
            <a:xfrm flipV="1">
              <a:off x="4418051" y="2361507"/>
              <a:ext cx="1687183" cy="1551708"/>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6" name="Connector: Elbow 25">
              <a:extLst>
                <a:ext uri="{FF2B5EF4-FFF2-40B4-BE49-F238E27FC236}">
                  <a16:creationId xmlns:a16="http://schemas.microsoft.com/office/drawing/2014/main" id="{D0BBAAAE-429E-341F-CBA3-95105A5FE632}"/>
                </a:ext>
              </a:extLst>
            </p:cNvPr>
            <p:cNvCxnSpPr>
              <a:stCxn id="18" idx="6"/>
              <a:endCxn id="10" idx="1"/>
            </p:cNvCxnSpPr>
            <p:nvPr/>
          </p:nvCxnSpPr>
          <p:spPr>
            <a:xfrm>
              <a:off x="4418051" y="3913215"/>
              <a:ext cx="1701980" cy="1551710"/>
            </a:xfrm>
            <a:prstGeom prst="bentConnector3">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45CA34D4-3146-898F-50C5-501DEBF0C1F7}"/>
                </a:ext>
              </a:extLst>
            </p:cNvPr>
            <p:cNvCxnSpPr>
              <a:stCxn id="18" idx="6"/>
              <a:endCxn id="9" idx="1"/>
            </p:cNvCxnSpPr>
            <p:nvPr/>
          </p:nvCxnSpPr>
          <p:spPr>
            <a:xfrm>
              <a:off x="4418051" y="3913215"/>
              <a:ext cx="1687183" cy="4047"/>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30" name="TextBox 29">
              <a:extLst>
                <a:ext uri="{FF2B5EF4-FFF2-40B4-BE49-F238E27FC236}">
                  <a16:creationId xmlns:a16="http://schemas.microsoft.com/office/drawing/2014/main" id="{A583AE51-C967-3750-0F27-003CDC769C62}"/>
                </a:ext>
              </a:extLst>
            </p:cNvPr>
            <p:cNvSpPr txBox="1"/>
            <p:nvPr/>
          </p:nvSpPr>
          <p:spPr>
            <a:xfrm>
              <a:off x="6347751" y="2076812"/>
              <a:ext cx="4506352" cy="569387"/>
            </a:xfrm>
            <a:prstGeom prst="rect">
              <a:avLst/>
            </a:prstGeom>
            <a:noFill/>
          </p:spPr>
          <p:txBody>
            <a:bodyPr wrap="square">
              <a:spAutoFit/>
            </a:bodyPr>
            <a:lstStyle/>
            <a:p>
              <a:pPr algn="l">
                <a:spcAft>
                  <a:spcPts val="600"/>
                </a:spcAft>
              </a:pPr>
              <a:r>
                <a:rPr lang="en-US" sz="1400" b="1" i="0" dirty="0">
                  <a:solidFill>
                    <a:schemeClr val="bg1"/>
                  </a:solidFill>
                  <a:effectLst/>
                  <a:latin typeface="Century Gothic" panose="020B0502020202020204" pitchFamily="34" charset="0"/>
                </a:rPr>
                <a:t>Project-based Groups</a:t>
              </a:r>
            </a:p>
            <a:p>
              <a:pPr algn="l">
                <a:spcAft>
                  <a:spcPts val="600"/>
                </a:spcAft>
              </a:pPr>
              <a:r>
                <a:rPr lang="en-US" sz="1200" b="0" i="0" dirty="0">
                  <a:solidFill>
                    <a:schemeClr val="bg1"/>
                  </a:solidFill>
                  <a:effectLst/>
                  <a:latin typeface="Century Gothic" panose="020B0502020202020204" pitchFamily="34" charset="0"/>
                </a:rPr>
                <a:t>Students grouped into teams to build mini projects.</a:t>
              </a:r>
            </a:p>
          </p:txBody>
        </p:sp>
        <p:sp>
          <p:nvSpPr>
            <p:cNvPr id="32" name="TextBox 31">
              <a:extLst>
                <a:ext uri="{FF2B5EF4-FFF2-40B4-BE49-F238E27FC236}">
                  <a16:creationId xmlns:a16="http://schemas.microsoft.com/office/drawing/2014/main" id="{DC01EF46-4F40-9507-0584-9C5FE83B5338}"/>
                </a:ext>
              </a:extLst>
            </p:cNvPr>
            <p:cNvSpPr txBox="1"/>
            <p:nvPr/>
          </p:nvSpPr>
          <p:spPr>
            <a:xfrm>
              <a:off x="6347751" y="3482327"/>
              <a:ext cx="4654215" cy="754053"/>
            </a:xfrm>
            <a:prstGeom prst="rect">
              <a:avLst/>
            </a:prstGeom>
            <a:noFill/>
          </p:spPr>
          <p:txBody>
            <a:bodyPr wrap="square">
              <a:spAutoFit/>
            </a:bodyPr>
            <a:lstStyle/>
            <a:p>
              <a:pPr algn="l">
                <a:spcAft>
                  <a:spcPts val="600"/>
                </a:spcAft>
              </a:pPr>
              <a:r>
                <a:rPr lang="en-US" sz="1400" b="1" i="0" dirty="0">
                  <a:solidFill>
                    <a:schemeClr val="bg1"/>
                  </a:solidFill>
                  <a:effectLst/>
                  <a:latin typeface="Century Gothic" panose="020B0502020202020204" pitchFamily="34" charset="0"/>
                </a:rPr>
                <a:t>Skill Trees</a:t>
              </a:r>
            </a:p>
            <a:p>
              <a:pPr algn="l">
                <a:spcAft>
                  <a:spcPts val="600"/>
                </a:spcAft>
              </a:pPr>
              <a:r>
                <a:rPr lang="en-US" sz="1200" b="0" i="0" dirty="0">
                  <a:solidFill>
                    <a:schemeClr val="bg1"/>
                  </a:solidFill>
                  <a:effectLst/>
                  <a:latin typeface="Century Gothic" panose="020B0502020202020204" pitchFamily="34" charset="0"/>
                </a:rPr>
                <a:t>Students unlock badges as they complete milestones (like gaming).</a:t>
              </a:r>
            </a:p>
          </p:txBody>
        </p:sp>
        <p:sp>
          <p:nvSpPr>
            <p:cNvPr id="34" name="TextBox 33">
              <a:extLst>
                <a:ext uri="{FF2B5EF4-FFF2-40B4-BE49-F238E27FC236}">
                  <a16:creationId xmlns:a16="http://schemas.microsoft.com/office/drawing/2014/main" id="{49D45435-762A-A616-0FF4-3B4CE979DE4D}"/>
                </a:ext>
              </a:extLst>
            </p:cNvPr>
            <p:cNvSpPr txBox="1"/>
            <p:nvPr/>
          </p:nvSpPr>
          <p:spPr>
            <a:xfrm>
              <a:off x="6323107" y="5180230"/>
              <a:ext cx="4703505" cy="569387"/>
            </a:xfrm>
            <a:prstGeom prst="rect">
              <a:avLst/>
            </a:prstGeom>
            <a:noFill/>
          </p:spPr>
          <p:txBody>
            <a:bodyPr wrap="square">
              <a:spAutoFit/>
            </a:bodyPr>
            <a:lstStyle/>
            <a:p>
              <a:pPr algn="l">
                <a:spcAft>
                  <a:spcPts val="600"/>
                </a:spcAft>
              </a:pPr>
              <a:r>
                <a:rPr lang="en-US" sz="1400" b="1" i="0" dirty="0">
                  <a:solidFill>
                    <a:schemeClr val="bg1"/>
                  </a:solidFill>
                  <a:effectLst/>
                  <a:latin typeface="Century Gothic" panose="020B0502020202020204" pitchFamily="34" charset="0"/>
                </a:rPr>
                <a:t>Mentorship Program</a:t>
              </a:r>
            </a:p>
            <a:p>
              <a:pPr algn="l">
                <a:spcAft>
                  <a:spcPts val="600"/>
                </a:spcAft>
              </a:pPr>
              <a:r>
                <a:rPr lang="en-US" sz="1200" b="0" i="0" dirty="0">
                  <a:solidFill>
                    <a:schemeClr val="bg1"/>
                  </a:solidFill>
                  <a:effectLst/>
                  <a:latin typeface="Century Gothic" panose="020B0502020202020204" pitchFamily="34" charset="0"/>
                </a:rPr>
                <a:t>Senior students mentor juniors.</a:t>
              </a:r>
            </a:p>
          </p:txBody>
        </p:sp>
      </p:grpSp>
    </p:spTree>
    <p:extLst>
      <p:ext uri="{BB962C8B-B14F-4D97-AF65-F5344CB8AC3E}">
        <p14:creationId xmlns:p14="http://schemas.microsoft.com/office/powerpoint/2010/main" val="254789003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4" y="482554"/>
            <a:ext cx="9753845" cy="523220"/>
          </a:xfrm>
          <a:prstGeom prst="rect">
            <a:avLst/>
          </a:prstGeom>
          <a:noFill/>
        </p:spPr>
        <p:txBody>
          <a:bodyPr wrap="square" rtlCol="0">
            <a:spAutoFit/>
          </a:bodyPr>
          <a:lstStyle/>
          <a:p>
            <a:pPr algn="l"/>
            <a:r>
              <a:rPr lang="en-US" sz="2800" b="1" dirty="0">
                <a:solidFill>
                  <a:schemeClr val="bg1"/>
                </a:solidFill>
                <a:latin typeface="Century Gothic" panose="020B0502020202020204" pitchFamily="34" charset="0"/>
              </a:rPr>
              <a:t>Code of Conduct</a:t>
            </a:r>
          </a:p>
        </p:txBody>
      </p:sp>
      <p:sp>
        <p:nvSpPr>
          <p:cNvPr id="5" name="TextBox 4">
            <a:extLst>
              <a:ext uri="{FF2B5EF4-FFF2-40B4-BE49-F238E27FC236}">
                <a16:creationId xmlns:a16="http://schemas.microsoft.com/office/drawing/2014/main" id="{8D7125E3-DD7F-79FF-8A59-57896A6FB901}"/>
              </a:ext>
            </a:extLst>
          </p:cNvPr>
          <p:cNvSpPr txBox="1"/>
          <p:nvPr/>
        </p:nvSpPr>
        <p:spPr>
          <a:xfrm>
            <a:off x="10798591" y="64159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grpSp>
        <p:nvGrpSpPr>
          <p:cNvPr id="25" name="Group 24">
            <a:extLst>
              <a:ext uri="{FF2B5EF4-FFF2-40B4-BE49-F238E27FC236}">
                <a16:creationId xmlns:a16="http://schemas.microsoft.com/office/drawing/2014/main" id="{F090E925-AA1C-A55A-AE28-C0F59B836F7F}"/>
              </a:ext>
            </a:extLst>
          </p:cNvPr>
          <p:cNvGrpSpPr/>
          <p:nvPr/>
        </p:nvGrpSpPr>
        <p:grpSpPr>
          <a:xfrm>
            <a:off x="6276976" y="2113894"/>
            <a:ext cx="5254623" cy="2778739"/>
            <a:chOff x="5730876" y="2126594"/>
            <a:chExt cx="5254623" cy="2778739"/>
          </a:xfrm>
        </p:grpSpPr>
        <p:grpSp>
          <p:nvGrpSpPr>
            <p:cNvPr id="20" name="Group 19">
              <a:extLst>
                <a:ext uri="{FF2B5EF4-FFF2-40B4-BE49-F238E27FC236}">
                  <a16:creationId xmlns:a16="http://schemas.microsoft.com/office/drawing/2014/main" id="{6804EDE8-5CD4-C27F-383B-802E50D40E6C}"/>
                </a:ext>
              </a:extLst>
            </p:cNvPr>
            <p:cNvGrpSpPr/>
            <p:nvPr/>
          </p:nvGrpSpPr>
          <p:grpSpPr>
            <a:xfrm>
              <a:off x="5730876" y="2126594"/>
              <a:ext cx="5254623" cy="387178"/>
              <a:chOff x="5730876" y="2126594"/>
              <a:chExt cx="5254623" cy="387178"/>
            </a:xfrm>
          </p:grpSpPr>
          <p:sp>
            <p:nvSpPr>
              <p:cNvPr id="15" name="TextBox 14">
                <a:extLst>
                  <a:ext uri="{FF2B5EF4-FFF2-40B4-BE49-F238E27FC236}">
                    <a16:creationId xmlns:a16="http://schemas.microsoft.com/office/drawing/2014/main" id="{8681BA59-E211-7B46-DCB4-2BC5FB39D2EC}"/>
                  </a:ext>
                </a:extLst>
              </p:cNvPr>
              <p:cNvSpPr txBox="1"/>
              <p:nvPr/>
            </p:nvSpPr>
            <p:spPr>
              <a:xfrm>
                <a:off x="6121154" y="2135517"/>
                <a:ext cx="4864345" cy="369332"/>
              </a:xfrm>
              <a:prstGeom prst="rect">
                <a:avLst/>
              </a:prstGeom>
              <a:noFill/>
            </p:spPr>
            <p:txBody>
              <a:bodyPr wrap="square">
                <a:spAutoFit/>
              </a:bodyPr>
              <a:lstStyle/>
              <a:p>
                <a:pPr>
                  <a:spcBef>
                    <a:spcPts val="1200"/>
                  </a:spcBef>
                  <a:spcAft>
                    <a:spcPts val="600"/>
                  </a:spcAft>
                </a:pPr>
                <a:r>
                  <a:rPr lang="en-IN" b="0" i="0" dirty="0">
                    <a:solidFill>
                      <a:schemeClr val="bg1"/>
                    </a:solidFill>
                    <a:effectLst/>
                    <a:latin typeface="Century Gothic" panose="020B0502020202020204" pitchFamily="34" charset="0"/>
                  </a:rPr>
                  <a:t>Respect everyone.</a:t>
                </a:r>
              </a:p>
            </p:txBody>
          </p:sp>
          <p:pic>
            <p:nvPicPr>
              <p:cNvPr id="10" name="Picture 8" descr="Gemini Docs and API Reference | Google AI for Developers">
                <a:extLst>
                  <a:ext uri="{FF2B5EF4-FFF2-40B4-BE49-F238E27FC236}">
                    <a16:creationId xmlns:a16="http://schemas.microsoft.com/office/drawing/2014/main" id="{701833E4-D761-97C8-9BFC-AF140B86D84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5730876" y="2126594"/>
                <a:ext cx="390278" cy="3871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1" name="Group 20">
              <a:extLst>
                <a:ext uri="{FF2B5EF4-FFF2-40B4-BE49-F238E27FC236}">
                  <a16:creationId xmlns:a16="http://schemas.microsoft.com/office/drawing/2014/main" id="{581D78F4-E3E0-AC32-60F0-DAAD9BDF80F8}"/>
                </a:ext>
              </a:extLst>
            </p:cNvPr>
            <p:cNvGrpSpPr/>
            <p:nvPr/>
          </p:nvGrpSpPr>
          <p:grpSpPr>
            <a:xfrm>
              <a:off x="5730876" y="2923781"/>
              <a:ext cx="5254623" cy="387178"/>
              <a:chOff x="5730876" y="2865658"/>
              <a:chExt cx="5254623" cy="387178"/>
            </a:xfrm>
          </p:grpSpPr>
          <p:sp>
            <p:nvSpPr>
              <p:cNvPr id="17" name="TextBox 16">
                <a:extLst>
                  <a:ext uri="{FF2B5EF4-FFF2-40B4-BE49-F238E27FC236}">
                    <a16:creationId xmlns:a16="http://schemas.microsoft.com/office/drawing/2014/main" id="{E8D07550-37BB-A96C-6DB4-A73AECF96090}"/>
                  </a:ext>
                </a:extLst>
              </p:cNvPr>
              <p:cNvSpPr txBox="1"/>
              <p:nvPr/>
            </p:nvSpPr>
            <p:spPr>
              <a:xfrm>
                <a:off x="6121155" y="2874581"/>
                <a:ext cx="486434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IN" b="0" i="0" dirty="0">
                    <a:solidFill>
                      <a:schemeClr val="bg1"/>
                    </a:solidFill>
                    <a:effectLst/>
                    <a:latin typeface="Century Gothic" panose="020B0502020202020204" pitchFamily="34" charset="0"/>
                  </a:rPr>
                  <a:t>No Politics, No Bias.</a:t>
                </a:r>
              </a:p>
            </p:txBody>
          </p:sp>
          <p:pic>
            <p:nvPicPr>
              <p:cNvPr id="11" name="Picture 8" descr="Gemini Docs and API Reference | Google AI for Developers">
                <a:extLst>
                  <a:ext uri="{FF2B5EF4-FFF2-40B4-BE49-F238E27FC236}">
                    <a16:creationId xmlns:a16="http://schemas.microsoft.com/office/drawing/2014/main" id="{53ED6DA5-1D7C-D9B5-4A1C-81A039804CC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5730876" y="2865658"/>
                <a:ext cx="390278" cy="3871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2" name="Group 21">
              <a:extLst>
                <a:ext uri="{FF2B5EF4-FFF2-40B4-BE49-F238E27FC236}">
                  <a16:creationId xmlns:a16="http://schemas.microsoft.com/office/drawing/2014/main" id="{7DF09078-405D-FEB1-CB1E-AE01751C2139}"/>
                </a:ext>
              </a:extLst>
            </p:cNvPr>
            <p:cNvGrpSpPr/>
            <p:nvPr/>
          </p:nvGrpSpPr>
          <p:grpSpPr>
            <a:xfrm>
              <a:off x="5730876" y="3720968"/>
              <a:ext cx="5254623" cy="387178"/>
              <a:chOff x="5730876" y="3583712"/>
              <a:chExt cx="5254623" cy="387178"/>
            </a:xfrm>
          </p:grpSpPr>
          <p:sp>
            <p:nvSpPr>
              <p:cNvPr id="16" name="TextBox 15">
                <a:extLst>
                  <a:ext uri="{FF2B5EF4-FFF2-40B4-BE49-F238E27FC236}">
                    <a16:creationId xmlns:a16="http://schemas.microsoft.com/office/drawing/2014/main" id="{A747313E-56F7-0A30-9D82-2344FDD7073A}"/>
                  </a:ext>
                </a:extLst>
              </p:cNvPr>
              <p:cNvSpPr txBox="1"/>
              <p:nvPr/>
            </p:nvSpPr>
            <p:spPr>
              <a:xfrm>
                <a:off x="6121155" y="3592635"/>
                <a:ext cx="4864344" cy="369332"/>
              </a:xfrm>
              <a:prstGeom prst="rect">
                <a:avLst/>
              </a:prstGeom>
              <a:noFill/>
            </p:spPr>
            <p:txBody>
              <a:bodyPr wrap="square">
                <a:spAutoFit/>
              </a:bodyPr>
              <a:lstStyle/>
              <a:p>
                <a:pPr>
                  <a:spcBef>
                    <a:spcPts val="1200"/>
                  </a:spcBef>
                  <a:spcAft>
                    <a:spcPts val="600"/>
                  </a:spcAft>
                </a:pPr>
                <a:r>
                  <a:rPr lang="en-IN" b="0" i="0" dirty="0">
                    <a:solidFill>
                      <a:schemeClr val="bg1"/>
                    </a:solidFill>
                    <a:effectLst/>
                    <a:latin typeface="Century Gothic" panose="020B0502020202020204" pitchFamily="34" charset="0"/>
                  </a:rPr>
                  <a:t>Learning-focused Environment.</a:t>
                </a:r>
              </a:p>
            </p:txBody>
          </p:sp>
          <p:pic>
            <p:nvPicPr>
              <p:cNvPr id="12" name="Picture 8" descr="Gemini Docs and API Reference | Google AI for Developers">
                <a:extLst>
                  <a:ext uri="{FF2B5EF4-FFF2-40B4-BE49-F238E27FC236}">
                    <a16:creationId xmlns:a16="http://schemas.microsoft.com/office/drawing/2014/main" id="{6CB3FDED-0F95-129E-AE5C-989B3E427F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5730876" y="3583712"/>
                <a:ext cx="390278" cy="387178"/>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23" name="Group 22">
              <a:extLst>
                <a:ext uri="{FF2B5EF4-FFF2-40B4-BE49-F238E27FC236}">
                  <a16:creationId xmlns:a16="http://schemas.microsoft.com/office/drawing/2014/main" id="{BFDAE7B4-47A8-1261-C83A-43971D1A11C6}"/>
                </a:ext>
              </a:extLst>
            </p:cNvPr>
            <p:cNvGrpSpPr/>
            <p:nvPr/>
          </p:nvGrpSpPr>
          <p:grpSpPr>
            <a:xfrm>
              <a:off x="5730876" y="4518155"/>
              <a:ext cx="5254623" cy="387178"/>
              <a:chOff x="5730876" y="4581092"/>
              <a:chExt cx="5254623" cy="387178"/>
            </a:xfrm>
          </p:grpSpPr>
          <p:sp>
            <p:nvSpPr>
              <p:cNvPr id="18" name="TextBox 17">
                <a:extLst>
                  <a:ext uri="{FF2B5EF4-FFF2-40B4-BE49-F238E27FC236}">
                    <a16:creationId xmlns:a16="http://schemas.microsoft.com/office/drawing/2014/main" id="{5152EF03-5A12-431F-744E-64A3383B6EB2}"/>
                  </a:ext>
                </a:extLst>
              </p:cNvPr>
              <p:cNvSpPr txBox="1"/>
              <p:nvPr/>
            </p:nvSpPr>
            <p:spPr>
              <a:xfrm>
                <a:off x="6121155" y="4590015"/>
                <a:ext cx="4864344" cy="369332"/>
              </a:xfrm>
              <a:prstGeom prst="rect">
                <a:avLst/>
              </a:prstGeom>
              <a:noFill/>
            </p:spPr>
            <p:txBody>
              <a:bodyPr wrap="square">
                <a:spAutoFit/>
              </a:bodyPr>
              <a:lstStyle/>
              <a:p>
                <a:pPr marL="0" marR="0" lvl="0" indent="0" algn="l" defTabSz="914400" rtl="0" eaLnBrk="0" fontAlgn="base" latinLnBrk="0" hangingPunct="0">
                  <a:lnSpc>
                    <a:spcPct val="100000"/>
                  </a:lnSpc>
                  <a:spcBef>
                    <a:spcPct val="0"/>
                  </a:spcBef>
                  <a:spcAft>
                    <a:spcPct val="0"/>
                  </a:spcAft>
                  <a:buClrTx/>
                  <a:buSzTx/>
                  <a:buFontTx/>
                  <a:buNone/>
                </a:pPr>
                <a:r>
                  <a:rPr lang="en-US" b="0" i="0" dirty="0">
                    <a:solidFill>
                      <a:schemeClr val="bg1"/>
                    </a:solidFill>
                    <a:effectLst/>
                    <a:latin typeface="Century Gothic" panose="020B0502020202020204" pitchFamily="34" charset="0"/>
                  </a:rPr>
                  <a:t>Help each other — we rise together.</a:t>
                </a:r>
              </a:p>
            </p:txBody>
          </p:sp>
          <p:pic>
            <p:nvPicPr>
              <p:cNvPr id="13" name="Picture 8" descr="Gemini Docs and API Reference | Google AI for Developers">
                <a:extLst>
                  <a:ext uri="{FF2B5EF4-FFF2-40B4-BE49-F238E27FC236}">
                    <a16:creationId xmlns:a16="http://schemas.microsoft.com/office/drawing/2014/main" id="{38A80CAC-0125-5DF7-D43F-CAA3C53654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5730876" y="4581092"/>
                <a:ext cx="390278" cy="387178"/>
              </a:xfrm>
              <a:prstGeom prst="rect">
                <a:avLst/>
              </a:prstGeom>
              <a:noFill/>
              <a:extLst>
                <a:ext uri="{909E8E84-426E-40DD-AFC4-6F175D3DCCD1}">
                  <a14:hiddenFill xmlns:a14="http://schemas.microsoft.com/office/drawing/2010/main">
                    <a:solidFill>
                      <a:srgbClr val="FFFFFF"/>
                    </a:solidFill>
                  </a14:hiddenFill>
                </a:ext>
              </a:extLst>
            </p:spPr>
          </p:pic>
        </p:grpSp>
      </p:grpSp>
      <p:pic>
        <p:nvPicPr>
          <p:cNvPr id="27" name="Picture 26" descr="A robot holding a tablet&#10;&#10;Description automatically generated">
            <a:extLst>
              <a:ext uri="{FF2B5EF4-FFF2-40B4-BE49-F238E27FC236}">
                <a16:creationId xmlns:a16="http://schemas.microsoft.com/office/drawing/2014/main" id="{63C998D6-E358-4DC8-1E94-B785DA603E5F}"/>
              </a:ext>
            </a:extLst>
          </p:cNvPr>
          <p:cNvPicPr>
            <a:picLocks noChangeAspect="1"/>
          </p:cNvPicPr>
          <p:nvPr/>
        </p:nvPicPr>
        <p:blipFill>
          <a:blip r:embed="rId3">
            <a:extLst>
              <a:ext uri="{28A0092B-C50C-407E-A947-70E740481C1C}">
                <a14:useLocalDpi xmlns:a14="http://schemas.microsoft.com/office/drawing/2010/main" val="0"/>
              </a:ext>
            </a:extLst>
          </a:blip>
          <a:srcRect l="16014" t="4308" r="5848" b="20981"/>
          <a:stretch>
            <a:fillRect/>
          </a:stretch>
        </p:blipFill>
        <p:spPr>
          <a:xfrm flipH="1">
            <a:off x="101598" y="1739900"/>
            <a:ext cx="5705115" cy="5118100"/>
          </a:xfrm>
          <a:prstGeom prst="rect">
            <a:avLst/>
          </a:prstGeom>
        </p:spPr>
      </p:pic>
    </p:spTree>
    <p:extLst>
      <p:ext uri="{BB962C8B-B14F-4D97-AF65-F5344CB8AC3E}">
        <p14:creationId xmlns:p14="http://schemas.microsoft.com/office/powerpoint/2010/main" val="12015804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Rounded Corners 2">
            <a:extLst>
              <a:ext uri="{FF2B5EF4-FFF2-40B4-BE49-F238E27FC236}">
                <a16:creationId xmlns:a16="http://schemas.microsoft.com/office/drawing/2014/main" id="{014EBB14-72CA-1DBD-4CA7-29AE07D02346}"/>
              </a:ext>
            </a:extLst>
          </p:cNvPr>
          <p:cNvSpPr/>
          <p:nvPr/>
        </p:nvSpPr>
        <p:spPr>
          <a:xfrm>
            <a:off x="332829" y="303588"/>
            <a:ext cx="11526343" cy="881153"/>
          </a:xfrm>
          <a:prstGeom prst="roundRect">
            <a:avLst>
              <a:gd name="adj" fmla="val 21895"/>
            </a:avLst>
          </a:prstGeom>
          <a:noFill/>
          <a:ln>
            <a:gradFill>
              <a:gsLst>
                <a:gs pos="0">
                  <a:schemeClr val="accent2">
                    <a:lumMod val="20000"/>
                    <a:lumOff val="80000"/>
                  </a:schemeClr>
                </a:gs>
                <a:gs pos="100000">
                  <a:schemeClr val="accent1">
                    <a:lumMod val="20000"/>
                    <a:lumOff val="80000"/>
                  </a:schemeClr>
                </a:gs>
              </a:gsLst>
              <a:lin ang="5400000" scaled="1"/>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2" name="Picture 8" descr="Gemini Docs and API Reference | Google AI for Developers">
            <a:extLst>
              <a:ext uri="{FF2B5EF4-FFF2-40B4-BE49-F238E27FC236}">
                <a16:creationId xmlns:a16="http://schemas.microsoft.com/office/drawing/2014/main" id="{4B6B5A37-D5EE-D549-63BB-AFF66F8087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17684" r="19316"/>
          <a:stretch>
            <a:fillRect/>
          </a:stretch>
        </p:blipFill>
        <p:spPr bwMode="auto">
          <a:xfrm>
            <a:off x="473777" y="438149"/>
            <a:ext cx="616930" cy="61203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83C81C0-7ECE-49BA-3C89-FDFE9EAC594D}"/>
              </a:ext>
            </a:extLst>
          </p:cNvPr>
          <p:cNvSpPr txBox="1"/>
          <p:nvPr/>
        </p:nvSpPr>
        <p:spPr>
          <a:xfrm>
            <a:off x="1231655" y="482554"/>
            <a:ext cx="8244114" cy="523220"/>
          </a:xfrm>
          <a:prstGeom prst="rect">
            <a:avLst/>
          </a:prstGeom>
          <a:noFill/>
        </p:spPr>
        <p:txBody>
          <a:bodyPr wrap="square" rtlCol="0">
            <a:spAutoFit/>
          </a:bodyPr>
          <a:lstStyle/>
          <a:p>
            <a:r>
              <a:rPr lang="en-US" sz="2800" b="1" dirty="0">
                <a:solidFill>
                  <a:schemeClr val="bg1"/>
                </a:solidFill>
                <a:latin typeface="Century Gothic" panose="020B0502020202020204" pitchFamily="34" charset="0"/>
              </a:rPr>
              <a:t>Final Call</a:t>
            </a:r>
            <a:endParaRPr lang="en-IN" sz="2800" b="1" dirty="0">
              <a:solidFill>
                <a:schemeClr val="bg1"/>
              </a:solidFill>
              <a:latin typeface="Century Gothic" panose="020B0502020202020204" pitchFamily="34" charset="0"/>
            </a:endParaRPr>
          </a:p>
        </p:txBody>
      </p:sp>
      <p:sp>
        <p:nvSpPr>
          <p:cNvPr id="7" name="TextBox 6">
            <a:extLst>
              <a:ext uri="{FF2B5EF4-FFF2-40B4-BE49-F238E27FC236}">
                <a16:creationId xmlns:a16="http://schemas.microsoft.com/office/drawing/2014/main" id="{88266D4C-479D-CECF-ED22-5B19C9E93E85}"/>
              </a:ext>
            </a:extLst>
          </p:cNvPr>
          <p:cNvSpPr txBox="1"/>
          <p:nvPr/>
        </p:nvSpPr>
        <p:spPr>
          <a:xfrm>
            <a:off x="1231654" y="1584334"/>
            <a:ext cx="10627517" cy="1286186"/>
          </a:xfrm>
          <a:prstGeom prst="rect">
            <a:avLst/>
          </a:prstGeom>
          <a:noFill/>
        </p:spPr>
        <p:txBody>
          <a:bodyPr wrap="square">
            <a:spAutoFit/>
          </a:bodyPr>
          <a:lstStyle/>
          <a:p>
            <a:pPr>
              <a:lnSpc>
                <a:spcPct val="150000"/>
              </a:lnSpc>
              <a:spcBef>
                <a:spcPts val="1200"/>
              </a:spcBef>
              <a:spcAft>
                <a:spcPts val="600"/>
              </a:spcAft>
            </a:pPr>
            <a:r>
              <a:rPr lang="en-US" dirty="0">
                <a:solidFill>
                  <a:schemeClr val="bg1"/>
                </a:solidFill>
                <a:latin typeface="Century Gothic" panose="020B0502020202020204" pitchFamily="34" charset="0"/>
                <a:cs typeface="Sabon Next LT" panose="02000500000000000000" pitchFamily="2" charset="0"/>
              </a:rPr>
              <a:t>Your suggestions are very helpful. Clarifying the criteria for leadership—such as specifying the skills or knowledge required—and explaining how commitment will be measured can help students understand what is expected.</a:t>
            </a:r>
            <a:endParaRPr lang="en-IN" dirty="0">
              <a:solidFill>
                <a:schemeClr val="bg1"/>
              </a:solidFill>
              <a:latin typeface="Century Gothic" panose="020B0502020202020204" pitchFamily="34" charset="0"/>
              <a:cs typeface="Sabon Next LT" panose="02000500000000000000" pitchFamily="2" charset="0"/>
            </a:endParaRPr>
          </a:p>
        </p:txBody>
      </p:sp>
      <p:sp>
        <p:nvSpPr>
          <p:cNvPr id="5" name="TextBox 4">
            <a:extLst>
              <a:ext uri="{FF2B5EF4-FFF2-40B4-BE49-F238E27FC236}">
                <a16:creationId xmlns:a16="http://schemas.microsoft.com/office/drawing/2014/main" id="{8D7125E3-DD7F-79FF-8A59-57896A6FB901}"/>
              </a:ext>
            </a:extLst>
          </p:cNvPr>
          <p:cNvSpPr txBox="1"/>
          <p:nvPr/>
        </p:nvSpPr>
        <p:spPr>
          <a:xfrm>
            <a:off x="10798591" y="6415912"/>
            <a:ext cx="1176459" cy="276999"/>
          </a:xfrm>
          <a:prstGeom prst="rect">
            <a:avLst/>
          </a:prstGeom>
          <a:noFill/>
        </p:spPr>
        <p:txBody>
          <a:bodyPr wrap="square" rtlCol="0">
            <a:spAutoFit/>
          </a:bodyPr>
          <a:lstStyle/>
          <a:p>
            <a:pPr algn="r"/>
            <a:r>
              <a:rPr lang="en-US" sz="120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Gemini</a:t>
            </a:r>
            <a:endParaRPr lang="en-IN" sz="120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pic>
        <p:nvPicPr>
          <p:cNvPr id="10" name="Picture 9" descr="A group of squares with symbols&#10;&#10;Description automatically generated">
            <a:extLst>
              <a:ext uri="{FF2B5EF4-FFF2-40B4-BE49-F238E27FC236}">
                <a16:creationId xmlns:a16="http://schemas.microsoft.com/office/drawing/2014/main" id="{7BD63A20-0D9A-44BD-96FD-D03AC40A30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029712"/>
            <a:ext cx="12192000" cy="3828288"/>
          </a:xfrm>
          <a:prstGeom prst="rect">
            <a:avLst/>
          </a:prstGeom>
        </p:spPr>
      </p:pic>
      <p:sp>
        <p:nvSpPr>
          <p:cNvPr id="6" name="TextBox 5">
            <a:extLst>
              <a:ext uri="{FF2B5EF4-FFF2-40B4-BE49-F238E27FC236}">
                <a16:creationId xmlns:a16="http://schemas.microsoft.com/office/drawing/2014/main" id="{13A8C2F3-E613-F154-CC89-9BF2F7396050}"/>
              </a:ext>
            </a:extLst>
          </p:cNvPr>
          <p:cNvSpPr txBox="1"/>
          <p:nvPr/>
        </p:nvSpPr>
        <p:spPr>
          <a:xfrm>
            <a:off x="10950991" y="6568312"/>
            <a:ext cx="1176459" cy="276999"/>
          </a:xfrm>
          <a:prstGeom prst="rect">
            <a:avLst/>
          </a:prstGeom>
          <a:noFill/>
        </p:spPr>
        <p:txBody>
          <a:bodyPr wrap="square" rtlCol="0">
            <a:spAutoFit/>
          </a:bodyPr>
          <a:lstStyle/>
          <a:p>
            <a:pPr algn="r"/>
            <a:r>
              <a:rPr lang="en-US"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rPr>
              <a:t>RAIS</a:t>
            </a:r>
            <a:endParaRPr lang="en-IN" sz="1200" dirty="0">
              <a:solidFill>
                <a:schemeClr val="bg1"/>
              </a:solidFill>
              <a:latin typeface="Century Gothic" panose="020B0502020202020204" pitchFamily="34" charset="0"/>
              <a:ea typeface="UD Digi Kyokasho NP-R" panose="020B0400000000000000" pitchFamily="18" charset="-128"/>
              <a:cs typeface="Shruti" panose="020B0502040204020203" pitchFamily="34" charset="0"/>
            </a:endParaRPr>
          </a:p>
        </p:txBody>
      </p:sp>
    </p:spTree>
    <p:extLst>
      <p:ext uri="{BB962C8B-B14F-4D97-AF65-F5344CB8AC3E}">
        <p14:creationId xmlns:p14="http://schemas.microsoft.com/office/powerpoint/2010/main" val="79347093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10"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TotalTime>
  <Words>479</Words>
  <Application>Microsoft Office PowerPoint</Application>
  <PresentationFormat>Widescreen</PresentationFormat>
  <Paragraphs>94</Paragraphs>
  <Slides>11</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11</vt:i4>
      </vt:variant>
    </vt:vector>
  </HeadingPairs>
  <TitlesOfParts>
    <vt:vector size="18" baseType="lpstr">
      <vt:lpstr>Aptos</vt:lpstr>
      <vt:lpstr>Arial</vt:lpstr>
      <vt:lpstr>Calibri</vt:lpstr>
      <vt:lpstr>Calibri Light</vt:lpstr>
      <vt:lpstr>Century Gothic</vt:lpstr>
      <vt:lpstr>Söhne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Hamna Mirza</dc:creator>
  <cp:lastModifiedBy>Dev Hamnah</cp:lastModifiedBy>
  <cp:revision>5</cp:revision>
  <dcterms:created xsi:type="dcterms:W3CDTF">2025-04-30T05:14:22Z</dcterms:created>
  <dcterms:modified xsi:type="dcterms:W3CDTF">2025-11-14T03:41:08Z</dcterms:modified>
</cp:coreProperties>
</file>