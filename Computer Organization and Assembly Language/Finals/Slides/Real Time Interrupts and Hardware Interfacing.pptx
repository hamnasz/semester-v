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74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4" y="2448878"/>
            <a:ext cx="6219662" cy="1162812"/>
          </a:xfrm>
        </p:spPr>
        <p:txBody>
          <a:bodyPr>
            <a:normAutofit/>
          </a:bodyPr>
          <a:lstStyle/>
          <a:p>
            <a:pPr algn="l"/>
            <a:r>
              <a:rPr lang="en-GB" b="1" dirty="0" smtClean="0">
                <a:solidFill>
                  <a:schemeClr val="bg1"/>
                </a:solidFill>
              </a:rPr>
              <a:t>Chapter </a:t>
            </a:r>
            <a:r>
              <a:rPr lang="en-GB" b="1" dirty="0" smtClean="0">
                <a:solidFill>
                  <a:schemeClr val="bg1"/>
                </a:solidFill>
              </a:rPr>
              <a:t>9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3" y="3602038"/>
            <a:ext cx="10687159" cy="1153160"/>
          </a:xfrm>
        </p:spPr>
        <p:txBody>
          <a:bodyPr>
            <a:noAutofit/>
          </a:bodyPr>
          <a:lstStyle/>
          <a:p>
            <a:r>
              <a:rPr lang="en-GB" sz="5400" b="1" dirty="0" smtClean="0">
                <a:solidFill>
                  <a:schemeClr val="bg1"/>
                </a:solidFill>
              </a:rPr>
              <a:t>Real Time </a:t>
            </a:r>
            <a:r>
              <a:rPr lang="en-GB" sz="5400" b="1" dirty="0" smtClean="0">
                <a:solidFill>
                  <a:schemeClr val="bg1"/>
                </a:solidFill>
              </a:rPr>
              <a:t>Interrupts and Hardware Interfacing </a:t>
            </a:r>
            <a:endParaRPr lang="en-GB" sz="5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531071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Introduction to Hardware Interrupts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Real interrupts generated by external hardware.</a:t>
            </a:r>
          </a:p>
          <a:p>
            <a:r>
              <a:rPr lang="en-US" b="1" dirty="0"/>
              <a:t>INT Pin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Single external pin on the processor to receive hardware interrupts.</a:t>
            </a:r>
          </a:p>
          <a:p>
            <a:r>
              <a:rPr lang="en-US" b="1" dirty="0"/>
              <a:t>Purpose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Ensure real-time response to external events (e.g., key presses, printer status</a:t>
            </a:r>
            <a:r>
              <a:rPr lang="en-US" dirty="0" smtClean="0"/>
              <a:t>).</a:t>
            </a:r>
          </a:p>
          <a:p>
            <a:pPr marL="0" indent="0" algn="ctr">
              <a:buNone/>
            </a:pPr>
            <a:r>
              <a:rPr lang="en-US" b="1" dirty="0"/>
              <a:t>Why Hardware Interrupts?</a:t>
            </a:r>
          </a:p>
          <a:p>
            <a:r>
              <a:rPr lang="en-US" b="1" dirty="0"/>
              <a:t>Interrupts vs. Polling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Polling</a:t>
            </a:r>
            <a:r>
              <a:rPr lang="en-US" dirty="0"/>
              <a:t>: Actively monitor devices, inefficient for the processor.</a:t>
            </a:r>
          </a:p>
          <a:p>
            <a:pPr lvl="1"/>
            <a:r>
              <a:rPr lang="en-US" b="1" dirty="0"/>
              <a:t>Interrupts</a:t>
            </a:r>
            <a:r>
              <a:rPr lang="en-US" dirty="0"/>
              <a:t>: Notify the processor only when needed, enabling multitasking.</a:t>
            </a:r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Keyboard: Stores keypress during long computations.</a:t>
            </a:r>
          </a:p>
          <a:p>
            <a:pPr lvl="1"/>
            <a:r>
              <a:rPr lang="en-US" dirty="0"/>
              <a:t>Printer: Signals when ready for new data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F7170C3-FB1F-4CF8-A115-2330415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1" y="1519721"/>
            <a:ext cx="9961228" cy="514428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Programmable Interrupt Controller (PIC)</a:t>
            </a:r>
          </a:p>
          <a:p>
            <a:r>
              <a:rPr lang="en-US" b="1" dirty="0"/>
              <a:t>Purpose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Manages multiple interrupt signals and forwards them to the processor.</a:t>
            </a:r>
          </a:p>
          <a:p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8 input lines (IRQ 0–7), 1 output signal to processor.</a:t>
            </a:r>
          </a:p>
          <a:p>
            <a:pPr lvl="1"/>
            <a:r>
              <a:rPr lang="en-US" dirty="0"/>
              <a:t>Assigns priorities to IRQ lines (0 = highest priority).</a:t>
            </a:r>
          </a:p>
          <a:p>
            <a:r>
              <a:rPr lang="en-US" b="1" dirty="0"/>
              <a:t>Cascading PICs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IBM AT systems: Two PICs </a:t>
            </a:r>
            <a:r>
              <a:rPr lang="en-US" dirty="0" smtClean="0"/>
              <a:t>provide </a:t>
            </a:r>
            <a:r>
              <a:rPr lang="en-US" dirty="0"/>
              <a:t>16 interrupt sources (IRQ 0–15</a:t>
            </a:r>
            <a:r>
              <a:rPr lang="en-US" dirty="0" smtClean="0"/>
              <a:t>).</a:t>
            </a:r>
          </a:p>
          <a:p>
            <a:pPr marL="0" indent="0" algn="ctr">
              <a:buNone/>
            </a:pPr>
            <a:r>
              <a:rPr lang="en-US" b="1" dirty="0"/>
              <a:t>Priority Management in PIC</a:t>
            </a:r>
          </a:p>
          <a:p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Forward highest-priority interrupt to the processor.</a:t>
            </a:r>
          </a:p>
          <a:p>
            <a:pPr lvl="1"/>
            <a:r>
              <a:rPr lang="en-US" dirty="0"/>
              <a:t>Lower-priority interrupts are queued until the higher-priority interrupt is serviced.</a:t>
            </a:r>
          </a:p>
          <a:p>
            <a:r>
              <a:rPr lang="en-US" b="1" dirty="0"/>
              <a:t>End Of Interrupt (EOI)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Sent by the processor to signal completion of interrupt handling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70325"/>
              </p:ext>
            </p:extLst>
          </p:nvPr>
        </p:nvGraphicFramePr>
        <p:xfrm>
          <a:off x="2389362" y="2355374"/>
          <a:ext cx="8964438" cy="32918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988146">
                  <a:extLst>
                    <a:ext uri="{9D8B030D-6E8A-4147-A177-3AD203B41FA5}">
                      <a16:colId xmlns:a16="http://schemas.microsoft.com/office/drawing/2014/main" val="1960053212"/>
                    </a:ext>
                  </a:extLst>
                </a:gridCol>
                <a:gridCol w="2988146">
                  <a:extLst>
                    <a:ext uri="{9D8B030D-6E8A-4147-A177-3AD203B41FA5}">
                      <a16:colId xmlns:a16="http://schemas.microsoft.com/office/drawing/2014/main" val="2884390841"/>
                    </a:ext>
                  </a:extLst>
                </a:gridCol>
                <a:gridCol w="2988146">
                  <a:extLst>
                    <a:ext uri="{9D8B030D-6E8A-4147-A177-3AD203B41FA5}">
                      <a16:colId xmlns:a16="http://schemas.microsoft.com/office/drawing/2014/main" val="2445404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IRQ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Interrupt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2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Timer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946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Keyboard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6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Cascade signal for 2nd 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64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Serial port (COM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99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Serial port (COM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95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Sound card/network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426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Floppy disk drive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416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IRQ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Parallel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142605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89362" y="1437471"/>
            <a:ext cx="8964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Interrupt Requests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IRQ) Lines and Their Functions</a:t>
            </a:r>
          </a:p>
        </p:txBody>
      </p:sp>
    </p:spTree>
    <p:extLst>
      <p:ext uri="{BB962C8B-B14F-4D97-AF65-F5344CB8AC3E}">
        <p14:creationId xmlns:p14="http://schemas.microsoft.com/office/powerpoint/2010/main" val="26743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9163-209C-4AAC-9D0B-A2162768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IRQ to INT Mapping</a:t>
            </a:r>
          </a:p>
          <a:p>
            <a:r>
              <a:rPr lang="en-US" b="1" dirty="0"/>
              <a:t>Mapping by PIC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IRQ lines (0–7) → INT 8–F.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IRQ 0 → INT 8 (Timer interrupt).</a:t>
            </a:r>
          </a:p>
          <a:p>
            <a:pPr lvl="2"/>
            <a:r>
              <a:rPr lang="en-US" dirty="0"/>
              <a:t>IRQ 1 → INT 9 (Keyboard interrupt).</a:t>
            </a:r>
          </a:p>
          <a:p>
            <a:r>
              <a:rPr lang="en-US" b="1" dirty="0"/>
              <a:t>Processor Perspective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Interrupt number is automatically generated by PIC without extra instructions.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797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2889D4-75DA-4D6B-B8A6-BEC829D8F12B}"/>
              </a:ext>
            </a:extLst>
          </p:cNvPr>
          <p:cNvSpPr txBox="1"/>
          <p:nvPr/>
        </p:nvSpPr>
        <p:spPr>
          <a:xfrm>
            <a:off x="861877" y="1519722"/>
            <a:ext cx="1033299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Example: Timer Interrupt (IRQ 0 → INT 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Timer Chip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Generates interrupts at precise intervals.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Handler updates system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Example Code Snippet</a:t>
            </a:r>
            <a:r>
              <a:rPr lang="en-US" sz="2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r>
              <a:rPr lang="en-US" sz="2400" dirty="0"/>
              <a:t>; Timer Interrupt Handler Example</a:t>
            </a:r>
          </a:p>
          <a:p>
            <a:r>
              <a:rPr lang="en-US" sz="2400" dirty="0"/>
              <a:t>MOV AL, 20h          </a:t>
            </a:r>
            <a:r>
              <a:rPr lang="en-US" sz="2400" dirty="0" smtClean="0"/>
              <a:t>	; </a:t>
            </a:r>
            <a:r>
              <a:rPr lang="en-US" sz="2400" dirty="0"/>
              <a:t>EOI signal for PIC</a:t>
            </a:r>
          </a:p>
          <a:p>
            <a:r>
              <a:rPr lang="en-US" sz="2400" dirty="0"/>
              <a:t>OUT 20h, AL          </a:t>
            </a:r>
            <a:r>
              <a:rPr lang="en-US" sz="2400" dirty="0" smtClean="0"/>
              <a:t>	; </a:t>
            </a:r>
            <a:r>
              <a:rPr lang="en-US" sz="2400" dirty="0"/>
              <a:t>Send EOI to PIC</a:t>
            </a:r>
          </a:p>
          <a:p>
            <a:r>
              <a:rPr lang="en-US" sz="2400" dirty="0"/>
              <a:t>IRET                 </a:t>
            </a:r>
            <a:r>
              <a:rPr lang="en-US" sz="2400" dirty="0" smtClean="0"/>
              <a:t>		; </a:t>
            </a:r>
            <a:r>
              <a:rPr lang="en-US" sz="2400" dirty="0"/>
              <a:t>Return from interrupt</a:t>
            </a:r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001890-2D27-4C06-8608-762CAE8C86A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4EECAA-E328-47D6-ACBC-7B6045FFBA9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310BC6-D369-40F7-9134-CA1AF26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4A534A-AF61-4A94-9BBB-ECD9B5E8BF5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D3E16B-B08C-424B-B4E0-5F9C11D0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2B077-D3DF-4751-8D55-BD3BDAEDAB0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35BA541-C933-4EB5-A6B6-39E31DD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9D81B47-A520-4FD2-B153-D43C470F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17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EBEA25A-199D-4D78-B795-C46C85A52E0B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0D3031-B614-4825-9EBF-C1E73C4E9DB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74C19F5-C6B4-4428-89D1-EB6EC79A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2AD84F-7748-4055-8715-3197B2C846C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28E98CA-7A21-4AA3-9B8F-1799DD34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DD3783-E879-4E85-BB51-871A7A8018E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5C669A3-D490-4746-8542-0EDF14F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F309829-A49F-4E58-8019-7A5F6A26D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364404"/>
            <a:ext cx="10515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Handling Keyboard Interrupt (IRQ 1 → INT 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Keypress Handling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Stores keypress for later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Replacing the Interrupt Vector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Custom handler can be used to modify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Example Code Snippet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; Keyboard Interrupt Handler Example</a:t>
            </a:r>
          </a:p>
          <a:p>
            <a:r>
              <a:rPr lang="en-US" sz="2400" dirty="0"/>
              <a:t>IN AL, 60h           </a:t>
            </a:r>
            <a:r>
              <a:rPr lang="en-US" sz="2400" dirty="0" smtClean="0"/>
              <a:t>		; </a:t>
            </a:r>
            <a:r>
              <a:rPr lang="en-US" sz="2400" dirty="0"/>
              <a:t>Read keypress from keyboard port</a:t>
            </a:r>
          </a:p>
          <a:p>
            <a:r>
              <a:rPr lang="en-US" sz="2400" dirty="0"/>
              <a:t>MOV [</a:t>
            </a:r>
            <a:r>
              <a:rPr lang="en-US" sz="2400" dirty="0" err="1"/>
              <a:t>keybuffer</a:t>
            </a:r>
            <a:r>
              <a:rPr lang="en-US" sz="2400" dirty="0"/>
              <a:t>], AL  </a:t>
            </a:r>
            <a:r>
              <a:rPr lang="en-US" sz="2400" dirty="0" smtClean="0"/>
              <a:t>		; </a:t>
            </a:r>
            <a:r>
              <a:rPr lang="en-US" sz="2400" dirty="0"/>
              <a:t>Store keypress</a:t>
            </a:r>
          </a:p>
          <a:p>
            <a:r>
              <a:rPr lang="en-US" sz="2400" dirty="0"/>
              <a:t>MOV AL, 20h          </a:t>
            </a:r>
            <a:r>
              <a:rPr lang="en-US" sz="2400" dirty="0" smtClean="0"/>
              <a:t>		; </a:t>
            </a:r>
            <a:r>
              <a:rPr lang="en-US" sz="2400" dirty="0"/>
              <a:t>EOI signal</a:t>
            </a:r>
          </a:p>
          <a:p>
            <a:r>
              <a:rPr lang="en-US" sz="2400" dirty="0"/>
              <a:t>OUT 20h, AL          </a:t>
            </a:r>
            <a:r>
              <a:rPr lang="en-US" sz="2400" dirty="0" smtClean="0"/>
              <a:t>		; </a:t>
            </a:r>
            <a:r>
              <a:rPr lang="en-US" sz="2400" dirty="0"/>
              <a:t>Send EOI to PIC</a:t>
            </a:r>
          </a:p>
          <a:p>
            <a:r>
              <a:rPr lang="en-US" sz="2400" dirty="0"/>
              <a:t>IRET                 </a:t>
            </a:r>
            <a:r>
              <a:rPr lang="en-US" sz="2400" dirty="0" smtClean="0"/>
              <a:t>			; </a:t>
            </a:r>
            <a:r>
              <a:rPr lang="en-US" sz="2400" dirty="0"/>
              <a:t>Return from interrupt</a:t>
            </a:r>
          </a:p>
          <a:p>
            <a:endParaRPr lang="en-US" sz="2400" dirty="0"/>
          </a:p>
          <a:p>
            <a:r>
              <a:rPr lang="en-US" sz="2400" dirty="0" err="1"/>
              <a:t>keybuffer</a:t>
            </a:r>
            <a:r>
              <a:rPr lang="en-US" sz="2400" dirty="0"/>
              <a:t> DB ?       </a:t>
            </a:r>
            <a:r>
              <a:rPr lang="en-US" sz="2400" dirty="0" smtClean="0"/>
              <a:t>		; </a:t>
            </a:r>
            <a:r>
              <a:rPr lang="en-US" sz="2400" dirty="0"/>
              <a:t>Buffer for storing </a:t>
            </a:r>
            <a:r>
              <a:rPr lang="en-US" sz="2400" dirty="0" smtClean="0"/>
              <a:t>keypress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063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C67F0B-6357-403C-A028-EA7626D8104E}"/>
              </a:ext>
            </a:extLst>
          </p:cNvPr>
          <p:cNvSpPr txBox="1"/>
          <p:nvPr/>
        </p:nvSpPr>
        <p:spPr>
          <a:xfrm>
            <a:off x="838200" y="1519722"/>
            <a:ext cx="105155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Takeaways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Hardware Interrupt Flow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IRQ → PIC → INT Pin → Processor → Interrupt Handler.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Important Concepts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IRQ to INT mapping.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EOI signal for enabling lower-priority interrupts.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Best Practices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Properly handle and reset IRQs to avoid conflicts.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6CB3A1-2F0C-4B2E-B7CA-A23AA016B82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DF749-C1DE-44F1-A0AE-4706451F9DC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D7FAC1-C050-44C3-A520-F7E0452E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6F26BF-93C2-4599-8B3A-583CD8A06D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181E826-520B-42BD-8798-DFC87C72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DE77C3-8284-43D1-8BB9-0E1FE03DB50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905B5D0-B635-43DA-AFAC-C24406CF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51AB74C-8A70-4C3E-A650-D7E8022D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6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398FBFF-3402-44AC-9CFF-71D3C76E053A}"/>
              </a:ext>
            </a:extLst>
          </p:cNvPr>
          <p:cNvSpPr txBox="1">
            <a:spLocks/>
          </p:cNvSpPr>
          <p:nvPr/>
        </p:nvSpPr>
        <p:spPr>
          <a:xfrm>
            <a:off x="808923" y="1364404"/>
            <a:ext cx="10574153" cy="537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P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tx1"/>
                </a:solidFill>
              </a:rPr>
              <a:t>Introduction to I/O 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What are I/O Ports?</a:t>
            </a:r>
            <a:endParaRPr lang="en-US" sz="28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Mechanism for processor to communicate with peripheral devices.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Supports </a:t>
            </a:r>
            <a:r>
              <a:rPr lang="en-US" sz="2400" b="1" dirty="0"/>
              <a:t>read</a:t>
            </a:r>
            <a:r>
              <a:rPr lang="en-US" sz="2400" dirty="0"/>
              <a:t> and </a:t>
            </a:r>
            <a:r>
              <a:rPr lang="en-US" sz="2400" b="1" dirty="0"/>
              <a:t>write</a:t>
            </a:r>
            <a:r>
              <a:rPr lang="en-US" sz="2400" dirty="0"/>
              <a:t>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Memory vs. I/O Ports</a:t>
            </a:r>
            <a:endParaRPr lang="en-US" sz="28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Memory</a:t>
            </a:r>
            <a:r>
              <a:rPr lang="en-US" sz="2400" dirty="0"/>
              <a:t>: Stores program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Ports</a:t>
            </a:r>
            <a:r>
              <a:rPr lang="en-US" sz="2400" dirty="0"/>
              <a:t>: Perform hardware control or interactions</a:t>
            </a:r>
            <a:r>
              <a:rPr lang="en-US" sz="2400" dirty="0" smtClean="0"/>
              <a:t>.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Peripheral Address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IBM PC Design</a:t>
            </a:r>
            <a:r>
              <a:rPr lang="en-US" sz="2400" dirty="0">
                <a:solidFill>
                  <a:schemeClr val="tx1"/>
                </a:solidFill>
              </a:rPr>
              <a:t>: Separate memory and peripheral address spaces.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Memory Mapped I/O</a:t>
            </a:r>
            <a:r>
              <a:rPr lang="en-US" sz="2400" dirty="0">
                <a:solidFill>
                  <a:schemeClr val="tx1"/>
                </a:solidFill>
              </a:rPr>
              <a:t>: Some processors map ports to memory cells.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Address Bus Usage</a:t>
            </a:r>
            <a:r>
              <a:rPr lang="en-US" sz="2400" dirty="0">
                <a:solidFill>
                  <a:schemeClr val="tx1"/>
                </a:solidFill>
              </a:rPr>
              <a:t>: Lower 16 bits are used for I/O ports (65,536 possible ports).</a:t>
            </a:r>
          </a:p>
          <a:p>
            <a:pPr lvl="1"/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47A9A5-6E4B-45B5-A1D6-2E2CC3DACA54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AEB2B4-072D-4229-94BD-E34FA4C1D4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AEB78D-C3B4-4A7A-80CA-53543A5D4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93294A-2F98-4A5A-A82E-005CD9D43DF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5894A6D-0713-42B1-893C-A4CD0280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0DCD85-05B0-4260-866F-C0E865F08F8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91E0CCE-CC2F-48D8-BD6A-164BA1890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AE0E661-5285-4714-81F2-35134892A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200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11282"/>
            <a:ext cx="10317480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 and OUT Instructions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Purpose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Read/write data from/to ports.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Points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MOV: Access memory space.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 and OUT: Access peripheral address space.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Example Instructions</a:t>
            </a:r>
            <a:r>
              <a:rPr lang="en-US" sz="2400" dirty="0" smtClean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in al, 0x21       </a:t>
            </a:r>
            <a:r>
              <a:rPr lang="en-US" altLang="en-US" sz="2400" dirty="0" smtClean="0"/>
              <a:t>		; </a:t>
            </a:r>
            <a:r>
              <a:rPr lang="en-US" altLang="en-US" sz="2400" dirty="0"/>
              <a:t>Read from port 21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out 0x21, al      </a:t>
            </a:r>
            <a:r>
              <a:rPr lang="en-US" altLang="en-US" sz="2400" dirty="0" smtClean="0"/>
              <a:t>	; </a:t>
            </a:r>
            <a:r>
              <a:rPr lang="en-US" altLang="en-US" sz="2400" dirty="0"/>
              <a:t>Write to port 21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 err="1"/>
              <a:t>mov</a:t>
            </a:r>
            <a:r>
              <a:rPr lang="en-US" altLang="en-US" sz="2400" dirty="0"/>
              <a:t> dx, 0x378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in al, dx         </a:t>
            </a:r>
            <a:r>
              <a:rPr lang="en-US" altLang="en-US" sz="2400" dirty="0" smtClean="0"/>
              <a:t>		; </a:t>
            </a:r>
            <a:r>
              <a:rPr lang="en-US" altLang="en-US" sz="2400" dirty="0"/>
              <a:t>Read from port in DX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out dx, al        </a:t>
            </a:r>
            <a:r>
              <a:rPr lang="en-US" altLang="en-US" sz="2400" dirty="0" smtClean="0"/>
              <a:t>		; </a:t>
            </a:r>
            <a:r>
              <a:rPr lang="en-US" altLang="en-US" sz="2400" dirty="0"/>
              <a:t>Write to port in </a:t>
            </a:r>
            <a:r>
              <a:rPr lang="en-US" altLang="en-US" sz="2400" dirty="0" smtClean="0"/>
              <a:t>DX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7321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97"/>
            <a:ext cx="10515600" cy="261349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PIC Ports</a:t>
            </a:r>
          </a:p>
          <a:p>
            <a:r>
              <a:rPr lang="en-US" sz="2000" b="1" dirty="0"/>
              <a:t>Ports 20 and 21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Port 20: </a:t>
            </a:r>
            <a:r>
              <a:rPr lang="en-US" sz="2000" b="1" dirty="0"/>
              <a:t>Control Port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Port 21: </a:t>
            </a:r>
            <a:r>
              <a:rPr lang="en-US" sz="2000" b="1" dirty="0"/>
              <a:t>Interrupt Mask Register (IMR)</a:t>
            </a:r>
            <a:r>
              <a:rPr lang="en-US" sz="2000" dirty="0"/>
              <a:t>.</a:t>
            </a:r>
          </a:p>
          <a:p>
            <a:r>
              <a:rPr lang="en-US" sz="2000" b="1" dirty="0"/>
              <a:t>Interrupt Masking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Bit 0-7: Correspond to IRQ lines.</a:t>
            </a:r>
          </a:p>
          <a:p>
            <a:pPr lvl="1"/>
            <a:r>
              <a:rPr lang="en-US" sz="2000" b="1" dirty="0"/>
              <a:t>0</a:t>
            </a:r>
            <a:r>
              <a:rPr lang="en-US" sz="2000" dirty="0"/>
              <a:t>: Enable interrupt.</a:t>
            </a:r>
          </a:p>
          <a:p>
            <a:pPr lvl="1"/>
            <a:r>
              <a:rPr lang="en-US" sz="2000" b="1" dirty="0"/>
              <a:t>1</a:t>
            </a:r>
            <a:r>
              <a:rPr lang="en-US" sz="2000" dirty="0"/>
              <a:t>: Disable interrupt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3783088"/>
            <a:ext cx="1069107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 Program: Disable Keyboard Interrupt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Purpose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Disable IRQ 1 for the keyboard.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 al, 0x21 		; Read IMR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or al, 2 			; Set bit for IRQ 1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 0x21, al 		; Write back to IMR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ax, 0x4c00 		; Terminate program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0x21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Result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Keyboard interrupts are stopped.</a:t>
            </a:r>
          </a:p>
        </p:txBody>
      </p:sp>
    </p:spTree>
    <p:extLst>
      <p:ext uri="{BB962C8B-B14F-4D97-AF65-F5344CB8AC3E}">
        <p14:creationId xmlns:p14="http://schemas.microsoft.com/office/powerpoint/2010/main" val="190826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33251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Keyboard Scan Codes</a:t>
            </a:r>
          </a:p>
          <a:p>
            <a:r>
              <a:rPr lang="en-US" sz="2400" b="1" dirty="0"/>
              <a:t>Key Features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Each key press/release sends a </a:t>
            </a:r>
            <a:r>
              <a:rPr lang="en-US" b="1" dirty="0"/>
              <a:t>scan code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Press Code: Most Significant Bit (MSB) = 0.</a:t>
            </a:r>
          </a:p>
          <a:p>
            <a:pPr lvl="1"/>
            <a:r>
              <a:rPr lang="en-US" dirty="0"/>
              <a:t>Release Code: MSB = 1.</a:t>
            </a:r>
          </a:p>
          <a:p>
            <a:r>
              <a:rPr lang="en-US" sz="2400" b="1" dirty="0"/>
              <a:t>Examples</a:t>
            </a:r>
            <a:r>
              <a:rPr lang="en-US" sz="2400" dirty="0"/>
              <a:t>:</a:t>
            </a:r>
          </a:p>
          <a:p>
            <a:pPr lvl="1"/>
            <a:r>
              <a:rPr lang="en-US" b="1" dirty="0"/>
              <a:t>Shift-A Sequence</a:t>
            </a:r>
            <a:r>
              <a:rPr lang="en-US" dirty="0"/>
              <a:t>:</a:t>
            </a:r>
          </a:p>
          <a:p>
            <a:pPr lvl="2"/>
            <a:r>
              <a:rPr lang="en-US" sz="2400" dirty="0"/>
              <a:t>Shift Press Code</a:t>
            </a:r>
          </a:p>
          <a:p>
            <a:pPr lvl="2"/>
            <a:r>
              <a:rPr lang="en-US" sz="2400" dirty="0"/>
              <a:t>A Press Code</a:t>
            </a:r>
          </a:p>
          <a:p>
            <a:pPr lvl="2"/>
            <a:r>
              <a:rPr lang="en-US" sz="2400" dirty="0"/>
              <a:t>A Release Code</a:t>
            </a:r>
          </a:p>
          <a:p>
            <a:pPr lvl="2"/>
            <a:r>
              <a:rPr lang="en-US" sz="2400" dirty="0"/>
              <a:t>Shift Release Code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4462845"/>
            <a:ext cx="1069107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Interrupt Chaining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Definition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Allows original ISR to function after custom ISR completes.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Save the address of the original ISR.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Jump to it at the end of the custom ISR using JMP FAR.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708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3"/>
            <a:ext cx="10515600" cy="52062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Terminate and Stay Resident (TSR) Programs</a:t>
            </a:r>
          </a:p>
          <a:p>
            <a:r>
              <a:rPr lang="en-US" b="1" dirty="0"/>
              <a:t>Purpose</a:t>
            </a:r>
            <a:r>
              <a:rPr lang="en-US" dirty="0"/>
              <a:t>: Retain part of a program in memory after termination.</a:t>
            </a:r>
          </a:p>
          <a:p>
            <a:r>
              <a:rPr lang="en-US" b="1" dirty="0"/>
              <a:t>Difference in Termination Methods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 21h, Service 4C: Releases all memory.</a:t>
            </a:r>
          </a:p>
          <a:p>
            <a:pPr lvl="1"/>
            <a:r>
              <a:rPr lang="en-US" dirty="0"/>
              <a:t>INT 21h, </a:t>
            </a:r>
            <a:r>
              <a:rPr lang="en-US" dirty="0" smtClean="0"/>
              <a:t>Service </a:t>
            </a:r>
            <a:r>
              <a:rPr lang="en-US" dirty="0"/>
              <a:t>31: Retains a portion of memory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b="1" dirty="0"/>
              <a:t>Memory Allocation for TSR</a:t>
            </a:r>
          </a:p>
          <a:p>
            <a:r>
              <a:rPr lang="en-US" b="1" dirty="0"/>
              <a:t>DOS Memory 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Reserved Areas: Interrupt Vector Table, BIOS/DOS data, COMMAND.COM.</a:t>
            </a:r>
          </a:p>
          <a:p>
            <a:pPr lvl="1"/>
            <a:r>
              <a:rPr lang="en-US" b="1" dirty="0"/>
              <a:t>Transient Program Area</a:t>
            </a:r>
            <a:r>
              <a:rPr lang="en-US" dirty="0"/>
              <a:t>: For loaded programs.</a:t>
            </a:r>
          </a:p>
          <a:p>
            <a:r>
              <a:rPr lang="en-US" b="1" dirty="0" err="1"/>
              <a:t>Freemem</a:t>
            </a:r>
            <a:r>
              <a:rPr lang="en-US" b="1" dirty="0"/>
              <a:t> Pointer</a:t>
            </a:r>
            <a:r>
              <a:rPr lang="en-US" dirty="0"/>
              <a:t>: Adjusted to allocate or reclaim memory.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102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1147861"/>
            <a:ext cx="1058439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Calculating Resident Memory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Steps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Place a label at the end of the required code.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Calculate bytes to retain.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Round up using: (bytes + 15) / 16.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100 bytes → 7 paragraphs (rounded).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88565" y="3775282"/>
            <a:ext cx="103327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TSR Program Example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Display L for left shift and R for right shift.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Features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Captures scan codes.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Prevents shift keys from being forwarded to BIOS.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Command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Verify resident program using mem /c.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099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1886525"/>
            <a:ext cx="105843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I/O Ports</a:t>
            </a:r>
            <a:r>
              <a:rPr lang="en-US" sz="2400" dirty="0"/>
              <a:t>: Enable hardware communication and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IN/OUT Instructions</a:t>
            </a:r>
            <a:r>
              <a:rPr lang="en-US" sz="2400" dirty="0"/>
              <a:t>: Facilitate port data manipulation.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TSR Programs</a:t>
            </a:r>
            <a:r>
              <a:rPr lang="en-US" sz="2400" dirty="0"/>
              <a:t>: Extend operating system functionality by retaining memory.</a:t>
            </a:r>
          </a:p>
        </p:txBody>
      </p:sp>
    </p:spTree>
    <p:extLst>
      <p:ext uri="{BB962C8B-B14F-4D97-AF65-F5344CB8AC3E}">
        <p14:creationId xmlns:p14="http://schemas.microsoft.com/office/powerpoint/2010/main" val="103819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61756" y="1225906"/>
            <a:ext cx="1058439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Introduction to </a:t>
            </a:r>
            <a:r>
              <a:rPr lang="en-US" sz="2400" b="1" dirty="0" smtClean="0"/>
              <a:t>Programmable Interval Timer (PIT)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is PIT?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 peripheral device used to generate precise time intervals.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Chip model: </a:t>
            </a:r>
            <a:r>
              <a:rPr lang="en-US" sz="2000" b="1" dirty="0"/>
              <a:t>8254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Fixed Frequency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Input frequency: </a:t>
            </a:r>
            <a:r>
              <a:rPr lang="en-US" sz="2000" b="1" dirty="0"/>
              <a:t>1.19318 </a:t>
            </a:r>
            <a:r>
              <a:rPr lang="en-US" sz="2000" b="1" dirty="0" err="1"/>
              <a:t>MHz</a:t>
            </a:r>
            <a:r>
              <a:rPr lang="en-US" sz="2000" dirty="0" err="1"/>
              <a:t>.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Independent of processor clock speed</a:t>
            </a:r>
            <a:r>
              <a:rPr lang="en-US" sz="2000" dirty="0" smtClean="0"/>
              <a:t>.</a:t>
            </a:r>
          </a:p>
          <a:p>
            <a:pPr algn="ctr"/>
            <a:r>
              <a:rPr lang="en-US" sz="2400" b="1" dirty="0"/>
              <a:t>Divisor and Timer Tick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16-bit Divisor</a:t>
            </a:r>
            <a:r>
              <a:rPr lang="en-US" sz="2000" dirty="0"/>
              <a:t>: Divides the input frequency to control the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Special Case</a:t>
            </a:r>
            <a:r>
              <a:rPr lang="en-US" sz="2000" dirty="0"/>
              <a:t>: Divisor of 0 → </a:t>
            </a:r>
            <a:r>
              <a:rPr lang="en-US" sz="2000" b="1" dirty="0"/>
              <a:t>65536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Default Behavior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Divisor: </a:t>
            </a:r>
            <a:r>
              <a:rPr lang="en-US" sz="2000" b="1" dirty="0"/>
              <a:t>65536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Timer Tick Frequency: </a:t>
            </a:r>
            <a:r>
              <a:rPr lang="en-US" sz="2000" b="1" dirty="0"/>
              <a:t>18.2 Hz</a:t>
            </a:r>
            <a:r>
              <a:rPr lang="en-US" sz="2000" dirty="0"/>
              <a:t> (1193180/65536).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Interval Between Ticks: </a:t>
            </a:r>
            <a:r>
              <a:rPr lang="en-US" sz="2000" b="1" dirty="0"/>
              <a:t>55ms</a:t>
            </a:r>
            <a:r>
              <a:rPr lang="en-US" sz="2000" dirty="0"/>
              <a:t>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346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61756" y="1257580"/>
            <a:ext cx="1058439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PIT and System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Purpose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Maintains system time with precise intervals.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Triggers </a:t>
            </a:r>
            <a:r>
              <a:rPr lang="en-US" sz="2000" b="1" dirty="0"/>
              <a:t>IRQ 0</a:t>
            </a:r>
            <a:r>
              <a:rPr lang="en-US" sz="2000" dirty="0"/>
              <a:t> to handle system clock.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High Priority Interrupt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Breaks execution of other processes.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Used for time-sensitive operations</a:t>
            </a:r>
            <a:r>
              <a:rPr lang="en-US" sz="2000" dirty="0" smtClean="0"/>
              <a:t>.</a:t>
            </a:r>
          </a:p>
          <a:p>
            <a:pPr algn="ctr"/>
            <a:r>
              <a:rPr lang="en-US" sz="2400" b="1" dirty="0"/>
              <a:t>PIT in TSR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Integration with TSR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TSR programs rely on interrupt hooking for activation.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PIT's precise interrupts are ideal for periodic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Timer Interrupt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Hooked to perform custom actions (e.g., updating a tick count).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075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92605" y="1164134"/>
            <a:ext cx="5500486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 smtClean="0"/>
              <a:t>Objective</a:t>
            </a:r>
            <a:r>
              <a:rPr lang="en-US" sz="1400" dirty="0"/>
              <a:t>: Hook the timer interrupt to display tick count.</a:t>
            </a:r>
          </a:p>
          <a:p>
            <a:r>
              <a:rPr lang="en-US" sz="1400" b="1" dirty="0"/>
              <a:t>Code</a:t>
            </a:r>
            <a:r>
              <a:rPr lang="en-US" sz="1400" dirty="0" smtClean="0"/>
              <a:t>:</a:t>
            </a:r>
          </a:p>
          <a:p>
            <a:r>
              <a:rPr lang="en-US" sz="1400" dirty="0"/>
              <a:t>[org 0x0100]  </a:t>
            </a:r>
            <a:r>
              <a:rPr lang="en-US" sz="1400" dirty="0" smtClean="0"/>
              <a:t>	; </a:t>
            </a:r>
            <a:r>
              <a:rPr lang="en-US" sz="1400" dirty="0"/>
              <a:t>Origin for emu8086</a:t>
            </a:r>
          </a:p>
          <a:p>
            <a:r>
              <a:rPr lang="en-US" sz="1400" dirty="0" err="1"/>
              <a:t>jmp</a:t>
            </a:r>
            <a:r>
              <a:rPr lang="en-US" sz="1400" dirty="0"/>
              <a:t> start      </a:t>
            </a:r>
            <a:r>
              <a:rPr lang="en-US" sz="1400" dirty="0" smtClean="0"/>
              <a:t>		; </a:t>
            </a:r>
            <a:r>
              <a:rPr lang="en-US" sz="1400" dirty="0"/>
              <a:t>Jump to start of the program</a:t>
            </a:r>
          </a:p>
          <a:p>
            <a:endParaRPr lang="en-US" sz="1400" dirty="0"/>
          </a:p>
          <a:p>
            <a:r>
              <a:rPr lang="en-US" sz="1400" dirty="0" err="1"/>
              <a:t>old_isr</a:t>
            </a:r>
            <a:r>
              <a:rPr lang="en-US" sz="1400" dirty="0"/>
              <a:t> </a:t>
            </a:r>
            <a:r>
              <a:rPr lang="en-US" sz="1400" dirty="0" err="1"/>
              <a:t>dw</a:t>
            </a:r>
            <a:r>
              <a:rPr lang="en-US" sz="1400" dirty="0"/>
              <a:t> 0   </a:t>
            </a:r>
            <a:r>
              <a:rPr lang="en-US" sz="1400" dirty="0" smtClean="0"/>
              <a:t>	; </a:t>
            </a:r>
            <a:r>
              <a:rPr lang="en-US" sz="1400" dirty="0"/>
              <a:t>Placeholder for original interrupt vector</a:t>
            </a:r>
          </a:p>
          <a:p>
            <a:endParaRPr lang="en-US" sz="1400" dirty="0"/>
          </a:p>
          <a:p>
            <a:r>
              <a:rPr lang="en-US" sz="1400" dirty="0"/>
              <a:t>start:</a:t>
            </a:r>
          </a:p>
          <a:p>
            <a:r>
              <a:rPr lang="en-US" sz="1400" dirty="0"/>
              <a:t>    ; Save old timer interrupt vector</a:t>
            </a:r>
          </a:p>
          <a:p>
            <a:r>
              <a:rPr lang="en-US" sz="1400" dirty="0"/>
              <a:t>    push </a:t>
            </a:r>
            <a:r>
              <a:rPr lang="en-US" sz="1400" dirty="0" err="1"/>
              <a:t>es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ax, 0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</a:t>
            </a:r>
            <a:r>
              <a:rPr lang="en-US" sz="1400" dirty="0" err="1"/>
              <a:t>es</a:t>
            </a:r>
            <a:r>
              <a:rPr lang="en-US" sz="1400" dirty="0"/>
              <a:t>, ax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</a:t>
            </a:r>
            <a:r>
              <a:rPr lang="en-US" sz="1400" dirty="0" err="1"/>
              <a:t>bx</a:t>
            </a:r>
            <a:r>
              <a:rPr lang="en-US" sz="1400" dirty="0"/>
              <a:t>, 0x1C * 4  </a:t>
            </a:r>
            <a:r>
              <a:rPr lang="en-US" sz="1400" dirty="0" smtClean="0"/>
              <a:t>	; </a:t>
            </a:r>
            <a:r>
              <a:rPr lang="en-US" sz="1400" dirty="0"/>
              <a:t>Interrupt 1Ch vector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ax, </a:t>
            </a:r>
            <a:r>
              <a:rPr lang="en-US" sz="1400" dirty="0" err="1"/>
              <a:t>es</a:t>
            </a:r>
            <a:r>
              <a:rPr lang="en-US" sz="1400" dirty="0"/>
              <a:t>:[</a:t>
            </a:r>
            <a:r>
              <a:rPr lang="en-US" sz="1400" dirty="0" err="1"/>
              <a:t>bx</a:t>
            </a:r>
            <a:r>
              <a:rPr lang="en-US" sz="1400" dirty="0"/>
              <a:t>]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[</a:t>
            </a:r>
            <a:r>
              <a:rPr lang="en-US" sz="1400" dirty="0" err="1"/>
              <a:t>old_isr</a:t>
            </a:r>
            <a:r>
              <a:rPr lang="en-US" sz="1400" dirty="0"/>
              <a:t>], ax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ax, </a:t>
            </a:r>
            <a:r>
              <a:rPr lang="en-US" sz="1400" dirty="0" err="1"/>
              <a:t>es</a:t>
            </a:r>
            <a:r>
              <a:rPr lang="en-US" sz="1400" dirty="0"/>
              <a:t>:[</a:t>
            </a:r>
            <a:r>
              <a:rPr lang="en-US" sz="1400" dirty="0" err="1"/>
              <a:t>bx</a:t>
            </a:r>
            <a:r>
              <a:rPr lang="en-US" sz="1400" dirty="0"/>
              <a:t> + 2]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[</a:t>
            </a:r>
            <a:r>
              <a:rPr lang="en-US" sz="1400" dirty="0" err="1"/>
              <a:t>old_isr</a:t>
            </a:r>
            <a:r>
              <a:rPr lang="en-US" sz="1400" dirty="0"/>
              <a:t> + 2], ax</a:t>
            </a:r>
          </a:p>
          <a:p>
            <a:endParaRPr lang="en-US" sz="1400" dirty="0"/>
          </a:p>
          <a:p>
            <a:r>
              <a:rPr lang="en-US" sz="1400" dirty="0"/>
              <a:t>    ; Hook new interrupt</a:t>
            </a:r>
          </a:p>
          <a:p>
            <a:r>
              <a:rPr lang="en-US" sz="1400" dirty="0"/>
              <a:t>    cli</a:t>
            </a:r>
          </a:p>
          <a:p>
            <a:r>
              <a:rPr lang="en-US" sz="1400" dirty="0"/>
              <a:t>    lea ax, </a:t>
            </a:r>
            <a:r>
              <a:rPr lang="en-US" sz="1400" dirty="0" err="1"/>
              <a:t>new_isr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</a:t>
            </a:r>
            <a:r>
              <a:rPr lang="en-US" sz="1400" dirty="0" err="1"/>
              <a:t>es</a:t>
            </a:r>
            <a:r>
              <a:rPr lang="en-US" sz="1400" dirty="0"/>
              <a:t>:[</a:t>
            </a:r>
            <a:r>
              <a:rPr lang="en-US" sz="1400" dirty="0" err="1"/>
              <a:t>bx</a:t>
            </a:r>
            <a:r>
              <a:rPr lang="en-US" sz="1400" dirty="0"/>
              <a:t>], ax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ax, </a:t>
            </a:r>
            <a:r>
              <a:rPr lang="en-US" sz="1400" dirty="0" err="1"/>
              <a:t>cs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</a:t>
            </a:r>
            <a:r>
              <a:rPr lang="en-US" sz="1400" dirty="0" err="1"/>
              <a:t>es</a:t>
            </a:r>
            <a:r>
              <a:rPr lang="en-US" sz="1400" dirty="0"/>
              <a:t>:[</a:t>
            </a:r>
            <a:r>
              <a:rPr lang="en-US" sz="1400" dirty="0" err="1"/>
              <a:t>bx</a:t>
            </a:r>
            <a:r>
              <a:rPr lang="en-US" sz="1400" dirty="0"/>
              <a:t> + 2], ax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sti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3" name="Rectangle 2"/>
          <p:cNvSpPr/>
          <p:nvPr/>
        </p:nvSpPr>
        <p:spPr>
          <a:xfrm>
            <a:off x="3307136" y="311681"/>
            <a:ext cx="5248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Example: Hooking Timer Interrupt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54785" y="1115736"/>
            <a:ext cx="58011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 ; Terminate and Stay Resident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dx, end - start + 15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shr</a:t>
            </a:r>
            <a:r>
              <a:rPr lang="en-US" sz="1400" dirty="0"/>
              <a:t> dx, 4  </a:t>
            </a:r>
            <a:r>
              <a:rPr lang="en-US" sz="1400" dirty="0" smtClean="0"/>
              <a:t>		; </a:t>
            </a:r>
            <a:r>
              <a:rPr lang="en-US" sz="1400" dirty="0"/>
              <a:t>Convert bytes to paragraphs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ah, 0x31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int</a:t>
            </a:r>
            <a:r>
              <a:rPr lang="en-US" sz="1400" dirty="0"/>
              <a:t> 0x21</a:t>
            </a:r>
          </a:p>
          <a:p>
            <a:endParaRPr lang="en-US" sz="1400" dirty="0"/>
          </a:p>
          <a:p>
            <a:r>
              <a:rPr lang="en-US" sz="1400" dirty="0" err="1"/>
              <a:t>new_isr</a:t>
            </a:r>
            <a:r>
              <a:rPr lang="en-US" sz="1400" dirty="0"/>
              <a:t>:</a:t>
            </a:r>
          </a:p>
          <a:p>
            <a:r>
              <a:rPr lang="en-US" sz="1400" dirty="0"/>
              <a:t>    ; Custom handler</a:t>
            </a:r>
          </a:p>
          <a:p>
            <a:r>
              <a:rPr lang="en-US" sz="1400" dirty="0"/>
              <a:t>    push ax</a:t>
            </a:r>
          </a:p>
          <a:p>
            <a:r>
              <a:rPr lang="en-US" sz="1400" dirty="0"/>
              <a:t>    push cx</a:t>
            </a:r>
          </a:p>
          <a:p>
            <a:r>
              <a:rPr lang="en-US" sz="1400" dirty="0"/>
              <a:t>    push dx</a:t>
            </a:r>
          </a:p>
          <a:p>
            <a:endParaRPr lang="en-US" sz="1400" dirty="0"/>
          </a:p>
          <a:p>
            <a:r>
              <a:rPr lang="en-US" sz="1400" dirty="0"/>
              <a:t>    ; Increment tick count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mov</a:t>
            </a:r>
            <a:r>
              <a:rPr lang="en-US" sz="1400" dirty="0"/>
              <a:t> dx, </a:t>
            </a:r>
            <a:r>
              <a:rPr lang="en-US" sz="1400" dirty="0" err="1"/>
              <a:t>tick_count</a:t>
            </a:r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inc</a:t>
            </a:r>
            <a:r>
              <a:rPr lang="en-US" sz="1400" dirty="0"/>
              <a:t> word [dx]</a:t>
            </a:r>
          </a:p>
          <a:p>
            <a:endParaRPr lang="en-US" sz="1400" dirty="0"/>
          </a:p>
          <a:p>
            <a:r>
              <a:rPr lang="en-US" sz="1400" dirty="0"/>
              <a:t>    ; Restore old handler</a:t>
            </a:r>
          </a:p>
          <a:p>
            <a:r>
              <a:rPr lang="en-US" sz="1400" dirty="0"/>
              <a:t>    call far [</a:t>
            </a:r>
            <a:r>
              <a:rPr lang="en-US" sz="1400" dirty="0" err="1"/>
              <a:t>old_isr</a:t>
            </a:r>
            <a:r>
              <a:rPr lang="en-US" sz="1400" dirty="0"/>
              <a:t>]</a:t>
            </a:r>
          </a:p>
          <a:p>
            <a:endParaRPr lang="en-US" sz="1400" dirty="0"/>
          </a:p>
          <a:p>
            <a:r>
              <a:rPr lang="en-US" sz="1400" dirty="0"/>
              <a:t>    pop dx</a:t>
            </a:r>
          </a:p>
          <a:p>
            <a:r>
              <a:rPr lang="en-US" sz="1400" dirty="0"/>
              <a:t>    pop cx</a:t>
            </a:r>
          </a:p>
          <a:p>
            <a:r>
              <a:rPr lang="en-US" sz="1400" dirty="0"/>
              <a:t>    pop ax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iret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tick_count</a:t>
            </a:r>
            <a:r>
              <a:rPr lang="en-US" sz="1400" dirty="0"/>
              <a:t> </a:t>
            </a:r>
            <a:r>
              <a:rPr lang="en-US" sz="1400" dirty="0" err="1"/>
              <a:t>dw</a:t>
            </a:r>
            <a:r>
              <a:rPr lang="en-US" sz="1400" dirty="0"/>
              <a:t> 0  </a:t>
            </a:r>
            <a:r>
              <a:rPr lang="en-US" sz="1400" dirty="0" smtClean="0"/>
              <a:t>	; </a:t>
            </a:r>
            <a:r>
              <a:rPr lang="en-US" sz="1400" dirty="0"/>
              <a:t>Counter to hold tick </a:t>
            </a:r>
            <a:r>
              <a:rPr lang="en-US" sz="1400" dirty="0" smtClean="0"/>
              <a:t>count</a:t>
            </a:r>
            <a:endParaRPr lang="en-US" sz="1400" dirty="0"/>
          </a:p>
          <a:p>
            <a:r>
              <a:rPr lang="en-US" sz="1400" dirty="0"/>
              <a:t>end: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8674065" y="4258491"/>
            <a:ext cx="298720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Hooks </a:t>
            </a:r>
            <a:r>
              <a:rPr lang="en-US" b="1" dirty="0"/>
              <a:t>INT 1Ch</a:t>
            </a:r>
            <a:r>
              <a:rPr lang="en-US" dirty="0"/>
              <a:t> (timer interrupt).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Updates and displays a tick counter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6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74754" y="1583980"/>
            <a:ext cx="1075451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Key Points to Remember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PIT Features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Fixed input frequency ensures precision.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Generates periodic IRQ 0 interrupts.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TSR Integration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Control is interrupt-driven, never directly returned.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PIT enables periodic tasks for TSRs</a:t>
            </a:r>
            <a:r>
              <a:rPr lang="en-US" sz="2000" dirty="0" smtClean="0"/>
              <a:t>.</a:t>
            </a:r>
          </a:p>
          <a:p>
            <a:pPr algn="ctr"/>
            <a:r>
              <a:rPr lang="en-US" sz="2400" b="1" dirty="0"/>
              <a:t>Conclusion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PIT</a:t>
            </a:r>
            <a:r>
              <a:rPr lang="en-US" sz="2000" dirty="0"/>
              <a:t>: A versatile peripheral device for system timing.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Assembly Programming</a:t>
            </a:r>
            <a:r>
              <a:rPr lang="en-US" sz="2000" dirty="0"/>
              <a:t>: Provides direct access to PIT functionality.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TSR Usage</a:t>
            </a:r>
            <a:r>
              <a:rPr lang="en-US" sz="2000" dirty="0"/>
              <a:t>: Combines with PIT for interrupt-driven applications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745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74754" y="1525481"/>
            <a:ext cx="1075451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Introduction to Parallel 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Purpose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Enable computers to control external hardware.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Examples: Controlling LEDs, sending signals to printers, or other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Types of Ports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Parallel Port, Serial Port, USB, FireWire.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Focus</a:t>
            </a:r>
            <a:r>
              <a:rPr lang="en-US" sz="2000" dirty="0"/>
              <a:t>: Parallel Port (DB-25</a:t>
            </a:r>
            <a:r>
              <a:rPr lang="en-US" sz="2000" dirty="0" smtClean="0"/>
              <a:t>).</a:t>
            </a:r>
          </a:p>
          <a:p>
            <a:pPr algn="ctr"/>
            <a:r>
              <a:rPr lang="en-US" sz="2400" b="1" dirty="0"/>
              <a:t>Parallel Port Connector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Connector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DB-25</a:t>
            </a:r>
            <a:r>
              <a:rPr lang="en-US" sz="2000" dirty="0"/>
              <a:t>: A 25-pin connector.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Bidirectional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Pin Overview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Pins </a:t>
            </a:r>
            <a:r>
              <a:rPr lang="en-US" sz="2000" b="1" dirty="0"/>
              <a:t>2-9</a:t>
            </a:r>
            <a:r>
              <a:rPr lang="en-US" sz="2000" dirty="0"/>
              <a:t>: Data pins (Processor → Device).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Pin </a:t>
            </a:r>
            <a:r>
              <a:rPr lang="en-US" sz="2000" b="1" dirty="0"/>
              <a:t>10 (ACK)</a:t>
            </a:r>
            <a:r>
              <a:rPr lang="en-US" sz="2000" dirty="0"/>
              <a:t>: Acknowledges receipt of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Pins </a:t>
            </a:r>
            <a:r>
              <a:rPr lang="en-US" sz="2000" b="1" dirty="0"/>
              <a:t>18-25</a:t>
            </a:r>
            <a:r>
              <a:rPr lang="en-US" sz="2000" dirty="0"/>
              <a:t>: Ground (Electrical reference point</a:t>
            </a:r>
            <a:r>
              <a:rPr lang="en-US" sz="2000" dirty="0" smtClean="0"/>
              <a:t>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87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74754" y="1648596"/>
            <a:ext cx="10754515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Parallel Port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Processor View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Processor communicates via parallel port controller, not directly with pins.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Ports for LPT1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378</a:t>
            </a:r>
            <a:r>
              <a:rPr lang="en-US" sz="2000" dirty="0"/>
              <a:t>: Data port (sends data to pins 2-9).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37A</a:t>
            </a:r>
            <a:r>
              <a:rPr lang="en-US" sz="2000" dirty="0"/>
              <a:t>: Control port (manages IRQ and ACK signals).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Voltage Levels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1 bit</a:t>
            </a:r>
            <a:r>
              <a:rPr lang="en-US" sz="2000" dirty="0"/>
              <a:t>: 5V on corresponding pin.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0 bit</a:t>
            </a:r>
            <a:r>
              <a:rPr lang="en-US" sz="2000" dirty="0"/>
              <a:t>: 0V on corresponding pin</a:t>
            </a:r>
            <a:r>
              <a:rPr lang="en-US" sz="2000" dirty="0" smtClean="0"/>
              <a:t>.</a:t>
            </a:r>
          </a:p>
          <a:p>
            <a:pPr algn="ctr"/>
            <a:r>
              <a:rPr lang="en-US" sz="2800" b="1" dirty="0"/>
              <a:t>Control Port (37A)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Bit 4</a:t>
            </a:r>
            <a:r>
              <a:rPr lang="en-US" sz="2000" dirty="0"/>
              <a:t>: Enables </a:t>
            </a:r>
            <a:r>
              <a:rPr lang="en-US" sz="2000" b="1" dirty="0"/>
              <a:t>IRQ 7</a:t>
            </a:r>
            <a:r>
              <a:rPr lang="en-US" sz="2000" dirty="0"/>
              <a:t> triggering via </a:t>
            </a:r>
            <a:r>
              <a:rPr lang="en-US" sz="2000" b="1" dirty="0"/>
              <a:t>ACK (Pin 10)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Common Applications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Sending </a:t>
            </a:r>
            <a:r>
              <a:rPr lang="en-US" sz="2000" dirty="0" err="1"/>
              <a:t>scancodes</a:t>
            </a:r>
            <a:r>
              <a:rPr lang="en-US" sz="2000" dirty="0"/>
              <a:t> of pressed keys to external hardware (e.g., LEDs).</a:t>
            </a:r>
          </a:p>
          <a:p>
            <a:pPr lvl="1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2013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3095" y="1120655"/>
            <a:ext cx="10754515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Circuit Example: LED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Circuit Setup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 LEDs connected to data pins (Pins 2-9).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Ground pins (18-25) connected to circuit 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Functionality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LEDs light up based on the data sent to port </a:t>
            </a:r>
            <a:r>
              <a:rPr lang="en-US" b="1" dirty="0"/>
              <a:t>378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Binary data from the processor is converted to voltage </a:t>
            </a:r>
            <a:r>
              <a:rPr lang="en-US" dirty="0" smtClean="0"/>
              <a:t>signals.</a:t>
            </a:r>
            <a:endParaRPr lang="en-US" b="1" dirty="0"/>
          </a:p>
          <a:p>
            <a:pPr lvl="1"/>
            <a:r>
              <a:rPr lang="en-US" sz="2400" b="1" dirty="0" smtClean="0"/>
              <a:t>Example </a:t>
            </a:r>
            <a:r>
              <a:rPr lang="en-US" sz="2400" b="1" dirty="0"/>
              <a:t>Program: Sending </a:t>
            </a:r>
            <a:r>
              <a:rPr lang="en-US" sz="2400" b="1" dirty="0" err="1"/>
              <a:t>Scancodes</a:t>
            </a:r>
            <a:r>
              <a:rPr lang="en-US" sz="2400" b="1" dirty="0"/>
              <a:t> to </a:t>
            </a:r>
            <a:r>
              <a:rPr lang="en-US" sz="2400" b="1" dirty="0" smtClean="0"/>
              <a:t>LEDs</a:t>
            </a:r>
          </a:p>
          <a:p>
            <a:pPr lvl="1"/>
            <a:r>
              <a:rPr lang="en-US" dirty="0"/>
              <a:t>[org 0x0100]       </a:t>
            </a:r>
            <a:r>
              <a:rPr lang="en-US" dirty="0" smtClean="0"/>
              <a:t>	; </a:t>
            </a:r>
            <a:r>
              <a:rPr lang="en-US" dirty="0"/>
              <a:t>Origin for emu8086</a:t>
            </a:r>
          </a:p>
          <a:p>
            <a:pPr lvl="1"/>
            <a:r>
              <a:rPr lang="en-US" dirty="0" err="1"/>
              <a:t>jmp</a:t>
            </a:r>
            <a:r>
              <a:rPr lang="en-US" dirty="0"/>
              <a:t> start          </a:t>
            </a:r>
            <a:r>
              <a:rPr lang="en-US" dirty="0" smtClean="0"/>
              <a:t>		; </a:t>
            </a:r>
            <a:r>
              <a:rPr lang="en-US" dirty="0"/>
              <a:t>Jump to start of program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start:</a:t>
            </a:r>
          </a:p>
          <a:p>
            <a:pPr lvl="1"/>
            <a:r>
              <a:rPr lang="en-US" dirty="0"/>
              <a:t>    ; Keyboard hook setup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mov</a:t>
            </a:r>
            <a:r>
              <a:rPr lang="en-US" dirty="0"/>
              <a:t> ah, 0x09   </a:t>
            </a:r>
            <a:r>
              <a:rPr lang="en-US" dirty="0" smtClean="0"/>
              <a:t>	; </a:t>
            </a:r>
            <a:r>
              <a:rPr lang="en-US" dirty="0"/>
              <a:t>INT 09H keyboard interrupt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mov</a:t>
            </a:r>
            <a:r>
              <a:rPr lang="en-US" dirty="0"/>
              <a:t> dx, </a:t>
            </a:r>
            <a:r>
              <a:rPr lang="en-US" dirty="0" err="1"/>
              <a:t>old_int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0x21       </a:t>
            </a:r>
            <a:r>
              <a:rPr lang="en-US" dirty="0" smtClean="0"/>
              <a:t>		; </a:t>
            </a:r>
            <a:r>
              <a:rPr lang="en-US" dirty="0"/>
              <a:t>Save old interrupt </a:t>
            </a:r>
            <a:r>
              <a:rPr lang="en-US" dirty="0" smtClean="0"/>
              <a:t>vector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mov</a:t>
            </a:r>
            <a:r>
              <a:rPr lang="en-US" dirty="0"/>
              <a:t> ah, 0x25   </a:t>
            </a:r>
            <a:r>
              <a:rPr lang="en-US" dirty="0" smtClean="0"/>
              <a:t>	; </a:t>
            </a:r>
            <a:r>
              <a:rPr lang="en-US" dirty="0"/>
              <a:t>Set new interrupt vector</a:t>
            </a:r>
          </a:p>
          <a:p>
            <a:pPr lvl="1"/>
            <a:r>
              <a:rPr lang="en-US" dirty="0"/>
              <a:t>    lea dx, </a:t>
            </a:r>
            <a:r>
              <a:rPr lang="en-US" dirty="0" err="1"/>
              <a:t>new_isr</a:t>
            </a:r>
            <a:endParaRPr lang="en-US" dirty="0"/>
          </a:p>
          <a:p>
            <a:pPr lvl="1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0x21</a:t>
            </a:r>
          </a:p>
          <a:p>
            <a:pPr lvl="1"/>
            <a:endParaRPr lang="en-US" sz="600" b="1" dirty="0"/>
          </a:p>
        </p:txBody>
      </p:sp>
      <p:sp>
        <p:nvSpPr>
          <p:cNvPr id="4" name="Rectangle 3"/>
          <p:cNvSpPr/>
          <p:nvPr/>
        </p:nvSpPr>
        <p:spPr>
          <a:xfrm>
            <a:off x="6096000" y="3428979"/>
            <a:ext cx="61207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 </a:t>
            </a:r>
            <a:r>
              <a:rPr lang="en-US" dirty="0" smtClean="0"/>
              <a:t>	; </a:t>
            </a:r>
            <a:r>
              <a:rPr lang="en-US" dirty="0"/>
              <a:t>Stay resident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mov</a:t>
            </a:r>
            <a:r>
              <a:rPr lang="en-US" dirty="0"/>
              <a:t> dx, end - start + 15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shr</a:t>
            </a:r>
            <a:r>
              <a:rPr lang="en-US" dirty="0"/>
              <a:t> dx, 4      </a:t>
            </a:r>
            <a:r>
              <a:rPr lang="en-US" dirty="0" smtClean="0"/>
              <a:t>	        ; </a:t>
            </a:r>
            <a:r>
              <a:rPr lang="en-US" dirty="0"/>
              <a:t>Convert bytes to paragraphs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mov</a:t>
            </a:r>
            <a:r>
              <a:rPr lang="en-US" dirty="0"/>
              <a:t> ah, 0x31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0x21</a:t>
            </a:r>
            <a:endParaRPr lang="en-US" dirty="0"/>
          </a:p>
          <a:p>
            <a:pPr lvl="1"/>
            <a:r>
              <a:rPr lang="en-US" dirty="0" err="1"/>
              <a:t>new_isr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; Read scan code</a:t>
            </a:r>
          </a:p>
          <a:p>
            <a:pPr lvl="1"/>
            <a:r>
              <a:rPr lang="en-US" dirty="0"/>
              <a:t>    in al, 0x60      </a:t>
            </a:r>
            <a:r>
              <a:rPr lang="en-US" dirty="0" smtClean="0"/>
              <a:t>       ; </a:t>
            </a:r>
            <a:r>
              <a:rPr lang="en-US" dirty="0"/>
              <a:t>Read keyboard scan code</a:t>
            </a:r>
          </a:p>
          <a:p>
            <a:pPr lvl="1"/>
            <a:r>
              <a:rPr lang="en-US" dirty="0"/>
              <a:t>    out 0x378, al  </a:t>
            </a:r>
            <a:r>
              <a:rPr lang="en-US" dirty="0" smtClean="0"/>
              <a:t>      ; </a:t>
            </a:r>
            <a:r>
              <a:rPr lang="en-US" dirty="0"/>
              <a:t>Send to parallel port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iret</a:t>
            </a:r>
            <a:r>
              <a:rPr lang="en-US" dirty="0"/>
              <a:t>           </a:t>
            </a:r>
            <a:r>
              <a:rPr lang="en-US" dirty="0" smtClean="0"/>
              <a:t>	         ; </a:t>
            </a:r>
            <a:r>
              <a:rPr lang="en-US" dirty="0"/>
              <a:t>Return from </a:t>
            </a:r>
            <a:r>
              <a:rPr lang="en-US" dirty="0" smtClean="0"/>
              <a:t>interrupt</a:t>
            </a:r>
            <a:endParaRPr lang="en-US" dirty="0"/>
          </a:p>
          <a:p>
            <a:pPr lvl="1"/>
            <a:r>
              <a:rPr lang="en-US" dirty="0" err="1"/>
              <a:t>old_int</a:t>
            </a:r>
            <a:r>
              <a:rPr lang="en-US" dirty="0"/>
              <a:t> </a:t>
            </a:r>
            <a:r>
              <a:rPr lang="en-US" dirty="0" err="1"/>
              <a:t>dw</a:t>
            </a:r>
            <a:r>
              <a:rPr lang="en-US" dirty="0"/>
              <a:t> 0       </a:t>
            </a:r>
            <a:r>
              <a:rPr lang="en-US" dirty="0" smtClean="0"/>
              <a:t>      ; </a:t>
            </a:r>
            <a:r>
              <a:rPr lang="en-US" dirty="0"/>
              <a:t>Placeholder for original ISR </a:t>
            </a:r>
            <a:r>
              <a:rPr lang="en-US" dirty="0" smtClean="0"/>
              <a:t>address</a:t>
            </a:r>
            <a:endParaRPr lang="en-US" dirty="0"/>
          </a:p>
          <a:p>
            <a:pPr lvl="1"/>
            <a:r>
              <a:rPr lang="en-US" dirty="0"/>
              <a:t>end:</a:t>
            </a:r>
            <a:endParaRPr lang="en-US" sz="60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348549" y="3670663"/>
            <a:ext cx="13062" cy="3174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3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2730" y="1644229"/>
            <a:ext cx="1075451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Key Points to Remember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Parallel Port Pins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Pins 2-9: Data transmission.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Pin 10 (ACK): Interrupt signaling (IRQ 7).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Voltage Representation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 = 5V, 0 = 0V.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Practical Example</a:t>
            </a:r>
            <a:r>
              <a:rPr lang="en-US" sz="2400" dirty="0"/>
              <a:t>: Sending keyboard </a:t>
            </a:r>
            <a:r>
              <a:rPr lang="en-US" sz="2400" dirty="0" err="1"/>
              <a:t>scancodes</a:t>
            </a:r>
            <a:r>
              <a:rPr lang="en-US" sz="2400" dirty="0"/>
              <a:t> to LEDs</a:t>
            </a:r>
            <a:r>
              <a:rPr lang="en-US" sz="2400" dirty="0" smtClean="0"/>
              <a:t>.</a:t>
            </a:r>
          </a:p>
          <a:p>
            <a:pPr algn="ctr"/>
            <a:r>
              <a:rPr lang="en-US" sz="2400" b="1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Parallel Ports</a:t>
            </a:r>
            <a:r>
              <a:rPr lang="en-US" sz="2400" dirty="0"/>
              <a:t>: Essential for interfacing computers with external hardware.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Assembly Programming</a:t>
            </a:r>
            <a:r>
              <a:rPr lang="en-US" sz="2400" dirty="0"/>
              <a:t>: Provides direct control of data and signals.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Applications</a:t>
            </a:r>
            <a:r>
              <a:rPr lang="en-US" sz="2400" dirty="0"/>
              <a:t>: Light control, printers, custom hardware projects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65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1868</Words>
  <Application>Microsoft Office PowerPoint</Application>
  <PresentationFormat>Widescreen</PresentationFormat>
  <Paragraphs>387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Bahnschrift</vt:lpstr>
      <vt:lpstr>Calibri</vt:lpstr>
      <vt:lpstr>Calibri Light</vt:lpstr>
      <vt:lpstr>Office Theme</vt:lpstr>
      <vt:lpstr>Chapter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Muhammad Sami Aqeel</cp:lastModifiedBy>
  <cp:revision>31</cp:revision>
  <dcterms:created xsi:type="dcterms:W3CDTF">2024-06-21T09:49:54Z</dcterms:created>
  <dcterms:modified xsi:type="dcterms:W3CDTF">2024-12-10T06:41:31Z</dcterms:modified>
</cp:coreProperties>
</file>