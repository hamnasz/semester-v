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76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3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1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1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1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4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2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1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2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F472D-3897-4BA6-86DD-38BE7181BB20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7B3A5-6BEA-4489-A409-5B0C5ACE0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3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13063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1913619"/>
            <a:ext cx="94488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Chapter 4</a:t>
            </a:r>
          </a:p>
          <a:p>
            <a:endParaRPr lang="en-US" sz="4000" b="1" dirty="0" smtClean="0">
              <a:solidFill>
                <a:schemeClr val="bg1"/>
              </a:solidFill>
            </a:endParaRPr>
          </a:p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	</a:t>
            </a:r>
            <a:r>
              <a:rPr lang="en-US" sz="6600" b="1" dirty="0" smtClean="0">
                <a:solidFill>
                  <a:schemeClr val="bg1"/>
                </a:solidFill>
              </a:rPr>
              <a:t>Bit Manipulations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770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7183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Introduction to Multiplication</a:t>
            </a:r>
          </a:p>
          <a:p>
            <a:pPr algn="just"/>
            <a:r>
              <a:rPr lang="en-US" dirty="0" smtClean="0"/>
              <a:t>Decision-making capabilities are essential in processors.</a:t>
            </a:r>
          </a:p>
          <a:p>
            <a:pPr algn="just"/>
            <a:r>
              <a:rPr lang="en-US" dirty="0" smtClean="0"/>
              <a:t>Multiplication is a fundamental process we learned early on.</a:t>
            </a:r>
          </a:p>
          <a:p>
            <a:pPr algn="just"/>
            <a:r>
              <a:rPr lang="en-US" dirty="0" smtClean="0"/>
              <a:t>Commonly performed through algorithms to convey to processors.</a:t>
            </a:r>
          </a:p>
          <a:p>
            <a:endParaRPr lang="en-US" dirty="0" smtClean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374144" y="336427"/>
            <a:ext cx="58816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Multiplication Algorithm in Processors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838200" y="3714618"/>
            <a:ext cx="1051560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Familiar Multiplication Technique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Multiply by each digit of the multiplier.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Write intermediate results aligned by place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Sum the intermediate results for the final answer.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93471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795895" y="296257"/>
            <a:ext cx="46716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Binary Multiplication Example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6659" y="1380687"/>
            <a:ext cx="10208209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Multiplicand: 110111011101 (13 in decimal)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Multiplier: 010101010101 (5 in decimal)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Expected Result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010000010100000101000001 (65 in decimal)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3188" y="3703883"/>
            <a:ext cx="387531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1101</a:t>
            </a:r>
          </a:p>
          <a:p>
            <a:r>
              <a:rPr lang="en-US" dirty="0" smtClean="0"/>
              <a:t>  x 0101</a:t>
            </a:r>
          </a:p>
          <a:p>
            <a:r>
              <a:rPr lang="en-US" dirty="0" smtClean="0"/>
              <a:t>  -------</a:t>
            </a:r>
          </a:p>
          <a:p>
            <a:r>
              <a:rPr lang="en-US" dirty="0" smtClean="0"/>
              <a:t>    1101</a:t>
            </a:r>
          </a:p>
          <a:p>
            <a:r>
              <a:rPr lang="en-US" dirty="0" smtClean="0"/>
              <a:t>   0000x</a:t>
            </a:r>
          </a:p>
          <a:p>
            <a:r>
              <a:rPr lang="en-US" dirty="0" smtClean="0"/>
              <a:t>  1101xx</a:t>
            </a:r>
          </a:p>
          <a:p>
            <a:r>
              <a:rPr lang="en-US" dirty="0" smtClean="0"/>
              <a:t> 0000xxx</a:t>
            </a:r>
          </a:p>
          <a:p>
            <a:r>
              <a:rPr lang="en-US" dirty="0" smtClean="0"/>
              <a:t>  -------</a:t>
            </a:r>
          </a:p>
          <a:p>
            <a:r>
              <a:rPr lang="en-US" dirty="0" smtClean="0"/>
              <a:t> 01000001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/>
        </p:nvSpPr>
        <p:spPr>
          <a:xfrm>
            <a:off x="3164448" y="316602"/>
            <a:ext cx="6145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Steps in Binary Multiplication Algorithm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7645" y="1519722"/>
            <a:ext cx="1045670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Take the first digit of the multiplier and multiply by the multiplicand.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Place the multiplicand below the line if the digit is 1.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Shift left for each subsequent digit, adding crosses for 0s.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Sum all intermediate results.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73984" y="3612603"/>
            <a:ext cx="57360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Observations in Binary Multiplication</a:t>
            </a: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867645" y="4272841"/>
            <a:ext cx="1045670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Multiplying by 1 gives the multiplicand; by 0 gives 0.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Results shift left for each digit in the multiplier.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No actual multiplication; only addition and shifting needed.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Crosses are treated as zeros in the final addition. </a:t>
            </a:r>
          </a:p>
        </p:txBody>
      </p:sp>
    </p:spTree>
    <p:extLst>
      <p:ext uri="{BB962C8B-B14F-4D97-AF65-F5344CB8AC3E}">
        <p14:creationId xmlns:p14="http://schemas.microsoft.com/office/powerpoint/2010/main" val="171182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834982" y="296257"/>
            <a:ext cx="45545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Need for Shifting Instructions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5783" y="1519722"/>
            <a:ext cx="1021297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Essential for shifting the multiplicand.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Enables bit manipulation for efficient calculations.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Necessary for checking each bit of the multiplier. </a:t>
            </a:r>
          </a:p>
        </p:txBody>
      </p:sp>
    </p:spTree>
    <p:extLst>
      <p:ext uri="{BB962C8B-B14F-4D97-AF65-F5344CB8AC3E}">
        <p14:creationId xmlns:p14="http://schemas.microsoft.com/office/powerpoint/2010/main" val="416562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set of shifting and rotation instructions is one of the most useful set </a:t>
            </a:r>
            <a:r>
              <a:rPr lang="en-US" dirty="0" smtClean="0"/>
              <a:t>in any </a:t>
            </a:r>
            <a:r>
              <a:rPr lang="en-US" dirty="0"/>
              <a:t>processor’s instruction set. </a:t>
            </a:r>
            <a:endParaRPr lang="en-US" dirty="0" smtClean="0"/>
          </a:p>
          <a:p>
            <a:pPr algn="just"/>
            <a:r>
              <a:rPr lang="en-US" dirty="0" smtClean="0"/>
              <a:t>They </a:t>
            </a:r>
            <a:r>
              <a:rPr lang="en-US" dirty="0"/>
              <a:t>simplify really complex tasks to a </a:t>
            </a:r>
            <a:r>
              <a:rPr lang="en-US" dirty="0" smtClean="0"/>
              <a:t>very </a:t>
            </a:r>
            <a:r>
              <a:rPr lang="en-US" dirty="0"/>
              <a:t>neat and concise algorithm.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following shifting and rotation </a:t>
            </a:r>
            <a:r>
              <a:rPr lang="en-US" dirty="0" smtClean="0"/>
              <a:t>operations are </a:t>
            </a:r>
            <a:r>
              <a:rPr lang="en-US" dirty="0"/>
              <a:t>available in our processor.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4308249" y="365125"/>
            <a:ext cx="4193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Shifting and Rotations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8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7389" y="1642745"/>
            <a:ext cx="10515600" cy="4771118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shift logical right operation inserts a zero from the left and </a:t>
            </a:r>
            <a:r>
              <a:rPr lang="en-US" sz="2400" dirty="0" smtClean="0"/>
              <a:t>moves every </a:t>
            </a:r>
            <a:r>
              <a:rPr lang="en-US" sz="2400" dirty="0"/>
              <a:t>bit one position to the right and copies the rightmost bit in the </a:t>
            </a:r>
            <a:r>
              <a:rPr lang="en-US" sz="2400" dirty="0" smtClean="0"/>
              <a:t>carry flag</a:t>
            </a:r>
            <a:r>
              <a:rPr lang="en-US" sz="2400" dirty="0"/>
              <a:t>. </a:t>
            </a:r>
            <a:endParaRPr lang="en-US" sz="2400" dirty="0" smtClean="0"/>
          </a:p>
          <a:p>
            <a:pPr algn="just"/>
            <a:r>
              <a:rPr lang="en-US" sz="2400" dirty="0" smtClean="0"/>
              <a:t>Imagine </a:t>
            </a:r>
            <a:r>
              <a:rPr lang="en-US" sz="2400" dirty="0"/>
              <a:t>that there is a pipe filled to capacity with eight balls. The pipe </a:t>
            </a:r>
            <a:r>
              <a:rPr lang="en-US" sz="2400" dirty="0" smtClean="0"/>
              <a:t>is open </a:t>
            </a:r>
            <a:r>
              <a:rPr lang="en-US" sz="2400" dirty="0"/>
              <a:t>from both ends and there is a basket at the right end to hold </a:t>
            </a:r>
            <a:r>
              <a:rPr lang="en-US" sz="2400" dirty="0" smtClean="0"/>
              <a:t>anything dropping </a:t>
            </a:r>
            <a:r>
              <a:rPr lang="en-US" sz="2400" dirty="0"/>
              <a:t>from there. </a:t>
            </a:r>
            <a:endParaRPr lang="en-US" sz="2400" dirty="0" smtClean="0"/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operation of shift logical right is to force a </a:t>
            </a:r>
            <a:r>
              <a:rPr lang="en-US" sz="2400" dirty="0" smtClean="0"/>
              <a:t>white ball </a:t>
            </a:r>
            <a:r>
              <a:rPr lang="en-US" sz="2400" dirty="0"/>
              <a:t>from the left end. </a:t>
            </a:r>
            <a:endParaRPr lang="en-US" sz="2400" dirty="0" smtClean="0"/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operation is depicted in the following illustration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White balls represent zero bits while black balls represent one bits. </a:t>
            </a:r>
            <a:endParaRPr lang="en-US" sz="2400" dirty="0" smtClean="0"/>
          </a:p>
          <a:p>
            <a:pPr algn="just"/>
            <a:r>
              <a:rPr lang="en-US" sz="2400" dirty="0" smtClean="0"/>
              <a:t>Sixteen bit </a:t>
            </a:r>
            <a:r>
              <a:rPr lang="en-US" sz="2400" dirty="0"/>
              <a:t>shifting is done the same way with a pipe of double capacity.</a:t>
            </a:r>
            <a:endParaRPr lang="en-US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094604" y="350125"/>
            <a:ext cx="40937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1. Shift Logical Right (SHR)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/>
          <a:srcRect l="33669" t="58890" r="22859" b="33431"/>
          <a:stretch/>
        </p:blipFill>
        <p:spPr>
          <a:xfrm>
            <a:off x="3313369" y="4663441"/>
            <a:ext cx="5656217" cy="56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98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shift logical left operation is the exact opposite of shift logical right. </a:t>
            </a:r>
            <a:endParaRPr lang="en-US" dirty="0" smtClean="0"/>
          </a:p>
          <a:p>
            <a:pPr algn="just"/>
            <a:r>
              <a:rPr lang="en-US" dirty="0" smtClean="0"/>
              <a:t>In this </a:t>
            </a:r>
            <a:r>
              <a:rPr lang="en-US" dirty="0"/>
              <a:t>operation the zero bit is inserted from the right and every bit moves </a:t>
            </a:r>
            <a:r>
              <a:rPr lang="en-US" dirty="0" smtClean="0"/>
              <a:t>one position </a:t>
            </a:r>
            <a:r>
              <a:rPr lang="en-US" dirty="0"/>
              <a:t>to its left with the most significant bit dropping into the carry </a:t>
            </a:r>
            <a:r>
              <a:rPr lang="en-US" dirty="0" smtClean="0"/>
              <a:t>flag. </a:t>
            </a:r>
          </a:p>
          <a:p>
            <a:pPr algn="just"/>
            <a:r>
              <a:rPr lang="en-US" dirty="0" smtClean="0"/>
              <a:t>Shift </a:t>
            </a:r>
            <a:r>
              <a:rPr lang="en-US" dirty="0"/>
              <a:t>arithmetic left is just another name for shift logical left.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operation </a:t>
            </a:r>
            <a:r>
              <a:rPr lang="en-US" dirty="0" smtClean="0"/>
              <a:t>is again </a:t>
            </a:r>
            <a:r>
              <a:rPr lang="en-US" dirty="0"/>
              <a:t>exemplified with the following illustration of ball and pipes.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2710957" y="362553"/>
            <a:ext cx="6874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2. Shift Logical Left (SHL) / Shift Arithmetic Left (SAL)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/>
          <a:srcRect l="32163" t="39491" r="22859" b="51112"/>
          <a:stretch/>
        </p:blipFill>
        <p:spPr>
          <a:xfrm>
            <a:off x="3169919" y="5489570"/>
            <a:ext cx="5852161" cy="6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27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0213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A </a:t>
            </a:r>
            <a:r>
              <a:rPr lang="en-US" dirty="0"/>
              <a:t>signed number holds the sign in its most significant bit.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this bit </a:t>
            </a:r>
            <a:r>
              <a:rPr lang="en-US" dirty="0" smtClean="0"/>
              <a:t>was one </a:t>
            </a:r>
            <a:r>
              <a:rPr lang="en-US" dirty="0"/>
              <a:t>a logical right shifting will change the sign of this number because </a:t>
            </a:r>
            <a:r>
              <a:rPr lang="en-US" dirty="0" smtClean="0"/>
              <a:t>of insertion </a:t>
            </a:r>
            <a:r>
              <a:rPr lang="en-US" dirty="0"/>
              <a:t>of a zero from the left.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sign of a signed number should </a:t>
            </a:r>
            <a:r>
              <a:rPr lang="en-US" dirty="0" smtClean="0"/>
              <a:t>not change </a:t>
            </a:r>
            <a:r>
              <a:rPr lang="en-US" dirty="0"/>
              <a:t>because of </a:t>
            </a:r>
            <a:r>
              <a:rPr lang="en-US" dirty="0" smtClean="0"/>
              <a:t>shifting. 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operation of shift arithmetic right is therefore to shift every bit </a:t>
            </a:r>
            <a:r>
              <a:rPr lang="en-US" dirty="0" smtClean="0"/>
              <a:t>one place </a:t>
            </a:r>
            <a:r>
              <a:rPr lang="en-US" dirty="0"/>
              <a:t>to the right with a copy of the most significant bit left at the </a:t>
            </a:r>
            <a:r>
              <a:rPr lang="en-US" dirty="0" smtClean="0"/>
              <a:t>most significant </a:t>
            </a:r>
            <a:r>
              <a:rPr lang="en-US" dirty="0"/>
              <a:t>place.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bit dropped from the right is caught in the </a:t>
            </a:r>
            <a:r>
              <a:rPr lang="en-US" dirty="0" smtClean="0"/>
              <a:t>carry basket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sign bit is retained in this operation.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operation is </a:t>
            </a:r>
            <a:r>
              <a:rPr lang="en-US" dirty="0" smtClean="0"/>
              <a:t>further illustrated </a:t>
            </a:r>
            <a:r>
              <a:rPr lang="en-US" dirty="0"/>
              <a:t>below.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951278" y="360616"/>
            <a:ext cx="46501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3. Shift Arithmetic Right (SAR)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/>
          <a:srcRect l="36981" t="43798" r="22559" b="42411"/>
          <a:stretch/>
        </p:blipFill>
        <p:spPr>
          <a:xfrm>
            <a:off x="3644171" y="5781114"/>
            <a:ext cx="5264331" cy="100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44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left shifting operation is basically multiplication by 2 while the </a:t>
            </a:r>
            <a:r>
              <a:rPr lang="en-US" dirty="0" smtClean="0"/>
              <a:t>right shifting </a:t>
            </a:r>
            <a:r>
              <a:rPr lang="en-US" dirty="0"/>
              <a:t>operation is division by two. </a:t>
            </a:r>
            <a:endParaRPr lang="en-US" dirty="0" smtClean="0"/>
          </a:p>
          <a:p>
            <a:pPr algn="just"/>
            <a:r>
              <a:rPr lang="en-US" dirty="0" smtClean="0"/>
              <a:t>However </a:t>
            </a:r>
            <a:r>
              <a:rPr lang="en-US" dirty="0"/>
              <a:t>for signed numbers division </a:t>
            </a:r>
            <a:r>
              <a:rPr lang="en-US" dirty="0" smtClean="0"/>
              <a:t>by two </a:t>
            </a:r>
            <a:r>
              <a:rPr lang="en-US" dirty="0"/>
              <a:t>can be accomplished by using shift arithmetic right and not shift </a:t>
            </a:r>
            <a:r>
              <a:rPr lang="en-US" dirty="0" smtClean="0"/>
              <a:t>logical right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left shift operation is equivalent to multiplication except when </a:t>
            </a:r>
            <a:r>
              <a:rPr lang="en-US" dirty="0" smtClean="0"/>
              <a:t>an important </a:t>
            </a:r>
            <a:r>
              <a:rPr lang="en-US" dirty="0"/>
              <a:t>bit is dropped from the left.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overflow flag will signal </a:t>
            </a:r>
            <a:r>
              <a:rPr lang="en-US" dirty="0" smtClean="0"/>
              <a:t>this condition </a:t>
            </a:r>
            <a:r>
              <a:rPr lang="en-US" dirty="0"/>
              <a:t>if it occurs and can be checked with JO. </a:t>
            </a:r>
            <a:endParaRPr lang="en-US" dirty="0" smtClean="0"/>
          </a:p>
          <a:p>
            <a:pPr algn="just"/>
            <a:r>
              <a:rPr lang="en-US" dirty="0" smtClean="0"/>
              <a:t>For </a:t>
            </a:r>
            <a:r>
              <a:rPr lang="en-US" dirty="0"/>
              <a:t>division by 2 of </a:t>
            </a:r>
            <a:r>
              <a:rPr lang="en-US" dirty="0" smtClean="0"/>
              <a:t>a signed </a:t>
            </a:r>
            <a:r>
              <a:rPr lang="en-US" dirty="0"/>
              <a:t>number logical right shifting will give a wrong answer for a </a:t>
            </a:r>
            <a:r>
              <a:rPr lang="en-US" dirty="0" smtClean="0"/>
              <a:t>negative number </a:t>
            </a:r>
            <a:r>
              <a:rPr lang="en-US" dirty="0"/>
              <a:t>as the zero inserted from the left will change its sign. </a:t>
            </a:r>
            <a:endParaRPr lang="en-US" dirty="0" smtClean="0"/>
          </a:p>
          <a:p>
            <a:pPr algn="just"/>
            <a:r>
              <a:rPr lang="en-US" dirty="0" smtClean="0"/>
              <a:t>To </a:t>
            </a:r>
            <a:r>
              <a:rPr lang="en-US" dirty="0"/>
              <a:t>retain </a:t>
            </a:r>
            <a:r>
              <a:rPr lang="en-US" dirty="0" smtClean="0"/>
              <a:t>the sign </a:t>
            </a:r>
            <a:r>
              <a:rPr lang="en-US" dirty="0"/>
              <a:t>flag and still effectively divide by two the shift arithmetic </a:t>
            </a:r>
            <a:r>
              <a:rPr lang="en-US" dirty="0" smtClean="0"/>
              <a:t>right instruction </a:t>
            </a:r>
            <a:r>
              <a:rPr lang="en-US" dirty="0"/>
              <a:t>must be used on signed numbers.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2928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0213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In </a:t>
            </a:r>
            <a:r>
              <a:rPr lang="en-US" dirty="0"/>
              <a:t>the rotate right operation every bit moves one position to the right </a:t>
            </a:r>
            <a:r>
              <a:rPr lang="en-US" dirty="0" smtClean="0"/>
              <a:t>and the </a:t>
            </a:r>
            <a:r>
              <a:rPr lang="en-US" dirty="0"/>
              <a:t>bit dropped from the right is inserted at the left.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bit is also </a:t>
            </a:r>
            <a:r>
              <a:rPr lang="en-US" dirty="0" smtClean="0"/>
              <a:t>copied into </a:t>
            </a:r>
            <a:r>
              <a:rPr lang="en-US" dirty="0"/>
              <a:t>the carry flag.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operation can be understood by imagining that </a:t>
            </a:r>
            <a:r>
              <a:rPr lang="en-US" dirty="0" smtClean="0"/>
              <a:t>the pipe </a:t>
            </a:r>
            <a:r>
              <a:rPr lang="en-US" dirty="0"/>
              <a:t>used for shifting has been molded such that both ends coincide. </a:t>
            </a:r>
            <a:endParaRPr lang="en-US" dirty="0" smtClean="0"/>
          </a:p>
          <a:p>
            <a:pPr algn="just"/>
            <a:r>
              <a:rPr lang="en-US" dirty="0" smtClean="0"/>
              <a:t>Now when </a:t>
            </a:r>
            <a:r>
              <a:rPr lang="en-US" dirty="0"/>
              <a:t>the first ball is forced to move forward, every ball moves one </a:t>
            </a:r>
            <a:r>
              <a:rPr lang="en-US" dirty="0" smtClean="0"/>
              <a:t>step forward </a:t>
            </a:r>
            <a:r>
              <a:rPr lang="en-US" dirty="0"/>
              <a:t>with the last ball entering the pipe from its other end occupying </a:t>
            </a:r>
            <a:r>
              <a:rPr lang="en-US" dirty="0" smtClean="0"/>
              <a:t>the first </a:t>
            </a:r>
            <a:r>
              <a:rPr lang="en-US" dirty="0"/>
              <a:t>ball’s old position.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carry basket takes a snapshot of this ball </a:t>
            </a:r>
            <a:r>
              <a:rPr lang="en-US" dirty="0" smtClean="0"/>
              <a:t>leaving one </a:t>
            </a:r>
            <a:r>
              <a:rPr lang="en-US" dirty="0"/>
              <a:t>end of the pipe and entering from the other.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592484" y="360616"/>
            <a:ext cx="33358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1. Rotate Right (ROR)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/>
          <a:srcRect l="28949" t="51115" r="30490" b="36417"/>
          <a:stretch/>
        </p:blipFill>
        <p:spPr>
          <a:xfrm>
            <a:off x="3457302" y="5697772"/>
            <a:ext cx="5277396" cy="91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59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 </a:t>
            </a:r>
            <a:r>
              <a:rPr lang="en-US" dirty="0"/>
              <a:t>the operation of rotate left instruction, the most significant bit is </a:t>
            </a:r>
            <a:r>
              <a:rPr lang="en-US" dirty="0" smtClean="0"/>
              <a:t>copied to </a:t>
            </a:r>
            <a:r>
              <a:rPr lang="en-US" dirty="0"/>
              <a:t>the carry flag and is inserted from the right, causing every bit to move </a:t>
            </a:r>
            <a:r>
              <a:rPr lang="en-US" dirty="0" smtClean="0"/>
              <a:t>one position </a:t>
            </a:r>
            <a:r>
              <a:rPr lang="en-US" dirty="0"/>
              <a:t>to the left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</a:t>
            </a:r>
            <a:r>
              <a:rPr lang="en-US" dirty="0"/>
              <a:t>It is the reverse of the rotate right instruction. </a:t>
            </a:r>
            <a:endParaRPr lang="en-US" dirty="0" smtClean="0"/>
          </a:p>
          <a:p>
            <a:pPr algn="just"/>
            <a:r>
              <a:rPr lang="en-US" dirty="0" smtClean="0"/>
              <a:t>Rotation can </a:t>
            </a:r>
            <a:r>
              <a:rPr lang="en-US" dirty="0"/>
              <a:t>be of eight or sixteen bits.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following illustration will make </a:t>
            </a:r>
            <a:r>
              <a:rPr lang="en-US" dirty="0" smtClean="0"/>
              <a:t>the concept </a:t>
            </a:r>
            <a:r>
              <a:rPr lang="en-US" dirty="0"/>
              <a:t>clear using the same pipe and balls example.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735499" y="360616"/>
            <a:ext cx="3081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2. Rotate Left (ROL)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/>
          <a:srcRect l="25235" t="44196" r="33903" b="42626"/>
          <a:stretch/>
        </p:blipFill>
        <p:spPr>
          <a:xfrm>
            <a:off x="3437709" y="5212940"/>
            <a:ext cx="5316582" cy="96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4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0546" y="153021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In </a:t>
            </a:r>
            <a:r>
              <a:rPr lang="en-US" dirty="0"/>
              <a:t>the rotate through carry right instruction, the carry flag is inserted </a:t>
            </a:r>
            <a:r>
              <a:rPr lang="en-US" dirty="0" smtClean="0"/>
              <a:t>from the </a:t>
            </a:r>
            <a:r>
              <a:rPr lang="en-US" dirty="0"/>
              <a:t>left, every bit moves one position to the right, and the right most bit </a:t>
            </a:r>
            <a:r>
              <a:rPr lang="en-US" dirty="0" smtClean="0"/>
              <a:t>is dropped </a:t>
            </a:r>
            <a:r>
              <a:rPr lang="en-US" dirty="0"/>
              <a:t>in the carry flag. </a:t>
            </a:r>
            <a:endParaRPr lang="en-US" dirty="0" smtClean="0"/>
          </a:p>
          <a:p>
            <a:pPr algn="just"/>
            <a:r>
              <a:rPr lang="en-US" dirty="0" smtClean="0"/>
              <a:t>Effectively </a:t>
            </a:r>
            <a:r>
              <a:rPr lang="en-US" dirty="0"/>
              <a:t>this is a nine bit or a seventeen </a:t>
            </a:r>
            <a:r>
              <a:rPr lang="en-US" dirty="0" smtClean="0"/>
              <a:t>bit rotation </a:t>
            </a:r>
            <a:r>
              <a:rPr lang="en-US" dirty="0"/>
              <a:t>instead of the eight or sixteen bit rotation as in the case of </a:t>
            </a:r>
            <a:r>
              <a:rPr lang="en-US" dirty="0" smtClean="0"/>
              <a:t>simple rotations. </a:t>
            </a:r>
          </a:p>
          <a:p>
            <a:pPr algn="just"/>
            <a:r>
              <a:rPr lang="en-US" dirty="0" smtClean="0"/>
              <a:t>Imagine </a:t>
            </a:r>
            <a:r>
              <a:rPr lang="en-US" dirty="0"/>
              <a:t>the circular molded pipe as used in the simple rotations but </a:t>
            </a:r>
            <a:r>
              <a:rPr lang="en-US" dirty="0" smtClean="0"/>
              <a:t>this time </a:t>
            </a:r>
            <a:r>
              <a:rPr lang="en-US" dirty="0"/>
              <a:t>the carry position is part of the circle between the two ends of the </a:t>
            </a:r>
            <a:r>
              <a:rPr lang="en-US" dirty="0" smtClean="0"/>
              <a:t>pipe. </a:t>
            </a:r>
          </a:p>
          <a:p>
            <a:pPr algn="just"/>
            <a:r>
              <a:rPr lang="en-US" dirty="0" smtClean="0"/>
              <a:t>Pushing </a:t>
            </a:r>
            <a:r>
              <a:rPr lang="en-US" dirty="0"/>
              <a:t>the carry ball from the left causes every ball to move one step to </a:t>
            </a:r>
            <a:r>
              <a:rPr lang="en-US" dirty="0" smtClean="0"/>
              <a:t>its right </a:t>
            </a:r>
            <a:r>
              <a:rPr lang="en-US" dirty="0"/>
              <a:t>and the right most bit occupying the carry place.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idea is </a:t>
            </a:r>
            <a:r>
              <a:rPr lang="en-US" dirty="0" smtClean="0"/>
              <a:t>further illustrated </a:t>
            </a:r>
            <a:r>
              <a:rPr lang="en-US" dirty="0"/>
              <a:t>below.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352588" y="311459"/>
            <a:ext cx="54868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3. Rotate Through Carry Right (RCR)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/>
          <a:srcRect l="28649" t="54155" r="30991" b="32127"/>
          <a:stretch/>
        </p:blipFill>
        <p:spPr>
          <a:xfrm>
            <a:off x="3470364" y="5632458"/>
            <a:ext cx="5251269" cy="100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23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exact opposite of rotate through carry right instruction is the </a:t>
            </a:r>
            <a:r>
              <a:rPr lang="en-US" dirty="0" smtClean="0"/>
              <a:t>rotate through </a:t>
            </a:r>
            <a:r>
              <a:rPr lang="en-US" dirty="0"/>
              <a:t>carry left instruction.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its operation the carry flag is inserted </a:t>
            </a:r>
            <a:r>
              <a:rPr lang="en-US" dirty="0" smtClean="0"/>
              <a:t>from the </a:t>
            </a:r>
            <a:r>
              <a:rPr lang="en-US" dirty="0"/>
              <a:t>right causing every bit to move one location to its left and the </a:t>
            </a:r>
            <a:r>
              <a:rPr lang="en-US" dirty="0" smtClean="0"/>
              <a:t>most significant </a:t>
            </a:r>
            <a:r>
              <a:rPr lang="en-US" dirty="0"/>
              <a:t>bit occupying the carry flag.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concept is illustrated below </a:t>
            </a:r>
            <a:r>
              <a:rPr lang="en-US" dirty="0" smtClean="0"/>
              <a:t>in the </a:t>
            </a:r>
            <a:r>
              <a:rPr lang="en-US" dirty="0"/>
              <a:t>same manner as in the last example.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480776" y="360616"/>
            <a:ext cx="52326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4. Rotate Through Carry Left (RCL)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/>
          <a:srcRect l="25136" t="60676" r="34103" b="28074"/>
          <a:stretch/>
        </p:blipFill>
        <p:spPr>
          <a:xfrm>
            <a:off x="3444239" y="5094514"/>
            <a:ext cx="5303521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40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2992330" y="375601"/>
            <a:ext cx="62073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Multiplication Algorithm in Assembly Language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62730" y="1822949"/>
            <a:ext cx="10597453" cy="4541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algorithm simplifies traditional multiplication.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Accumulates results to avoid storing intermediate answers.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 used: Multiplication of binary numbers 1101 (13) and 0101 (5). </a:t>
            </a:r>
          </a:p>
          <a:p>
            <a:pPr marL="0" indent="0">
              <a:buNone/>
            </a:pPr>
            <a:r>
              <a:rPr lang="en-US" sz="1600" dirty="0" smtClean="0"/>
              <a:t>				1101 </a:t>
            </a:r>
            <a:r>
              <a:rPr lang="en-US" sz="1600" dirty="0"/>
              <a:t>= 13 </a:t>
            </a:r>
            <a:r>
              <a:rPr lang="en-US" sz="1600" dirty="0" smtClean="0"/>
              <a:t>		Accumulated </a:t>
            </a:r>
            <a:r>
              <a:rPr lang="en-US" sz="1600" dirty="0"/>
              <a:t>Result</a:t>
            </a:r>
          </a:p>
          <a:p>
            <a:pPr marL="0" indent="0">
              <a:buNone/>
            </a:pPr>
            <a:r>
              <a:rPr lang="en-US" sz="1600" dirty="0" smtClean="0"/>
              <a:t>				0101 </a:t>
            </a:r>
            <a:r>
              <a:rPr lang="en-US" sz="1600" dirty="0"/>
              <a:t>= 5</a:t>
            </a:r>
          </a:p>
          <a:p>
            <a:pPr marL="0" indent="0">
              <a:buNone/>
            </a:pPr>
            <a:r>
              <a:rPr lang="en-US" sz="1600" dirty="0" smtClean="0"/>
              <a:t>				----- 			0 </a:t>
            </a:r>
            <a:r>
              <a:rPr lang="en-US" sz="1600" dirty="0"/>
              <a:t>(Initial Value)</a:t>
            </a:r>
          </a:p>
          <a:p>
            <a:pPr marL="0" indent="0">
              <a:buNone/>
            </a:pPr>
            <a:r>
              <a:rPr lang="en-US" sz="1600" dirty="0" smtClean="0"/>
              <a:t>				1101 </a:t>
            </a:r>
            <a:r>
              <a:rPr lang="en-US" sz="1600" dirty="0"/>
              <a:t>= 13 </a:t>
            </a:r>
            <a:r>
              <a:rPr lang="en-US" sz="1600" dirty="0" smtClean="0"/>
              <a:t>		0 </a:t>
            </a:r>
            <a:r>
              <a:rPr lang="en-US" sz="1600" dirty="0"/>
              <a:t>+ 13 = 13</a:t>
            </a:r>
          </a:p>
          <a:p>
            <a:pPr marL="0" indent="0">
              <a:buNone/>
            </a:pPr>
            <a:r>
              <a:rPr lang="en-US" sz="1600" dirty="0" smtClean="0"/>
              <a:t>				0000x </a:t>
            </a:r>
            <a:r>
              <a:rPr lang="en-US" sz="1600" dirty="0"/>
              <a:t>= 0 </a:t>
            </a:r>
            <a:r>
              <a:rPr lang="en-US" sz="1600" dirty="0" smtClean="0"/>
              <a:t>		13 </a:t>
            </a:r>
            <a:r>
              <a:rPr lang="en-US" sz="1600" dirty="0"/>
              <a:t>+ 0 = 13</a:t>
            </a:r>
          </a:p>
          <a:p>
            <a:pPr marL="0" indent="0">
              <a:buNone/>
            </a:pPr>
            <a:r>
              <a:rPr lang="en-US" sz="1600" dirty="0" smtClean="0"/>
              <a:t>				1101xx </a:t>
            </a:r>
            <a:r>
              <a:rPr lang="en-US" sz="1600" dirty="0"/>
              <a:t>= 52 </a:t>
            </a:r>
            <a:r>
              <a:rPr lang="en-US" sz="1600" dirty="0" smtClean="0"/>
              <a:t>	13 </a:t>
            </a:r>
            <a:r>
              <a:rPr lang="en-US" sz="1600" dirty="0"/>
              <a:t>+ 52 = 65</a:t>
            </a:r>
          </a:p>
          <a:p>
            <a:pPr marL="0" indent="0">
              <a:buNone/>
            </a:pPr>
            <a:r>
              <a:rPr lang="en-US" sz="1600" dirty="0" smtClean="0"/>
              <a:t>				0000xxx </a:t>
            </a:r>
            <a:r>
              <a:rPr lang="en-US" sz="1600" dirty="0"/>
              <a:t>= 0 </a:t>
            </a:r>
            <a:r>
              <a:rPr lang="en-US" sz="1600" dirty="0" smtClean="0"/>
              <a:t>	65 </a:t>
            </a:r>
            <a:r>
              <a:rPr lang="en-US" sz="1600" dirty="0"/>
              <a:t>+ 0 = 65 (Answer)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18941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Accumulated Result</a:t>
            </a:r>
            <a:endParaRPr lang="en-US" dirty="0" smtClean="0"/>
          </a:p>
          <a:p>
            <a:r>
              <a:rPr lang="en-US" dirty="0" smtClean="0"/>
              <a:t>Initialize result to zero.</a:t>
            </a:r>
          </a:p>
          <a:p>
            <a:r>
              <a:rPr lang="en-US" dirty="0" smtClean="0"/>
              <a:t>Check the rightmost bit of the multiplier:</a:t>
            </a:r>
          </a:p>
          <a:p>
            <a:pPr lvl="1"/>
            <a:r>
              <a:rPr lang="en-US" dirty="0" smtClean="0"/>
              <a:t>If 1, add multiplicand to result.</a:t>
            </a:r>
          </a:p>
          <a:p>
            <a:pPr lvl="1"/>
            <a:r>
              <a:rPr lang="en-US" dirty="0" smtClean="0"/>
              <a:t>If 0, perform no addition.</a:t>
            </a:r>
          </a:p>
          <a:p>
            <a:r>
              <a:rPr lang="en-US" dirty="0" smtClean="0"/>
              <a:t>Always left shift the multiplicand.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629715" y="360616"/>
            <a:ext cx="49325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Modified Multiplication Process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316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Steps of the Algorithm</a:t>
            </a:r>
            <a:endParaRPr lang="en-US" dirty="0" smtClean="0"/>
          </a:p>
          <a:p>
            <a:pPr algn="just"/>
            <a:r>
              <a:rPr lang="en-US" dirty="0" smtClean="0"/>
              <a:t>Shift the multiplier to the right.</a:t>
            </a:r>
          </a:p>
          <a:p>
            <a:pPr algn="just"/>
            <a:r>
              <a:rPr lang="en-US" dirty="0" smtClean="0"/>
              <a:t>If Carry Flag (CF) = 1, add the multiplicand to the result.</a:t>
            </a:r>
          </a:p>
          <a:p>
            <a:pPr algn="just"/>
            <a:r>
              <a:rPr lang="en-US" dirty="0" smtClean="0"/>
              <a:t>Shift the multiplicand to the left.</a:t>
            </a:r>
          </a:p>
          <a:p>
            <a:pPr algn="just"/>
            <a:r>
              <a:rPr lang="en-US" dirty="0" smtClean="0"/>
              <a:t>Repeat for as many bits as there are in the multiplier.</a:t>
            </a:r>
          </a:p>
          <a:p>
            <a:pPr algn="just"/>
            <a:r>
              <a:rPr lang="en-US" b="1" dirty="0" smtClean="0"/>
              <a:t>Note</a:t>
            </a:r>
            <a:r>
              <a:rPr lang="en-US" dirty="0" smtClean="0"/>
              <a:t>: For 8-bit multiplication, repeat 8 times; for 16-bit, repeat 16 times.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586679" y="260617"/>
            <a:ext cx="29003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Algorithm Steps</a:t>
            </a:r>
            <a:endParaRPr lang="en-US" sz="32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746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Importance of Shifting</a:t>
            </a:r>
            <a:endParaRPr lang="en-US" dirty="0" smtClean="0"/>
          </a:p>
          <a:p>
            <a:pPr algn="just"/>
            <a:r>
              <a:rPr lang="en-US" dirty="0" smtClean="0"/>
              <a:t>Right shifting forces the rightmost bit to drop into the carry flag.</a:t>
            </a:r>
          </a:p>
          <a:p>
            <a:pPr algn="just"/>
            <a:r>
              <a:rPr lang="en-US" dirty="0" smtClean="0"/>
              <a:t>Use JC instruction to check the carry flag (rightmost bit).</a:t>
            </a:r>
          </a:p>
          <a:p>
            <a:pPr algn="just"/>
            <a:r>
              <a:rPr lang="en-US" dirty="0" smtClean="0"/>
              <a:t>Left shifting the multiplicand prepares it for the next bit position.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979174" y="384817"/>
            <a:ext cx="41842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Role of Shifting Operations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8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730" y="882019"/>
            <a:ext cx="8755591" cy="59759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 smtClean="0"/>
              <a:t>[org 0x100]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jmp</a:t>
            </a:r>
            <a:r>
              <a:rPr lang="en-US" sz="1200" dirty="0" smtClean="0"/>
              <a:t> 	start</a:t>
            </a:r>
          </a:p>
          <a:p>
            <a:pPr marL="0" indent="0">
              <a:buNone/>
            </a:pPr>
            <a:r>
              <a:rPr lang="en-US" sz="1200" dirty="0" smtClean="0"/>
              <a:t>multiplicand: 		</a:t>
            </a:r>
            <a:r>
              <a:rPr lang="en-US" sz="1200" dirty="0" err="1" smtClean="0"/>
              <a:t>db</a:t>
            </a:r>
            <a:r>
              <a:rPr lang="en-US" sz="1200" dirty="0" smtClean="0"/>
              <a:t> 	13 			; 4bit multiplicand</a:t>
            </a:r>
          </a:p>
          <a:p>
            <a:pPr marL="0" indent="0">
              <a:buNone/>
            </a:pPr>
            <a:r>
              <a:rPr lang="en-US" sz="1200" dirty="0" smtClean="0"/>
              <a:t>multiplier: 		</a:t>
            </a:r>
            <a:r>
              <a:rPr lang="en-US" sz="1200" dirty="0" err="1" smtClean="0"/>
              <a:t>db</a:t>
            </a:r>
            <a:r>
              <a:rPr lang="en-US" sz="1200" dirty="0" smtClean="0"/>
              <a:t> 	5 			; 4bit multiplier</a:t>
            </a:r>
          </a:p>
          <a:p>
            <a:pPr marL="0" indent="0">
              <a:buNone/>
            </a:pPr>
            <a:r>
              <a:rPr lang="en-US" sz="1200" dirty="0" smtClean="0"/>
              <a:t>result: 		</a:t>
            </a:r>
            <a:r>
              <a:rPr lang="en-US" sz="1200" dirty="0" err="1" smtClean="0"/>
              <a:t>db</a:t>
            </a:r>
            <a:r>
              <a:rPr lang="en-US" sz="1200" dirty="0" smtClean="0"/>
              <a:t> 	0 			; 8bit result</a:t>
            </a:r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/>
              <a:t>start: 		</a:t>
            </a:r>
            <a:r>
              <a:rPr lang="en-US" sz="1200" dirty="0" err="1" smtClean="0"/>
              <a:t>mov</a:t>
            </a:r>
            <a:r>
              <a:rPr lang="en-US" sz="1200" dirty="0" smtClean="0"/>
              <a:t> 	cl, 4 			; initialize bit count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mov</a:t>
            </a:r>
            <a:r>
              <a:rPr lang="en-US" sz="1200" dirty="0" smtClean="0"/>
              <a:t> 	</a:t>
            </a:r>
            <a:r>
              <a:rPr lang="en-US" sz="1200" dirty="0" err="1" smtClean="0"/>
              <a:t>bl</a:t>
            </a:r>
            <a:r>
              <a:rPr lang="en-US" sz="1200" dirty="0" smtClean="0"/>
              <a:t>, [multiplicand] 		; load multiplicand in </a:t>
            </a:r>
            <a:r>
              <a:rPr lang="en-US" sz="1200" dirty="0" err="1" smtClean="0"/>
              <a:t>bl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mov</a:t>
            </a:r>
            <a:r>
              <a:rPr lang="en-US" sz="1200" dirty="0" smtClean="0"/>
              <a:t> 	dl, [multiplier] 		; load multiplier in dl</a:t>
            </a:r>
          </a:p>
          <a:p>
            <a:pPr marL="0" indent="0">
              <a:buNone/>
            </a:pPr>
            <a:r>
              <a:rPr lang="en-US" sz="1200" dirty="0" err="1" smtClean="0"/>
              <a:t>checkbit</a:t>
            </a:r>
            <a:r>
              <a:rPr lang="en-US" sz="1200" dirty="0" smtClean="0"/>
              <a:t>:   		</a:t>
            </a:r>
            <a:r>
              <a:rPr lang="en-US" sz="1200" dirty="0" err="1" smtClean="0"/>
              <a:t>shr</a:t>
            </a:r>
            <a:r>
              <a:rPr lang="en-US" sz="1200" dirty="0" smtClean="0"/>
              <a:t> 	dl, 1 			; move rightmost bit to carry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jnc</a:t>
            </a:r>
            <a:r>
              <a:rPr lang="en-US" sz="1200" dirty="0" smtClean="0"/>
              <a:t> 	skip			; skip addition if bit is zero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/>
              <a:t>	</a:t>
            </a:r>
            <a:r>
              <a:rPr lang="en-US" sz="1200" dirty="0" smtClean="0"/>
              <a:t>add 	[result], </a:t>
            </a:r>
            <a:r>
              <a:rPr lang="en-US" sz="1200" dirty="0" err="1" smtClean="0"/>
              <a:t>bl</a:t>
            </a:r>
            <a:r>
              <a:rPr lang="en-US" sz="1200" dirty="0" smtClean="0"/>
              <a:t> 			; accumulate result</a:t>
            </a:r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/>
              <a:t>skip: 		</a:t>
            </a:r>
            <a:r>
              <a:rPr lang="en-US" sz="1200" dirty="0" err="1" smtClean="0"/>
              <a:t>shl</a:t>
            </a:r>
            <a:r>
              <a:rPr lang="en-US" sz="1200" dirty="0" smtClean="0"/>
              <a:t> 	</a:t>
            </a:r>
            <a:r>
              <a:rPr lang="en-US" sz="1200" dirty="0" err="1" smtClean="0"/>
              <a:t>bl</a:t>
            </a:r>
            <a:r>
              <a:rPr lang="en-US" sz="1200" dirty="0" smtClean="0"/>
              <a:t>, 1 			; shift multiplicand left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dec</a:t>
            </a:r>
            <a:r>
              <a:rPr lang="en-US" sz="1200" dirty="0" smtClean="0"/>
              <a:t> 	cl 			; decrement bit count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jnz</a:t>
            </a:r>
            <a:r>
              <a:rPr lang="en-US" sz="1200" dirty="0" smtClean="0"/>
              <a:t> 	</a:t>
            </a:r>
            <a:r>
              <a:rPr lang="en-US" sz="1200" dirty="0" err="1" smtClean="0"/>
              <a:t>checkbit</a:t>
            </a:r>
            <a:r>
              <a:rPr lang="en-US" sz="1200" dirty="0" smtClean="0"/>
              <a:t> 			; repeat if bits left</a:t>
            </a:r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mov</a:t>
            </a:r>
            <a:r>
              <a:rPr lang="en-US" sz="1200" dirty="0" smtClean="0"/>
              <a:t> 	ax, 0x4c00 			; terminate program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int</a:t>
            </a:r>
            <a:r>
              <a:rPr lang="en-US" sz="1200" dirty="0" smtClean="0"/>
              <a:t> 0x21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871529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116852" y="184645"/>
            <a:ext cx="5920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Assembly Code for 4-bit Multiplication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52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Understanding SHR and SHL</a:t>
            </a:r>
            <a:endParaRPr lang="en-US" dirty="0" smtClean="0"/>
          </a:p>
          <a:p>
            <a:pPr algn="just"/>
            <a:r>
              <a:rPr lang="en-US" b="1" dirty="0" smtClean="0"/>
              <a:t>SHR (Shift Logical Right)</a:t>
            </a:r>
            <a:r>
              <a:rPr lang="en-US" dirty="0" smtClean="0"/>
              <a:t>: Divides operand by 2; remainder in carry flag.</a:t>
            </a:r>
          </a:p>
          <a:p>
            <a:pPr algn="just"/>
            <a:r>
              <a:rPr lang="en-US" b="1" dirty="0" smtClean="0"/>
              <a:t>SHL (Shift Logical Left)</a:t>
            </a:r>
            <a:r>
              <a:rPr lang="en-US" dirty="0" smtClean="0"/>
              <a:t>: Multiplies operand by 2; shifts result to the left.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125718" y="322172"/>
            <a:ext cx="39028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SHR and SHL Instructions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270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166448" y="346173"/>
            <a:ext cx="58591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Extended Operations in Multiplication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399" y="1453635"/>
            <a:ext cx="9977846" cy="482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Introduction to Extended Operations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Initial focus on 4-bit multiplication for simplicity.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Real advantage lies in multiplying larger numbers.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Assembly language offers basic building blocks for complex operations.</a:t>
            </a:r>
          </a:p>
          <a:p>
            <a:pPr marL="0" indent="0" algn="ctr">
              <a:buNone/>
            </a:pPr>
            <a:r>
              <a:rPr lang="en-US" b="1" dirty="0" smtClean="0"/>
              <a:t>Expanding Multiplication to Larger Bit Sizes</a:t>
            </a:r>
          </a:p>
          <a:p>
            <a:pPr marL="0" indent="0" algn="ctr">
              <a:buNone/>
            </a:pPr>
            <a:r>
              <a:rPr lang="en-US" b="1" dirty="0" smtClean="0"/>
              <a:t>Multiplying Larger Numbers</a:t>
            </a:r>
            <a:endParaRPr lang="en-US" dirty="0" smtClean="0"/>
          </a:p>
          <a:p>
            <a:pPr algn="just"/>
            <a:r>
              <a:rPr lang="en-US" dirty="0" smtClean="0"/>
              <a:t>Can extend multiplication to 16-bit or larger numbers.</a:t>
            </a:r>
          </a:p>
          <a:p>
            <a:pPr algn="just"/>
            <a:r>
              <a:rPr lang="en-US" dirty="0" smtClean="0"/>
              <a:t>Aim: Multiply 16-bit numbers to produce a 32-bit result.</a:t>
            </a:r>
          </a:p>
          <a:p>
            <a:pPr algn="just"/>
            <a:r>
              <a:rPr lang="en-US" dirty="0" smtClean="0"/>
              <a:t>Need for 32-bit shifting and addition operations.</a:t>
            </a:r>
          </a:p>
        </p:txBody>
      </p:sp>
    </p:spTree>
    <p:extLst>
      <p:ext uri="{BB962C8B-B14F-4D97-AF65-F5344CB8AC3E}">
        <p14:creationId xmlns:p14="http://schemas.microsoft.com/office/powerpoint/2010/main" val="313062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Why 32-bit Operations?</a:t>
            </a:r>
            <a:endParaRPr lang="en-US" dirty="0" smtClean="0"/>
          </a:p>
          <a:p>
            <a:pPr algn="just"/>
            <a:r>
              <a:rPr lang="en-US" dirty="0" smtClean="0"/>
              <a:t>Shifting 16-bit numbers in a 16-bit space risks losing significant bits.</a:t>
            </a:r>
          </a:p>
          <a:p>
            <a:pPr algn="just"/>
            <a:r>
              <a:rPr lang="en-US" dirty="0" smtClean="0"/>
              <a:t>Place 16-bit numbers in 32-bit space to prevent loss of valuable bits.</a:t>
            </a:r>
          </a:p>
          <a:p>
            <a:pPr algn="just"/>
            <a:r>
              <a:rPr lang="en-US" dirty="0" smtClean="0"/>
              <a:t>Valuable bits: any bit that is '1'; dropping them leads to incorrect results.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421732" y="414477"/>
            <a:ext cx="49933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Importance of 32-bit Operations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676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Example: Multiplying by Two</a:t>
            </a:r>
            <a:endParaRPr lang="en-US" dirty="0" smtClean="0"/>
          </a:p>
          <a:p>
            <a:r>
              <a:rPr lang="en-US" dirty="0" smtClean="0"/>
              <a:t>Consider the number 40000 (0x9C40 in hexadecimal).</a:t>
            </a:r>
          </a:p>
          <a:p>
            <a:r>
              <a:rPr lang="en-US" dirty="0" smtClean="0"/>
              <a:t>Binary representation: 1001110001000000.</a:t>
            </a:r>
          </a:p>
          <a:p>
            <a:r>
              <a:rPr lang="en-US" dirty="0" smtClean="0"/>
              <a:t>Shifting left to multiply by 2 results in: 0011100010000000.</a:t>
            </a:r>
          </a:p>
          <a:p>
            <a:endParaRPr lang="en-US" b="1" dirty="0" smtClean="0"/>
          </a:p>
          <a:p>
            <a:r>
              <a:rPr lang="en-US" b="1" dirty="0" smtClean="0"/>
              <a:t>Note</a:t>
            </a:r>
            <a:r>
              <a:rPr lang="en-US" dirty="0" smtClean="0"/>
              <a:t>: Leftmost '1' drops into the carry flag.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298072" y="376548"/>
            <a:ext cx="5714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Example of Shifting in Extended Operations</a:t>
            </a:r>
            <a:endParaRPr 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611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Incorrect Results from Shifting</a:t>
            </a:r>
            <a:endParaRPr lang="en-US" dirty="0" smtClean="0"/>
          </a:p>
          <a:p>
            <a:r>
              <a:rPr lang="en-US" dirty="0" smtClean="0"/>
              <a:t>Expected result: 0x13880 (80000 in decimal).</a:t>
            </a:r>
          </a:p>
          <a:p>
            <a:r>
              <a:rPr lang="en-US" dirty="0" smtClean="0"/>
              <a:t>Actual result after shifting: 0x3880 (14464 in decimal).</a:t>
            </a:r>
          </a:p>
          <a:p>
            <a:r>
              <a:rPr lang="en-US" dirty="0" smtClean="0"/>
              <a:t>Highlights the importance of using the correct bit-width for operations.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376695" y="322172"/>
            <a:ext cx="53469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Consequences of Incorrect Shifting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607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140368" y="360616"/>
            <a:ext cx="61684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Extended Shifting in Assembly Language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39911" y="1530213"/>
            <a:ext cx="872775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What is Extended Shifting?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Utilize basic shifting and rotation instructions.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Shift 32-bit numbers in memory word by word.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Limited by architecture to perform word operations.</a:t>
            </a:r>
          </a:p>
        </p:txBody>
      </p:sp>
    </p:spTree>
    <p:extLst>
      <p:ext uri="{BB962C8B-B14F-4D97-AF65-F5344CB8AC3E}">
        <p14:creationId xmlns:p14="http://schemas.microsoft.com/office/powerpoint/2010/main" val="2083582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Algorithm Overview</a:t>
            </a:r>
          </a:p>
          <a:p>
            <a:r>
              <a:rPr lang="en-US" b="1" dirty="0" smtClean="0"/>
              <a:t>Code Example:</a:t>
            </a:r>
          </a:p>
          <a:p>
            <a:pPr marL="914400" lvl="2" indent="0">
              <a:buNone/>
            </a:pPr>
            <a:r>
              <a:rPr lang="en-US" sz="2800" dirty="0" smtClean="0"/>
              <a:t>num1: </a:t>
            </a:r>
            <a:r>
              <a:rPr lang="en-US" sz="2800" dirty="0" err="1" smtClean="0"/>
              <a:t>dd</a:t>
            </a:r>
            <a:r>
              <a:rPr lang="en-US" sz="2800" dirty="0" smtClean="0"/>
              <a:t> 40000</a:t>
            </a:r>
          </a:p>
          <a:p>
            <a:pPr marL="914400" lvl="2" indent="0">
              <a:buNone/>
            </a:pPr>
            <a:r>
              <a:rPr lang="en-US" sz="2800" dirty="0" err="1" smtClean="0"/>
              <a:t>shl</a:t>
            </a:r>
            <a:r>
              <a:rPr lang="en-US" sz="2800" dirty="0" smtClean="0"/>
              <a:t> word [num1], 1</a:t>
            </a:r>
          </a:p>
          <a:p>
            <a:pPr marL="914400" lvl="2" indent="0">
              <a:buNone/>
            </a:pPr>
            <a:r>
              <a:rPr lang="en-US" sz="2800" dirty="0" err="1" smtClean="0"/>
              <a:t>rcl</a:t>
            </a:r>
            <a:r>
              <a:rPr lang="en-US" sz="2800" dirty="0" smtClean="0"/>
              <a:t> word [num1+2], 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169831" y="306748"/>
            <a:ext cx="38523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Shifting a 32-bit Number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967739" y="4173416"/>
            <a:ext cx="1025652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DD directive reserves 32-bit space.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Lower word at num1, upper word at num1 + 2.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Shift left the lower word and rotate carry into the upper word. </a:t>
            </a:r>
          </a:p>
        </p:txBody>
      </p:sp>
    </p:spTree>
    <p:extLst>
      <p:ext uri="{BB962C8B-B14F-4D97-AF65-F5344CB8AC3E}">
        <p14:creationId xmlns:p14="http://schemas.microsoft.com/office/powerpoint/2010/main" val="261358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6"/>
            <a:ext cx="101283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Illustration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Diagram showing two pipes: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Left pipe: Upper half of the number.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Right pipe: Lower half of the number.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First instruction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shl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): Shift lower word left, drop MSB into carry.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Second instruction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rcl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): Push carry into the LSB of the upper word.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/>
        </p:nvSpPr>
        <p:spPr>
          <a:xfrm>
            <a:off x="4518069" y="322172"/>
            <a:ext cx="31180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chemeClr val="bg1"/>
                </a:solidFill>
              </a:rPr>
              <a:t>How Shifting Works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8"/>
          <a:srcRect l="33267" t="27028" r="23060" b="58464"/>
          <a:stretch/>
        </p:blipFill>
        <p:spPr>
          <a:xfrm>
            <a:off x="3254828" y="2661641"/>
            <a:ext cx="5682343" cy="106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1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Code Example</a:t>
            </a:r>
            <a:r>
              <a:rPr lang="en-US" dirty="0" smtClean="0"/>
              <a:t>:</a:t>
            </a:r>
          </a:p>
          <a:p>
            <a:pPr marL="1371600" lvl="3" indent="0">
              <a:buNone/>
            </a:pPr>
            <a:r>
              <a:rPr lang="en-US" sz="2800" dirty="0" smtClean="0"/>
              <a:t>num1: </a:t>
            </a:r>
            <a:r>
              <a:rPr lang="en-US" sz="2800" dirty="0" err="1" smtClean="0"/>
              <a:t>dd</a:t>
            </a:r>
            <a:r>
              <a:rPr lang="en-US" sz="2800" dirty="0" smtClean="0"/>
              <a:t> 40000</a:t>
            </a:r>
          </a:p>
          <a:p>
            <a:pPr marL="1371600" lvl="3" indent="0">
              <a:buNone/>
            </a:pPr>
            <a:r>
              <a:rPr lang="en-US" sz="2800" dirty="0" err="1" smtClean="0"/>
              <a:t>shr</a:t>
            </a:r>
            <a:r>
              <a:rPr lang="en-US" sz="2800" dirty="0" smtClean="0"/>
              <a:t> word [num1+2], 1</a:t>
            </a:r>
          </a:p>
          <a:p>
            <a:pPr marL="1371600" lvl="3" indent="0">
              <a:buNone/>
            </a:pPr>
            <a:r>
              <a:rPr lang="en-US" sz="2800" dirty="0" err="1" smtClean="0"/>
              <a:t>rcr</a:t>
            </a:r>
            <a:r>
              <a:rPr lang="en-US" sz="2800" dirty="0" smtClean="0"/>
              <a:t> word [num1], 1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392536" y="311459"/>
            <a:ext cx="33861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Shifting Right Process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557348" y="4290983"/>
            <a:ext cx="1079645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shr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Shift upper word right, placing LSB in carry.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rcr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Push carry into the lower word's MSB.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Important: Always shift upper half first to maintain integrity. </a:t>
            </a:r>
          </a:p>
        </p:txBody>
      </p:sp>
    </p:spTree>
    <p:extLst>
      <p:ext uri="{BB962C8B-B14F-4D97-AF65-F5344CB8AC3E}">
        <p14:creationId xmlns:p14="http://schemas.microsoft.com/office/powerpoint/2010/main" val="3107032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16284" y="1551758"/>
            <a:ext cx="10229862" cy="39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Handling Signed Numbers</a:t>
            </a:r>
            <a:endParaRPr lang="en-US" altLang="en-US" dirty="0" smtClean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(shift arithmetic right) for signed numbers.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Ensures the sign bit is preserved during right shifts.</a:t>
            </a:r>
          </a:p>
          <a:p>
            <a:pPr marL="0" indent="0" algn="ctr">
              <a:buNone/>
            </a:pPr>
            <a:r>
              <a:rPr lang="en-US" b="1" dirty="0" smtClean="0"/>
              <a:t>Scalability of Extended Shifting</a:t>
            </a:r>
          </a:p>
          <a:p>
            <a:pPr marL="0" indent="0" algn="ctr">
              <a:buNone/>
            </a:pPr>
            <a:r>
              <a:rPr lang="en-US" b="1" dirty="0" smtClean="0"/>
              <a:t>Beyond 32 Bits</a:t>
            </a:r>
            <a:endParaRPr lang="en-US" dirty="0" smtClean="0"/>
          </a:p>
          <a:p>
            <a:pPr algn="just"/>
            <a:r>
              <a:rPr lang="en-US" dirty="0" smtClean="0"/>
              <a:t>The method can be extended to shift any size, e.g., 1024 bits.</a:t>
            </a:r>
          </a:p>
          <a:p>
            <a:pPr algn="just"/>
            <a:r>
              <a:rPr lang="en-US" dirty="0" smtClean="0"/>
              <a:t>Repeat the second instruction as needed for larger shifts.</a:t>
            </a:r>
          </a:p>
          <a:p>
            <a:pPr algn="just"/>
            <a:r>
              <a:rPr lang="en-US" dirty="0" smtClean="0"/>
              <a:t>Achieve unlimited bit manipulation with minimal instructions.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/>
        </p:nvSpPr>
        <p:spPr>
          <a:xfrm>
            <a:off x="3759626" y="360616"/>
            <a:ext cx="45544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Signed Shifting Consideration</a:t>
            </a:r>
            <a:endParaRPr kumimoji="0" lang="en-US" altLang="en-US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39831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0546" y="1473019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Why Extend Addition and Subtraction?</a:t>
            </a:r>
            <a:endParaRPr lang="en-US" dirty="0" smtClean="0"/>
          </a:p>
          <a:p>
            <a:pPr algn="just"/>
            <a:r>
              <a:rPr lang="en-US" dirty="0" smtClean="0"/>
              <a:t>Essential for multiplying 16-bit numbers producing 32-bit results.</a:t>
            </a:r>
          </a:p>
          <a:p>
            <a:pPr algn="just"/>
            <a:r>
              <a:rPr lang="en-US" dirty="0" smtClean="0"/>
              <a:t>Allows for the addition of larger numbers than the standard operand size.</a:t>
            </a:r>
          </a:p>
          <a:p>
            <a:pPr algn="just"/>
            <a:r>
              <a:rPr lang="en-US" dirty="0" smtClean="0"/>
              <a:t>Introduces new instructions to handle carry and borrow.</a:t>
            </a:r>
          </a:p>
          <a:p>
            <a:pPr algn="just"/>
            <a:endParaRPr lang="en-US" dirty="0" smtClean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367618" y="397184"/>
            <a:ext cx="54064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Extended Addition and Subtraction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838200" y="3984287"/>
            <a:ext cx="10515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ADC Instruction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 with Carry (ADC)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Combines three operands: two explicit and one implicit (carry flag).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to ensure that carry from previous addition is accounted for.</a:t>
            </a: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 ADC AX, BX adds carry flag to AX before adding BX.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39591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 smtClean="0"/>
              <a:t>Algorithm for 32-bit Addition</a:t>
            </a:r>
            <a:endParaRPr lang="en-US" dirty="0" smtClean="0"/>
          </a:p>
          <a:p>
            <a:r>
              <a:rPr lang="en-US" dirty="0" smtClean="0"/>
              <a:t>Add lower halves using normal addition.</a:t>
            </a:r>
          </a:p>
          <a:p>
            <a:r>
              <a:rPr lang="en-US" dirty="0" smtClean="0"/>
              <a:t>Use ADC for upper halves to account for any carry from lower halves.</a:t>
            </a:r>
          </a:p>
          <a:p>
            <a:r>
              <a:rPr lang="en-US" b="1" dirty="0" smtClean="0"/>
              <a:t>Code Example:</a:t>
            </a:r>
          </a:p>
          <a:p>
            <a:pPr marL="1371600" lvl="3" indent="0">
              <a:buNone/>
            </a:pPr>
            <a:r>
              <a:rPr lang="en-US" sz="2800" dirty="0" err="1" smtClean="0"/>
              <a:t>dest</a:t>
            </a:r>
            <a:r>
              <a:rPr lang="en-US" sz="2800" dirty="0" smtClean="0"/>
              <a:t>: </a:t>
            </a:r>
            <a:r>
              <a:rPr lang="en-US" sz="2800" dirty="0" err="1" smtClean="0"/>
              <a:t>dd</a:t>
            </a:r>
            <a:r>
              <a:rPr lang="en-US" sz="2800" dirty="0" smtClean="0"/>
              <a:t> 40000</a:t>
            </a:r>
          </a:p>
          <a:p>
            <a:pPr marL="1371600" lvl="3" indent="0">
              <a:buNone/>
            </a:pPr>
            <a:r>
              <a:rPr lang="en-US" sz="2800" dirty="0" err="1" smtClean="0"/>
              <a:t>src</a:t>
            </a:r>
            <a:r>
              <a:rPr lang="en-US" sz="2800" dirty="0" smtClean="0"/>
              <a:t>: </a:t>
            </a:r>
            <a:r>
              <a:rPr lang="en-US" sz="2800" dirty="0" err="1" smtClean="0"/>
              <a:t>dd</a:t>
            </a:r>
            <a:r>
              <a:rPr lang="en-US" sz="2800" dirty="0" smtClean="0"/>
              <a:t> 80000</a:t>
            </a:r>
          </a:p>
          <a:p>
            <a:pPr marL="1371600" lvl="3" indent="0">
              <a:buNone/>
            </a:pPr>
            <a:r>
              <a:rPr lang="en-US" sz="2800" dirty="0" err="1" smtClean="0"/>
              <a:t>mov</a:t>
            </a:r>
            <a:r>
              <a:rPr lang="en-US" sz="2800" dirty="0" smtClean="0"/>
              <a:t> ax, [</a:t>
            </a:r>
            <a:r>
              <a:rPr lang="en-US" sz="2800" dirty="0" err="1" smtClean="0"/>
              <a:t>src</a:t>
            </a:r>
            <a:r>
              <a:rPr lang="en-US" sz="2800" dirty="0" smtClean="0"/>
              <a:t>]</a:t>
            </a:r>
          </a:p>
          <a:p>
            <a:pPr marL="1371600" lvl="3" indent="0">
              <a:buNone/>
            </a:pPr>
            <a:r>
              <a:rPr lang="en-US" sz="2800" dirty="0" smtClean="0"/>
              <a:t>add word [</a:t>
            </a:r>
            <a:r>
              <a:rPr lang="en-US" sz="2800" dirty="0" err="1" smtClean="0"/>
              <a:t>dest</a:t>
            </a:r>
            <a:r>
              <a:rPr lang="en-US" sz="2800" dirty="0" smtClean="0"/>
              <a:t>], ax</a:t>
            </a:r>
          </a:p>
          <a:p>
            <a:pPr marL="1371600" lvl="3" indent="0">
              <a:buNone/>
            </a:pPr>
            <a:r>
              <a:rPr lang="en-US" sz="2800" dirty="0" err="1" smtClean="0"/>
              <a:t>mov</a:t>
            </a:r>
            <a:r>
              <a:rPr lang="en-US" sz="2800" dirty="0" smtClean="0"/>
              <a:t> ax, [src+2]</a:t>
            </a:r>
          </a:p>
          <a:p>
            <a:pPr marL="1371600" lvl="3" indent="0">
              <a:buNone/>
            </a:pPr>
            <a:r>
              <a:rPr lang="en-US" sz="2800" dirty="0" err="1" smtClean="0"/>
              <a:t>adc</a:t>
            </a:r>
            <a:r>
              <a:rPr lang="en-US" sz="2800" dirty="0" smtClean="0"/>
              <a:t> word [dest+2], ax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891631" y="384121"/>
            <a:ext cx="45273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Extended Addition Algorithm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8721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 smtClean="0"/>
              <a:t>Managing Overflow in Addition</a:t>
            </a:r>
            <a:endParaRPr lang="en-US" dirty="0" smtClean="0"/>
          </a:p>
          <a:p>
            <a:r>
              <a:rPr lang="en-US" dirty="0" smtClean="0"/>
              <a:t>Last carry may remain in the carry flag.</a:t>
            </a:r>
          </a:p>
          <a:p>
            <a:r>
              <a:rPr lang="en-US" dirty="0" smtClean="0"/>
              <a:t>Can be tested for overflow conditions after operations.</a:t>
            </a:r>
          </a:p>
          <a:p>
            <a:r>
              <a:rPr lang="en-US" dirty="0" smtClean="0"/>
              <a:t>Essential for managing larger calculations.</a:t>
            </a:r>
          </a:p>
          <a:p>
            <a:pPr marL="0" indent="0" algn="ctr">
              <a:buNone/>
            </a:pPr>
            <a:r>
              <a:rPr lang="en-US" b="1" dirty="0" smtClean="0"/>
              <a:t>The SBB Instruction</a:t>
            </a:r>
          </a:p>
          <a:p>
            <a:pPr marL="0" indent="0">
              <a:buNone/>
            </a:pPr>
            <a:r>
              <a:rPr lang="en-US" b="1" dirty="0" smtClean="0"/>
              <a:t>Subtract with Borrow (SBB)</a:t>
            </a:r>
            <a:endParaRPr lang="en-US" dirty="0" smtClean="0"/>
          </a:p>
          <a:p>
            <a:r>
              <a:rPr lang="en-US" dirty="0" smtClean="0"/>
              <a:t>Functions similarly to ADC, but for subtraction.</a:t>
            </a:r>
          </a:p>
          <a:p>
            <a:r>
              <a:rPr lang="en-US" dirty="0" smtClean="0"/>
              <a:t>Borrow indicates the carry flag used in subtraction operations.</a:t>
            </a:r>
          </a:p>
          <a:p>
            <a:r>
              <a:rPr lang="en-US" dirty="0" smtClean="0"/>
              <a:t>Logical to share the carry flag for both addition and subtraction.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034377" y="400718"/>
            <a:ext cx="41232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Handling Carry in Addition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68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 smtClean="0"/>
              <a:t>Algorithm for 32-bit Subtraction</a:t>
            </a:r>
            <a:endParaRPr lang="en-US" dirty="0" smtClean="0"/>
          </a:p>
          <a:p>
            <a:r>
              <a:rPr lang="en-US" dirty="0" smtClean="0"/>
              <a:t>Subtract lower halves normally.</a:t>
            </a:r>
          </a:p>
          <a:p>
            <a:r>
              <a:rPr lang="en-US" dirty="0" smtClean="0"/>
              <a:t>Use SBB for upper halves to handle potential borrows from lower halves.</a:t>
            </a:r>
          </a:p>
          <a:p>
            <a:r>
              <a:rPr lang="en-US" b="1" dirty="0" smtClean="0"/>
              <a:t>Code Example:</a:t>
            </a:r>
          </a:p>
          <a:p>
            <a:pPr marL="1371600" lvl="3" indent="0">
              <a:buNone/>
            </a:pPr>
            <a:r>
              <a:rPr lang="en-US" sz="3000" dirty="0" err="1" smtClean="0"/>
              <a:t>dest</a:t>
            </a:r>
            <a:r>
              <a:rPr lang="en-US" sz="3000" dirty="0" smtClean="0"/>
              <a:t>: </a:t>
            </a:r>
            <a:r>
              <a:rPr lang="en-US" sz="3000" dirty="0" err="1" smtClean="0"/>
              <a:t>dd</a:t>
            </a:r>
            <a:r>
              <a:rPr lang="en-US" sz="3000" dirty="0" smtClean="0"/>
              <a:t> 40000</a:t>
            </a:r>
          </a:p>
          <a:p>
            <a:pPr marL="1371600" lvl="3" indent="0">
              <a:buNone/>
            </a:pPr>
            <a:r>
              <a:rPr lang="en-US" sz="3000" dirty="0" err="1" smtClean="0"/>
              <a:t>src</a:t>
            </a:r>
            <a:r>
              <a:rPr lang="en-US" sz="3000" dirty="0" smtClean="0"/>
              <a:t>: </a:t>
            </a:r>
            <a:r>
              <a:rPr lang="en-US" sz="3000" dirty="0" err="1" smtClean="0"/>
              <a:t>dd</a:t>
            </a:r>
            <a:r>
              <a:rPr lang="en-US" sz="3000" dirty="0" smtClean="0"/>
              <a:t> 80000</a:t>
            </a:r>
          </a:p>
          <a:p>
            <a:pPr marL="1371600" lvl="3" indent="0">
              <a:buNone/>
            </a:pPr>
            <a:r>
              <a:rPr lang="en-US" sz="3000" dirty="0" err="1" smtClean="0"/>
              <a:t>mov</a:t>
            </a:r>
            <a:r>
              <a:rPr lang="en-US" sz="3000" dirty="0" smtClean="0"/>
              <a:t> ax, [</a:t>
            </a:r>
            <a:r>
              <a:rPr lang="en-US" sz="3000" dirty="0" err="1" smtClean="0"/>
              <a:t>src</a:t>
            </a:r>
            <a:r>
              <a:rPr lang="en-US" sz="3000" dirty="0" smtClean="0"/>
              <a:t>]</a:t>
            </a:r>
          </a:p>
          <a:p>
            <a:pPr marL="1371600" lvl="3" indent="0">
              <a:buNone/>
            </a:pPr>
            <a:r>
              <a:rPr lang="en-US" sz="3000" dirty="0" smtClean="0"/>
              <a:t>sub word [</a:t>
            </a:r>
            <a:r>
              <a:rPr lang="en-US" sz="3000" dirty="0" err="1" smtClean="0"/>
              <a:t>dest</a:t>
            </a:r>
            <a:r>
              <a:rPr lang="en-US" sz="3000" dirty="0" smtClean="0"/>
              <a:t>], ax</a:t>
            </a:r>
          </a:p>
          <a:p>
            <a:pPr marL="1371600" lvl="3" indent="0">
              <a:buNone/>
            </a:pPr>
            <a:r>
              <a:rPr lang="en-US" sz="3000" dirty="0" err="1" smtClean="0"/>
              <a:t>mov</a:t>
            </a:r>
            <a:r>
              <a:rPr lang="en-US" sz="3000" dirty="0" smtClean="0"/>
              <a:t> ax, [src+2]</a:t>
            </a:r>
          </a:p>
          <a:p>
            <a:pPr marL="1371600" lvl="3" indent="0">
              <a:buNone/>
            </a:pPr>
            <a:r>
              <a:rPr lang="en-US" sz="3000" dirty="0" err="1" smtClean="0"/>
              <a:t>sbb</a:t>
            </a:r>
            <a:r>
              <a:rPr lang="en-US" sz="3000" dirty="0" smtClean="0"/>
              <a:t> word [dest+2], ax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673463" y="337584"/>
            <a:ext cx="49636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Extended Subtraction Algorithm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We </a:t>
            </a:r>
            <a:r>
              <a:rPr lang="en-US" dirty="0"/>
              <a:t>use extended shifting and extended addition to formulate our </a:t>
            </a:r>
            <a:r>
              <a:rPr lang="en-US" dirty="0" smtClean="0"/>
              <a:t>algorithm to </a:t>
            </a:r>
            <a:r>
              <a:rPr lang="en-US" dirty="0"/>
              <a:t>do extended multiplication.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multiplier is still stored in 16bits since </a:t>
            </a:r>
            <a:r>
              <a:rPr lang="en-US" dirty="0" smtClean="0"/>
              <a:t>we only </a:t>
            </a:r>
            <a:r>
              <a:rPr lang="en-US" dirty="0"/>
              <a:t>need to check its bits one by one.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multiplicand however cannot </a:t>
            </a:r>
            <a:r>
              <a:rPr lang="en-US" dirty="0" smtClean="0"/>
              <a:t>be stored </a:t>
            </a:r>
            <a:r>
              <a:rPr lang="en-US" dirty="0"/>
              <a:t>in 16bits otherwise on left shifting its significant bits might get </a:t>
            </a:r>
            <a:r>
              <a:rPr lang="en-US" dirty="0" smtClean="0"/>
              <a:t>lost. </a:t>
            </a:r>
          </a:p>
          <a:p>
            <a:pPr algn="just"/>
            <a:r>
              <a:rPr lang="en-US" dirty="0" smtClean="0"/>
              <a:t>Therefore </a:t>
            </a:r>
            <a:r>
              <a:rPr lang="en-US" dirty="0"/>
              <a:t>it has to be stored in 32bits and the shifting and addition used </a:t>
            </a:r>
            <a:r>
              <a:rPr lang="en-US" dirty="0" smtClean="0"/>
              <a:t>to accumulate </a:t>
            </a:r>
            <a:r>
              <a:rPr lang="en-US" dirty="0"/>
              <a:t>the result must be 32bits as well.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812375" y="322172"/>
            <a:ext cx="3763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Extended Multiplication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72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0525"/>
            <a:ext cx="10515600" cy="5917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; 16bit multiplication</a:t>
            </a:r>
          </a:p>
          <a:p>
            <a:pPr marL="0" indent="0">
              <a:buNone/>
            </a:pPr>
            <a:r>
              <a:rPr lang="en-US" sz="1200" dirty="0"/>
              <a:t>[org 0x0100]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jmp</a:t>
            </a:r>
            <a:r>
              <a:rPr lang="en-US" sz="1200" dirty="0" smtClean="0"/>
              <a:t> 	start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multiplicand: </a:t>
            </a:r>
            <a:r>
              <a:rPr lang="en-US" sz="1200" dirty="0" smtClean="0"/>
              <a:t>	</a:t>
            </a:r>
            <a:r>
              <a:rPr lang="en-US" sz="1200" dirty="0" err="1" smtClean="0"/>
              <a:t>dd</a:t>
            </a:r>
            <a:r>
              <a:rPr lang="en-US" sz="1200" dirty="0" smtClean="0"/>
              <a:t> 	1300 				; </a:t>
            </a:r>
            <a:r>
              <a:rPr lang="en-US" sz="1200" dirty="0"/>
              <a:t>16bit multiplicand 32bit space</a:t>
            </a:r>
          </a:p>
          <a:p>
            <a:pPr marL="0" indent="0">
              <a:buNone/>
            </a:pPr>
            <a:r>
              <a:rPr lang="fr-FR" sz="1200" dirty="0"/>
              <a:t>multiplier: </a:t>
            </a:r>
            <a:r>
              <a:rPr lang="fr-FR" sz="1200" dirty="0" smtClean="0"/>
              <a:t>		</a:t>
            </a:r>
            <a:r>
              <a:rPr lang="fr-FR" sz="1200" dirty="0" err="1" smtClean="0"/>
              <a:t>dw</a:t>
            </a:r>
            <a:r>
              <a:rPr lang="fr-FR" sz="1200" dirty="0" smtClean="0"/>
              <a:t> 	500 			; </a:t>
            </a:r>
            <a:r>
              <a:rPr lang="fr-FR" sz="1200" dirty="0"/>
              <a:t>16bit multiplier</a:t>
            </a:r>
          </a:p>
          <a:p>
            <a:pPr marL="0" indent="0">
              <a:buNone/>
            </a:pPr>
            <a:r>
              <a:rPr lang="en-US" sz="1200" dirty="0"/>
              <a:t>result: </a:t>
            </a:r>
            <a:r>
              <a:rPr lang="en-US" sz="1200" dirty="0" smtClean="0"/>
              <a:t>		</a:t>
            </a:r>
            <a:r>
              <a:rPr lang="en-US" sz="1200" dirty="0" err="1" smtClean="0"/>
              <a:t>dd</a:t>
            </a:r>
            <a:r>
              <a:rPr lang="en-US" sz="1200" dirty="0" smtClean="0"/>
              <a:t> 	0 			; </a:t>
            </a:r>
            <a:r>
              <a:rPr lang="en-US" sz="1200" dirty="0"/>
              <a:t>32bit result</a:t>
            </a:r>
          </a:p>
          <a:p>
            <a:pPr marL="0" indent="0">
              <a:buNone/>
            </a:pPr>
            <a:r>
              <a:rPr lang="en-US" sz="1200" dirty="0"/>
              <a:t>start: </a:t>
            </a:r>
            <a:r>
              <a:rPr lang="en-US" sz="1200" dirty="0" smtClean="0"/>
              <a:t>		</a:t>
            </a:r>
            <a:r>
              <a:rPr lang="en-US" sz="1200" dirty="0" err="1" smtClean="0"/>
              <a:t>mov</a:t>
            </a:r>
            <a:r>
              <a:rPr lang="en-US" sz="1200" dirty="0" smtClean="0"/>
              <a:t> 	cl</a:t>
            </a:r>
            <a:r>
              <a:rPr lang="en-US" sz="1200" dirty="0"/>
              <a:t>, 16 </a:t>
            </a:r>
            <a:r>
              <a:rPr lang="en-US" sz="1200" dirty="0" smtClean="0"/>
              <a:t>			; </a:t>
            </a:r>
            <a:r>
              <a:rPr lang="en-US" sz="1200" dirty="0"/>
              <a:t>initialize bit count to 16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mov</a:t>
            </a:r>
            <a:r>
              <a:rPr lang="en-US" sz="1200" dirty="0" smtClean="0"/>
              <a:t> 	dx</a:t>
            </a:r>
            <a:r>
              <a:rPr lang="en-US" sz="1200" dirty="0"/>
              <a:t>, [multiplier] </a:t>
            </a:r>
            <a:r>
              <a:rPr lang="en-US" sz="1200" dirty="0" smtClean="0"/>
              <a:t>		; </a:t>
            </a:r>
            <a:r>
              <a:rPr lang="en-US" sz="1200" dirty="0"/>
              <a:t>load multiplier in dx</a:t>
            </a:r>
          </a:p>
          <a:p>
            <a:pPr marL="0" indent="0">
              <a:buNone/>
            </a:pPr>
            <a:r>
              <a:rPr lang="en-US" sz="1200" dirty="0" err="1"/>
              <a:t>checkbit</a:t>
            </a:r>
            <a:r>
              <a:rPr lang="en-US" sz="1200" dirty="0"/>
              <a:t>: </a:t>
            </a:r>
            <a:r>
              <a:rPr lang="en-US" sz="1200" dirty="0" smtClean="0"/>
              <a:t>		</a:t>
            </a:r>
            <a:r>
              <a:rPr lang="en-US" sz="1200" dirty="0" err="1" smtClean="0"/>
              <a:t>shr</a:t>
            </a:r>
            <a:r>
              <a:rPr lang="en-US" sz="1200" dirty="0" smtClean="0"/>
              <a:t> 	dx</a:t>
            </a:r>
            <a:r>
              <a:rPr lang="en-US" sz="1200" dirty="0"/>
              <a:t>, 1 </a:t>
            </a:r>
            <a:r>
              <a:rPr lang="en-US" sz="1200" dirty="0" smtClean="0"/>
              <a:t>			; </a:t>
            </a:r>
            <a:r>
              <a:rPr lang="en-US" sz="1200" dirty="0"/>
              <a:t>move right most bit in carry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jnc</a:t>
            </a:r>
            <a:r>
              <a:rPr lang="en-US" sz="1200" dirty="0" smtClean="0"/>
              <a:t> 	skip 			; </a:t>
            </a:r>
            <a:r>
              <a:rPr lang="en-US" sz="1200" dirty="0"/>
              <a:t>skip addition if bit is zero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mov</a:t>
            </a:r>
            <a:r>
              <a:rPr lang="en-US" sz="1200" dirty="0" smtClean="0"/>
              <a:t> 	ax</a:t>
            </a:r>
            <a:r>
              <a:rPr lang="en-US" sz="1200" dirty="0"/>
              <a:t>, [multiplicand]</a:t>
            </a:r>
          </a:p>
          <a:p>
            <a:pPr marL="0" indent="0">
              <a:buNone/>
            </a:pPr>
            <a:r>
              <a:rPr lang="en-US" sz="1200" dirty="0" smtClean="0"/>
              <a:t>		add 	[</a:t>
            </a:r>
            <a:r>
              <a:rPr lang="en-US" sz="1200" dirty="0"/>
              <a:t>result], ax </a:t>
            </a:r>
            <a:r>
              <a:rPr lang="en-US" sz="1200" dirty="0" smtClean="0"/>
              <a:t>			; </a:t>
            </a:r>
            <a:r>
              <a:rPr lang="en-US" sz="1200" dirty="0"/>
              <a:t>add less significant word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mov</a:t>
            </a:r>
            <a:r>
              <a:rPr lang="en-US" sz="1200" dirty="0" smtClean="0"/>
              <a:t> 	ax</a:t>
            </a:r>
            <a:r>
              <a:rPr lang="en-US" sz="1200" dirty="0"/>
              <a:t>, [multiplicand+2]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adc</a:t>
            </a:r>
            <a:r>
              <a:rPr lang="en-US" sz="1200" dirty="0" smtClean="0"/>
              <a:t> 	[</a:t>
            </a:r>
            <a:r>
              <a:rPr lang="en-US" sz="1200" dirty="0"/>
              <a:t>result+2], ax </a:t>
            </a:r>
            <a:r>
              <a:rPr lang="en-US" sz="1200" dirty="0" smtClean="0"/>
              <a:t>			; </a:t>
            </a:r>
            <a:r>
              <a:rPr lang="en-US" sz="1200" dirty="0"/>
              <a:t>add more significant word</a:t>
            </a:r>
          </a:p>
          <a:p>
            <a:pPr marL="0" indent="0">
              <a:buNone/>
            </a:pPr>
            <a:r>
              <a:rPr lang="en-US" sz="1200" dirty="0"/>
              <a:t>skip: </a:t>
            </a:r>
            <a:r>
              <a:rPr lang="en-US" sz="1200" dirty="0" smtClean="0"/>
              <a:t>		</a:t>
            </a:r>
            <a:r>
              <a:rPr lang="en-US" sz="1200" dirty="0" err="1" smtClean="0"/>
              <a:t>shl</a:t>
            </a:r>
            <a:r>
              <a:rPr lang="en-US" sz="1200" dirty="0" smtClean="0"/>
              <a:t> 	word </a:t>
            </a:r>
            <a:r>
              <a:rPr lang="en-US" sz="1200" dirty="0"/>
              <a:t>[multiplicand], 1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rcl</a:t>
            </a:r>
            <a:r>
              <a:rPr lang="en-US" sz="1200" dirty="0" smtClean="0"/>
              <a:t> 	word </a:t>
            </a:r>
            <a:r>
              <a:rPr lang="en-US" sz="1200" dirty="0"/>
              <a:t>[multiplicand+2], </a:t>
            </a:r>
            <a:r>
              <a:rPr lang="en-US" sz="1200" dirty="0" smtClean="0"/>
              <a:t>1		; </a:t>
            </a:r>
            <a:r>
              <a:rPr lang="en-US" sz="1200" dirty="0"/>
              <a:t>shift multiplicand left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dec</a:t>
            </a:r>
            <a:r>
              <a:rPr lang="en-US" sz="1200" dirty="0" smtClean="0"/>
              <a:t> 	cl 			; </a:t>
            </a:r>
            <a:r>
              <a:rPr lang="en-US" sz="1200" dirty="0"/>
              <a:t>decrement bit count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jnz</a:t>
            </a:r>
            <a:r>
              <a:rPr lang="en-US" sz="1200" dirty="0" smtClean="0"/>
              <a:t> 	</a:t>
            </a:r>
            <a:r>
              <a:rPr lang="en-US" sz="1200" dirty="0" err="1" smtClean="0"/>
              <a:t>checkbit</a:t>
            </a:r>
            <a:r>
              <a:rPr lang="en-US" sz="1200" dirty="0" smtClean="0"/>
              <a:t> 			; </a:t>
            </a:r>
            <a:r>
              <a:rPr lang="en-US" sz="1200" dirty="0"/>
              <a:t>repeat if bits left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mov</a:t>
            </a:r>
            <a:r>
              <a:rPr lang="en-US" sz="1200" dirty="0" smtClean="0"/>
              <a:t> 	ax</a:t>
            </a:r>
            <a:r>
              <a:rPr lang="en-US" sz="1200" dirty="0"/>
              <a:t>, 0x4c00 </a:t>
            </a:r>
            <a:r>
              <a:rPr lang="en-US" sz="1200" dirty="0" smtClean="0"/>
              <a:t>			; </a:t>
            </a:r>
            <a:r>
              <a:rPr lang="en-US" sz="1200" dirty="0"/>
              <a:t>terminate program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/>
              <a:t>0x21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930035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576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040245" y="360616"/>
            <a:ext cx="4111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Bitwise Logical Operations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31023" y="2131105"/>
            <a:ext cx="1012995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What are Bitwise Logical Operations?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Operate at the bit level between two operands (byte or word).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Applied to corresponding bits in parallel across the entire operand.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Four main operations: AND, OR, XOR, and NOT.</a:t>
            </a:r>
          </a:p>
        </p:txBody>
      </p:sp>
    </p:spTree>
    <p:extLst>
      <p:ext uri="{BB962C8B-B14F-4D97-AF65-F5344CB8AC3E}">
        <p14:creationId xmlns:p14="http://schemas.microsoft.com/office/powerpoint/2010/main" val="3471724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Performs a </a:t>
            </a:r>
            <a:r>
              <a:rPr lang="en-US" b="1" dirty="0" smtClean="0"/>
              <a:t>bitwise AND</a:t>
            </a:r>
            <a:r>
              <a:rPr lang="en-US" dirty="0" smtClean="0"/>
              <a:t> on corresponding bits.</a:t>
            </a:r>
          </a:p>
          <a:p>
            <a:pPr algn="just"/>
            <a:r>
              <a:rPr lang="en-US" dirty="0" smtClean="0"/>
              <a:t>A result bit is set only if </a:t>
            </a:r>
            <a:r>
              <a:rPr lang="en-US" b="1" dirty="0" smtClean="0"/>
              <a:t>both</a:t>
            </a:r>
            <a:r>
              <a:rPr lang="en-US" dirty="0" smtClean="0"/>
              <a:t> bits in the original operands are 1.</a:t>
            </a:r>
          </a:p>
          <a:p>
            <a:pPr algn="just"/>
            <a:r>
              <a:rPr lang="en-US" b="1" dirty="0" smtClean="0"/>
              <a:t>Example:</a:t>
            </a:r>
          </a:p>
          <a:p>
            <a:pPr marL="1371600" lvl="3" indent="0">
              <a:buNone/>
            </a:pPr>
            <a:r>
              <a:rPr lang="en-US" sz="2800" dirty="0" smtClean="0"/>
              <a:t>and ax, </a:t>
            </a:r>
            <a:r>
              <a:rPr lang="en-US" sz="2800" dirty="0" err="1" smtClean="0"/>
              <a:t>bx</a:t>
            </a:r>
            <a:endParaRPr lang="en-US" sz="2800" dirty="0" smtClean="0"/>
          </a:p>
          <a:p>
            <a:pPr marL="1371600" lvl="3" indent="0">
              <a:buNone/>
            </a:pPr>
            <a:r>
              <a:rPr lang="en-US" sz="2800" dirty="0" smtClean="0"/>
              <a:t>and byte [mem], 5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690348" y="360616"/>
            <a:ext cx="24561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AND Operation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959873"/>
              </p:ext>
            </p:extLst>
          </p:nvPr>
        </p:nvGraphicFramePr>
        <p:xfrm>
          <a:off x="4228556" y="4888684"/>
          <a:ext cx="3602082" cy="18288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200694">
                  <a:extLst>
                    <a:ext uri="{9D8B030D-6E8A-4147-A177-3AD203B41FA5}">
                      <a16:colId xmlns:a16="http://schemas.microsoft.com/office/drawing/2014/main" val="1457384530"/>
                    </a:ext>
                  </a:extLst>
                </a:gridCol>
                <a:gridCol w="1200694">
                  <a:extLst>
                    <a:ext uri="{9D8B030D-6E8A-4147-A177-3AD203B41FA5}">
                      <a16:colId xmlns:a16="http://schemas.microsoft.com/office/drawing/2014/main" val="4148379647"/>
                    </a:ext>
                  </a:extLst>
                </a:gridCol>
                <a:gridCol w="1200694">
                  <a:extLst>
                    <a:ext uri="{9D8B030D-6E8A-4147-A177-3AD203B41FA5}">
                      <a16:colId xmlns:a16="http://schemas.microsoft.com/office/drawing/2014/main" val="4180404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 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8306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930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5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349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66710"/>
                  </a:ext>
                </a:extLst>
              </a:tr>
            </a:tbl>
          </a:graphicData>
        </a:graphic>
      </p:graphicFrame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838200" y="4704018"/>
            <a:ext cx="103827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 Table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259935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Performs a </a:t>
            </a:r>
            <a:r>
              <a:rPr lang="en-US" b="1" dirty="0" smtClean="0"/>
              <a:t>bitwise OR</a:t>
            </a:r>
            <a:r>
              <a:rPr lang="en-US" dirty="0" smtClean="0"/>
              <a:t> on corresponding bits (inclusive OR).</a:t>
            </a:r>
          </a:p>
          <a:p>
            <a:r>
              <a:rPr lang="en-US" dirty="0" smtClean="0"/>
              <a:t>A result bit is set if </a:t>
            </a:r>
            <a:r>
              <a:rPr lang="en-US" b="1" dirty="0" smtClean="0"/>
              <a:t>either</a:t>
            </a:r>
            <a:r>
              <a:rPr lang="en-US" dirty="0" smtClean="0"/>
              <a:t> or </a:t>
            </a:r>
            <a:r>
              <a:rPr lang="en-US" b="1" dirty="0" smtClean="0"/>
              <a:t>both</a:t>
            </a:r>
            <a:r>
              <a:rPr lang="en-US" dirty="0" smtClean="0"/>
              <a:t> bits in the original operands are 1.</a:t>
            </a:r>
          </a:p>
          <a:p>
            <a:r>
              <a:rPr lang="en-US" b="1" dirty="0" smtClean="0"/>
              <a:t>Example:</a:t>
            </a:r>
          </a:p>
          <a:p>
            <a:pPr marL="1371600" lvl="3" indent="0">
              <a:buNone/>
            </a:pPr>
            <a:r>
              <a:rPr lang="en-US" sz="2800" dirty="0" smtClean="0"/>
              <a:t>or ax, </a:t>
            </a:r>
            <a:r>
              <a:rPr lang="en-US" sz="2800" dirty="0" err="1" smtClean="0"/>
              <a:t>bx</a:t>
            </a:r>
            <a:endParaRPr lang="en-US" sz="2800" dirty="0" smtClean="0"/>
          </a:p>
          <a:p>
            <a:pPr marL="1371600" lvl="3" indent="0">
              <a:buNone/>
            </a:pPr>
            <a:r>
              <a:rPr lang="en-US" sz="2800" dirty="0" smtClean="0"/>
              <a:t>or byte [mem], 5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703857" y="357082"/>
            <a:ext cx="22188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OR Operation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407962"/>
              </p:ext>
            </p:extLst>
          </p:nvPr>
        </p:nvGraphicFramePr>
        <p:xfrm>
          <a:off x="4241548" y="4900648"/>
          <a:ext cx="3708903" cy="18288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236301">
                  <a:extLst>
                    <a:ext uri="{9D8B030D-6E8A-4147-A177-3AD203B41FA5}">
                      <a16:colId xmlns:a16="http://schemas.microsoft.com/office/drawing/2014/main" val="1861216187"/>
                    </a:ext>
                  </a:extLst>
                </a:gridCol>
                <a:gridCol w="1236301">
                  <a:extLst>
                    <a:ext uri="{9D8B030D-6E8A-4147-A177-3AD203B41FA5}">
                      <a16:colId xmlns:a16="http://schemas.microsoft.com/office/drawing/2014/main" val="924843444"/>
                    </a:ext>
                  </a:extLst>
                </a:gridCol>
                <a:gridCol w="1236301">
                  <a:extLst>
                    <a:ext uri="{9D8B030D-6E8A-4147-A177-3AD203B41FA5}">
                      <a16:colId xmlns:a16="http://schemas.microsoft.com/office/drawing/2014/main" val="1919897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445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8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855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081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836942"/>
                  </a:ext>
                </a:extLst>
              </a:tr>
            </a:tbl>
          </a:graphicData>
        </a:graphic>
      </p:graphicFrame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838200" y="46147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 Table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8090077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Performs a </a:t>
            </a:r>
            <a:r>
              <a:rPr lang="en-US" b="1" dirty="0" smtClean="0"/>
              <a:t>bitwise XOR</a:t>
            </a:r>
            <a:r>
              <a:rPr lang="en-US" dirty="0" smtClean="0"/>
              <a:t> (exclusive OR) on corresponding bits.</a:t>
            </a:r>
          </a:p>
          <a:p>
            <a:r>
              <a:rPr lang="en-US" dirty="0" smtClean="0"/>
              <a:t>A result bit is set if </a:t>
            </a:r>
            <a:r>
              <a:rPr lang="en-US" b="1" dirty="0" smtClean="0"/>
              <a:t>only one</a:t>
            </a:r>
            <a:r>
              <a:rPr lang="en-US" dirty="0" smtClean="0"/>
              <a:t> of the two bits is 1.</a:t>
            </a:r>
          </a:p>
          <a:p>
            <a:r>
              <a:rPr lang="en-US" b="1" dirty="0" smtClean="0"/>
              <a:t>Important properties</a:t>
            </a:r>
            <a:r>
              <a:rPr lang="en-US" dirty="0" smtClean="0"/>
              <a:t>: XOR is reversible, widely used in cryptography and image processing.</a:t>
            </a:r>
          </a:p>
          <a:p>
            <a:r>
              <a:rPr lang="en-US" b="1" dirty="0" smtClean="0"/>
              <a:t>Example:</a:t>
            </a:r>
          </a:p>
          <a:p>
            <a:pPr marL="1371600" lvl="3" indent="0">
              <a:buNone/>
            </a:pPr>
            <a:r>
              <a:rPr lang="en-US" sz="2800" dirty="0" err="1" smtClean="0"/>
              <a:t>xor</a:t>
            </a:r>
            <a:r>
              <a:rPr lang="en-US" sz="2800" dirty="0" smtClean="0"/>
              <a:t> ax, </a:t>
            </a:r>
            <a:r>
              <a:rPr lang="en-US" sz="2800" dirty="0" err="1" smtClean="0"/>
              <a:t>bx</a:t>
            </a:r>
            <a:endParaRPr lang="en-US" sz="2800" dirty="0" smtClean="0"/>
          </a:p>
          <a:p>
            <a:pPr marL="1371600" lvl="3" indent="0">
              <a:buNone/>
            </a:pPr>
            <a:r>
              <a:rPr lang="en-US" sz="2800" dirty="0" err="1" smtClean="0"/>
              <a:t>xor</a:t>
            </a:r>
            <a:r>
              <a:rPr lang="en-US" sz="2800" dirty="0" smtClean="0"/>
              <a:t> byte [mem], 5</a:t>
            </a:r>
          </a:p>
          <a:p>
            <a:endParaRPr lang="en-US" b="1" dirty="0" smtClean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875218" y="360616"/>
            <a:ext cx="24038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XOR Operation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485639"/>
              </p:ext>
            </p:extLst>
          </p:nvPr>
        </p:nvGraphicFramePr>
        <p:xfrm>
          <a:off x="6611983" y="4650377"/>
          <a:ext cx="4609011" cy="18288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36337">
                  <a:extLst>
                    <a:ext uri="{9D8B030D-6E8A-4147-A177-3AD203B41FA5}">
                      <a16:colId xmlns:a16="http://schemas.microsoft.com/office/drawing/2014/main" val="1165902612"/>
                    </a:ext>
                  </a:extLst>
                </a:gridCol>
                <a:gridCol w="1536337">
                  <a:extLst>
                    <a:ext uri="{9D8B030D-6E8A-4147-A177-3AD203B41FA5}">
                      <a16:colId xmlns:a16="http://schemas.microsoft.com/office/drawing/2014/main" val="2930174799"/>
                    </a:ext>
                  </a:extLst>
                </a:gridCol>
                <a:gridCol w="1536337">
                  <a:extLst>
                    <a:ext uri="{9D8B030D-6E8A-4147-A177-3AD203B41FA5}">
                      <a16:colId xmlns:a16="http://schemas.microsoft.com/office/drawing/2014/main" val="37045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891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448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940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064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403660"/>
                  </a:ext>
                </a:extLst>
              </a:tr>
            </a:tbl>
          </a:graphicData>
        </a:graphic>
      </p:graphicFrame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838200" y="5073928"/>
            <a:ext cx="53437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Truth Table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40775669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Inverts</a:t>
            </a:r>
            <a:r>
              <a:rPr lang="en-US" dirty="0" smtClean="0"/>
              <a:t> each bit of the operand (forms the one’s complement).</a:t>
            </a:r>
          </a:p>
          <a:p>
            <a:r>
              <a:rPr lang="en-US" dirty="0" smtClean="0"/>
              <a:t>This is a </a:t>
            </a:r>
            <a:r>
              <a:rPr lang="en-US" b="1" dirty="0" smtClean="0"/>
              <a:t>single-operand</a:t>
            </a:r>
            <a:r>
              <a:rPr lang="en-US" dirty="0" smtClean="0"/>
              <a:t> instruction.</a:t>
            </a:r>
          </a:p>
          <a:p>
            <a:r>
              <a:rPr lang="en-US" dirty="0" smtClean="0"/>
              <a:t>Unlike the other operations, NOT does not compare two operands.</a:t>
            </a:r>
          </a:p>
          <a:p>
            <a:r>
              <a:rPr lang="en-US" b="1" dirty="0" smtClean="0"/>
              <a:t>Example:</a:t>
            </a:r>
          </a:p>
          <a:p>
            <a:pPr marL="1828800" lvl="4" indent="0">
              <a:buNone/>
            </a:pPr>
            <a:r>
              <a:rPr lang="en-US" sz="2800" dirty="0" smtClean="0"/>
              <a:t>not ax</a:t>
            </a:r>
          </a:p>
          <a:p>
            <a:pPr marL="1828800" lvl="4" indent="0">
              <a:buNone/>
            </a:pPr>
            <a:r>
              <a:rPr lang="en-US" sz="2800" dirty="0" smtClean="0"/>
              <a:t>not byte [mem]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10491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482269" y="306748"/>
            <a:ext cx="24241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NOT Operation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6110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AND</a:t>
            </a:r>
            <a:r>
              <a:rPr lang="en-US" dirty="0" smtClean="0"/>
              <a:t>: Clearing bits, bit masking.</a:t>
            </a:r>
          </a:p>
          <a:p>
            <a:r>
              <a:rPr lang="en-US" b="1" dirty="0" smtClean="0"/>
              <a:t>OR</a:t>
            </a:r>
            <a:r>
              <a:rPr lang="en-US" dirty="0" smtClean="0"/>
              <a:t>: Setting specific bits.</a:t>
            </a:r>
          </a:p>
          <a:p>
            <a:r>
              <a:rPr lang="en-US" b="1" dirty="0" smtClean="0"/>
              <a:t>XOR</a:t>
            </a:r>
            <a:r>
              <a:rPr lang="en-US" dirty="0" smtClean="0"/>
              <a:t>: Reversible operations in cryptography, image manipulation.</a:t>
            </a:r>
          </a:p>
          <a:p>
            <a:r>
              <a:rPr lang="en-US" b="1" dirty="0" smtClean="0"/>
              <a:t>NOT</a:t>
            </a:r>
            <a:r>
              <a:rPr lang="en-US" dirty="0" smtClean="0"/>
              <a:t>: Bit inversion, complement calculations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-3534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284350" y="346591"/>
            <a:ext cx="57418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Practical Applications of Bitwise Operations</a:t>
            </a:r>
            <a:endParaRPr lang="en-US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153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-3534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225361" y="300968"/>
            <a:ext cx="3175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Masking Operations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8951" y="1727132"/>
            <a:ext cx="10354098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What are Masking Operations?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Masking is used to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selectively manipulate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certain bits in an operand.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Common masking operations: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Selective Bit Clearing, Setting, Inversion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Operations involved: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XOR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067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Selective Bit Clearing with AND</a:t>
            </a:r>
            <a:endParaRPr lang="en-US" dirty="0" smtClean="0"/>
          </a:p>
          <a:p>
            <a:pPr algn="just"/>
            <a:r>
              <a:rPr lang="en-US" b="1" dirty="0" smtClean="0"/>
              <a:t>AND</a:t>
            </a:r>
            <a:r>
              <a:rPr lang="en-US" dirty="0" smtClean="0"/>
              <a:t> is used to make selected bits </a:t>
            </a:r>
            <a:r>
              <a:rPr lang="en-US" b="1" dirty="0" smtClean="0"/>
              <a:t>zero</a:t>
            </a:r>
            <a:r>
              <a:rPr lang="en-US" dirty="0" smtClean="0"/>
              <a:t> while retaining others.</a:t>
            </a:r>
          </a:p>
          <a:p>
            <a:pPr algn="just"/>
            <a:r>
              <a:rPr lang="en-US" dirty="0" smtClean="0"/>
              <a:t>A </a:t>
            </a:r>
            <a:r>
              <a:rPr lang="en-US" b="1" dirty="0" smtClean="0"/>
              <a:t>mask</a:t>
            </a:r>
            <a:r>
              <a:rPr lang="en-US" dirty="0" smtClean="0"/>
              <a:t> with ones at positions to retain and zeroes where clearing is desired.</a:t>
            </a:r>
          </a:p>
          <a:p>
            <a:pPr algn="just"/>
            <a:r>
              <a:rPr lang="en-US" b="1" dirty="0" smtClean="0"/>
              <a:t>Example: </a:t>
            </a:r>
            <a:r>
              <a:rPr lang="en-US" dirty="0" smtClean="0"/>
              <a:t>To clear the lower nibble of a destination operand:</a:t>
            </a:r>
          </a:p>
          <a:p>
            <a:pPr marL="0" indent="0" algn="ctr">
              <a:buNone/>
            </a:pPr>
            <a:r>
              <a:rPr lang="en-US" dirty="0" smtClean="0"/>
              <a:t>and ax, 0F0h</a:t>
            </a:r>
          </a:p>
          <a:p>
            <a:r>
              <a:rPr lang="en-US" b="1" dirty="0" smtClean="0"/>
              <a:t>Result</a:t>
            </a:r>
            <a:r>
              <a:rPr lang="en-US" dirty="0" smtClean="0"/>
              <a:t>: Upper nibble remains unchanged, lower nibble is cleared.</a:t>
            </a:r>
          </a:p>
          <a:p>
            <a:pPr marL="0" indent="0" algn="just">
              <a:buNone/>
            </a:pPr>
            <a:endParaRPr lang="en-US" dirty="0" smtClean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-3534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352966" y="346591"/>
            <a:ext cx="33119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Selective Bit Clearing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180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Selective Bit Setting with OR</a:t>
            </a:r>
            <a:endParaRPr lang="en-US" dirty="0" smtClean="0"/>
          </a:p>
          <a:p>
            <a:r>
              <a:rPr lang="en-US" b="1" dirty="0" smtClean="0"/>
              <a:t>OR</a:t>
            </a:r>
            <a:r>
              <a:rPr lang="en-US" dirty="0" smtClean="0"/>
              <a:t> sets selective bits based on the mask.</a:t>
            </a:r>
          </a:p>
          <a:p>
            <a:r>
              <a:rPr lang="en-US" dirty="0" smtClean="0"/>
              <a:t>Bits are set where the mask has ones, other bits remain unchanged.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> To set the lower nibble of a destination operand:</a:t>
            </a:r>
          </a:p>
          <a:p>
            <a:pPr marL="0" indent="0" algn="ctr">
              <a:buNone/>
            </a:pPr>
            <a:r>
              <a:rPr lang="en-US" dirty="0" smtClean="0"/>
              <a:t>or ax, 0Fh</a:t>
            </a:r>
          </a:p>
          <a:p>
            <a:r>
              <a:rPr lang="en-US" b="1" dirty="0" smtClean="0"/>
              <a:t>Result</a:t>
            </a:r>
            <a:r>
              <a:rPr lang="en-US" dirty="0" smtClean="0"/>
              <a:t>: Upper nibble retains its value, lower nibble is set.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-3534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590181" y="342094"/>
            <a:ext cx="3140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Selective Bit Setting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2181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Selective Bit Inversion with XOR</a:t>
            </a:r>
            <a:endParaRPr lang="en-US" dirty="0" smtClean="0"/>
          </a:p>
          <a:p>
            <a:pPr algn="just"/>
            <a:r>
              <a:rPr lang="en-US" b="1" dirty="0" smtClean="0"/>
              <a:t>XOR</a:t>
            </a:r>
            <a:r>
              <a:rPr lang="en-US" dirty="0" smtClean="0"/>
              <a:t> inverts bits based on the mask.</a:t>
            </a:r>
          </a:p>
          <a:p>
            <a:pPr algn="just"/>
            <a:r>
              <a:rPr lang="en-US" dirty="0" smtClean="0"/>
              <a:t>Only the bits corresponding to ones in the mask are inverted, while others remain unchanged.</a:t>
            </a:r>
          </a:p>
          <a:p>
            <a:pPr algn="just"/>
            <a:r>
              <a:rPr lang="en-US" b="1" dirty="0" smtClean="0"/>
              <a:t>Example: </a:t>
            </a:r>
            <a:r>
              <a:rPr lang="en-US" dirty="0" smtClean="0"/>
              <a:t>To invert the lower nibble of a destination operand</a:t>
            </a:r>
          </a:p>
          <a:p>
            <a:pPr marL="0" indent="0" algn="ctr">
              <a:buNone/>
            </a:pPr>
            <a:r>
              <a:rPr lang="en-US" dirty="0" err="1" smtClean="0"/>
              <a:t>xor</a:t>
            </a:r>
            <a:r>
              <a:rPr lang="en-US" dirty="0" smtClean="0"/>
              <a:t> ax, 0Fh</a:t>
            </a:r>
          </a:p>
          <a:p>
            <a:pPr algn="just"/>
            <a:r>
              <a:rPr lang="en-US" b="1" dirty="0" smtClean="0"/>
              <a:t>Comparison with NOT</a:t>
            </a:r>
            <a:r>
              <a:rPr lang="en-US" dirty="0" smtClean="0"/>
              <a:t>: NOT inverts all bits, but XOR allows selective inversion.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-3534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422322" y="300968"/>
            <a:ext cx="34659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Selective Bit Inversion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2612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Selective Bit Testing with AND</a:t>
            </a:r>
            <a:endParaRPr lang="en-US" dirty="0" smtClean="0"/>
          </a:p>
          <a:p>
            <a:pPr algn="just"/>
            <a:r>
              <a:rPr lang="en-US" b="1" dirty="0" smtClean="0"/>
              <a:t>AND</a:t>
            </a:r>
            <a:r>
              <a:rPr lang="en-US" dirty="0" smtClean="0"/>
              <a:t> can check if specific bits are set by applying a mask.</a:t>
            </a:r>
          </a:p>
          <a:p>
            <a:pPr algn="just"/>
            <a:r>
              <a:rPr lang="en-US" dirty="0" smtClean="0"/>
              <a:t>If the result is zero, the bit being tested was clear.</a:t>
            </a:r>
          </a:p>
          <a:p>
            <a:pPr algn="just"/>
            <a:r>
              <a:rPr lang="en-US" b="1" dirty="0" smtClean="0"/>
              <a:t>Example: </a:t>
            </a:r>
            <a:r>
              <a:rPr lang="en-US" dirty="0" smtClean="0"/>
              <a:t>To test if the lower nibble of a destination operand has any set bits:</a:t>
            </a:r>
          </a:p>
          <a:p>
            <a:pPr marL="3657600" lvl="8" indent="0">
              <a:buNone/>
            </a:pPr>
            <a:r>
              <a:rPr lang="en-US" sz="3200" dirty="0" smtClean="0"/>
              <a:t>and ax, 0Fh</a:t>
            </a:r>
          </a:p>
          <a:p>
            <a:pPr marL="3657600" lvl="8" indent="0">
              <a:buNone/>
            </a:pPr>
            <a:r>
              <a:rPr lang="en-US" sz="3200" dirty="0" err="1" smtClean="0"/>
              <a:t>jz</a:t>
            </a:r>
            <a:r>
              <a:rPr lang="en-US" sz="3200" dirty="0" smtClean="0"/>
              <a:t> </a:t>
            </a:r>
            <a:r>
              <a:rPr lang="en-US" sz="3200" dirty="0" err="1" smtClean="0"/>
              <a:t>clear_lower_nibble</a:t>
            </a:r>
            <a:endParaRPr lang="en-US" sz="3200" dirty="0" smtClean="0"/>
          </a:p>
          <a:p>
            <a:pPr algn="just"/>
            <a:r>
              <a:rPr lang="en-US" b="1" dirty="0" smtClean="0"/>
              <a:t>Challenge</a:t>
            </a:r>
            <a:r>
              <a:rPr lang="en-US" dirty="0" smtClean="0"/>
              <a:t>: The AND operation modifies the destination operand.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4468121" y="296911"/>
            <a:ext cx="31374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Selective Bit Testing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9023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Selective Bit Testing with TEST</a:t>
            </a:r>
            <a:endParaRPr lang="en-US" dirty="0" smtClean="0"/>
          </a:p>
          <a:p>
            <a:pPr algn="just"/>
            <a:r>
              <a:rPr lang="en-US" b="1" dirty="0" smtClean="0"/>
              <a:t>TEST</a:t>
            </a:r>
            <a:r>
              <a:rPr lang="en-US" dirty="0" smtClean="0"/>
              <a:t> is similar to AND, but non-destructive.</a:t>
            </a:r>
          </a:p>
          <a:p>
            <a:pPr algn="just"/>
            <a:r>
              <a:rPr lang="en-US" dirty="0" smtClean="0"/>
              <a:t>Performs the AND operation and sets flags without altering the destination operand.</a:t>
            </a:r>
          </a:p>
          <a:p>
            <a:pPr algn="just"/>
            <a:r>
              <a:rPr lang="en-US" b="1" dirty="0" smtClean="0"/>
              <a:t>Example: </a:t>
            </a:r>
            <a:r>
              <a:rPr lang="en-US" dirty="0" smtClean="0"/>
              <a:t>To test if a specific bit is set without modifying the destination:</a:t>
            </a:r>
          </a:p>
          <a:p>
            <a:pPr marL="3657600" lvl="8" indent="0">
              <a:buNone/>
            </a:pPr>
            <a:r>
              <a:rPr lang="en-US" sz="2800" dirty="0" smtClean="0"/>
              <a:t>test ax, 0Fh</a:t>
            </a:r>
          </a:p>
          <a:p>
            <a:pPr marL="3657600" lvl="8" indent="0">
              <a:buNone/>
            </a:pPr>
            <a:r>
              <a:rPr lang="en-US" sz="2800" dirty="0" err="1" smtClean="0"/>
              <a:t>jz</a:t>
            </a:r>
            <a:r>
              <a:rPr lang="en-US" sz="2800" dirty="0" smtClean="0"/>
              <a:t> </a:t>
            </a:r>
            <a:r>
              <a:rPr lang="en-US" sz="2800" dirty="0" err="1" smtClean="0"/>
              <a:t>bit_clear</a:t>
            </a:r>
            <a:endParaRPr lang="en-US" sz="2800" dirty="0" smtClean="0"/>
          </a:p>
          <a:p>
            <a:pPr algn="just"/>
            <a:r>
              <a:rPr lang="en-US" b="1" dirty="0" smtClean="0"/>
              <a:t>Usage</a:t>
            </a:r>
            <a:r>
              <a:rPr lang="en-US" dirty="0" smtClean="0"/>
              <a:t>: Useful in checking bits without affecting the operand.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210338" y="336100"/>
            <a:ext cx="57713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Non-Destructive Bit Testing with TEST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8242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Masking for Bit Testing in Multiplication</a:t>
            </a:r>
          </a:p>
          <a:p>
            <a:pPr marL="0" indent="0" algn="ctr">
              <a:buNone/>
            </a:pPr>
            <a:endParaRPr lang="en-US" dirty="0" smtClean="0"/>
          </a:p>
          <a:p>
            <a:pPr algn="just"/>
            <a:r>
              <a:rPr lang="en-US" dirty="0" smtClean="0"/>
              <a:t>Previously used </a:t>
            </a:r>
            <a:r>
              <a:rPr lang="en-US" b="1" dirty="0" smtClean="0"/>
              <a:t>shifting</a:t>
            </a:r>
            <a:r>
              <a:rPr lang="en-US" dirty="0" smtClean="0"/>
              <a:t> and </a:t>
            </a:r>
            <a:r>
              <a:rPr lang="en-US" b="1" dirty="0" smtClean="0"/>
              <a:t>JC</a:t>
            </a:r>
            <a:r>
              <a:rPr lang="en-US" dirty="0" smtClean="0"/>
              <a:t> to test bits one by one in multiplication.</a:t>
            </a:r>
          </a:p>
          <a:p>
            <a:pPr algn="just"/>
            <a:r>
              <a:rPr lang="en-US" b="1" dirty="0" smtClean="0"/>
              <a:t>Masking</a:t>
            </a:r>
            <a:r>
              <a:rPr lang="en-US" dirty="0" smtClean="0"/>
              <a:t> simplifies testing specific bits at any position.</a:t>
            </a:r>
          </a:p>
          <a:p>
            <a:pPr algn="just"/>
            <a:r>
              <a:rPr lang="en-US" dirty="0" smtClean="0"/>
              <a:t>Allows for more efficient multiplication algorithms by avoiding the need to shift bits in sequence.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3084584" y="304502"/>
            <a:ext cx="61414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Application in Multiplication Algorithms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99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3624</Words>
  <Application>Microsoft Office PowerPoint</Application>
  <PresentationFormat>Widescreen</PresentationFormat>
  <Paragraphs>515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Sami Aqeel</dc:creator>
  <cp:lastModifiedBy>Muhammad Sami Aqeel</cp:lastModifiedBy>
  <cp:revision>18</cp:revision>
  <dcterms:created xsi:type="dcterms:W3CDTF">2024-10-23T06:40:51Z</dcterms:created>
  <dcterms:modified xsi:type="dcterms:W3CDTF">2024-10-23T09:01:38Z</dcterms:modified>
</cp:coreProperties>
</file>