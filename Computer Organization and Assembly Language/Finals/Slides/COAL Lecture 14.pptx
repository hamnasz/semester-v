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9" r:id="rId3"/>
    <p:sldId id="258" r:id="rId4"/>
    <p:sldId id="260" r:id="rId5"/>
    <p:sldId id="261" r:id="rId6"/>
    <p:sldId id="812" r:id="rId7"/>
    <p:sldId id="813" r:id="rId8"/>
    <p:sldId id="262" r:id="rId9"/>
    <p:sldId id="263" r:id="rId10"/>
    <p:sldId id="265" r:id="rId11"/>
    <p:sldId id="268" r:id="rId12"/>
    <p:sldId id="814" r:id="rId13"/>
    <p:sldId id="815" r:id="rId14"/>
    <p:sldId id="816" r:id="rId15"/>
    <p:sldId id="817" r:id="rId16"/>
    <p:sldId id="818" r:id="rId17"/>
    <p:sldId id="819" r:id="rId18"/>
    <p:sldId id="820" r:id="rId19"/>
    <p:sldId id="821" r:id="rId2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12/09/2024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12/09/2024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12/09/2024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en-PK" smtClean="0"/>
              <a:t>12/09/2024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344" y="2448878"/>
            <a:ext cx="4456176" cy="1153160"/>
          </a:xfrm>
        </p:spPr>
        <p:txBody>
          <a:bodyPr/>
          <a:lstStyle/>
          <a:p>
            <a:r>
              <a:rPr lang="en-GB" b="1" dirty="0" smtClean="0">
                <a:solidFill>
                  <a:schemeClr val="bg1"/>
                </a:solidFill>
              </a:rPr>
              <a:t>Chapter 6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0224" y="3602038"/>
            <a:ext cx="8955024" cy="1153160"/>
          </a:xfrm>
        </p:spPr>
        <p:txBody>
          <a:bodyPr>
            <a:noAutofit/>
          </a:bodyPr>
          <a:lstStyle/>
          <a:p>
            <a:r>
              <a:rPr lang="en-GB" sz="6000" b="1" i="0" dirty="0" smtClean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Display Memory</a:t>
            </a:r>
            <a:endParaRPr lang="en-GB" sz="60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9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2879495" y="311681"/>
            <a:ext cx="6551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Debugger's Role in Assembly Programming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98786"/>
            <a:ext cx="10591800" cy="5205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Debugger: A Key Tool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Provides a close view of the processor.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Enables execution and monitoring of each instruction.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Why Use Debugger?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Many bugs become visible only with instruction-level monitoring.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Essential for assembly language program development.</a:t>
            </a:r>
          </a:p>
          <a:p>
            <a:pPr marL="0" indent="0" algn="ctr">
              <a:buNone/>
            </a:pPr>
            <a:r>
              <a:rPr lang="en-US" b="1" dirty="0"/>
              <a:t>Displaying Characters in DOS Character Mode</a:t>
            </a:r>
          </a:p>
          <a:p>
            <a:r>
              <a:rPr lang="en-US" sz="2400" b="1" dirty="0"/>
              <a:t>Character Mode in DOS</a:t>
            </a:r>
            <a:endParaRPr lang="en-US" sz="2400" dirty="0"/>
          </a:p>
          <a:p>
            <a:pPr lvl="1"/>
            <a:r>
              <a:rPr lang="en-US" sz="2000" dirty="0"/>
              <a:t>Specific to IBM PC.</a:t>
            </a:r>
          </a:p>
          <a:p>
            <a:pPr lvl="1"/>
            <a:r>
              <a:rPr lang="en-US" sz="2000" dirty="0"/>
              <a:t>Uses the Video Graphics Adapter (VGA).</a:t>
            </a:r>
          </a:p>
          <a:p>
            <a:r>
              <a:rPr lang="en-US" sz="2400" b="1" dirty="0"/>
              <a:t>How Characters Are Displayed</a:t>
            </a:r>
            <a:endParaRPr lang="en-US" sz="2400" dirty="0"/>
          </a:p>
          <a:p>
            <a:pPr lvl="1"/>
            <a:r>
              <a:rPr lang="en-US" sz="2000" dirty="0"/>
              <a:t>Characters are stored and processed as numbers.</a:t>
            </a:r>
          </a:p>
          <a:p>
            <a:pPr lvl="1"/>
            <a:r>
              <a:rPr lang="en-US" sz="2000" dirty="0"/>
              <a:t>VGA interprets these numbers to display shapes.</a:t>
            </a:r>
          </a:p>
          <a:p>
            <a:pPr lvl="1"/>
            <a:r>
              <a:rPr lang="en-US" sz="2000" dirty="0"/>
              <a:t>Pixels glow for "1" and turn off for "0</a:t>
            </a:r>
            <a:r>
              <a:rPr lang="en-US" sz="2000" dirty="0" smtClean="0"/>
              <a:t>".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3858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F7170C3-FB1F-4CF8-A115-23304150A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010" y="1462529"/>
            <a:ext cx="10981215" cy="520147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What </a:t>
            </a:r>
            <a:r>
              <a:rPr lang="en-US" b="1" dirty="0"/>
              <a:t>is ASCII?</a:t>
            </a:r>
            <a:endParaRPr lang="en-US" dirty="0"/>
          </a:p>
          <a:p>
            <a:pPr lvl="1"/>
            <a:r>
              <a:rPr lang="en-US" dirty="0"/>
              <a:t>American Standard Code for Information Interchange.</a:t>
            </a:r>
          </a:p>
          <a:p>
            <a:pPr lvl="1"/>
            <a:r>
              <a:rPr lang="en-US" dirty="0"/>
              <a:t>Standard numeric representation of characters.</a:t>
            </a:r>
          </a:p>
          <a:p>
            <a:r>
              <a:rPr lang="en-US" b="1" dirty="0"/>
              <a:t>Universal Compatibility</a:t>
            </a:r>
            <a:endParaRPr lang="en-US" dirty="0"/>
          </a:p>
          <a:p>
            <a:pPr lvl="1"/>
            <a:r>
              <a:rPr lang="en-US" dirty="0"/>
              <a:t>‘A’ on one system is ‘A’ on another.</a:t>
            </a:r>
          </a:p>
          <a:p>
            <a:pPr lvl="1"/>
            <a:r>
              <a:rPr lang="en-US" dirty="0"/>
              <a:t>Enables global communication and consistency.</a:t>
            </a:r>
          </a:p>
          <a:p>
            <a:pPr marL="0" indent="0" algn="ctr">
              <a:buNone/>
            </a:pPr>
            <a:r>
              <a:rPr lang="en-US" sz="3800" b="1" dirty="0"/>
              <a:t>ASCII Table and Standards</a:t>
            </a:r>
          </a:p>
          <a:p>
            <a:r>
              <a:rPr lang="en-US" b="1" dirty="0"/>
              <a:t>Standard ASCII</a:t>
            </a:r>
            <a:endParaRPr lang="en-US" dirty="0"/>
          </a:p>
          <a:p>
            <a:pPr lvl="1"/>
            <a:r>
              <a:rPr lang="en-US" dirty="0"/>
              <a:t>128 characters, numbered 0–127.</a:t>
            </a:r>
          </a:p>
          <a:p>
            <a:r>
              <a:rPr lang="en-US" b="1" dirty="0"/>
              <a:t>Extended ASCII</a:t>
            </a:r>
            <a:endParaRPr lang="en-US" dirty="0"/>
          </a:p>
          <a:p>
            <a:pPr lvl="1"/>
            <a:r>
              <a:rPr lang="en-US" dirty="0"/>
              <a:t>Introduced by IBM PC.</a:t>
            </a:r>
          </a:p>
          <a:p>
            <a:pPr lvl="1"/>
            <a:r>
              <a:rPr lang="en-US" dirty="0"/>
              <a:t>Adds 128 more characters (total: 256, 0–255).</a:t>
            </a:r>
          </a:p>
          <a:p>
            <a:pPr lvl="1"/>
            <a:r>
              <a:rPr lang="en-US" dirty="0"/>
              <a:t>Includes line drawings, corners, and non-English characters.</a:t>
            </a:r>
          </a:p>
          <a:p>
            <a:r>
              <a:rPr lang="en-US" b="1" dirty="0"/>
              <a:t>Key Features</a:t>
            </a:r>
            <a:endParaRPr lang="en-US" dirty="0"/>
          </a:p>
          <a:p>
            <a:pPr lvl="1"/>
            <a:r>
              <a:rPr lang="en-US" dirty="0"/>
              <a:t>Standard ASCII: Official standard.</a:t>
            </a:r>
          </a:p>
          <a:p>
            <a:pPr lvl="1"/>
            <a:r>
              <a:rPr lang="en-US" dirty="0"/>
              <a:t>Extended ASCII: Industry standard for IBM PC peripherals</a:t>
            </a:r>
            <a:r>
              <a:rPr lang="en-US" dirty="0" smtClean="0"/>
              <a:t>.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76FD797-A00B-49D8-A888-67D34967B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19B401B7-B613-4C06-A492-7A70682495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847252" y="1519722"/>
            <a:ext cx="2039974" cy="51442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859477" y="234701"/>
            <a:ext cx="24352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ASCII Codes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34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34DD2C6-4CC8-4F4C-9615-8F42757A1CE2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B7C661D-5448-402F-AD37-037DDA89EAE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7AA08FC-35FB-44F1-BB8F-399F019CBF4F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BF06EB7-5284-4699-8F45-3C7496036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DFE4515-6F2B-4BB8-8018-36AFB06BA194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0EB8B8D-6004-4AED-A244-C4DC6F8DA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90D907E-CA01-4229-92EF-9ABBCFBA1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3CE084BF-DF82-4A63-A9CB-4F517A8FDE9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94" y="153305"/>
            <a:ext cx="1443969" cy="82820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6FF2A6-21EC-4DCA-B8DA-6528DF9934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1197" y="1514474"/>
            <a:ext cx="2039974" cy="5144283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22089" y="1362027"/>
            <a:ext cx="1054782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ASCII in Practice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Applications of ASCII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Printers: Understand ASCII to print characters.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Displays: VGA cards render shapes based on ASCII codes.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Communication: ASCII ensures data consistency across systems.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Important ASCII Ranges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Character Groups in ASCII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Uppercase Letters: 41-5A (Hexadecimal)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Lowercase Letters: 61-7A (Hexadecimal)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Numbers: 30-39 (Hexadecimal)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Contiguous Arrangement Benefits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Convert case: Add/Subtract 0x20.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Convert digit to ASCII: Add 0x30.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39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DB829FF-4C37-46B6-B4E2-5F205C614DC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866F03-AB28-4076-A101-C05ED2916839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FF2093B-3FF1-45E4-8236-0C753316A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BF863EB-B7C4-4845-A157-7BB371E924B3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6F0B4C8-CC62-4891-9C99-B146F4A85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8007ED-0B2B-42D8-9394-014EC0497A35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6482E21-91A3-466E-88F0-0149ECFB7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BBDC86F-ED38-4A71-B98D-BFBFB34B9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034077" y="350125"/>
            <a:ext cx="453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Display Memory Formation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662730" y="1271053"/>
            <a:ext cx="10884836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Display Memory and ASCII Codes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VGA Interpretation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Sending 0x40 displays the visual representation of 'A'.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Display is an interpretation of ASCII codes.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Memory Mapping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Video memory seen as a block of system memory.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ASCII placed in video memory corresponds to a character on screen.</a:t>
            </a:r>
          </a:p>
          <a:p>
            <a:pPr algn="ctr"/>
            <a:r>
              <a:rPr lang="en-US" sz="2400" b="1" dirty="0"/>
              <a:t>Mapping Memory to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Screen Dimensions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80 rows × 25 columns.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Memory Mapping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Video memory is linear, mapped to 2D screen space.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character uses 1 word: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Lower Byte:</a:t>
            </a:r>
            <a:r>
              <a:rPr lang="en-US" dirty="0"/>
              <a:t> ASCII code.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Higher Byte:</a:t>
            </a:r>
            <a:r>
              <a:rPr lang="en-US" dirty="0"/>
              <a:t> Attribute (color, intensity, blinking).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7974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DB829FF-4C37-46B6-B4E2-5F205C614DC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866F03-AB28-4076-A101-C05ED2916839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FF2093B-3FF1-45E4-8236-0C753316A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BF863EB-B7C4-4845-A157-7BB371E924B3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6F0B4C8-CC62-4891-9C99-B146F4A85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8007ED-0B2B-42D8-9394-014EC0497A35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6482E21-91A3-466E-88F0-0149ECFB7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BBDC86F-ED38-4A71-B98D-BFBFB34B9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034077" y="350125"/>
            <a:ext cx="453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Display Memory Formation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62730" y="1243764"/>
            <a:ext cx="1113390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Video Memory Address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Standard Base Address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VGA text mode color display starts at physical address B8000.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Uniformity Across Systems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Enables software to work across different video cards.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First byte at B8000: ASCII of top-left character.</a:t>
            </a:r>
          </a:p>
          <a:p>
            <a:pPr algn="ctr"/>
            <a:r>
              <a:rPr lang="en-US" sz="2400" b="1" dirty="0"/>
              <a:t>Attribute Byte in Video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Attribute Byte Structure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Bit 7: Blinking of foreground character.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Bits 6–4: Background color (RGB).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Bits 3–0: Foreground color (RGB + Intensity).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Color Combinations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Foreground: 16 colors.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Background: 8 colors.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88029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DB829FF-4C37-46B6-B4E2-5F205C614DC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866F03-AB28-4076-A101-C05ED2916839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FF2093B-3FF1-45E4-8236-0C753316A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BF863EB-B7C4-4845-A157-7BB371E924B3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6F0B4C8-CC62-4891-9C99-B146F4A85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8007ED-0B2B-42D8-9394-014EC0497A35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6482E21-91A3-466E-88F0-0149ECFB7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BBDC86F-ED38-4A71-B98D-BFBFB34B9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034077" y="350125"/>
            <a:ext cx="453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Display Memory Formation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65232" y="1599516"/>
            <a:ext cx="1058091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Practical Examples of Display Memory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Writing to Memory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mov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ax, 0xb800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mov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ax (Set ES to video memory).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Top-Left Corner: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257300" marR="0" lvl="2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mov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word [es:0], 0x0741 (White 'A' on black).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Second Line, First Column: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257300" marR="0" lvl="2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mov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word [es:160], 0x1230 (Green '0' on blue).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0534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E2889D4-75DA-4D6B-B8A6-BEC829D8F12B}"/>
              </a:ext>
            </a:extLst>
          </p:cNvPr>
          <p:cNvSpPr txBox="1"/>
          <p:nvPr/>
        </p:nvSpPr>
        <p:spPr>
          <a:xfrm>
            <a:off x="809624" y="1704974"/>
            <a:ext cx="10411369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[org 0x0100]</a:t>
            </a:r>
          </a:p>
          <a:p>
            <a:pPr>
              <a:spcBef>
                <a:spcPts val="600"/>
              </a:spcBef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mov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ax, 0xb800 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	;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Load video base</a:t>
            </a:r>
          </a:p>
          <a:p>
            <a:pPr>
              <a:spcBef>
                <a:spcPts val="600"/>
              </a:spcBef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mov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ea typeface="Arial" charset="0"/>
                <a:cs typeface="Arial" charset="0"/>
              </a:rPr>
              <a:t>es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, ax     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	;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Point ES to video base</a:t>
            </a:r>
          </a:p>
          <a:p>
            <a:pPr>
              <a:spcBef>
                <a:spcPts val="600"/>
              </a:spcBef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mov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di, 0      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	;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Point DI to top-left</a:t>
            </a:r>
          </a:p>
          <a:p>
            <a:pPr>
              <a:spcBef>
                <a:spcPts val="600"/>
              </a:spcBef>
            </a:pPr>
            <a:r>
              <a:rPr lang="en-US" dirty="0" err="1">
                <a:latin typeface="Arial" charset="0"/>
                <a:ea typeface="Arial" charset="0"/>
                <a:cs typeface="Arial" charset="0"/>
              </a:rPr>
              <a:t>nextchar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: 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 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mov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word [</a:t>
            </a:r>
            <a:r>
              <a:rPr lang="en-US" dirty="0" err="1">
                <a:latin typeface="Arial" charset="0"/>
                <a:ea typeface="Arial" charset="0"/>
                <a:cs typeface="Arial" charset="0"/>
              </a:rPr>
              <a:t>es:di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], 0x0720 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;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Clear char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 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add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di, 2                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;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Move to next location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 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cmp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di, 4000             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;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Check end of screen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 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jne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ea typeface="Arial" charset="0"/>
                <a:cs typeface="Arial" charset="0"/>
              </a:rPr>
              <a:t>nextchar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            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;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Repeat if not done</a:t>
            </a:r>
          </a:p>
          <a:p>
            <a:pPr>
              <a:spcBef>
                <a:spcPts val="600"/>
              </a:spcBef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mov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ax, 0x4c00 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	;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Terminate program</a:t>
            </a:r>
          </a:p>
          <a:p>
            <a:pPr>
              <a:spcBef>
                <a:spcPts val="600"/>
              </a:spcBef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int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0x21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001890-2D27-4C06-8608-762CAE8C86A2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4EECAA-E328-47D6-ACBC-7B6045FFBA9E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310BC6-D369-40F7-9134-CA1AF26C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C4A534A-AF61-4A94-9BBB-ECD9B5E8BF56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7FD3E16B-B08C-424B-B4E0-5F9C11D04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F2B077-D3DF-4751-8D55-BD3BDAEDAB0F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B35BA541-C933-4EB5-A6B6-39E31DDF9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9D81B47-A520-4FD2-B153-D43C470F8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3911496" y="288867"/>
            <a:ext cx="44101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Clearing the Screen Example</a:t>
            </a:r>
          </a:p>
        </p:txBody>
      </p:sp>
    </p:spTree>
    <p:extLst>
      <p:ext uri="{BB962C8B-B14F-4D97-AF65-F5344CB8AC3E}">
        <p14:creationId xmlns:p14="http://schemas.microsoft.com/office/powerpoint/2010/main" val="2724179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EBEA25A-199D-4D78-B795-C46C85A52E0B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70D3031-B614-4825-9EBF-C1E73C4E9DBB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74C19F5-C6B4-4428-89D1-EB6EC79A5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A2AD84F-7748-4055-8715-3197B2C846C7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C28E98CA-7A21-4AA3-9B8F-1799DD348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DD3783-E879-4E85-BB51-871A7A8018E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5C669A3-D490-4746-8542-0EDF14F74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F309829-A49F-4E58-8019-7A5F6A26D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42108" y="1305319"/>
            <a:ext cx="1110778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/>
              <a:t>Key Observations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Details in Screen Clearing</a:t>
            </a:r>
            <a:endParaRPr lang="en-US" altLang="en-US" sz="2000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Code for space: 0x20.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Attribute for white on black: 0x07.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Each location is 2 bytes (character + attribute).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Screen Size Calculation</a:t>
            </a:r>
            <a:endParaRPr lang="en-US" altLang="en-US" sz="2000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80 rows × 25 cols × 2 bytes = 4000 bytes.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Output Verification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Execution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Cannot observe in debugger as it overwrites screen.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Direct execution (COM file) clears the screen.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Output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Screen clears, and command prompt reappears after program termination.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632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16CB3A1-2F0C-4B2E-B7CA-A23AA016B82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9DF749-C1DE-44F1-A0AE-4706451F9DC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9D7FAC1-C050-44C3-A520-F7E0452EA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6F26BF-93C2-4599-8B3A-583CD8A06DE8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8181E826-520B-42BD-8798-DFC87C727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DE77C3-8284-43D1-8BB9-0E1FE03DB50B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905B5D0-B635-43DA-AFAC-C24406CF3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51AB74C-8A70-4C3E-A650-D7E8022D4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3229938" y="347553"/>
            <a:ext cx="60236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Number Printing in Assembly Language</a:t>
            </a:r>
            <a:endParaRPr lang="en-GB" altLang="en-US" sz="2800" b="1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3069" y="1397652"/>
            <a:ext cx="11031583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/>
              <a:t>The Challenge of Number Printing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Problem:</a:t>
            </a:r>
            <a:endParaRPr lang="en-US" altLang="en-US" sz="20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Numbers are stored as binary values, not ASCII.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Example: 10 is stored as binary 1010 (not ASCII '1' and '0').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Issue:</a:t>
            </a:r>
            <a:endParaRPr lang="en-US" altLang="en-US" sz="20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Direct display of raw binary numbers is meaningless on screen.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Solution: Convert numbers to ASCII representation</a:t>
            </a:r>
            <a:r>
              <a:rPr lang="en-US" altLang="en-US" sz="2000" dirty="0" smtClean="0"/>
              <a:t>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Steps in Number Conversion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Divide the number by the base (10 for decimal).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Extract the remainder (rightmost digit).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Convert the remainder to ASCII (add 0x30 for decimal).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Save the ASCII digit on the stack.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Repeat for the quotient until it becomes zero.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Pop digits from the stack and display in correct order.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3066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50E8-70C4-41E2-98DF-B41418886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722"/>
            <a:ext cx="10515600" cy="4972518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5100" b="1" dirty="0"/>
              <a:t>Algorithm for Number Printing</a:t>
            </a:r>
          </a:p>
          <a:p>
            <a:r>
              <a:rPr lang="en-US" sz="3200" b="1" dirty="0"/>
              <a:t>Input:</a:t>
            </a:r>
            <a:r>
              <a:rPr lang="en-US" sz="3200" dirty="0"/>
              <a:t> Number in binary format.</a:t>
            </a:r>
          </a:p>
          <a:p>
            <a:r>
              <a:rPr lang="en-US" sz="3200" b="1" dirty="0"/>
              <a:t>Process:</a:t>
            </a:r>
            <a:endParaRPr lang="en-US" sz="3200" dirty="0"/>
          </a:p>
          <a:p>
            <a:pPr lvl="1"/>
            <a:r>
              <a:rPr lang="en-US" sz="3200" dirty="0"/>
              <a:t>Divide number by base.</a:t>
            </a:r>
          </a:p>
          <a:p>
            <a:pPr lvl="1"/>
            <a:r>
              <a:rPr lang="en-US" sz="3200" dirty="0"/>
              <a:t>Push ASCII representation of remainder onto stack.</a:t>
            </a:r>
          </a:p>
          <a:p>
            <a:pPr lvl="1"/>
            <a:r>
              <a:rPr lang="en-US" sz="3200" dirty="0"/>
              <a:t>Repeat until quotient is zero.</a:t>
            </a:r>
          </a:p>
          <a:p>
            <a:pPr lvl="1"/>
            <a:r>
              <a:rPr lang="en-US" sz="3200" dirty="0"/>
              <a:t>Pop digits from stack to display left-to-right.</a:t>
            </a:r>
          </a:p>
          <a:p>
            <a:r>
              <a:rPr lang="en-US" sz="3200" b="1" dirty="0"/>
              <a:t>Output:</a:t>
            </a:r>
            <a:r>
              <a:rPr lang="en-US" sz="3200" dirty="0"/>
              <a:t> </a:t>
            </a:r>
            <a:r>
              <a:rPr lang="en-US" sz="3200" dirty="0" smtClean="0"/>
              <a:t>Correct </a:t>
            </a:r>
            <a:r>
              <a:rPr lang="en-US" sz="3200" dirty="0"/>
              <a:t>ASCII representation of the number</a:t>
            </a:r>
            <a:r>
              <a:rPr lang="en-US" sz="3200" dirty="0" smtClean="0"/>
              <a:t>.</a:t>
            </a:r>
          </a:p>
          <a:p>
            <a:pPr marL="0" indent="0" algn="ctr">
              <a:buNone/>
            </a:pPr>
            <a:r>
              <a:rPr lang="en-US" sz="4400" b="1" dirty="0"/>
              <a:t>Using the Stack to Reverse Order</a:t>
            </a:r>
          </a:p>
          <a:p>
            <a:r>
              <a:rPr lang="en-US" sz="3200" b="1" dirty="0"/>
              <a:t>Problem:</a:t>
            </a:r>
            <a:endParaRPr lang="en-US" sz="3200" dirty="0"/>
          </a:p>
          <a:p>
            <a:pPr lvl="1"/>
            <a:r>
              <a:rPr lang="en-US" sz="3200" dirty="0"/>
              <a:t>Digits are processed right-to-left.</a:t>
            </a:r>
          </a:p>
          <a:p>
            <a:r>
              <a:rPr lang="en-US" sz="3200" b="1" dirty="0"/>
              <a:t>Solution:</a:t>
            </a:r>
            <a:endParaRPr lang="en-US" sz="3200" dirty="0"/>
          </a:p>
          <a:p>
            <a:pPr lvl="1"/>
            <a:r>
              <a:rPr lang="en-US" sz="3200" dirty="0"/>
              <a:t>Use the </a:t>
            </a:r>
            <a:r>
              <a:rPr lang="en-US" sz="3200" b="1" dirty="0"/>
              <a:t>Last In First Out (LIFO)</a:t>
            </a:r>
            <a:r>
              <a:rPr lang="en-US" sz="3200" dirty="0"/>
              <a:t> nature of the stack.</a:t>
            </a:r>
          </a:p>
          <a:p>
            <a:pPr lvl="1"/>
            <a:r>
              <a:rPr lang="en-US" sz="3200" dirty="0"/>
              <a:t>Push digits: Rightmost first.</a:t>
            </a:r>
          </a:p>
          <a:p>
            <a:pPr lvl="1"/>
            <a:r>
              <a:rPr lang="en-US" sz="3200" dirty="0"/>
              <a:t>Pop digits: Leftmost first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3129660" y="304502"/>
            <a:ext cx="60236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Number Printing in Assembly Language</a:t>
            </a:r>
            <a:endParaRPr lang="en-GB" altLang="en-US" sz="2800" b="1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218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3129660" y="304502"/>
            <a:ext cx="60236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Number Printing in Assembly Language</a:t>
            </a:r>
            <a:endParaRPr lang="en-GB" altLang="en-US" sz="2800" b="1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71945" y="1139377"/>
            <a:ext cx="10448109" cy="5627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Overview of the DIV Instruction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Purpose: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Integer division.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Modes of Operation: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16-bit dividend (AX):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DIV BL divides AX by an 8-bit operand (BL).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Quotient in AL, Remainder in AH.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32-bit dividend (DX:AX):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DIV BX divides DX:AX by a 16-bit operand (BX).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Quotient in AX, Remainder in DX.</a:t>
            </a:r>
          </a:p>
          <a:p>
            <a:pPr marL="0" indent="0" algn="ctr">
              <a:buNone/>
            </a:pPr>
            <a:r>
              <a:rPr lang="en-US" sz="2400" b="1" dirty="0"/>
              <a:t>Division Errors</a:t>
            </a:r>
          </a:p>
          <a:p>
            <a:r>
              <a:rPr lang="en-US" sz="2000" b="1" dirty="0"/>
              <a:t>Divide Overflow Error:</a:t>
            </a:r>
            <a:endParaRPr lang="en-US" sz="2000" dirty="0"/>
          </a:p>
          <a:p>
            <a:pPr lvl="1"/>
            <a:r>
              <a:rPr lang="en-US" sz="2000" dirty="0"/>
              <a:t>Occurs when quotient exceeds destination capacity.</a:t>
            </a:r>
          </a:p>
          <a:p>
            <a:pPr lvl="1"/>
            <a:r>
              <a:rPr lang="en-US" sz="2000" dirty="0"/>
              <a:t>Example: Division by zero.</a:t>
            </a:r>
          </a:p>
          <a:p>
            <a:r>
              <a:rPr lang="en-US" sz="2000" b="1" dirty="0"/>
              <a:t>Handling:</a:t>
            </a:r>
            <a:endParaRPr lang="en-US" sz="2000" dirty="0"/>
          </a:p>
          <a:p>
            <a:pPr lvl="1"/>
            <a:r>
              <a:rPr lang="en-US" sz="2000" dirty="0"/>
              <a:t>A type 0 interrupt is generated.</a:t>
            </a:r>
          </a:p>
          <a:p>
            <a:pPr lvl="1"/>
            <a:r>
              <a:rPr lang="en-US" sz="2000" dirty="0"/>
              <a:t>Result is undefined, and program terminates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13198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3557942" y="311681"/>
            <a:ext cx="48468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800" b="1" dirty="0" smtClean="0">
                <a:solidFill>
                  <a:schemeClr val="bg1"/>
                </a:solidFill>
              </a:rPr>
              <a:t>Number </a:t>
            </a:r>
            <a:r>
              <a:rPr lang="en-US" sz="2800" b="1" dirty="0">
                <a:solidFill>
                  <a:schemeClr val="bg1"/>
                </a:solidFill>
              </a:rPr>
              <a:t>Printing Example </a:t>
            </a:r>
            <a:r>
              <a:rPr lang="en-US" sz="2800" b="1" dirty="0" smtClean="0">
                <a:solidFill>
                  <a:schemeClr val="bg1"/>
                </a:solidFill>
              </a:rPr>
              <a:t>Code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71945" y="1290699"/>
            <a:ext cx="10448109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err="1"/>
              <a:t>mov</a:t>
            </a:r>
            <a:r>
              <a:rPr lang="en-US" sz="2000" dirty="0"/>
              <a:t> ax, number    </a:t>
            </a:r>
            <a:r>
              <a:rPr lang="en-US" sz="2000" dirty="0" smtClean="0"/>
              <a:t>	; </a:t>
            </a:r>
            <a:r>
              <a:rPr lang="en-US" sz="2000" dirty="0"/>
              <a:t>Load the number to print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err="1"/>
              <a:t>mov</a:t>
            </a:r>
            <a:r>
              <a:rPr lang="en-US" sz="2000" dirty="0"/>
              <a:t> </a:t>
            </a:r>
            <a:r>
              <a:rPr lang="en-US" sz="2000" dirty="0" err="1"/>
              <a:t>bx</a:t>
            </a:r>
            <a:r>
              <a:rPr lang="en-US" sz="2000" dirty="0"/>
              <a:t>, 10        </a:t>
            </a:r>
            <a:r>
              <a:rPr lang="en-US" sz="2000" dirty="0" smtClean="0"/>
              <a:t>		; </a:t>
            </a:r>
            <a:r>
              <a:rPr lang="en-US" sz="2000" dirty="0"/>
              <a:t>Set base (decimal)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err="1"/>
              <a:t>mov</a:t>
            </a:r>
            <a:r>
              <a:rPr lang="en-US" sz="2000" dirty="0"/>
              <a:t> cx, 0         </a:t>
            </a:r>
            <a:r>
              <a:rPr lang="en-US" sz="2000" dirty="0" smtClean="0"/>
              <a:t>		; </a:t>
            </a:r>
            <a:r>
              <a:rPr lang="en-US" sz="2000" dirty="0"/>
              <a:t>Clear counter for digits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err="1"/>
              <a:t>print_loop</a:t>
            </a:r>
            <a:r>
              <a:rPr 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    </a:t>
            </a:r>
            <a:r>
              <a:rPr lang="en-US" sz="2000" dirty="0" err="1"/>
              <a:t>xor</a:t>
            </a:r>
            <a:r>
              <a:rPr lang="en-US" sz="2000" dirty="0"/>
              <a:t> dx, dx       </a:t>
            </a:r>
            <a:r>
              <a:rPr lang="en-US" sz="2000" dirty="0" smtClean="0"/>
              <a:t>		; </a:t>
            </a:r>
            <a:r>
              <a:rPr lang="en-US" sz="2000" dirty="0"/>
              <a:t>Clear DX (high word of dividend)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    div </a:t>
            </a:r>
            <a:r>
              <a:rPr lang="en-US" sz="2000" dirty="0" err="1"/>
              <a:t>bx</a:t>
            </a:r>
            <a:r>
              <a:rPr lang="en-US" sz="2000" dirty="0"/>
              <a:t>           </a:t>
            </a:r>
            <a:r>
              <a:rPr lang="en-US" sz="2000" dirty="0" smtClean="0"/>
              <a:t>		; </a:t>
            </a:r>
            <a:r>
              <a:rPr lang="en-US" sz="2000" dirty="0"/>
              <a:t>AX = AX / BX, Remainder in DX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    add dl, 0x30     </a:t>
            </a:r>
            <a:r>
              <a:rPr lang="en-US" sz="2000" dirty="0" smtClean="0"/>
              <a:t>		; </a:t>
            </a:r>
            <a:r>
              <a:rPr lang="en-US" sz="2000" dirty="0"/>
              <a:t>Convert remainder to ASCII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    push dx         </a:t>
            </a:r>
            <a:r>
              <a:rPr lang="en-US" sz="2000" dirty="0" smtClean="0"/>
              <a:t>	 	; </a:t>
            </a:r>
            <a:r>
              <a:rPr lang="en-US" sz="2000" dirty="0"/>
              <a:t>Push ASCII digit onto stack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    </a:t>
            </a:r>
            <a:r>
              <a:rPr lang="en-US" sz="2000" dirty="0" err="1"/>
              <a:t>inc</a:t>
            </a:r>
            <a:r>
              <a:rPr lang="en-US" sz="2000" dirty="0"/>
              <a:t> cx           </a:t>
            </a:r>
            <a:r>
              <a:rPr lang="en-US" sz="2000" dirty="0" smtClean="0"/>
              <a:t>		; </a:t>
            </a:r>
            <a:r>
              <a:rPr lang="en-US" sz="2000" dirty="0"/>
              <a:t>Increment digit count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    test ax, ax      </a:t>
            </a:r>
            <a:r>
              <a:rPr lang="en-US" sz="2000" dirty="0" smtClean="0"/>
              <a:t>		; </a:t>
            </a:r>
            <a:r>
              <a:rPr lang="en-US" sz="2000" dirty="0"/>
              <a:t>Check if quotient is zero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    </a:t>
            </a:r>
            <a:r>
              <a:rPr lang="en-US" sz="2000" dirty="0" err="1"/>
              <a:t>jnz</a:t>
            </a:r>
            <a:r>
              <a:rPr lang="en-US" sz="2000" dirty="0"/>
              <a:t> </a:t>
            </a:r>
            <a:r>
              <a:rPr lang="en-US" sz="2000" dirty="0" err="1"/>
              <a:t>print_loop</a:t>
            </a:r>
            <a:r>
              <a:rPr lang="en-US" sz="2000" dirty="0"/>
              <a:t>   </a:t>
            </a:r>
            <a:r>
              <a:rPr lang="en-US" sz="2000" dirty="0" smtClean="0"/>
              <a:t>	; </a:t>
            </a:r>
            <a:r>
              <a:rPr lang="en-US" sz="2000" dirty="0"/>
              <a:t>Repeat if not zero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err="1"/>
              <a:t>print_digits</a:t>
            </a:r>
            <a:r>
              <a:rPr 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    pop dx           </a:t>
            </a:r>
            <a:r>
              <a:rPr lang="en-US" sz="2000" dirty="0" smtClean="0"/>
              <a:t>		; </a:t>
            </a:r>
            <a:r>
              <a:rPr lang="en-US" sz="2000" dirty="0"/>
              <a:t>Pop ASCII digit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    ; Add your screen printing logic here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    loop </a:t>
            </a:r>
            <a:r>
              <a:rPr lang="en-US" sz="2000" dirty="0" err="1"/>
              <a:t>print_digits</a:t>
            </a:r>
            <a:r>
              <a:rPr lang="en-US" sz="2000" dirty="0"/>
              <a:t> </a:t>
            </a:r>
            <a:r>
              <a:rPr lang="en-US" sz="2000" dirty="0" smtClean="0"/>
              <a:t>	; </a:t>
            </a:r>
            <a:r>
              <a:rPr lang="en-US" sz="2000" dirty="0"/>
              <a:t>Repeat for all digits</a:t>
            </a:r>
          </a:p>
        </p:txBody>
      </p:sp>
    </p:spTree>
    <p:extLst>
      <p:ext uri="{BB962C8B-B14F-4D97-AF65-F5344CB8AC3E}">
        <p14:creationId xmlns:p14="http://schemas.microsoft.com/office/powerpoint/2010/main" val="1477590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3557942" y="311681"/>
            <a:ext cx="48468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800" b="1" dirty="0" smtClean="0">
                <a:solidFill>
                  <a:schemeClr val="bg1"/>
                </a:solidFill>
              </a:rPr>
              <a:t>Number </a:t>
            </a:r>
            <a:r>
              <a:rPr lang="en-US" sz="2800" b="1" dirty="0">
                <a:solidFill>
                  <a:schemeClr val="bg1"/>
                </a:solidFill>
              </a:rPr>
              <a:t>Printing Example </a:t>
            </a:r>
            <a:r>
              <a:rPr lang="en-US" sz="2800" b="1" dirty="0" smtClean="0">
                <a:solidFill>
                  <a:schemeClr val="bg1"/>
                </a:solidFill>
              </a:rPr>
              <a:t>Code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71945" y="1497678"/>
            <a:ext cx="10448109" cy="491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/>
              <a:t>Key Points to Remember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Conversion Process:</a:t>
            </a:r>
            <a:endParaRPr lang="en-US" altLang="en-US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Dividing by base extracts digits.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Adding 0x30 converts to ASCII.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Role of Stack:</a:t>
            </a:r>
            <a:endParaRPr lang="en-US" altLang="en-US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Corrects the display order of digits.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DIV Instruction:</a:t>
            </a:r>
            <a:endParaRPr lang="en-US" altLang="en-US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Handles unsigned integer division</a:t>
            </a:r>
            <a:r>
              <a:rPr lang="en-US" altLang="en-US" sz="2000" dirty="0" smtClean="0"/>
              <a:t>.</a:t>
            </a:r>
            <a:endParaRPr lang="en-US" sz="2000" b="1" dirty="0" smtClean="0"/>
          </a:p>
          <a:p>
            <a:pPr marL="0" indent="0" algn="ctr">
              <a:buNone/>
            </a:pPr>
            <a:r>
              <a:rPr lang="en-US" sz="2400" b="1" dirty="0" smtClean="0"/>
              <a:t>Practical </a:t>
            </a:r>
            <a:r>
              <a:rPr lang="en-US" sz="2400" b="1" dirty="0"/>
              <a:t>Significance</a:t>
            </a:r>
          </a:p>
          <a:p>
            <a:r>
              <a:rPr lang="en-US" sz="2000" b="1" dirty="0"/>
              <a:t>Applications:</a:t>
            </a:r>
            <a:endParaRPr lang="en-US" sz="2000" dirty="0"/>
          </a:p>
          <a:p>
            <a:pPr lvl="1"/>
            <a:r>
              <a:rPr lang="en-US" sz="2000" dirty="0"/>
              <a:t>Printing numbers in any base (decimal, hexadecimal, etc.).</a:t>
            </a:r>
          </a:p>
          <a:p>
            <a:pPr lvl="1"/>
            <a:r>
              <a:rPr lang="en-US" sz="2000" dirty="0"/>
              <a:t>Foundation for advanced display operations.</a:t>
            </a:r>
          </a:p>
          <a:p>
            <a:r>
              <a:rPr lang="en-US" sz="2000" b="1" dirty="0"/>
              <a:t>Learning Outcome:</a:t>
            </a:r>
            <a:endParaRPr lang="en-US" sz="2000" dirty="0"/>
          </a:p>
          <a:p>
            <a:pPr lvl="1"/>
            <a:r>
              <a:rPr lang="en-US" sz="2000" dirty="0"/>
              <a:t>Understanding low-level number handling and display in assembly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86105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3557942" y="311681"/>
            <a:ext cx="4273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800" b="1" dirty="0" smtClean="0">
                <a:solidFill>
                  <a:schemeClr val="bg1"/>
                </a:solidFill>
              </a:rPr>
              <a:t>Screen Location Calculation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96835" y="1311186"/>
            <a:ext cx="10225273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/>
              <a:t>Introduction to Screen Location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Problem:</a:t>
            </a:r>
            <a:endParaRPr lang="en-US" altLang="en-US" sz="2000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Display at specific positions on the screen with customizable attributes.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Solution:</a:t>
            </a:r>
            <a:endParaRPr lang="en-US" altLang="en-US" sz="2000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Map 2D screen coordinates (row, column) to 1D video memory.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Concept:</a:t>
            </a:r>
            <a:endParaRPr lang="en-US" altLang="en-US" sz="2000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Memory location = (row * 80 + column) * 2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Two bytes per character in video memory: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Byte 1:</a:t>
            </a:r>
            <a:r>
              <a:rPr lang="en-US" altLang="en-US" sz="2000" dirty="0"/>
              <a:t> ASCII code.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Byte 2:</a:t>
            </a:r>
            <a:r>
              <a:rPr lang="en-US" altLang="en-US" sz="2000" dirty="0"/>
              <a:t> Attribute (color, blinking, etc</a:t>
            </a:r>
            <a:r>
              <a:rPr lang="en-US" altLang="en-US" sz="2000" dirty="0" smtClean="0"/>
              <a:t>.).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Multiplication in Coordinate Mapping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Steps: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Multiply row number by 80 (columns per row).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 column number to get the linear memory location.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Multiply by 2 (each character occupies two bytes).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Formula: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location = (row * 80 + column) * 2</a:t>
            </a:r>
          </a:p>
        </p:txBody>
      </p:sp>
    </p:spTree>
    <p:extLst>
      <p:ext uri="{BB962C8B-B14F-4D97-AF65-F5344CB8AC3E}">
        <p14:creationId xmlns:p14="http://schemas.microsoft.com/office/powerpoint/2010/main" val="3163264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3557942" y="311681"/>
            <a:ext cx="4273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800" b="1" dirty="0" smtClean="0">
                <a:solidFill>
                  <a:schemeClr val="bg1"/>
                </a:solidFill>
              </a:rPr>
              <a:t>Screen Location Calculation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62730" y="1062419"/>
            <a:ext cx="11003281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/>
              <a:t>MUL Instruction Overview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Purpose:</a:t>
            </a:r>
            <a:r>
              <a:rPr lang="en-US" altLang="en-US" dirty="0"/>
              <a:t> Perform unsigned multiplication.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Operation Modes:</a:t>
            </a:r>
            <a:endParaRPr lang="en-US" altLang="en-US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8-bit operand:</a:t>
            </a:r>
            <a:endParaRPr lang="en-US" altLang="en-US" dirty="0"/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Multiply source with AL.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Result in AH:AL (16-bit).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/>
              <a:t>16-bit operand:</a:t>
            </a:r>
            <a:endParaRPr lang="en-US" altLang="en-US" dirty="0"/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Multiply source with AX.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Result in DX:AX (32-bit</a:t>
            </a:r>
            <a:r>
              <a:rPr lang="en-US" altLang="en-US" dirty="0" smtClean="0"/>
              <a:t>).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 Instruction Details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Syntax: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 source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Examples: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 BL (8-bit):</a:t>
            </a:r>
          </a:p>
          <a:p>
            <a:pPr marL="12001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AL * BL → Result in AH:AL.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 BX (16-bit):</a:t>
            </a:r>
          </a:p>
          <a:p>
            <a:pPr marL="12001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AX * BX → Result in DX:AX.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Result Storage: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Low part: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AL or AX.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High part: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AH or DX.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54013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3557942" y="311681"/>
            <a:ext cx="4273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800" b="1" dirty="0" smtClean="0">
                <a:solidFill>
                  <a:schemeClr val="bg1"/>
                </a:solidFill>
              </a:rPr>
              <a:t>Screen Location Calculation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47861" y="1054180"/>
            <a:ext cx="11296277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smtClean="0"/>
              <a:t>Calculating Screen Location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/>
              <a:t>Input:</a:t>
            </a:r>
            <a:endParaRPr lang="en-US" altLang="en-US" sz="2000" dirty="0" smtClean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/>
              <a:t>row, column, attribute.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/>
              <a:t>Process:</a:t>
            </a:r>
            <a:endParaRPr lang="en-US" altLang="en-US" sz="2000" dirty="0" smtClean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/>
              <a:t>Multiply row * 80.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/>
              <a:t>Add column.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/>
              <a:t>Multiply result by 2.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/>
              <a:t>Use this memory location to store ASCII and attribute bytes.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String Printing at Desired Location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Parameters: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x-position (column).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y-position (row).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attribute.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Steps: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Calculate memory location: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location = (row * 80 + column) * 2.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Write string to calculated memory location.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Include attribute for each character.</a:t>
            </a:r>
          </a:p>
        </p:txBody>
      </p:sp>
    </p:spTree>
    <p:extLst>
      <p:ext uri="{BB962C8B-B14F-4D97-AF65-F5344CB8AC3E}">
        <p14:creationId xmlns:p14="http://schemas.microsoft.com/office/powerpoint/2010/main" val="1052901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4755842" y="296257"/>
            <a:ext cx="27989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800" b="1" dirty="0">
                <a:solidFill>
                  <a:schemeClr val="bg1"/>
                </a:solidFill>
              </a:rPr>
              <a:t>Example Program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47861" y="1731289"/>
            <a:ext cx="1129627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/>
              <a:t>mov</a:t>
            </a:r>
            <a:r>
              <a:rPr lang="en-US" altLang="en-US" sz="2000" dirty="0"/>
              <a:t> ah, row          </a:t>
            </a:r>
            <a:r>
              <a:rPr lang="en-US" altLang="en-US" sz="2000" dirty="0" smtClean="0"/>
              <a:t>	; </a:t>
            </a:r>
            <a:r>
              <a:rPr lang="en-US" altLang="en-US" sz="2000" dirty="0"/>
              <a:t>Load row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/>
              <a:t>mov</a:t>
            </a:r>
            <a:r>
              <a:rPr lang="en-US" altLang="en-US" sz="2000" dirty="0"/>
              <a:t> al, 80           </a:t>
            </a:r>
            <a:r>
              <a:rPr lang="en-US" altLang="en-US" sz="2000" dirty="0" smtClean="0"/>
              <a:t>		; </a:t>
            </a:r>
            <a:r>
              <a:rPr lang="en-US" altLang="en-US" sz="2000" dirty="0"/>
              <a:t>80 columns per row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/>
              <a:t>mul</a:t>
            </a:r>
            <a:r>
              <a:rPr lang="en-US" altLang="en-US" sz="2000" dirty="0"/>
              <a:t> al               </a:t>
            </a:r>
            <a:r>
              <a:rPr lang="en-US" altLang="en-US" sz="2000" dirty="0" smtClean="0"/>
              <a:t>		; </a:t>
            </a:r>
            <a:r>
              <a:rPr lang="en-US" altLang="en-US" sz="2000" dirty="0"/>
              <a:t>row * 80 → result in AX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add ax, column       </a:t>
            </a:r>
            <a:r>
              <a:rPr lang="en-US" altLang="en-US" sz="2000" dirty="0" smtClean="0"/>
              <a:t>	; </a:t>
            </a:r>
            <a:r>
              <a:rPr lang="en-US" altLang="en-US" sz="2000" dirty="0"/>
              <a:t>Add column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/>
              <a:t>shl</a:t>
            </a:r>
            <a:r>
              <a:rPr lang="en-US" altLang="en-US" sz="2000" dirty="0"/>
              <a:t> ax, 1            </a:t>
            </a:r>
            <a:r>
              <a:rPr lang="en-US" altLang="en-US" sz="2000" dirty="0" smtClean="0"/>
              <a:t>		; </a:t>
            </a:r>
            <a:r>
              <a:rPr lang="en-US" altLang="en-US" sz="2000" dirty="0"/>
              <a:t>Multiply by 2 (shift left by 1)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/>
              <a:t>mov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bx</a:t>
            </a:r>
            <a:r>
              <a:rPr lang="en-US" altLang="en-US" sz="2000" dirty="0"/>
              <a:t>, ax           </a:t>
            </a:r>
            <a:r>
              <a:rPr lang="en-US" altLang="en-US" sz="2000" dirty="0" smtClean="0"/>
              <a:t>		; </a:t>
            </a:r>
            <a:r>
              <a:rPr lang="en-US" altLang="en-US" sz="2000" dirty="0"/>
              <a:t>Store location in BX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/>
              <a:t>mov</a:t>
            </a:r>
            <a:r>
              <a:rPr lang="en-US" altLang="en-US" sz="2000" dirty="0"/>
              <a:t> di, </a:t>
            </a:r>
            <a:r>
              <a:rPr lang="en-US" altLang="en-US" sz="2000" dirty="0" err="1"/>
              <a:t>bx</a:t>
            </a:r>
            <a:r>
              <a:rPr lang="en-US" altLang="en-US" sz="2000" dirty="0"/>
              <a:t>           </a:t>
            </a:r>
            <a:r>
              <a:rPr lang="en-US" altLang="en-US" sz="2000" dirty="0" smtClean="0"/>
              <a:t>		; </a:t>
            </a:r>
            <a:r>
              <a:rPr lang="en-US" altLang="en-US" sz="2000" dirty="0"/>
              <a:t>DI points to video memory location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; Now write ASCII and attribute to video memory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/>
              <a:t>mov</a:t>
            </a:r>
            <a:r>
              <a:rPr lang="en-US" altLang="en-US" sz="2000" dirty="0"/>
              <a:t> [</a:t>
            </a:r>
            <a:r>
              <a:rPr lang="en-US" altLang="en-US" sz="2000" dirty="0" err="1"/>
              <a:t>es:di</a:t>
            </a:r>
            <a:r>
              <a:rPr lang="en-US" altLang="en-US" sz="2000" dirty="0"/>
              <a:t>], </a:t>
            </a:r>
            <a:r>
              <a:rPr lang="en-US" altLang="en-US" sz="2000" dirty="0" err="1"/>
              <a:t>ascii</a:t>
            </a:r>
            <a:r>
              <a:rPr lang="en-US" altLang="en-US" sz="2000" dirty="0"/>
              <a:t>   </a:t>
            </a:r>
            <a:r>
              <a:rPr lang="en-US" altLang="en-US" sz="2000" dirty="0" smtClean="0"/>
              <a:t>	; </a:t>
            </a:r>
            <a:r>
              <a:rPr lang="en-US" altLang="en-US" sz="2000" dirty="0"/>
              <a:t>Write ASCII character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/>
              <a:t>mov</a:t>
            </a:r>
            <a:r>
              <a:rPr lang="en-US" altLang="en-US" sz="2000" dirty="0"/>
              <a:t> [es:di+1], </a:t>
            </a:r>
            <a:r>
              <a:rPr lang="en-US" altLang="en-US" sz="2000" dirty="0" err="1"/>
              <a:t>attr</a:t>
            </a:r>
            <a:r>
              <a:rPr lang="en-US" altLang="en-US" sz="2000" dirty="0"/>
              <a:t>  </a:t>
            </a:r>
            <a:r>
              <a:rPr lang="en-US" altLang="en-US" sz="2000" dirty="0" smtClean="0"/>
              <a:t>	; </a:t>
            </a:r>
            <a:r>
              <a:rPr lang="en-US" altLang="en-US" sz="2000" dirty="0"/>
              <a:t>Write attribute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90245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62730" y="1496827"/>
            <a:ext cx="10969076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/>
              <a:t>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Custom Display: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Print at specific locations on the screen.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Use attributes for foreground/background colors and effects.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Dynamic Output: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Create menus, formatted text, and interactive programs</a:t>
            </a:r>
            <a:r>
              <a:rPr lang="en-US" sz="2000" dirty="0" smtClean="0"/>
              <a:t>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Summary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Screen Mapping Formula: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(row * 80 + column) * 2.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 Instruction: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Efficient multiplication in assembly.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Custom Positioning: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Enables dynamic and interactive display output.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605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1542</Words>
  <Application>Microsoft Office PowerPoint</Application>
  <PresentationFormat>Widescreen</PresentationFormat>
  <Paragraphs>310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Bahnschrift</vt:lpstr>
      <vt:lpstr>Calibri</vt:lpstr>
      <vt:lpstr>Calibri Light</vt:lpstr>
      <vt:lpstr>Office Theme</vt:lpstr>
      <vt:lpstr>Chapter 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Muhammad Sami Aqeel</cp:lastModifiedBy>
  <cp:revision>25</cp:revision>
  <dcterms:created xsi:type="dcterms:W3CDTF">2024-06-21T09:49:54Z</dcterms:created>
  <dcterms:modified xsi:type="dcterms:W3CDTF">2024-12-09T04:44:52Z</dcterms:modified>
</cp:coreProperties>
</file>