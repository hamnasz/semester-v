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70" r:id="rId14"/>
    <p:sldId id="272" r:id="rId15"/>
    <p:sldId id="273" r:id="rId16"/>
    <p:sldId id="274" r:id="rId17"/>
    <p:sldId id="27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3183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smtClean="0"/>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751853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5982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6/4/2022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4126392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7776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9226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6/4/2022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6133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61BEF0D-F0BB-DE4B-95CE-6DB70DBA9567}" type="datetimeFigureOut">
              <a:rPr lang="en-US" smtClean="0"/>
              <a:pPr/>
              <a:t>6/4/2022</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5515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1342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4271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613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6/4/2022</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517478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smtClean="0">
                <a:latin typeface="Times New Roman" panose="02020603050405020304" pitchFamily="18" charset="0"/>
                <a:cs typeface="Times New Roman" panose="02020603050405020304" pitchFamily="18" charset="0"/>
              </a:rPr>
              <a:t>Program Control Instructions,</a:t>
            </a:r>
            <a:endParaRPr lang="en-US"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r>
              <a:rPr lang="en-US" sz="5400" b="1" dirty="0" smtClean="0">
                <a:latin typeface="Times New Roman" panose="02020603050405020304" pitchFamily="18" charset="0"/>
                <a:cs typeface="Times New Roman" panose="02020603050405020304" pitchFamily="18" charset="0"/>
              </a:rPr>
              <a:t>Subroutines</a:t>
            </a:r>
            <a:endParaRPr lang="en-US"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22910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Program Control </a:t>
            </a:r>
            <a:r>
              <a:rPr lang="en-US" b="1" dirty="0" smtClean="0">
                <a:latin typeface="Times New Roman" panose="02020603050405020304" pitchFamily="18" charset="0"/>
                <a:cs typeface="Times New Roman" panose="02020603050405020304" pitchFamily="18" charset="0"/>
              </a:rPr>
              <a:t>Instructions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2033992"/>
            <a:ext cx="10058400" cy="4023360"/>
          </a:xfrm>
        </p:spPr>
        <p:txBody>
          <a:bodyPr>
            <a:normAutofit/>
          </a:bodyPr>
          <a:lstStyle/>
          <a:p>
            <a:pPr algn="just"/>
            <a:r>
              <a:rPr lang="en-US" sz="2400" b="1" dirty="0">
                <a:latin typeface="Times New Roman" panose="02020603050405020304" pitchFamily="18" charset="0"/>
                <a:cs typeface="Times New Roman" panose="02020603050405020304" pitchFamily="18" charset="0"/>
              </a:rPr>
              <a:t>Program Control Instructions</a:t>
            </a:r>
            <a:r>
              <a:rPr lang="en-US" sz="2400" dirty="0">
                <a:latin typeface="Times New Roman" panose="02020603050405020304" pitchFamily="18" charset="0"/>
                <a:cs typeface="Times New Roman" panose="02020603050405020304" pitchFamily="18" charset="0"/>
              </a:rPr>
              <a:t> are the machine code that are used by machine or in assembly language by user to command the processor act accordingly.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These </a:t>
            </a:r>
            <a:r>
              <a:rPr lang="en-US" sz="2400" dirty="0">
                <a:latin typeface="Times New Roman" panose="02020603050405020304" pitchFamily="18" charset="0"/>
                <a:cs typeface="Times New Roman" panose="02020603050405020304" pitchFamily="18" charset="0"/>
              </a:rPr>
              <a:t>instructions are of various types.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These </a:t>
            </a:r>
            <a:r>
              <a:rPr lang="en-US" sz="2400" dirty="0">
                <a:latin typeface="Times New Roman" panose="02020603050405020304" pitchFamily="18" charset="0"/>
                <a:cs typeface="Times New Roman" panose="02020603050405020304" pitchFamily="18" charset="0"/>
              </a:rPr>
              <a:t>are used in assembly language by user also.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But </a:t>
            </a:r>
            <a:r>
              <a:rPr lang="en-US" sz="2400" dirty="0">
                <a:latin typeface="Times New Roman" panose="02020603050405020304" pitchFamily="18" charset="0"/>
                <a:cs typeface="Times New Roman" panose="02020603050405020304" pitchFamily="18" charset="0"/>
              </a:rPr>
              <a:t>in </a:t>
            </a:r>
            <a:r>
              <a:rPr lang="en-US" sz="2400" dirty="0" smtClean="0">
                <a:latin typeface="Times New Roman" panose="02020603050405020304" pitchFamily="18" charset="0"/>
                <a:cs typeface="Times New Roman" panose="02020603050405020304" pitchFamily="18" charset="0"/>
              </a:rPr>
              <a:t>high-level </a:t>
            </a:r>
            <a:r>
              <a:rPr lang="en-US" sz="2400" dirty="0">
                <a:latin typeface="Times New Roman" panose="02020603050405020304" pitchFamily="18" charset="0"/>
                <a:cs typeface="Times New Roman" panose="02020603050405020304" pitchFamily="18" charset="0"/>
              </a:rPr>
              <a:t>language, user code is translated into machine code and thus instructions are passed to instruct the processor do the task</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program control instruction</a:t>
            </a:r>
            <a:r>
              <a:rPr lang="en-US" sz="2400" dirty="0">
                <a:latin typeface="Times New Roman" panose="02020603050405020304" pitchFamily="18" charset="0"/>
                <a:cs typeface="Times New Roman" panose="02020603050405020304" pitchFamily="18" charset="0"/>
              </a:rPr>
              <a:t> changes address value in the </a:t>
            </a:r>
            <a:r>
              <a:rPr lang="en-US" sz="2400" b="1" dirty="0">
                <a:latin typeface="Times New Roman" panose="02020603050405020304" pitchFamily="18" charset="0"/>
                <a:cs typeface="Times New Roman" panose="02020603050405020304" pitchFamily="18" charset="0"/>
              </a:rPr>
              <a:t>PC</a:t>
            </a:r>
            <a:r>
              <a:rPr lang="en-US" sz="2400" dirty="0">
                <a:latin typeface="Times New Roman" panose="02020603050405020304" pitchFamily="18" charset="0"/>
                <a:cs typeface="Times New Roman" panose="02020603050405020304" pitchFamily="18" charset="0"/>
              </a:rPr>
              <a:t> and hence the normal flow of execution.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Change </a:t>
            </a:r>
            <a:r>
              <a:rPr lang="en-US" sz="2400" dirty="0">
                <a:latin typeface="Times New Roman" panose="02020603050405020304" pitchFamily="18" charset="0"/>
                <a:cs typeface="Times New Roman" panose="02020603050405020304" pitchFamily="18" charset="0"/>
              </a:rPr>
              <a:t>in </a:t>
            </a:r>
            <a:r>
              <a:rPr lang="en-US" sz="2400" b="1" dirty="0">
                <a:latin typeface="Times New Roman" panose="02020603050405020304" pitchFamily="18" charset="0"/>
                <a:cs typeface="Times New Roman" panose="02020603050405020304" pitchFamily="18" charset="0"/>
              </a:rPr>
              <a:t>PC</a:t>
            </a:r>
            <a:r>
              <a:rPr lang="en-US" sz="2400" dirty="0">
                <a:latin typeface="Times New Roman" panose="02020603050405020304" pitchFamily="18" charset="0"/>
                <a:cs typeface="Times New Roman" panose="02020603050405020304" pitchFamily="18" charset="0"/>
              </a:rPr>
              <a:t> causes a break in the execution of </a:t>
            </a:r>
            <a:r>
              <a:rPr lang="en-US" sz="2400" b="1" dirty="0">
                <a:latin typeface="Times New Roman" panose="02020603050405020304" pitchFamily="18" charset="0"/>
                <a:cs typeface="Times New Roman" panose="02020603050405020304" pitchFamily="18" charset="0"/>
              </a:rPr>
              <a:t>instructions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361764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Program Control </a:t>
            </a:r>
            <a:r>
              <a:rPr lang="en-US" b="1" dirty="0" smtClean="0">
                <a:latin typeface="Times New Roman" panose="02020603050405020304" pitchFamily="18" charset="0"/>
                <a:cs typeface="Times New Roman" panose="02020603050405020304" pitchFamily="18" charset="0"/>
              </a:rPr>
              <a:t>Instructions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2262591"/>
            <a:ext cx="10058400" cy="4023360"/>
          </a:xfrm>
        </p:spPr>
        <p:txBody>
          <a:bodyPr>
            <a:normAutofit/>
          </a:bodyPr>
          <a:lstStyle/>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Compare Instruction</a:t>
            </a: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Unconditional </a:t>
            </a:r>
            <a:r>
              <a:rPr lang="en-US" sz="2400" dirty="0">
                <a:latin typeface="Times New Roman" panose="02020603050405020304" pitchFamily="18" charset="0"/>
                <a:cs typeface="Times New Roman" panose="02020603050405020304" pitchFamily="18" charset="0"/>
              </a:rPr>
              <a:t>Branch </a:t>
            </a:r>
            <a:r>
              <a:rPr lang="en-US" sz="2400" dirty="0" smtClean="0">
                <a:latin typeface="Times New Roman" panose="02020603050405020304" pitchFamily="18" charset="0"/>
                <a:cs typeface="Times New Roman" panose="02020603050405020304" pitchFamily="18" charset="0"/>
              </a:rPr>
              <a:t>Instruction</a:t>
            </a: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Conditional </a:t>
            </a:r>
            <a:r>
              <a:rPr lang="en-US" sz="2400" dirty="0">
                <a:latin typeface="Times New Roman" panose="02020603050405020304" pitchFamily="18" charset="0"/>
                <a:cs typeface="Times New Roman" panose="02020603050405020304" pitchFamily="18" charset="0"/>
              </a:rPr>
              <a:t>Branch </a:t>
            </a:r>
            <a:r>
              <a:rPr lang="en-US" sz="2400" dirty="0" smtClean="0">
                <a:latin typeface="Times New Roman" panose="02020603050405020304" pitchFamily="18" charset="0"/>
                <a:cs typeface="Times New Roman" panose="02020603050405020304" pitchFamily="18" charset="0"/>
              </a:rPr>
              <a:t>Instruction</a:t>
            </a: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Subroutines</a:t>
            </a: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Halting Instructions</a:t>
            </a: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Interrupt </a:t>
            </a:r>
            <a:r>
              <a:rPr lang="en-US" sz="2400" dirty="0">
                <a:latin typeface="Times New Roman" panose="02020603050405020304" pitchFamily="18" charset="0"/>
                <a:cs typeface="Times New Roman" panose="02020603050405020304" pitchFamily="18" charset="0"/>
              </a:rPr>
              <a:t>Instructions</a:t>
            </a:r>
          </a:p>
        </p:txBody>
      </p:sp>
    </p:spTree>
    <p:extLst>
      <p:ext uri="{BB962C8B-B14F-4D97-AF65-F5344CB8AC3E}">
        <p14:creationId xmlns:p14="http://schemas.microsoft.com/office/powerpoint/2010/main" val="25548389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39588" y="1748119"/>
            <a:ext cx="10614212" cy="4558552"/>
          </a:xfrm>
        </p:spPr>
        <p:txBody>
          <a:bodyPr>
            <a:normAutofit/>
          </a:bodyPr>
          <a:lstStyle/>
          <a:p>
            <a:pPr algn="just"/>
            <a:r>
              <a:rPr lang="en-US" sz="2000" b="1" dirty="0" smtClean="0">
                <a:latin typeface="Times New Roman" panose="02020603050405020304" pitchFamily="18" charset="0"/>
                <a:cs typeface="Times New Roman" panose="02020603050405020304" pitchFamily="18" charset="0"/>
              </a:rPr>
              <a:t>Compare Instruction:</a:t>
            </a:r>
            <a:r>
              <a:rPr lang="en-US" sz="2000" dirty="0" smtClean="0">
                <a:latin typeface="Times New Roman" panose="02020603050405020304" pitchFamily="18" charset="0"/>
                <a:cs typeface="Times New Roman" panose="02020603050405020304" pitchFamily="18" charset="0"/>
              </a:rPr>
              <a:t> Compare </a:t>
            </a:r>
            <a:r>
              <a:rPr lang="en-US" sz="2000" dirty="0">
                <a:latin typeface="Times New Roman" panose="02020603050405020304" pitchFamily="18" charset="0"/>
                <a:cs typeface="Times New Roman" panose="02020603050405020304" pitchFamily="18" charset="0"/>
              </a:rPr>
              <a:t>instruction is specifically provided, which is </a:t>
            </a:r>
            <a:r>
              <a:rPr lang="en-US" sz="2000">
                <a:latin typeface="Times New Roman" panose="02020603050405020304" pitchFamily="18" charset="0"/>
                <a:cs typeface="Times New Roman" panose="02020603050405020304" pitchFamily="18" charset="0"/>
              </a:rPr>
              <a:t>similar </a:t>
            </a:r>
            <a:r>
              <a:rPr lang="en-US" sz="2000" smtClean="0">
                <a:latin typeface="Times New Roman" panose="02020603050405020304" pitchFamily="18" charset="0"/>
                <a:cs typeface="Times New Roman" panose="02020603050405020304" pitchFamily="18" charset="0"/>
              </a:rPr>
              <a:t>to </a:t>
            </a:r>
            <a:r>
              <a:rPr lang="en-US" sz="2000" dirty="0">
                <a:latin typeface="Times New Roman" panose="02020603050405020304" pitchFamily="18" charset="0"/>
                <a:cs typeface="Times New Roman" panose="02020603050405020304" pitchFamily="18" charset="0"/>
              </a:rPr>
              <a:t>a subtract instruction except the result is not stored anywhere, but flags are set according to the result</a:t>
            </a:r>
            <a:r>
              <a:rPr lang="en-US" sz="2000" dirty="0" smtClean="0">
                <a:latin typeface="Times New Roman" panose="02020603050405020304" pitchFamily="18" charset="0"/>
                <a:cs typeface="Times New Roman" panose="02020603050405020304" pitchFamily="18" charset="0"/>
              </a:rPr>
              <a:t>.</a:t>
            </a:r>
          </a:p>
          <a:p>
            <a:pPr marL="0" indent="0" algn="just">
              <a:buNone/>
            </a:pPr>
            <a:endParaRPr lang="en-US" sz="2000" dirty="0" smtClean="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Unconditional Branch </a:t>
            </a:r>
            <a:r>
              <a:rPr lang="en-US" sz="2000" b="1" dirty="0" smtClean="0">
                <a:latin typeface="Times New Roman" panose="02020603050405020304" pitchFamily="18" charset="0"/>
                <a:cs typeface="Times New Roman" panose="02020603050405020304" pitchFamily="18" charset="0"/>
              </a:rPr>
              <a:t>Instruction:</a:t>
            </a:r>
            <a:r>
              <a:rPr lang="en-US" sz="2000" dirty="0" smtClean="0">
                <a:latin typeface="Times New Roman" panose="02020603050405020304" pitchFamily="18" charset="0"/>
                <a:cs typeface="Times New Roman" panose="02020603050405020304" pitchFamily="18" charset="0"/>
              </a:rPr>
              <a:t> It </a:t>
            </a:r>
            <a:r>
              <a:rPr lang="en-US" sz="2000" dirty="0">
                <a:latin typeface="Times New Roman" panose="02020603050405020304" pitchFamily="18" charset="0"/>
                <a:cs typeface="Times New Roman" panose="02020603050405020304" pitchFamily="18" charset="0"/>
              </a:rPr>
              <a:t>causes an unconditional change of execution sequence to a new location</a:t>
            </a:r>
            <a:r>
              <a:rPr lang="en-US" sz="2000" dirty="0" smtClean="0">
                <a:latin typeface="Times New Roman" panose="02020603050405020304" pitchFamily="18" charset="0"/>
                <a:cs typeface="Times New Roman" panose="02020603050405020304" pitchFamily="18" charset="0"/>
              </a:rPr>
              <a:t>.</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smtClean="0">
                <a:latin typeface="Times New Roman" panose="02020603050405020304" pitchFamily="18" charset="0"/>
                <a:cs typeface="Times New Roman" panose="02020603050405020304" pitchFamily="18" charset="0"/>
              </a:rPr>
              <a:t>Conditional </a:t>
            </a:r>
            <a:r>
              <a:rPr lang="en-US" sz="2000" b="1" dirty="0">
                <a:latin typeface="Times New Roman" panose="02020603050405020304" pitchFamily="18" charset="0"/>
                <a:cs typeface="Times New Roman" panose="02020603050405020304" pitchFamily="18" charset="0"/>
              </a:rPr>
              <a:t>Branch </a:t>
            </a:r>
            <a:r>
              <a:rPr lang="en-US" sz="2000" b="1" dirty="0" smtClean="0">
                <a:latin typeface="Times New Roman" panose="02020603050405020304" pitchFamily="18" charset="0"/>
                <a:cs typeface="Times New Roman" panose="02020603050405020304" pitchFamily="18" charset="0"/>
              </a:rPr>
              <a:t>Instruction:</a:t>
            </a:r>
            <a:r>
              <a:rPr lang="en-US" sz="2000" dirty="0" smtClean="0">
                <a:latin typeface="Times New Roman" panose="02020603050405020304" pitchFamily="18" charset="0"/>
                <a:cs typeface="Times New Roman" panose="02020603050405020304" pitchFamily="18" charset="0"/>
              </a:rPr>
              <a:t> A </a:t>
            </a:r>
            <a:r>
              <a:rPr lang="en-US" sz="2000" dirty="0">
                <a:latin typeface="Times New Roman" panose="02020603050405020304" pitchFamily="18" charset="0"/>
                <a:cs typeface="Times New Roman" panose="02020603050405020304" pitchFamily="18" charset="0"/>
              </a:rPr>
              <a:t>conditional branch instruction is used to examine the values stored in the condition code register to determine whether the specific condition exists and to branch if it does.</a:t>
            </a:r>
          </a:p>
        </p:txBody>
      </p:sp>
      <p:sp>
        <p:nvSpPr>
          <p:cNvPr id="4" name="Rectangle 1"/>
          <p:cNvSpPr>
            <a:spLocks noChangeArrowheads="1"/>
          </p:cNvSpPr>
          <p:nvPr/>
        </p:nvSpPr>
        <p:spPr bwMode="auto">
          <a:xfrm>
            <a:off x="5270386" y="2346533"/>
            <a:ext cx="1651221" cy="61555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CMP   R1, R2 ; </a:t>
            </a:r>
            <a:endParaRPr kumimoji="0" lang="en-US" sz="3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5045316" y="3237772"/>
            <a:ext cx="2208938" cy="923330"/>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JUMP L2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Mov</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R3, R1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goto</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L2 </a:t>
            </a:r>
            <a:endParaRPr kumimoji="0" lang="en-US" sz="3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3965605" y="4823059"/>
            <a:ext cx="4260782" cy="1231106"/>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Assembly Code : BE R1, R2, L1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Compiler allocates R1 for x and R2 for 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High Level Code: if (x==y)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goto</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L1; </a:t>
            </a:r>
            <a:endParaRPr kumimoji="0" lang="en-US" sz="3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69167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586" y="1"/>
            <a:ext cx="10058400" cy="1169894"/>
          </a:xfrm>
        </p:spPr>
        <p:txBody>
          <a:bodyPr/>
          <a:lstStyle/>
          <a:p>
            <a:r>
              <a:rPr lang="en-US" b="1" dirty="0">
                <a:latin typeface="Times New Roman" panose="02020603050405020304" pitchFamily="18" charset="0"/>
                <a:cs typeface="Times New Roman" panose="02020603050405020304" pitchFamily="18" charset="0"/>
              </a:rPr>
              <a:t>Cont.…</a:t>
            </a:r>
            <a:endParaRPr lang="en-US" dirty="0"/>
          </a:p>
        </p:txBody>
      </p:sp>
      <p:sp>
        <p:nvSpPr>
          <p:cNvPr id="3" name="Content Placeholder 2"/>
          <p:cNvSpPr>
            <a:spLocks noGrp="1"/>
          </p:cNvSpPr>
          <p:nvPr>
            <p:ph idx="1"/>
          </p:nvPr>
        </p:nvSpPr>
        <p:spPr>
          <a:xfrm>
            <a:off x="610912" y="1169895"/>
            <a:ext cx="10515600" cy="5167312"/>
          </a:xfrm>
        </p:spPr>
        <p:txBody>
          <a:bodyPr>
            <a:noAutofit/>
          </a:bodyPr>
          <a:lstStyle/>
          <a:p>
            <a:pPr algn="just" fontAlgn="base"/>
            <a:r>
              <a:rPr lang="en-US" sz="2000" b="1" dirty="0" smtClean="0">
                <a:latin typeface="Times New Roman" panose="02020603050405020304" pitchFamily="18" charset="0"/>
                <a:cs typeface="Times New Roman" panose="02020603050405020304" pitchFamily="18" charset="0"/>
              </a:rPr>
              <a:t>Halting </a:t>
            </a:r>
            <a:r>
              <a:rPr lang="en-US" sz="2000" b="1" dirty="0">
                <a:latin typeface="Times New Roman" panose="02020603050405020304" pitchFamily="18" charset="0"/>
                <a:cs typeface="Times New Roman" panose="02020603050405020304" pitchFamily="18" charset="0"/>
              </a:rPr>
              <a:t>Instructions:</a:t>
            </a:r>
            <a:endParaRPr lang="en-US" sz="2000" dirty="0">
              <a:latin typeface="Times New Roman" panose="02020603050405020304" pitchFamily="18" charset="0"/>
              <a:cs typeface="Times New Roman" panose="02020603050405020304" pitchFamily="18" charset="0"/>
            </a:endParaRPr>
          </a:p>
          <a:p>
            <a:pPr lvl="1" algn="just" fontAlgn="base"/>
            <a:r>
              <a:rPr lang="en-US" sz="2000" b="1" dirty="0">
                <a:latin typeface="Times New Roman" panose="02020603050405020304" pitchFamily="18" charset="0"/>
                <a:cs typeface="Times New Roman" panose="02020603050405020304" pitchFamily="18" charset="0"/>
              </a:rPr>
              <a:t>NOP Instruction –</a:t>
            </a:r>
            <a:r>
              <a:rPr lang="en-US" sz="2000" dirty="0">
                <a:latin typeface="Times New Roman" panose="02020603050405020304" pitchFamily="18" charset="0"/>
                <a:cs typeface="Times New Roman" panose="02020603050405020304" pitchFamily="18" charset="0"/>
              </a:rPr>
              <a:t> NOP is no operation. It cause no change in the processor state other than an advancement of the program counter. It can be used to synchronize timing.</a:t>
            </a:r>
          </a:p>
          <a:p>
            <a:pPr lvl="1" algn="just" fontAlgn="base"/>
            <a:r>
              <a:rPr lang="en-US" sz="2000" b="1" dirty="0">
                <a:latin typeface="Times New Roman" panose="02020603050405020304" pitchFamily="18" charset="0"/>
                <a:cs typeface="Times New Roman" panose="02020603050405020304" pitchFamily="18" charset="0"/>
              </a:rPr>
              <a:t>HALT –</a:t>
            </a:r>
            <a:r>
              <a:rPr lang="en-US" sz="2000" dirty="0">
                <a:latin typeface="Times New Roman" panose="02020603050405020304" pitchFamily="18" charset="0"/>
                <a:cs typeface="Times New Roman" panose="02020603050405020304" pitchFamily="18" charset="0"/>
              </a:rPr>
              <a:t> It brings the processor to an orderly halt, remaining in an idle state until restarted by interrupt, trace, reset or external action</a:t>
            </a:r>
            <a:r>
              <a:rPr lang="en-US" sz="2000" dirty="0" smtClean="0">
                <a:latin typeface="Times New Roman" panose="02020603050405020304" pitchFamily="18" charset="0"/>
                <a:cs typeface="Times New Roman" panose="02020603050405020304" pitchFamily="18" charset="0"/>
              </a:rPr>
              <a:t>.</a:t>
            </a:r>
          </a:p>
          <a:p>
            <a:pPr algn="just" fontAlgn="base"/>
            <a:r>
              <a:rPr lang="en-US" sz="2000" b="1" dirty="0" smtClean="0">
                <a:latin typeface="Times New Roman" panose="02020603050405020304" pitchFamily="18" charset="0"/>
                <a:cs typeface="Times New Roman" panose="02020603050405020304" pitchFamily="18" charset="0"/>
              </a:rPr>
              <a:t>Interrupt Instructions:</a:t>
            </a:r>
            <a:r>
              <a:rPr lang="en-US" sz="2000" dirty="0" smtClean="0">
                <a:latin typeface="Times New Roman" panose="02020603050405020304" pitchFamily="18" charset="0"/>
                <a:cs typeface="Times New Roman" panose="02020603050405020304" pitchFamily="18" charset="0"/>
              </a:rPr>
              <a:t> Interrupt is a mechanism by which an I/O or an instruction can suspend the normal execution of processor and get itself serviced.</a:t>
            </a:r>
          </a:p>
          <a:p>
            <a:pPr lvl="1" algn="just" fontAlgn="base"/>
            <a:r>
              <a:rPr lang="en-US" sz="2000" b="1" dirty="0" smtClean="0">
                <a:latin typeface="Times New Roman" panose="02020603050405020304" pitchFamily="18" charset="0"/>
                <a:cs typeface="Times New Roman" panose="02020603050405020304" pitchFamily="18" charset="0"/>
              </a:rPr>
              <a:t>RESET –</a:t>
            </a:r>
            <a:r>
              <a:rPr lang="en-US" sz="2000" dirty="0" smtClean="0">
                <a:latin typeface="Times New Roman" panose="02020603050405020304" pitchFamily="18" charset="0"/>
                <a:cs typeface="Times New Roman" panose="02020603050405020304" pitchFamily="18" charset="0"/>
              </a:rPr>
              <a:t> It reset the processor. This may include any or all setting registers to an initial value or setting program counter to standard starting location.</a:t>
            </a:r>
          </a:p>
          <a:p>
            <a:pPr lvl="1" algn="just" fontAlgn="base"/>
            <a:r>
              <a:rPr lang="en-US" sz="2000" b="1" dirty="0" smtClean="0">
                <a:latin typeface="Times New Roman" panose="02020603050405020304" pitchFamily="18" charset="0"/>
                <a:cs typeface="Times New Roman" panose="02020603050405020304" pitchFamily="18" charset="0"/>
              </a:rPr>
              <a:t>TRAP –</a:t>
            </a:r>
            <a:r>
              <a:rPr lang="en-US" sz="2000" dirty="0" smtClean="0">
                <a:latin typeface="Times New Roman" panose="02020603050405020304" pitchFamily="18" charset="0"/>
                <a:cs typeface="Times New Roman" panose="02020603050405020304" pitchFamily="18" charset="0"/>
              </a:rPr>
              <a:t> It is non-</a:t>
            </a:r>
            <a:r>
              <a:rPr lang="en-US" sz="2000" dirty="0" err="1" smtClean="0">
                <a:latin typeface="Times New Roman" panose="02020603050405020304" pitchFamily="18" charset="0"/>
                <a:cs typeface="Times New Roman" panose="02020603050405020304" pitchFamily="18" charset="0"/>
              </a:rPr>
              <a:t>maskable</a:t>
            </a:r>
            <a:r>
              <a:rPr lang="en-US" sz="2000" dirty="0" smtClean="0">
                <a:latin typeface="Times New Roman" panose="02020603050405020304" pitchFamily="18" charset="0"/>
                <a:cs typeface="Times New Roman" panose="02020603050405020304" pitchFamily="18" charset="0"/>
              </a:rPr>
              <a:t> edge and level triggered interrupt. TRAP has the highest priority and vectored interrupt.</a:t>
            </a:r>
          </a:p>
          <a:p>
            <a:pPr lvl="1" algn="just" fontAlgn="base"/>
            <a:r>
              <a:rPr lang="en-US" sz="2000" b="1" dirty="0" smtClean="0">
                <a:latin typeface="Times New Roman" panose="02020603050405020304" pitchFamily="18" charset="0"/>
                <a:cs typeface="Times New Roman" panose="02020603050405020304" pitchFamily="18" charset="0"/>
              </a:rPr>
              <a:t>INTR –</a:t>
            </a:r>
            <a:r>
              <a:rPr lang="en-US" sz="2000" dirty="0" smtClean="0">
                <a:latin typeface="Times New Roman" panose="02020603050405020304" pitchFamily="18" charset="0"/>
                <a:cs typeface="Times New Roman" panose="02020603050405020304" pitchFamily="18" charset="0"/>
              </a:rPr>
              <a:t> It is level triggered and </a:t>
            </a:r>
            <a:r>
              <a:rPr lang="en-US" sz="2000" dirty="0" err="1" smtClean="0">
                <a:latin typeface="Times New Roman" panose="02020603050405020304" pitchFamily="18" charset="0"/>
                <a:cs typeface="Times New Roman" panose="02020603050405020304" pitchFamily="18" charset="0"/>
              </a:rPr>
              <a:t>maskable</a:t>
            </a:r>
            <a:r>
              <a:rPr lang="en-US" sz="2000" dirty="0" smtClean="0">
                <a:latin typeface="Times New Roman" panose="02020603050405020304" pitchFamily="18" charset="0"/>
                <a:cs typeface="Times New Roman" panose="02020603050405020304" pitchFamily="18" charset="0"/>
              </a:rPr>
              <a:t> interrupt. It has the lowest priority. It can be disabled by resetting the processor.</a:t>
            </a:r>
          </a:p>
          <a:p>
            <a:pPr algn="just"/>
            <a:r>
              <a:rPr lang="en-US" sz="2000" b="1" dirty="0" smtClean="0">
                <a:latin typeface="Times New Roman" panose="02020603050405020304" pitchFamily="18" charset="0"/>
                <a:cs typeface="Times New Roman" panose="02020603050405020304" pitchFamily="18" charset="0"/>
              </a:rPr>
              <a:t>Subroutines:</a:t>
            </a:r>
            <a:r>
              <a:rPr lang="en-US" sz="2000" dirty="0" smtClean="0">
                <a:latin typeface="Times New Roman" panose="02020603050405020304" pitchFamily="18" charset="0"/>
                <a:cs typeface="Times New Roman" panose="02020603050405020304" pitchFamily="18" charset="0"/>
              </a:rPr>
              <a:t> A subroutine is a program fragment that lives in user space, performs a well-defined task. It is invoked by another user program and returns control to the calling program when finished.</a:t>
            </a:r>
          </a:p>
          <a:p>
            <a:pPr algn="just" fontAlgn="base"/>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
        <p:nvSpPr>
          <p:cNvPr id="6" name="Rectangle 1"/>
          <p:cNvSpPr>
            <a:spLocks noChangeArrowheads="1"/>
          </p:cNvSpPr>
          <p:nvPr/>
        </p:nvSpPr>
        <p:spPr bwMode="auto">
          <a:xfrm>
            <a:off x="5015754" y="6146812"/>
            <a:ext cx="1705916" cy="61555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CALL and RET </a:t>
            </a:r>
            <a:endParaRPr kumimoji="0" lang="en-US" sz="3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22489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Subroutines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5167312"/>
          </a:xfrm>
        </p:spPr>
        <p:txBody>
          <a:bodyPr>
            <a:noAutofit/>
          </a:bodyPr>
          <a:lstStyle/>
          <a:p>
            <a:pPr algn="just"/>
            <a:r>
              <a:rPr lang="en-US" sz="2000" dirty="0">
                <a:latin typeface="Times New Roman" panose="02020603050405020304" pitchFamily="18" charset="0"/>
                <a:cs typeface="Times New Roman" panose="02020603050405020304" pitchFamily="18" charset="0"/>
              </a:rPr>
              <a:t>In computer programming, a </a:t>
            </a:r>
            <a:r>
              <a:rPr lang="en-US" sz="2000" b="1" dirty="0">
                <a:latin typeface="Times New Roman" panose="02020603050405020304" pitchFamily="18" charset="0"/>
                <a:cs typeface="Times New Roman" panose="02020603050405020304" pitchFamily="18" charset="0"/>
              </a:rPr>
              <a:t>subroutine</a:t>
            </a:r>
            <a:r>
              <a:rPr lang="en-US" sz="2000" dirty="0">
                <a:latin typeface="Times New Roman" panose="02020603050405020304" pitchFamily="18" charset="0"/>
                <a:cs typeface="Times New Roman" panose="02020603050405020304" pitchFamily="18" charset="0"/>
              </a:rPr>
              <a:t> is a sequence of program instructions that performs a specific task, packaged as a unit.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This </a:t>
            </a:r>
            <a:r>
              <a:rPr lang="en-US" sz="2000" dirty="0">
                <a:latin typeface="Times New Roman" panose="02020603050405020304" pitchFamily="18" charset="0"/>
                <a:cs typeface="Times New Roman" panose="02020603050405020304" pitchFamily="18" charset="0"/>
              </a:rPr>
              <a:t>unit can then be used in programs wherever that particular task should be performed.</a:t>
            </a:r>
          </a:p>
          <a:p>
            <a:pPr algn="just"/>
            <a:r>
              <a:rPr lang="en-US" sz="2000" dirty="0">
                <a:latin typeface="Times New Roman" panose="02020603050405020304" pitchFamily="18" charset="0"/>
                <a:cs typeface="Times New Roman" panose="02020603050405020304" pitchFamily="18" charset="0"/>
              </a:rPr>
              <a:t>Subroutines may be defined within programs, or separately in libraries that can be used by many programs.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different programming languages, a subroutine may be called a </a:t>
            </a:r>
            <a:r>
              <a:rPr lang="en-US" sz="2000" b="1" dirty="0">
                <a:latin typeface="Times New Roman" panose="02020603050405020304" pitchFamily="18" charset="0"/>
                <a:cs typeface="Times New Roman" panose="02020603050405020304" pitchFamily="18" charset="0"/>
              </a:rPr>
              <a:t>routine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subprogram</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function</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method</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procedure</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Technically</a:t>
            </a:r>
            <a:r>
              <a:rPr lang="en-US" sz="2000" dirty="0">
                <a:latin typeface="Times New Roman" panose="02020603050405020304" pitchFamily="18" charset="0"/>
                <a:cs typeface="Times New Roman" panose="02020603050405020304" pitchFamily="18" charset="0"/>
              </a:rPr>
              <a:t>, these terms all have different definitions. </a:t>
            </a:r>
          </a:p>
          <a:p>
            <a:pPr algn="just"/>
            <a:r>
              <a:rPr lang="en-US" sz="2000" dirty="0">
                <a:latin typeface="Times New Roman" panose="02020603050405020304" pitchFamily="18" charset="0"/>
                <a:cs typeface="Times New Roman" panose="02020603050405020304" pitchFamily="18" charset="0"/>
              </a:rPr>
              <a:t>Subroutines are a powerful programming tool</a:t>
            </a:r>
            <a:r>
              <a:rPr lang="en-US" sz="2000"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and the syntax of many programming languages includes support for writing and using them.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Judicious </a:t>
            </a:r>
            <a:r>
              <a:rPr lang="en-US" sz="2000" dirty="0">
                <a:latin typeface="Times New Roman" panose="02020603050405020304" pitchFamily="18" charset="0"/>
                <a:cs typeface="Times New Roman" panose="02020603050405020304" pitchFamily="18" charset="0"/>
              </a:rPr>
              <a:t>use of subroutines (for example, through the structured programming approach) will often substantially reduce the cost of developing and maintaining a large program, while increasing its quality and reliability</a:t>
            </a:r>
            <a:r>
              <a:rPr lang="en-US" sz="2000"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56986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Advantages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5167312"/>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advantages of breaking a program into subroutines include:</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Decomposing a complex programming task into simpler steps: this is one of the two main tools of structured programming, along with data structures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Reducing duplicate code within a program</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Enabling reuse of code across multiple programs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Dividing a large programming task among various programmers or various stages of a project</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Hiding implementation details from users of the subroutine</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Improving readability of code by replacing a block of code with a function call where a descriptive function name serves to describe the block of code. </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Improving traceability (i.e. most languages offer ways to obtain the call trace which includes the names of the involved subroutines and perhaps even more information such as file names and line numbers); by not decomposing the code into subroutines, debugging would be severely </a:t>
            </a:r>
            <a:r>
              <a:rPr lang="en-US" sz="2000" dirty="0" smtClean="0">
                <a:latin typeface="Times New Roman" panose="02020603050405020304" pitchFamily="18" charset="0"/>
                <a:cs typeface="Times New Roman" panose="02020603050405020304" pitchFamily="18" charset="0"/>
              </a:rPr>
              <a:t>impaired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61504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Disadvantages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2544981"/>
            <a:ext cx="10058400" cy="4023360"/>
          </a:xfrm>
        </p:spPr>
        <p:txBody>
          <a:bodyPr>
            <a:normAutofit/>
          </a:bodyPr>
          <a:lstStyle/>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Compared to using in-line code, invoking a subroutine imposes some computational overhead in the call </a:t>
            </a:r>
            <a:r>
              <a:rPr lang="en-US" sz="2400" dirty="0" smtClean="0">
                <a:latin typeface="Times New Roman" panose="02020603050405020304" pitchFamily="18" charset="0"/>
                <a:cs typeface="Times New Roman" panose="02020603050405020304" pitchFamily="18" charset="0"/>
              </a:rPr>
              <a:t>mechanism.</a:t>
            </a:r>
          </a:p>
          <a:p>
            <a:pPr marL="457200" indent="-457200" algn="just">
              <a:buFont typeface="+mj-lt"/>
              <a:buAutoNum type="arabicPeriod"/>
            </a:pPr>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subroutine typically requires standard housekeeping code – both at the entry to, and exit from, the function (function prologue and epilogue – usually saving general purpose registers and return address as a minimum).</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1379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Subroutines in Assembly Language</a:t>
            </a:r>
          </a:p>
        </p:txBody>
      </p:sp>
      <p:sp>
        <p:nvSpPr>
          <p:cNvPr id="3" name="Content Placeholder 2"/>
          <p:cNvSpPr>
            <a:spLocks noGrp="1"/>
          </p:cNvSpPr>
          <p:nvPr>
            <p:ph idx="1"/>
          </p:nvPr>
        </p:nvSpPr>
        <p:spPr>
          <a:xfrm>
            <a:off x="838200" y="1690688"/>
            <a:ext cx="10515600" cy="5167312"/>
          </a:xfrm>
        </p:spPr>
        <p:txBody>
          <a:bodyPr>
            <a:normAutofit/>
          </a:bodyPr>
          <a:lstStyle/>
          <a:p>
            <a:pPr algn="just"/>
            <a:r>
              <a:rPr lang="en-US" sz="2000" dirty="0">
                <a:latin typeface="Times New Roman" panose="02020603050405020304" pitchFamily="18" charset="0"/>
                <a:cs typeface="Times New Roman" panose="02020603050405020304" pitchFamily="18" charset="0"/>
              </a:rPr>
              <a:t>A program is made up of instructions which implement the solution to a problem.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a given program, it is often needed to perform a particular sub-task many times on different data values.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So, we </a:t>
            </a:r>
            <a:r>
              <a:rPr lang="en-US" sz="2000" dirty="0">
                <a:latin typeface="Times New Roman" panose="02020603050405020304" pitchFamily="18" charset="0"/>
                <a:cs typeface="Times New Roman" panose="02020603050405020304" pitchFamily="18" charset="0"/>
              </a:rPr>
              <a:t>split the program into smaller units which solve a particular part of the problem.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These </a:t>
            </a:r>
            <a:r>
              <a:rPr lang="en-US" sz="2000" dirty="0">
                <a:latin typeface="Times New Roman" panose="02020603050405020304" pitchFamily="18" charset="0"/>
                <a:cs typeface="Times New Roman" panose="02020603050405020304" pitchFamily="18" charset="0"/>
              </a:rPr>
              <a:t>task specific sub-units are termed as functions, procedures or subroutines.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assembly language, we use the word subroutine for all subprograms to distinguish between functions used in other programming languages and those used in assembly languages.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block of instructions that constitute a subroutine can be included at every point in the main program when that task is needed.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However</a:t>
            </a:r>
            <a:r>
              <a:rPr lang="en-US" sz="2000" dirty="0">
                <a:latin typeface="Times New Roman" panose="02020603050405020304" pitchFamily="18" charset="0"/>
                <a:cs typeface="Times New Roman" panose="02020603050405020304" pitchFamily="18" charset="0"/>
              </a:rPr>
              <a:t>, this would result in unnecessary waste of memory space.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Rather</a:t>
            </a:r>
            <a:r>
              <a:rPr lang="en-US" sz="2000" dirty="0">
                <a:latin typeface="Times New Roman" panose="02020603050405020304" pitchFamily="18" charset="0"/>
                <a:cs typeface="Times New Roman" panose="02020603050405020304" pitchFamily="18" charset="0"/>
              </a:rPr>
              <a:t>, only one copy of the instructions that constitute the subroutine is placed in memory and can be accessed repeatedly. </a:t>
            </a:r>
          </a:p>
        </p:txBody>
      </p:sp>
    </p:spTree>
    <p:extLst>
      <p:ext uri="{BB962C8B-B14F-4D97-AF65-F5344CB8AC3E}">
        <p14:creationId xmlns:p14="http://schemas.microsoft.com/office/powerpoint/2010/main" val="2177848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Components of Subroutines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2370169"/>
            <a:ext cx="10058400" cy="4023360"/>
          </a:xfrm>
        </p:spPr>
        <p:txBody>
          <a:bodyPr>
            <a:normAutofit/>
          </a:bodyPr>
          <a:lstStyle/>
          <a:p>
            <a:pPr algn="just"/>
            <a:r>
              <a:rPr lang="en-US" dirty="0">
                <a:latin typeface="Times New Roman" panose="02020603050405020304" pitchFamily="18" charset="0"/>
                <a:cs typeface="Times New Roman" panose="02020603050405020304" pitchFamily="18" charset="0"/>
              </a:rPr>
              <a:t>An assembly language routine has: </a:t>
            </a:r>
            <a:endParaRPr lang="en-US" dirty="0" smtClean="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b="1" dirty="0" smtClean="0">
                <a:latin typeface="Times New Roman" panose="02020603050405020304" pitchFamily="18" charset="0"/>
                <a:cs typeface="Times New Roman" panose="02020603050405020304" pitchFamily="18" charset="0"/>
              </a:rPr>
              <a:t>An </a:t>
            </a:r>
            <a:r>
              <a:rPr lang="en-US" b="1" dirty="0">
                <a:latin typeface="Times New Roman" panose="02020603050405020304" pitchFamily="18" charset="0"/>
                <a:cs typeface="Times New Roman" panose="02020603050405020304" pitchFamily="18" charset="0"/>
              </a:rPr>
              <a:t>entry </a:t>
            </a:r>
            <a:r>
              <a:rPr lang="en-US" b="1" dirty="0" smtClean="0">
                <a:latin typeface="Times New Roman" panose="02020603050405020304" pitchFamily="18" charset="0"/>
                <a:cs typeface="Times New Roman" panose="02020603050405020304" pitchFamily="18" charset="0"/>
              </a:rPr>
              <a:t>point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location of the first instruction in the routine. </a:t>
            </a:r>
            <a:endParaRPr lang="en-US" dirty="0" smtClean="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b="1" dirty="0" smtClean="0">
                <a:latin typeface="Times New Roman" panose="02020603050405020304" pitchFamily="18" charset="0"/>
                <a:cs typeface="Times New Roman" panose="02020603050405020304" pitchFamily="18" charset="0"/>
              </a:rPr>
              <a:t>Parameters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list of registers or memory locations that contain the parameters for the routine. </a:t>
            </a:r>
            <a:endParaRPr lang="en-US" dirty="0" smtClean="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b="1" dirty="0" smtClean="0">
                <a:latin typeface="Times New Roman" panose="02020603050405020304" pitchFamily="18" charset="0"/>
                <a:cs typeface="Times New Roman" panose="02020603050405020304" pitchFamily="18" charset="0"/>
              </a:rPr>
              <a:t>Return values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list of registers or memory locations to save the results. </a:t>
            </a:r>
            <a:endParaRPr lang="en-US" dirty="0" smtClean="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b="1" dirty="0" smtClean="0">
                <a:latin typeface="Times New Roman" panose="02020603050405020304" pitchFamily="18" charset="0"/>
                <a:cs typeface="Times New Roman" panose="02020603050405020304" pitchFamily="18" charset="0"/>
              </a:rPr>
              <a:t>Working storage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registers or memory location required by the routine to perform its task.</a:t>
            </a:r>
          </a:p>
        </p:txBody>
      </p:sp>
    </p:spTree>
    <p:extLst>
      <p:ext uri="{BB962C8B-B14F-4D97-AF65-F5344CB8AC3E}">
        <p14:creationId xmlns:p14="http://schemas.microsoft.com/office/powerpoint/2010/main" val="118554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Calling Subroutines</a:t>
            </a:r>
          </a:p>
        </p:txBody>
      </p:sp>
      <p:sp>
        <p:nvSpPr>
          <p:cNvPr id="3" name="Content Placeholder 2"/>
          <p:cNvSpPr>
            <a:spLocks noGrp="1"/>
          </p:cNvSpPr>
          <p:nvPr>
            <p:ph idx="1"/>
          </p:nvPr>
        </p:nvSpPr>
        <p:spPr>
          <a:xfrm>
            <a:off x="838200" y="1690688"/>
            <a:ext cx="10515600" cy="5167312"/>
          </a:xfrm>
        </p:spPr>
        <p:txBody>
          <a:bodyPr>
            <a:noAutofit/>
          </a:bodyPr>
          <a:lstStyle/>
          <a:p>
            <a:pPr algn="just"/>
            <a:r>
              <a:rPr lang="en-US" sz="1800" dirty="0">
                <a:latin typeface="Times New Roman" panose="02020603050405020304" pitchFamily="18" charset="0"/>
                <a:cs typeface="Times New Roman" panose="02020603050405020304" pitchFamily="18" charset="0"/>
              </a:rPr>
              <a:t>There are two ideas behind a subroutine: </a:t>
            </a:r>
            <a:endParaRPr lang="en-US" sz="1800" dirty="0" smtClean="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dirty="0" smtClean="0">
                <a:latin typeface="Times New Roman" panose="02020603050405020304" pitchFamily="18" charset="0"/>
                <a:cs typeface="Times New Roman" panose="02020603050405020304" pitchFamily="18" charset="0"/>
              </a:rPr>
              <a:t>You </a:t>
            </a:r>
            <a:r>
              <a:rPr lang="en-US" dirty="0">
                <a:latin typeface="Times New Roman" panose="02020603050405020304" pitchFamily="18" charset="0"/>
                <a:cs typeface="Times New Roman" panose="02020603050405020304" pitchFamily="18" charset="0"/>
              </a:rPr>
              <a:t>should be able to call the subroutine from anywhere. </a:t>
            </a:r>
          </a:p>
          <a:p>
            <a:pPr marL="914400" lvl="1" indent="-457200" algn="just">
              <a:buFont typeface="+mj-lt"/>
              <a:buAutoNum type="arabicPeriod"/>
            </a:pPr>
            <a:r>
              <a:rPr lang="en-US" dirty="0" smtClean="0">
                <a:latin typeface="Times New Roman" panose="02020603050405020304" pitchFamily="18" charset="0"/>
                <a:cs typeface="Times New Roman" panose="02020603050405020304" pitchFamily="18" charset="0"/>
              </a:rPr>
              <a:t>Once </a:t>
            </a:r>
            <a:r>
              <a:rPr lang="en-US" dirty="0">
                <a:latin typeface="Times New Roman" panose="02020603050405020304" pitchFamily="18" charset="0"/>
                <a:cs typeface="Times New Roman" panose="02020603050405020304" pitchFamily="18" charset="0"/>
              </a:rPr>
              <a:t>the subroutine is complete, it should return back to the place that called the subroutine. </a:t>
            </a:r>
            <a:endParaRPr lang="en-US" dirty="0" smtClean="0">
              <a:latin typeface="Times New Roman" panose="02020603050405020304" pitchFamily="18" charset="0"/>
              <a:cs typeface="Times New Roman" panose="02020603050405020304" pitchFamily="18" charset="0"/>
            </a:endParaRPr>
          </a:p>
          <a:p>
            <a:pPr algn="just"/>
            <a:r>
              <a:rPr lang="en-US" sz="1800" dirty="0" smtClean="0">
                <a:latin typeface="Times New Roman" panose="02020603050405020304" pitchFamily="18" charset="0"/>
                <a:cs typeface="Times New Roman" panose="02020603050405020304" pitchFamily="18" charset="0"/>
              </a:rPr>
              <a:t>There </a:t>
            </a:r>
            <a:r>
              <a:rPr lang="en-US" sz="1800" dirty="0">
                <a:latin typeface="Times New Roman" panose="02020603050405020304" pitchFamily="18" charset="0"/>
                <a:cs typeface="Times New Roman" panose="02020603050405020304" pitchFamily="18" charset="0"/>
              </a:rPr>
              <a:t>are special instructions for transferring control to subroutines and restoring control to the main program. </a:t>
            </a:r>
            <a:endParaRPr lang="en-US" sz="1800" dirty="0" smtClean="0">
              <a:latin typeface="Times New Roman" panose="02020603050405020304" pitchFamily="18" charset="0"/>
              <a:cs typeface="Times New Roman" panose="02020603050405020304" pitchFamily="18" charset="0"/>
            </a:endParaRPr>
          </a:p>
          <a:p>
            <a:pPr algn="just"/>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instruction that transfers the control is usually termed as call, jump or branch to subroutine. </a:t>
            </a:r>
            <a:endParaRPr lang="en-US" sz="1800" dirty="0" smtClean="0">
              <a:latin typeface="Times New Roman" panose="02020603050405020304" pitchFamily="18" charset="0"/>
              <a:cs typeface="Times New Roman" panose="02020603050405020304" pitchFamily="18" charset="0"/>
            </a:endParaRPr>
          </a:p>
          <a:p>
            <a:pPr algn="just"/>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calling program is called Caller and the subroutine called is known as </a:t>
            </a:r>
            <a:r>
              <a:rPr lang="en-US" sz="1800" dirty="0" err="1">
                <a:latin typeface="Times New Roman" panose="02020603050405020304" pitchFamily="18" charset="0"/>
                <a:cs typeface="Times New Roman" panose="02020603050405020304" pitchFamily="18" charset="0"/>
              </a:rPr>
              <a:t>Callee</a:t>
            </a:r>
            <a:r>
              <a:rPr lang="en-US" sz="1800" dirty="0">
                <a:latin typeface="Times New Roman" panose="02020603050405020304" pitchFamily="18" charset="0"/>
                <a:cs typeface="Times New Roman" panose="02020603050405020304" pitchFamily="18" charset="0"/>
              </a:rPr>
              <a:t>. </a:t>
            </a:r>
            <a:endParaRPr lang="en-US" sz="1800" dirty="0" smtClean="0">
              <a:latin typeface="Times New Roman" panose="02020603050405020304" pitchFamily="18" charset="0"/>
              <a:cs typeface="Times New Roman" panose="02020603050405020304" pitchFamily="18" charset="0"/>
            </a:endParaRPr>
          </a:p>
          <a:p>
            <a:pPr algn="just"/>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instruction that transfer control back to the caller is known as Return. </a:t>
            </a:r>
            <a:endParaRPr lang="en-US" sz="1800" dirty="0" smtClean="0">
              <a:latin typeface="Times New Roman" panose="02020603050405020304" pitchFamily="18" charset="0"/>
              <a:cs typeface="Times New Roman" panose="02020603050405020304" pitchFamily="18" charset="0"/>
            </a:endParaRPr>
          </a:p>
          <a:p>
            <a:pPr algn="just"/>
            <a:r>
              <a:rPr lang="en-US" sz="1800" dirty="0" smtClean="0">
                <a:latin typeface="Times New Roman" panose="02020603050405020304" pitchFamily="18" charset="0"/>
                <a:cs typeface="Times New Roman" panose="02020603050405020304" pitchFamily="18" charset="0"/>
              </a:rPr>
              <a:t>Calling </a:t>
            </a:r>
            <a:r>
              <a:rPr lang="en-US" sz="1800" dirty="0">
                <a:latin typeface="Times New Roman" panose="02020603050405020304" pitchFamily="18" charset="0"/>
                <a:cs typeface="Times New Roman" panose="02020603050405020304" pitchFamily="18" charset="0"/>
              </a:rPr>
              <a:t>a subroutine requires a deviation from the default sequential execution of instructions. </a:t>
            </a:r>
            <a:endParaRPr lang="en-US" sz="1800" dirty="0" smtClean="0">
              <a:latin typeface="Times New Roman" panose="02020603050405020304" pitchFamily="18" charset="0"/>
              <a:cs typeface="Times New Roman" panose="02020603050405020304" pitchFamily="18" charset="0"/>
            </a:endParaRPr>
          </a:p>
          <a:p>
            <a:pPr algn="just"/>
            <a:r>
              <a:rPr lang="en-US" sz="1800" dirty="0" smtClean="0">
                <a:latin typeface="Times New Roman" panose="02020603050405020304" pitchFamily="18" charset="0"/>
                <a:cs typeface="Times New Roman" panose="02020603050405020304" pitchFamily="18" charset="0"/>
              </a:rPr>
              <a:t>When a program branches to a subroutine, the processor begins execution of the instructions that make up the subroutine and branch to the subroutine by modifying the Program Counter (PC). </a:t>
            </a:r>
          </a:p>
          <a:p>
            <a:pPr algn="just"/>
            <a:r>
              <a:rPr lang="en-US" sz="1800" dirty="0" smtClean="0">
                <a:latin typeface="Times New Roman" panose="02020603050405020304" pitchFamily="18" charset="0"/>
                <a:cs typeface="Times New Roman" panose="02020603050405020304" pitchFamily="18" charset="0"/>
              </a:rPr>
              <a:t>In ARM, the Branch and Link instruction (BL) is used to Branch to subroutine. </a:t>
            </a:r>
          </a:p>
          <a:p>
            <a:pPr marL="0" indent="0" algn="just">
              <a:buNone/>
            </a:pPr>
            <a:r>
              <a:rPr lang="en-US" sz="1800" b="1" dirty="0" smtClean="0">
                <a:latin typeface="Times New Roman" panose="02020603050405020304" pitchFamily="18" charset="0"/>
                <a:cs typeface="Times New Roman" panose="02020603050405020304" pitchFamily="18" charset="0"/>
              </a:rPr>
              <a:t>          BL my-subroutine 		; my-subroutine points to the first line of a subroutine </a:t>
            </a:r>
          </a:p>
        </p:txBody>
      </p:sp>
    </p:spTree>
    <p:extLst>
      <p:ext uri="{BB962C8B-B14F-4D97-AF65-F5344CB8AC3E}">
        <p14:creationId xmlns:p14="http://schemas.microsoft.com/office/powerpoint/2010/main" val="3587426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1" y="1690688"/>
            <a:ext cx="10515600" cy="5167312"/>
          </a:xfrm>
        </p:spPr>
        <p:txBody>
          <a:bodyPr>
            <a:noAutofit/>
          </a:bodyPr>
          <a:lstStyle/>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instruction saves the current address of program counter (PC) in the link register (LR) before placing the starting address of the subroutine in the program counter</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When the subroutine has completed its task, the processor must be able to branch back (return) to the instruction immediately following the branch instruction that invoked the subroutine.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To return from the subroutine we move the value stored in the link register to program counter which returns the control to the next instruction from which subroutine was called. </a:t>
            </a:r>
          </a:p>
          <a:p>
            <a:pPr algn="just"/>
            <a:r>
              <a:rPr lang="en-US" sz="2400" dirty="0" smtClean="0">
                <a:latin typeface="Times New Roman" panose="02020603050405020304" pitchFamily="18" charset="0"/>
                <a:cs typeface="Times New Roman" panose="02020603050405020304" pitchFamily="18" charset="0"/>
              </a:rPr>
              <a:t>Thus, to return from subroutine we should use the following instruction:</a:t>
            </a:r>
            <a:endParaRPr lang="pt-BR" sz="2400" dirty="0" smtClean="0">
              <a:latin typeface="Times New Roman" panose="02020603050405020304" pitchFamily="18" charset="0"/>
              <a:cs typeface="Times New Roman" panose="02020603050405020304" pitchFamily="18" charset="0"/>
            </a:endParaRPr>
          </a:p>
          <a:p>
            <a:pPr marL="0" indent="0">
              <a:buNone/>
            </a:pPr>
            <a:r>
              <a:rPr lang="pt-BR" sz="2400" dirty="0" smtClean="0">
                <a:latin typeface="Times New Roman" panose="02020603050405020304" pitchFamily="18" charset="0"/>
                <a:cs typeface="Times New Roman" panose="02020603050405020304" pitchFamily="18" charset="0"/>
              </a:rPr>
              <a:t>      </a:t>
            </a:r>
            <a:r>
              <a:rPr lang="pt-BR" sz="2400" b="1" dirty="0" smtClean="0">
                <a:latin typeface="Times New Roman" panose="02020603050405020304" pitchFamily="18" charset="0"/>
                <a:cs typeface="Times New Roman" panose="02020603050405020304" pitchFamily="18" charset="0"/>
              </a:rPr>
              <a:t>BX   LR		; return back to the instruction after the subroutine call </a:t>
            </a:r>
          </a:p>
          <a:p>
            <a:pPr marL="0" indent="0">
              <a:buNone/>
            </a:pPr>
            <a:r>
              <a:rPr lang="pt-BR" sz="2400" b="1" dirty="0" smtClean="0">
                <a:latin typeface="Times New Roman" panose="02020603050405020304" pitchFamily="18" charset="0"/>
                <a:cs typeface="Times New Roman" panose="02020603050405020304" pitchFamily="18" charset="0"/>
              </a:rPr>
              <a:t>      MOV   PC, LR    ; serves the same purpose </a:t>
            </a:r>
            <a:endParaRPr lang="en-US" sz="2400" b="1"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0931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Parameter Passing</a:t>
            </a:r>
          </a:p>
        </p:txBody>
      </p:sp>
      <p:sp>
        <p:nvSpPr>
          <p:cNvPr id="3" name="Content Placeholder 2"/>
          <p:cNvSpPr>
            <a:spLocks noGrp="1"/>
          </p:cNvSpPr>
          <p:nvPr>
            <p:ph idx="1"/>
          </p:nvPr>
        </p:nvSpPr>
        <p:spPr>
          <a:xfrm>
            <a:off x="838200" y="1690688"/>
            <a:ext cx="10515600" cy="5167312"/>
          </a:xfrm>
        </p:spPr>
        <p:txBody>
          <a:bodyPr>
            <a:normAutofit/>
          </a:bodyPr>
          <a:lstStyle/>
          <a:p>
            <a:pPr algn="just"/>
            <a:r>
              <a:rPr lang="en-US" sz="1900" dirty="0">
                <a:latin typeface="Times New Roman" panose="02020603050405020304" pitchFamily="18" charset="0"/>
                <a:cs typeface="Times New Roman" panose="02020603050405020304" pitchFamily="18" charset="0"/>
              </a:rPr>
              <a:t>When calling a subroutine, a calling program needs a mechanism to provide to the subroutine the input parameters, the operands that will be used in computation in the subroutine or </a:t>
            </a:r>
            <a:r>
              <a:rPr lang="en-US" sz="1900" dirty="0" smtClean="0">
                <a:latin typeface="Times New Roman" panose="02020603050405020304" pitchFamily="18" charset="0"/>
                <a:cs typeface="Times New Roman" panose="02020603050405020304" pitchFamily="18" charset="0"/>
              </a:rPr>
              <a:t>their addresses</a:t>
            </a:r>
            <a:r>
              <a:rPr lang="en-US" sz="1900" dirty="0">
                <a:latin typeface="Times New Roman" panose="02020603050405020304" pitchFamily="18" charset="0"/>
                <a:cs typeface="Times New Roman" panose="02020603050405020304" pitchFamily="18" charset="0"/>
              </a:rPr>
              <a:t>. </a:t>
            </a:r>
            <a:endParaRPr lang="en-US" sz="1900" dirty="0" smtClean="0">
              <a:latin typeface="Times New Roman" panose="02020603050405020304" pitchFamily="18" charset="0"/>
              <a:cs typeface="Times New Roman" panose="02020603050405020304" pitchFamily="18" charset="0"/>
            </a:endParaRPr>
          </a:p>
          <a:p>
            <a:pPr algn="just"/>
            <a:r>
              <a:rPr lang="en-US" sz="1900" dirty="0" smtClean="0">
                <a:latin typeface="Times New Roman" panose="02020603050405020304" pitchFamily="18" charset="0"/>
                <a:cs typeface="Times New Roman" panose="02020603050405020304" pitchFamily="18" charset="0"/>
              </a:rPr>
              <a:t>Later</a:t>
            </a:r>
            <a:r>
              <a:rPr lang="en-US" sz="1900" dirty="0">
                <a:latin typeface="Times New Roman" panose="02020603050405020304" pitchFamily="18" charset="0"/>
                <a:cs typeface="Times New Roman" panose="02020603050405020304" pitchFamily="18" charset="0"/>
              </a:rPr>
              <a:t>, the subroutine needs a mechanism to return output parameters, the results of the subroutine computation. </a:t>
            </a:r>
            <a:endParaRPr lang="en-US" sz="1900" dirty="0" smtClean="0">
              <a:latin typeface="Times New Roman" panose="02020603050405020304" pitchFamily="18" charset="0"/>
              <a:cs typeface="Times New Roman" panose="02020603050405020304" pitchFamily="18" charset="0"/>
            </a:endParaRPr>
          </a:p>
          <a:p>
            <a:pPr algn="just"/>
            <a:r>
              <a:rPr lang="en-US" sz="1900" dirty="0" smtClean="0">
                <a:latin typeface="Times New Roman" panose="02020603050405020304" pitchFamily="18" charset="0"/>
                <a:cs typeface="Times New Roman" panose="02020603050405020304" pitchFamily="18" charset="0"/>
              </a:rPr>
              <a:t>This </a:t>
            </a:r>
            <a:r>
              <a:rPr lang="en-US" sz="1900" dirty="0">
                <a:latin typeface="Times New Roman" panose="02020603050405020304" pitchFamily="18" charset="0"/>
                <a:cs typeface="Times New Roman" panose="02020603050405020304" pitchFamily="18" charset="0"/>
              </a:rPr>
              <a:t>exchange of information between a calling program and a subroutine is referred to as parameter passing. </a:t>
            </a:r>
            <a:endParaRPr lang="en-US" sz="1900" dirty="0" smtClean="0">
              <a:latin typeface="Times New Roman" panose="02020603050405020304" pitchFamily="18" charset="0"/>
              <a:cs typeface="Times New Roman" panose="02020603050405020304" pitchFamily="18" charset="0"/>
            </a:endParaRPr>
          </a:p>
          <a:p>
            <a:pPr algn="just"/>
            <a:r>
              <a:rPr lang="en-US" sz="1900" dirty="0" smtClean="0">
                <a:latin typeface="Times New Roman" panose="02020603050405020304" pitchFamily="18" charset="0"/>
                <a:cs typeface="Times New Roman" panose="02020603050405020304" pitchFamily="18" charset="0"/>
              </a:rPr>
              <a:t>Parameter </a:t>
            </a:r>
            <a:r>
              <a:rPr lang="en-US" sz="1900" dirty="0">
                <a:latin typeface="Times New Roman" panose="02020603050405020304" pitchFamily="18" charset="0"/>
                <a:cs typeface="Times New Roman" panose="02020603050405020304" pitchFamily="18" charset="0"/>
              </a:rPr>
              <a:t>passing </a:t>
            </a:r>
            <a:r>
              <a:rPr lang="en-US" sz="1900" dirty="0" smtClean="0">
                <a:latin typeface="Times New Roman" panose="02020603050405020304" pitchFamily="18" charset="0"/>
                <a:cs typeface="Times New Roman" panose="02020603050405020304" pitchFamily="18" charset="0"/>
              </a:rPr>
              <a:t>may </a:t>
            </a:r>
            <a:r>
              <a:rPr lang="en-US" sz="1900" dirty="0">
                <a:latin typeface="Times New Roman" panose="02020603050405020304" pitchFamily="18" charset="0"/>
                <a:cs typeface="Times New Roman" panose="02020603050405020304" pitchFamily="18" charset="0"/>
              </a:rPr>
              <a:t>be accomplished in three different ways</a:t>
            </a:r>
            <a:r>
              <a:rPr lang="en-US" sz="1900" dirty="0" smtClean="0">
                <a:latin typeface="Times New Roman" panose="02020603050405020304" pitchFamily="18" charset="0"/>
                <a:cs typeface="Times New Roman" panose="02020603050405020304" pitchFamily="18" charset="0"/>
              </a:rPr>
              <a:t>:</a:t>
            </a:r>
          </a:p>
          <a:p>
            <a:pPr marL="800100" lvl="1" indent="-342900" algn="just">
              <a:buFont typeface="+mj-lt"/>
              <a:buAutoNum type="arabicPeriod"/>
            </a:pPr>
            <a:r>
              <a:rPr lang="en-US" sz="1900" dirty="0">
                <a:latin typeface="Times New Roman" panose="02020603050405020304" pitchFamily="18" charset="0"/>
                <a:cs typeface="Times New Roman" panose="02020603050405020304" pitchFamily="18" charset="0"/>
              </a:rPr>
              <a:t>Place the parameters in the registers. </a:t>
            </a:r>
          </a:p>
          <a:p>
            <a:pPr marL="800100" lvl="1" indent="-342900" algn="just">
              <a:buFont typeface="+mj-lt"/>
              <a:buAutoNum type="arabicPeriod"/>
            </a:pPr>
            <a:r>
              <a:rPr lang="en-US" sz="1900" dirty="0" smtClean="0">
                <a:latin typeface="Times New Roman" panose="02020603050405020304" pitchFamily="18" charset="0"/>
                <a:cs typeface="Times New Roman" panose="02020603050405020304" pitchFamily="18" charset="0"/>
              </a:rPr>
              <a:t>Place </a:t>
            </a:r>
            <a:r>
              <a:rPr lang="en-US" sz="1900" dirty="0">
                <a:latin typeface="Times New Roman" panose="02020603050405020304" pitchFamily="18" charset="0"/>
                <a:cs typeface="Times New Roman" panose="02020603050405020304" pitchFamily="18" charset="0"/>
              </a:rPr>
              <a:t>the parameters in a block of memory. </a:t>
            </a:r>
          </a:p>
          <a:p>
            <a:pPr marL="800100" lvl="1" indent="-342900" algn="just">
              <a:buFont typeface="+mj-lt"/>
              <a:buAutoNum type="arabicPeriod"/>
            </a:pPr>
            <a:r>
              <a:rPr lang="en-US" sz="1900" dirty="0" smtClean="0">
                <a:latin typeface="Times New Roman" panose="02020603050405020304" pitchFamily="18" charset="0"/>
                <a:cs typeface="Times New Roman" panose="02020603050405020304" pitchFamily="18" charset="0"/>
              </a:rPr>
              <a:t>Transfer </a:t>
            </a:r>
            <a:r>
              <a:rPr lang="en-US" sz="1900" dirty="0">
                <a:latin typeface="Times New Roman" panose="02020603050405020304" pitchFamily="18" charset="0"/>
                <a:cs typeface="Times New Roman" panose="02020603050405020304" pitchFamily="18" charset="0"/>
              </a:rPr>
              <a:t>the parameters and results on the hardware stack.</a:t>
            </a:r>
            <a:r>
              <a:rPr lang="en-US" sz="1900" dirty="0" smtClean="0">
                <a:latin typeface="Times New Roman" panose="02020603050405020304" pitchFamily="18" charset="0"/>
                <a:cs typeface="Times New Roman" panose="02020603050405020304" pitchFamily="18" charset="0"/>
              </a:rPr>
              <a:t> </a:t>
            </a:r>
          </a:p>
          <a:p>
            <a:pPr algn="just"/>
            <a:r>
              <a:rPr lang="en-US" sz="1900" dirty="0" smtClean="0">
                <a:latin typeface="Times New Roman" panose="02020603050405020304" pitchFamily="18" charset="0"/>
                <a:cs typeface="Times New Roman" panose="02020603050405020304" pitchFamily="18" charset="0"/>
              </a:rPr>
              <a:t>The registers often provide a fast, convenient way of passing parameters and returning results. </a:t>
            </a:r>
          </a:p>
          <a:p>
            <a:pPr algn="just"/>
            <a:r>
              <a:rPr lang="en-US" sz="1900" dirty="0" smtClean="0">
                <a:latin typeface="Times New Roman" panose="02020603050405020304" pitchFamily="18" charset="0"/>
                <a:cs typeface="Times New Roman" panose="02020603050405020304" pitchFamily="18" charset="0"/>
              </a:rPr>
              <a:t>Number of available registers limit the usefulness of this method. </a:t>
            </a:r>
          </a:p>
          <a:p>
            <a:pPr algn="just"/>
            <a:r>
              <a:rPr lang="en-US" sz="1900" dirty="0" smtClean="0">
                <a:latin typeface="Times New Roman" panose="02020603050405020304" pitchFamily="18" charset="0"/>
                <a:cs typeface="Times New Roman" panose="02020603050405020304" pitchFamily="18" charset="0"/>
              </a:rPr>
              <a:t>This method can result in unforeseen side effects and it also lacks generality.</a:t>
            </a:r>
          </a:p>
        </p:txBody>
      </p:sp>
    </p:spTree>
    <p:extLst>
      <p:ext uri="{BB962C8B-B14F-4D97-AF65-F5344CB8AC3E}">
        <p14:creationId xmlns:p14="http://schemas.microsoft.com/office/powerpoint/2010/main" val="2340935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Passing Parameters in Registers</a:t>
            </a:r>
          </a:p>
        </p:txBody>
      </p:sp>
      <p:sp>
        <p:nvSpPr>
          <p:cNvPr id="3" name="Content Placeholder 2"/>
          <p:cNvSpPr>
            <a:spLocks noGrp="1"/>
          </p:cNvSpPr>
          <p:nvPr>
            <p:ph idx="1"/>
          </p:nvPr>
        </p:nvSpPr>
        <p:spPr>
          <a:xfrm>
            <a:off x="838200" y="1690688"/>
            <a:ext cx="10515600" cy="5167312"/>
          </a:xfrm>
        </p:spPr>
        <p:txBody>
          <a:bodyPr>
            <a:normAutofit/>
          </a:bodyPr>
          <a:lstStyle/>
          <a:p>
            <a:pPr algn="just"/>
            <a:r>
              <a:rPr lang="en-US" sz="2000" dirty="0">
                <a:latin typeface="Times New Roman" panose="02020603050405020304" pitchFamily="18" charset="0"/>
                <a:cs typeface="Times New Roman" panose="02020603050405020304" pitchFamily="18" charset="0"/>
              </a:rPr>
              <a:t>This is the simplest method to pass the parameters via the registers.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Memory </a:t>
            </a:r>
            <a:r>
              <a:rPr lang="en-US" sz="2000" dirty="0">
                <a:latin typeface="Times New Roman" panose="02020603050405020304" pitchFamily="18" charset="0"/>
                <a:cs typeface="Times New Roman" panose="02020603050405020304" pitchFamily="18" charset="0"/>
              </a:rPr>
              <a:t>addresses, counters and other data can be passed to the subroutines through registers.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For </a:t>
            </a:r>
            <a:r>
              <a:rPr lang="en-US" sz="2000" dirty="0">
                <a:latin typeface="Times New Roman" panose="02020603050405020304" pitchFamily="18" charset="0"/>
                <a:cs typeface="Times New Roman" panose="02020603050405020304" pitchFamily="18" charset="0"/>
              </a:rPr>
              <a:t>example, a subroutine takes two strings of equal length as its input parameters. The length of the strings can be passed through the register R0 and the starting address of both the strings can be passed via the registers R1 and R2 respectively</a:t>
            </a:r>
            <a:r>
              <a:rPr lang="en-US" sz="2000" dirty="0" smtClean="0">
                <a:latin typeface="Times New Roman" panose="02020603050405020304" pitchFamily="18" charset="0"/>
                <a:cs typeface="Times New Roman" panose="02020603050405020304" pitchFamily="18" charset="0"/>
              </a:rPr>
              <a:t>.</a:t>
            </a:r>
          </a:p>
          <a:p>
            <a:pPr marL="457200" lvl="1" indent="0">
              <a:buNone/>
            </a:pPr>
            <a:r>
              <a:rPr lang="pt-BR" sz="1600" b="1" dirty="0" smtClean="0">
                <a:latin typeface="Times New Roman" panose="02020603050405020304" pitchFamily="18" charset="0"/>
                <a:cs typeface="Times New Roman" panose="02020603050405020304" pitchFamily="18" charset="0"/>
              </a:rPr>
              <a:t>		MOV </a:t>
            </a:r>
            <a:r>
              <a:rPr lang="pt-BR" sz="1600" b="1" dirty="0">
                <a:latin typeface="Times New Roman" panose="02020603050405020304" pitchFamily="18" charset="0"/>
                <a:cs typeface="Times New Roman" panose="02020603050405020304" pitchFamily="18" charset="0"/>
              </a:rPr>
              <a:t>R0 , #</a:t>
            </a:r>
            <a:r>
              <a:rPr lang="pt-BR" sz="1600" b="1" dirty="0" smtClean="0">
                <a:latin typeface="Times New Roman" panose="02020603050405020304" pitchFamily="18" charset="0"/>
                <a:cs typeface="Times New Roman" panose="02020603050405020304" pitchFamily="18" charset="0"/>
              </a:rPr>
              <a:t>StrLength 	; </a:t>
            </a:r>
            <a:r>
              <a:rPr lang="pt-BR" sz="1600" b="1" dirty="0">
                <a:latin typeface="Times New Roman" panose="02020603050405020304" pitchFamily="18" charset="0"/>
                <a:cs typeface="Times New Roman" panose="02020603050405020304" pitchFamily="18" charset="0"/>
              </a:rPr>
              <a:t>R0 </a:t>
            </a:r>
            <a:r>
              <a:rPr lang="pt-BR" sz="1600" b="1" dirty="0" smtClean="0">
                <a:latin typeface="Times New Roman" panose="02020603050405020304" pitchFamily="18" charset="0"/>
                <a:cs typeface="Times New Roman" panose="02020603050405020304" pitchFamily="18" charset="0"/>
              </a:rPr>
              <a:t>contains </a:t>
            </a:r>
            <a:r>
              <a:rPr lang="pt-BR" sz="1600" b="1" dirty="0">
                <a:latin typeface="Times New Roman" panose="02020603050405020304" pitchFamily="18" charset="0"/>
                <a:cs typeface="Times New Roman" panose="02020603050405020304" pitchFamily="18" charset="0"/>
              </a:rPr>
              <a:t>the </a:t>
            </a:r>
            <a:r>
              <a:rPr lang="pt-BR" sz="1600" b="1" dirty="0" smtClean="0">
                <a:latin typeface="Times New Roman" panose="02020603050405020304" pitchFamily="18" charset="0"/>
                <a:cs typeface="Times New Roman" panose="02020603050405020304" pitchFamily="18" charset="0"/>
              </a:rPr>
              <a:t>length of strings </a:t>
            </a:r>
          </a:p>
          <a:p>
            <a:pPr marL="457200" lvl="1" indent="0">
              <a:buNone/>
            </a:pPr>
            <a:r>
              <a:rPr lang="pt-BR" sz="1600" b="1" dirty="0" smtClean="0">
                <a:latin typeface="Times New Roman" panose="02020603050405020304" pitchFamily="18" charset="0"/>
                <a:cs typeface="Times New Roman" panose="02020603050405020304" pitchFamily="18" charset="0"/>
              </a:rPr>
              <a:t>		LDR </a:t>
            </a:r>
            <a:r>
              <a:rPr lang="pt-BR" sz="1600" b="1" dirty="0">
                <a:latin typeface="Times New Roman" panose="02020603050405020304" pitchFamily="18" charset="0"/>
                <a:cs typeface="Times New Roman" panose="02020603050405020304" pitchFamily="18" charset="0"/>
              </a:rPr>
              <a:t>R1 , =</a:t>
            </a:r>
            <a:r>
              <a:rPr lang="pt-BR" sz="1600" b="1" dirty="0" smtClean="0">
                <a:latin typeface="Times New Roman" panose="02020603050405020304" pitchFamily="18" charset="0"/>
                <a:cs typeface="Times New Roman" panose="02020603050405020304" pitchFamily="18" charset="0"/>
              </a:rPr>
              <a:t>String1 		; </a:t>
            </a:r>
            <a:r>
              <a:rPr lang="pt-BR" sz="1600" b="1" dirty="0">
                <a:latin typeface="Times New Roman" panose="02020603050405020304" pitchFamily="18" charset="0"/>
                <a:cs typeface="Times New Roman" panose="02020603050405020304" pitchFamily="18" charset="0"/>
              </a:rPr>
              <a:t>R1 has the </a:t>
            </a:r>
            <a:r>
              <a:rPr lang="pt-BR" sz="1600" b="1" dirty="0" smtClean="0">
                <a:latin typeface="Times New Roman" panose="02020603050405020304" pitchFamily="18" charset="0"/>
                <a:cs typeface="Times New Roman" panose="02020603050405020304" pitchFamily="18" charset="0"/>
              </a:rPr>
              <a:t>starting address of first string </a:t>
            </a:r>
          </a:p>
          <a:p>
            <a:pPr marL="457200" lvl="1" indent="0">
              <a:buNone/>
            </a:pPr>
            <a:r>
              <a:rPr lang="pt-BR" sz="1600" b="1" dirty="0" smtClean="0">
                <a:latin typeface="Times New Roman" panose="02020603050405020304" pitchFamily="18" charset="0"/>
                <a:cs typeface="Times New Roman" panose="02020603050405020304" pitchFamily="18" charset="0"/>
              </a:rPr>
              <a:t>		LDR </a:t>
            </a:r>
            <a:r>
              <a:rPr lang="pt-BR" sz="1600" b="1" dirty="0">
                <a:latin typeface="Times New Roman" panose="02020603050405020304" pitchFamily="18" charset="0"/>
                <a:cs typeface="Times New Roman" panose="02020603050405020304" pitchFamily="18" charset="0"/>
              </a:rPr>
              <a:t>R2 , =</a:t>
            </a:r>
            <a:r>
              <a:rPr lang="pt-BR" sz="1600" b="1" dirty="0" smtClean="0">
                <a:latin typeface="Times New Roman" panose="02020603050405020304" pitchFamily="18" charset="0"/>
                <a:cs typeface="Times New Roman" panose="02020603050405020304" pitchFamily="18" charset="0"/>
              </a:rPr>
              <a:t>String2 		; </a:t>
            </a:r>
            <a:r>
              <a:rPr lang="pt-BR" sz="1600" b="1" dirty="0">
                <a:latin typeface="Times New Roman" panose="02020603050405020304" pitchFamily="18" charset="0"/>
                <a:cs typeface="Times New Roman" panose="02020603050405020304" pitchFamily="18" charset="0"/>
              </a:rPr>
              <a:t>R2 has the </a:t>
            </a:r>
            <a:r>
              <a:rPr lang="pt-BR" sz="1600" b="1" dirty="0" smtClean="0">
                <a:latin typeface="Times New Roman" panose="02020603050405020304" pitchFamily="18" charset="0"/>
                <a:cs typeface="Times New Roman" panose="02020603050405020304" pitchFamily="18" charset="0"/>
              </a:rPr>
              <a:t>starting address of second string </a:t>
            </a:r>
          </a:p>
          <a:p>
            <a:pPr marL="457200" lvl="1" indent="0">
              <a:buNone/>
            </a:pPr>
            <a:r>
              <a:rPr lang="pt-BR" sz="1600" b="1" dirty="0" smtClean="0">
                <a:latin typeface="Times New Roman" panose="02020603050405020304" pitchFamily="18" charset="0"/>
                <a:cs typeface="Times New Roman" panose="02020603050405020304" pitchFamily="18" charset="0"/>
              </a:rPr>
              <a:t>		BL my-subroutine 		; </a:t>
            </a:r>
            <a:r>
              <a:rPr lang="pt-BR" sz="1600" b="1" dirty="0">
                <a:latin typeface="Times New Roman" panose="02020603050405020304" pitchFamily="18" charset="0"/>
                <a:cs typeface="Times New Roman" panose="02020603050405020304" pitchFamily="18" charset="0"/>
              </a:rPr>
              <a:t>Jump </a:t>
            </a:r>
            <a:r>
              <a:rPr lang="pt-BR" sz="1600" b="1" dirty="0" smtClean="0">
                <a:latin typeface="Times New Roman" panose="02020603050405020304" pitchFamily="18" charset="0"/>
                <a:cs typeface="Times New Roman" panose="02020603050405020304" pitchFamily="18" charset="0"/>
              </a:rPr>
              <a:t>to subroutine</a:t>
            </a:r>
            <a:endParaRPr lang="en-US" sz="1600" b="1" dirty="0" smtClean="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Passing the parameter through the registers is easy and the subroutine assume that parameters are already placed in the registers.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Results </a:t>
            </a:r>
            <a:r>
              <a:rPr lang="en-US" sz="2000" dirty="0">
                <a:latin typeface="Times New Roman" panose="02020603050405020304" pitchFamily="18" charset="0"/>
                <a:cs typeface="Times New Roman" panose="02020603050405020304" pitchFamily="18" charset="0"/>
              </a:rPr>
              <a:t>of a subroutine can also returned in the registers or the memory location to store the results can be passed as parameters via the registers. This method is limited by the number of available registers.</a:t>
            </a:r>
            <a:endParaRPr lang="pt-BR"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52157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Parameters</a:t>
            </a:r>
          </a:p>
        </p:txBody>
      </p:sp>
      <p:sp>
        <p:nvSpPr>
          <p:cNvPr id="3" name="Content Placeholder 2"/>
          <p:cNvSpPr>
            <a:spLocks noGrp="1"/>
          </p:cNvSpPr>
          <p:nvPr>
            <p:ph idx="1"/>
          </p:nvPr>
        </p:nvSpPr>
        <p:spPr>
          <a:xfrm>
            <a:off x="838200" y="1690688"/>
            <a:ext cx="10515600" cy="5073183"/>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We can specify the parameters in various different ways that are described below: </a:t>
            </a:r>
            <a:endParaRPr lang="en-US" sz="2000" dirty="0" smtClean="0">
              <a:latin typeface="Times New Roman" panose="02020603050405020304" pitchFamily="18" charset="0"/>
              <a:cs typeface="Times New Roman" panose="02020603050405020304" pitchFamily="18" charset="0"/>
            </a:endParaRPr>
          </a:p>
          <a:p>
            <a:pPr marL="0" indent="0" algn="just">
              <a:buNone/>
            </a:pPr>
            <a:r>
              <a:rPr lang="en-US" sz="2000" b="1" dirty="0" smtClean="0">
                <a:latin typeface="Times New Roman" panose="02020603050405020304" pitchFamily="18" charset="0"/>
                <a:cs typeface="Times New Roman" panose="02020603050405020304" pitchFamily="18" charset="0"/>
              </a:rPr>
              <a:t>pass-by-value:</a:t>
            </a:r>
            <a:r>
              <a:rPr lang="en-US" sz="2000" dirty="0" smtClean="0">
                <a:latin typeface="Times New Roman" panose="02020603050405020304" pitchFamily="18" charset="0"/>
                <a:cs typeface="Times New Roman" panose="02020603050405020304" pitchFamily="18" charset="0"/>
              </a:rPr>
              <a:t> </a:t>
            </a:r>
          </a:p>
          <a:p>
            <a:pPr algn="just"/>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this method actual values are placed in a parameter list. Pass by value means you are making a copy in memory of the actual parameter’s value that is passed in, a copy of the contents of the actual parameter. Changing the value in the subroutine will not </a:t>
            </a:r>
            <a:r>
              <a:rPr lang="en-US" sz="2000" dirty="0" smtClean="0">
                <a:latin typeface="Times New Roman" panose="02020603050405020304" pitchFamily="18" charset="0"/>
                <a:cs typeface="Times New Roman" panose="02020603050405020304" pitchFamily="18" charset="0"/>
              </a:rPr>
              <a:t>change </a:t>
            </a:r>
            <a:r>
              <a:rPr lang="en-US" sz="2000" dirty="0">
                <a:latin typeface="Times New Roman" panose="02020603050405020304" pitchFamily="18" charset="0"/>
                <a:cs typeface="Times New Roman" panose="02020603050405020304" pitchFamily="18" charset="0"/>
              </a:rPr>
              <a:t>the actual value of the parameter</a:t>
            </a:r>
            <a:r>
              <a:rPr lang="en-US" sz="2000" dirty="0" smtClean="0">
                <a:latin typeface="Times New Roman" panose="02020603050405020304" pitchFamily="18" charset="0"/>
                <a:cs typeface="Times New Roman" panose="02020603050405020304" pitchFamily="18" charset="0"/>
              </a:rPr>
              <a:t>.</a:t>
            </a:r>
          </a:p>
          <a:p>
            <a:pPr marL="0" indent="0" algn="just">
              <a:buNone/>
            </a:pPr>
            <a:r>
              <a:rPr lang="en-US" sz="2000" b="1" dirty="0" smtClean="0">
                <a:latin typeface="Times New Roman" panose="02020603050405020304" pitchFamily="18" charset="0"/>
                <a:cs typeface="Times New Roman" panose="02020603050405020304" pitchFamily="18" charset="0"/>
              </a:rPr>
              <a:t>pass-by-reference:</a:t>
            </a:r>
            <a:r>
              <a:rPr lang="en-US" sz="2000" dirty="0" smtClean="0">
                <a:latin typeface="Times New Roman" panose="02020603050405020304" pitchFamily="18" charset="0"/>
                <a:cs typeface="Times New Roman" panose="02020603050405020304" pitchFamily="18" charset="0"/>
              </a:rPr>
              <a:t> </a:t>
            </a:r>
          </a:p>
          <a:p>
            <a:pPr algn="just"/>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this method the address of parameters are placed in the parameter list. Changing the value of parameter in the subroutine will also change the actual value. You must be more careful while using this method as some parameters may change their value even if you don’t intend to do so. </a:t>
            </a:r>
            <a:endParaRPr lang="en-US" sz="2000" dirty="0" smtClean="0">
              <a:latin typeface="Times New Roman" panose="02020603050405020304" pitchFamily="18" charset="0"/>
              <a:cs typeface="Times New Roman" panose="02020603050405020304" pitchFamily="18" charset="0"/>
            </a:endParaRPr>
          </a:p>
          <a:p>
            <a:pPr marL="0" indent="0" algn="just">
              <a:buNone/>
            </a:pPr>
            <a:r>
              <a:rPr lang="en-US" sz="2000" b="1" dirty="0" smtClean="0">
                <a:latin typeface="Times New Roman" panose="02020603050405020304" pitchFamily="18" charset="0"/>
                <a:cs typeface="Times New Roman" panose="02020603050405020304" pitchFamily="18" charset="0"/>
              </a:rPr>
              <a:t>pass-by-name:</a:t>
            </a:r>
            <a:r>
              <a:rPr lang="en-US" sz="2000" dirty="0" smtClean="0">
                <a:latin typeface="Times New Roman" panose="02020603050405020304" pitchFamily="18" charset="0"/>
                <a:cs typeface="Times New Roman" panose="02020603050405020304" pitchFamily="18" charset="0"/>
              </a:rPr>
              <a:t> </a:t>
            </a:r>
          </a:p>
          <a:p>
            <a:pPr algn="just"/>
            <a:r>
              <a:rPr lang="en-US" sz="2000" dirty="0" smtClean="0">
                <a:latin typeface="Times New Roman" panose="02020603050405020304" pitchFamily="18" charset="0"/>
                <a:cs typeface="Times New Roman" panose="02020603050405020304" pitchFamily="18" charset="0"/>
              </a:rPr>
              <a:t>Instead </a:t>
            </a:r>
            <a:r>
              <a:rPr lang="en-US" sz="2000" dirty="0">
                <a:latin typeface="Times New Roman" panose="02020603050405020304" pitchFamily="18" charset="0"/>
                <a:cs typeface="Times New Roman" panose="02020603050405020304" pitchFamily="18" charset="0"/>
              </a:rPr>
              <a:t>of passing either the value or the reference of the parameter a string containing the name of the parameter is passed. This method is flexible but time consuming as a lookup table must be consulted every time to access the value of the </a:t>
            </a:r>
            <a:r>
              <a:rPr lang="en-US" sz="2000" dirty="0" smtClean="0">
                <a:latin typeface="Times New Roman" panose="02020603050405020304" pitchFamily="18" charset="0"/>
                <a:cs typeface="Times New Roman" panose="02020603050405020304" pitchFamily="18" charset="0"/>
              </a:rPr>
              <a:t>variable.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0364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756" y="0"/>
            <a:ext cx="11795244" cy="6217087"/>
          </a:xfrm>
          <a:prstGeom prst="rect">
            <a:avLst/>
          </a:prstGeom>
        </p:spPr>
        <p:txBody>
          <a:bodyPr wrap="square">
            <a:spAutoFit/>
          </a:bodyPr>
          <a:lstStyle/>
          <a:p>
            <a:r>
              <a:rPr lang="en-US" sz="2800" b="1" dirty="0" smtClean="0">
                <a:latin typeface="Times New Roman" panose="02020603050405020304" pitchFamily="18" charset="0"/>
                <a:cs typeface="Times New Roman" panose="02020603050405020304" pitchFamily="18" charset="0"/>
              </a:rPr>
              <a:t>Example</a:t>
            </a:r>
          </a:p>
          <a:p>
            <a:endParaRPr lang="en-US" sz="2800" b="1" dirty="0" smtClean="0">
              <a:latin typeface="Times New Roman" panose="02020603050405020304" pitchFamily="18" charset="0"/>
              <a:cs typeface="Times New Roman" panose="02020603050405020304" pitchFamily="18" charset="0"/>
            </a:endParaRPr>
          </a:p>
          <a:p>
            <a:r>
              <a:rPr lang="pt-BR" dirty="0">
                <a:latin typeface="Times New Roman" panose="02020603050405020304" pitchFamily="18" charset="0"/>
                <a:cs typeface="Times New Roman" panose="02020603050405020304" pitchFamily="18" charset="0"/>
              </a:rPr>
              <a:t>This subroutine takes a number as input accumulates the sum and stores the result in memory. </a:t>
            </a:r>
            <a:endParaRPr lang="pt-BR" dirty="0" smtClean="0">
              <a:latin typeface="Times New Roman" panose="02020603050405020304" pitchFamily="18" charset="0"/>
              <a:cs typeface="Times New Roman" panose="02020603050405020304" pitchFamily="18" charset="0"/>
            </a:endParaRPr>
          </a:p>
          <a:p>
            <a:endParaRPr lang="pt-BR" dirty="0" smtClean="0">
              <a:latin typeface="Times New Roman" panose="02020603050405020304" pitchFamily="18" charset="0"/>
              <a:cs typeface="Times New Roman" panose="02020603050405020304" pitchFamily="18" charset="0"/>
            </a:endParaRPr>
          </a:p>
          <a:p>
            <a:r>
              <a:rPr lang="pt-BR" dirty="0" smtClean="0">
                <a:latin typeface="Times New Roman" panose="02020603050405020304" pitchFamily="18" charset="0"/>
                <a:cs typeface="Times New Roman" panose="02020603050405020304" pitchFamily="18" charset="0"/>
              </a:rPr>
              <a:t>	PRESERVE8 </a:t>
            </a:r>
          </a:p>
          <a:p>
            <a:r>
              <a:rPr lang="pt-BR" dirty="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THUMB</a:t>
            </a:r>
          </a:p>
          <a:p>
            <a:r>
              <a:rPr lang="pt-BR" dirty="0" smtClean="0">
                <a:latin typeface="Times New Roman" panose="02020603050405020304" pitchFamily="18" charset="0"/>
                <a:cs typeface="Times New Roman" panose="02020603050405020304" pitchFamily="18" charset="0"/>
              </a:rPr>
              <a:t> </a:t>
            </a:r>
          </a:p>
          <a:p>
            <a:r>
              <a:rPr lang="pt-BR" dirty="0" smtClean="0">
                <a:latin typeface="Times New Roman" panose="02020603050405020304" pitchFamily="18" charset="0"/>
                <a:cs typeface="Times New Roman" panose="02020603050405020304" pitchFamily="18" charset="0"/>
              </a:rPr>
              <a:t>	AREA </a:t>
            </a:r>
            <a:r>
              <a:rPr lang="pt-BR" dirty="0">
                <a:latin typeface="Times New Roman" panose="02020603050405020304" pitchFamily="18" charset="0"/>
                <a:cs typeface="Times New Roman" panose="02020603050405020304" pitchFamily="18" charset="0"/>
              </a:rPr>
              <a:t>MyData , DATA, READWRITE </a:t>
            </a:r>
            <a:endParaRPr lang="pt-BR" dirty="0" smtClean="0">
              <a:latin typeface="Times New Roman" panose="02020603050405020304" pitchFamily="18" charset="0"/>
              <a:cs typeface="Times New Roman" panose="02020603050405020304" pitchFamily="18" charset="0"/>
            </a:endParaRPr>
          </a:p>
          <a:p>
            <a:endParaRPr lang="pt-BR" dirty="0" smtClean="0">
              <a:latin typeface="Times New Roman" panose="02020603050405020304" pitchFamily="18" charset="0"/>
              <a:cs typeface="Times New Roman" panose="02020603050405020304" pitchFamily="18" charset="0"/>
            </a:endParaRPr>
          </a:p>
          <a:p>
            <a:r>
              <a:rPr lang="pt-BR" dirty="0" smtClean="0">
                <a:latin typeface="Times New Roman" panose="02020603050405020304" pitchFamily="18" charset="0"/>
                <a:cs typeface="Times New Roman" panose="02020603050405020304" pitchFamily="18" charset="0"/>
              </a:rPr>
              <a:t>SUMP </a:t>
            </a:r>
            <a:r>
              <a:rPr lang="pt-BR" dirty="0">
                <a:latin typeface="Times New Roman" panose="02020603050405020304" pitchFamily="18" charset="0"/>
                <a:cs typeface="Times New Roman" panose="02020603050405020304" pitchFamily="18" charset="0"/>
              </a:rPr>
              <a:t>DCD 0 </a:t>
            </a:r>
            <a:r>
              <a:rPr lang="pt-BR" dirty="0" smtClean="0">
                <a:latin typeface="Times New Roman" panose="02020603050405020304" pitchFamily="18" charset="0"/>
                <a:cs typeface="Times New Roman" panose="02020603050405020304" pitchFamily="18" charset="0"/>
              </a:rPr>
              <a:t>							; global variable initialized to zero </a:t>
            </a:r>
          </a:p>
          <a:p>
            <a:r>
              <a:rPr lang="pt-BR" dirty="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AREA  |.text| </a:t>
            </a:r>
            <a:r>
              <a:rPr lang="pt-BR" dirty="0">
                <a:latin typeface="Times New Roman" panose="02020603050405020304" pitchFamily="18" charset="0"/>
                <a:cs typeface="Times New Roman" panose="02020603050405020304" pitchFamily="18" charset="0"/>
              </a:rPr>
              <a:t>, CODE, READONLY, ALIGN=2 </a:t>
            </a:r>
            <a:endParaRPr lang="pt-BR" dirty="0" smtClean="0">
              <a:latin typeface="Times New Roman" panose="02020603050405020304" pitchFamily="18" charset="0"/>
              <a:cs typeface="Times New Roman" panose="02020603050405020304" pitchFamily="18" charset="0"/>
            </a:endParaRPr>
          </a:p>
          <a:p>
            <a:r>
              <a:rPr lang="pt-BR" dirty="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ENTRY 								; </a:t>
            </a:r>
            <a:r>
              <a:rPr lang="pt-BR" dirty="0">
                <a:latin typeface="Times New Roman" panose="02020603050405020304" pitchFamily="18" charset="0"/>
                <a:cs typeface="Times New Roman" panose="02020603050405020304" pitchFamily="18" charset="0"/>
              </a:rPr>
              <a:t>ENTRY marks the </a:t>
            </a:r>
            <a:r>
              <a:rPr lang="pt-BR" dirty="0" smtClean="0">
                <a:latin typeface="Times New Roman" panose="02020603050405020304" pitchFamily="18" charset="0"/>
                <a:cs typeface="Times New Roman" panose="02020603050405020304" pitchFamily="18" charset="0"/>
              </a:rPr>
              <a:t>starting point of  the </a:t>
            </a:r>
            <a:r>
              <a:rPr lang="pt-BR" dirty="0">
                <a:latin typeface="Times New Roman" panose="02020603050405020304" pitchFamily="18" charset="0"/>
                <a:cs typeface="Times New Roman" panose="02020603050405020304" pitchFamily="18" charset="0"/>
              </a:rPr>
              <a:t>code </a:t>
            </a:r>
            <a:r>
              <a:rPr lang="pt-BR" dirty="0" smtClean="0">
                <a:latin typeface="Times New Roman" panose="02020603050405020304" pitchFamily="18" charset="0"/>
                <a:cs typeface="Times New Roman" panose="02020603050405020304" pitchFamily="18" charset="0"/>
              </a:rPr>
              <a:t>execution </a:t>
            </a:r>
          </a:p>
          <a:p>
            <a:r>
              <a:rPr lang="pt-BR" dirty="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EXPORT _ _main </a:t>
            </a:r>
          </a:p>
          <a:p>
            <a:endParaRPr lang="pt-BR" dirty="0" smtClean="0">
              <a:latin typeface="Times New Roman" panose="02020603050405020304" pitchFamily="18" charset="0"/>
              <a:cs typeface="Times New Roman" panose="02020603050405020304" pitchFamily="18" charset="0"/>
            </a:endParaRPr>
          </a:p>
          <a:p>
            <a:r>
              <a:rPr lang="pt-BR" dirty="0" smtClean="0">
                <a:latin typeface="Times New Roman" panose="02020603050405020304" pitchFamily="18" charset="0"/>
                <a:cs typeface="Times New Roman" panose="02020603050405020304" pitchFamily="18" charset="0"/>
              </a:rPr>
              <a:t>_ _main </a:t>
            </a:r>
          </a:p>
          <a:p>
            <a:r>
              <a:rPr lang="pt-BR" dirty="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LDR </a:t>
            </a:r>
            <a:r>
              <a:rPr lang="pt-BR" dirty="0">
                <a:latin typeface="Times New Roman" panose="02020603050405020304" pitchFamily="18" charset="0"/>
                <a:cs typeface="Times New Roman" panose="02020603050405020304" pitchFamily="18" charset="0"/>
              </a:rPr>
              <a:t>R1 , N </a:t>
            </a:r>
            <a:r>
              <a:rPr lang="pt-BR" dirty="0" smtClean="0">
                <a:latin typeface="Times New Roman" panose="02020603050405020304" pitchFamily="18" charset="0"/>
                <a:cs typeface="Times New Roman" panose="02020603050405020304" pitchFamily="18" charset="0"/>
              </a:rPr>
              <a:t>							; </a:t>
            </a:r>
            <a:r>
              <a:rPr lang="pt-BR" dirty="0">
                <a:latin typeface="Times New Roman" panose="02020603050405020304" pitchFamily="18" charset="0"/>
                <a:cs typeface="Times New Roman" panose="02020603050405020304" pitchFamily="18" charset="0"/>
              </a:rPr>
              <a:t>Load count </a:t>
            </a:r>
            <a:r>
              <a:rPr lang="pt-BR" dirty="0" smtClean="0">
                <a:latin typeface="Times New Roman" panose="02020603050405020304" pitchFamily="18" charset="0"/>
                <a:cs typeface="Times New Roman" panose="02020603050405020304" pitchFamily="18" charset="0"/>
              </a:rPr>
              <a:t>into </a:t>
            </a:r>
            <a:r>
              <a:rPr lang="pt-BR" dirty="0">
                <a:latin typeface="Times New Roman" panose="02020603050405020304" pitchFamily="18" charset="0"/>
                <a:cs typeface="Times New Roman" panose="02020603050405020304" pitchFamily="18" charset="0"/>
              </a:rPr>
              <a:t>R1 </a:t>
            </a:r>
            <a:endParaRPr lang="pt-BR" dirty="0" smtClean="0">
              <a:latin typeface="Times New Roman" panose="02020603050405020304" pitchFamily="18" charset="0"/>
              <a:cs typeface="Times New Roman" panose="02020603050405020304" pitchFamily="18" charset="0"/>
            </a:endParaRPr>
          </a:p>
          <a:p>
            <a:r>
              <a:rPr lang="pt-BR" dirty="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MOV </a:t>
            </a:r>
            <a:r>
              <a:rPr lang="pt-BR" dirty="0">
                <a:latin typeface="Times New Roman" panose="02020603050405020304" pitchFamily="18" charset="0"/>
                <a:cs typeface="Times New Roman" panose="02020603050405020304" pitchFamily="18" charset="0"/>
              </a:rPr>
              <a:t>R0 , #0 </a:t>
            </a:r>
            <a:r>
              <a:rPr lang="pt-BR" dirty="0" smtClean="0">
                <a:latin typeface="Times New Roman" panose="02020603050405020304" pitchFamily="18" charset="0"/>
                <a:cs typeface="Times New Roman" panose="02020603050405020304" pitchFamily="18" charset="0"/>
              </a:rPr>
              <a:t>						; Clear accumulator </a:t>
            </a:r>
            <a:r>
              <a:rPr lang="pt-BR" dirty="0">
                <a:latin typeface="Times New Roman" panose="02020603050405020304" pitchFamily="18" charset="0"/>
                <a:cs typeface="Times New Roman" panose="02020603050405020304" pitchFamily="18" charset="0"/>
              </a:rPr>
              <a:t>R0 </a:t>
            </a:r>
            <a:endParaRPr lang="pt-BR" dirty="0" smtClean="0">
              <a:latin typeface="Times New Roman" panose="02020603050405020304" pitchFamily="18" charset="0"/>
              <a:cs typeface="Times New Roman" panose="02020603050405020304" pitchFamily="18" charset="0"/>
            </a:endParaRPr>
          </a:p>
          <a:p>
            <a:r>
              <a:rPr lang="pt-BR" dirty="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BL </a:t>
            </a:r>
            <a:r>
              <a:rPr lang="pt-BR" dirty="0">
                <a:latin typeface="Times New Roman" panose="02020603050405020304" pitchFamily="18" charset="0"/>
                <a:cs typeface="Times New Roman" panose="02020603050405020304" pitchFamily="18" charset="0"/>
              </a:rPr>
              <a:t>SUMUP </a:t>
            </a:r>
            <a:r>
              <a:rPr lang="pt-BR" dirty="0" smtClean="0">
                <a:latin typeface="Times New Roman" panose="02020603050405020304" pitchFamily="18" charset="0"/>
                <a:cs typeface="Times New Roman" panose="02020603050405020304" pitchFamily="18" charset="0"/>
              </a:rPr>
              <a:t>							; Call </a:t>
            </a:r>
            <a:r>
              <a:rPr lang="pt-BR" dirty="0">
                <a:latin typeface="Times New Roman" panose="02020603050405020304" pitchFamily="18" charset="0"/>
                <a:cs typeface="Times New Roman" panose="02020603050405020304" pitchFamily="18" charset="0"/>
              </a:rPr>
              <a:t>the </a:t>
            </a:r>
            <a:r>
              <a:rPr lang="pt-BR" dirty="0" smtClean="0">
                <a:latin typeface="Times New Roman" panose="02020603050405020304" pitchFamily="18" charset="0"/>
                <a:cs typeface="Times New Roman" panose="02020603050405020304" pitchFamily="18" charset="0"/>
              </a:rPr>
              <a:t>subroutine SUMUP </a:t>
            </a:r>
          </a:p>
          <a:p>
            <a:r>
              <a:rPr lang="pt-BR" dirty="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LDR </a:t>
            </a:r>
            <a:r>
              <a:rPr lang="pt-BR" dirty="0">
                <a:latin typeface="Times New Roman" panose="02020603050405020304" pitchFamily="18" charset="0"/>
                <a:cs typeface="Times New Roman" panose="02020603050405020304" pitchFamily="18" charset="0"/>
              </a:rPr>
              <a:t>R3 , =SUMP </a:t>
            </a:r>
            <a:r>
              <a:rPr lang="pt-BR" dirty="0" smtClean="0">
                <a:latin typeface="Times New Roman" panose="02020603050405020304" pitchFamily="18" charset="0"/>
                <a:cs typeface="Times New Roman" panose="02020603050405020304" pitchFamily="18" charset="0"/>
              </a:rPr>
              <a:t>					; </a:t>
            </a:r>
            <a:r>
              <a:rPr lang="pt-BR" dirty="0">
                <a:latin typeface="Times New Roman" panose="02020603050405020304" pitchFamily="18" charset="0"/>
                <a:cs typeface="Times New Roman" panose="02020603050405020304" pitchFamily="18" charset="0"/>
              </a:rPr>
              <a:t>Load </a:t>
            </a:r>
            <a:r>
              <a:rPr lang="pt-BR" dirty="0" smtClean="0">
                <a:latin typeface="Times New Roman" panose="02020603050405020304" pitchFamily="18" charset="0"/>
                <a:cs typeface="Times New Roman" panose="02020603050405020304" pitchFamily="18" charset="0"/>
              </a:rPr>
              <a:t>address of </a:t>
            </a:r>
            <a:r>
              <a:rPr lang="pt-BR" dirty="0">
                <a:latin typeface="Times New Roman" panose="02020603050405020304" pitchFamily="18" charset="0"/>
                <a:cs typeface="Times New Roman" panose="02020603050405020304" pitchFamily="18" charset="0"/>
              </a:rPr>
              <a:t>SUM </a:t>
            </a:r>
            <a:r>
              <a:rPr lang="pt-BR" dirty="0" smtClean="0">
                <a:latin typeface="Times New Roman" panose="02020603050405020304" pitchFamily="18" charset="0"/>
                <a:cs typeface="Times New Roman" panose="02020603050405020304" pitchFamily="18" charset="0"/>
              </a:rPr>
              <a:t>to </a:t>
            </a:r>
            <a:r>
              <a:rPr lang="pt-BR" dirty="0">
                <a:latin typeface="Times New Roman" panose="02020603050405020304" pitchFamily="18" charset="0"/>
                <a:cs typeface="Times New Roman" panose="02020603050405020304" pitchFamily="18" charset="0"/>
              </a:rPr>
              <a:t>R3 </a:t>
            </a:r>
            <a:endParaRPr lang="pt-BR" dirty="0" smtClean="0">
              <a:latin typeface="Times New Roman" panose="02020603050405020304" pitchFamily="18" charset="0"/>
              <a:cs typeface="Times New Roman" panose="02020603050405020304" pitchFamily="18" charset="0"/>
            </a:endParaRPr>
          </a:p>
          <a:p>
            <a:r>
              <a:rPr lang="pt-BR" dirty="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STR </a:t>
            </a:r>
            <a:r>
              <a:rPr lang="pt-BR" dirty="0">
                <a:latin typeface="Times New Roman" panose="02020603050405020304" pitchFamily="18" charset="0"/>
                <a:cs typeface="Times New Roman" panose="02020603050405020304" pitchFamily="18" charset="0"/>
              </a:rPr>
              <a:t>R0 , [ R3 ] </a:t>
            </a:r>
            <a:r>
              <a:rPr lang="pt-BR" dirty="0" smtClean="0">
                <a:latin typeface="Times New Roman" panose="02020603050405020304" pitchFamily="18" charset="0"/>
                <a:cs typeface="Times New Roman" panose="02020603050405020304" pitchFamily="18" charset="0"/>
              </a:rPr>
              <a:t>						; Store </a:t>
            </a:r>
            <a:r>
              <a:rPr lang="pt-BR" dirty="0">
                <a:latin typeface="Times New Roman" panose="02020603050405020304" pitchFamily="18" charset="0"/>
                <a:cs typeface="Times New Roman" panose="02020603050405020304" pitchFamily="18" charset="0"/>
              </a:rPr>
              <a:t>accumulated SUM </a:t>
            </a:r>
            <a:endParaRPr lang="pt-BR" dirty="0" smtClean="0">
              <a:latin typeface="Times New Roman" panose="02020603050405020304" pitchFamily="18" charset="0"/>
              <a:cs typeface="Times New Roman" panose="02020603050405020304" pitchFamily="18" charset="0"/>
            </a:endParaRPr>
          </a:p>
          <a:p>
            <a:r>
              <a:rPr lang="pt-BR" dirty="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B </a:t>
            </a:r>
            <a:r>
              <a:rPr lang="pt-BR" dirty="0">
                <a:latin typeface="Times New Roman" panose="02020603050405020304" pitchFamily="18" charset="0"/>
                <a:cs typeface="Times New Roman" panose="02020603050405020304" pitchFamily="18" charset="0"/>
              </a:rPr>
              <a:t>STOP </a:t>
            </a:r>
            <a:endParaRPr lang="pt-BR"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8651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8822" y="1469375"/>
            <a:ext cx="9282953" cy="3785652"/>
          </a:xfrm>
          <a:prstGeom prst="rect">
            <a:avLst/>
          </a:prstGeom>
        </p:spPr>
        <p:txBody>
          <a:bodyPr wrap="square">
            <a:spAutoFit/>
          </a:bodyPr>
          <a:lstStyle/>
          <a:p>
            <a:r>
              <a:rPr lang="pt-BR" sz="2000" dirty="0">
                <a:latin typeface="Times New Roman" panose="02020603050405020304" pitchFamily="18" charset="0"/>
                <a:cs typeface="Times New Roman" panose="02020603050405020304" pitchFamily="18" charset="0"/>
              </a:rPr>
              <a:t>SUMUP PROC 		</a:t>
            </a:r>
            <a:r>
              <a:rPr lang="pt-BR" sz="2000" dirty="0" smtClean="0">
                <a:latin typeface="Times New Roman" panose="02020603050405020304" pitchFamily="18" charset="0"/>
                <a:cs typeface="Times New Roman" panose="02020603050405020304" pitchFamily="18" charset="0"/>
              </a:rPr>
              <a:t>		; </a:t>
            </a:r>
            <a:r>
              <a:rPr lang="pt-BR" sz="2000" dirty="0">
                <a:latin typeface="Times New Roman" panose="02020603050405020304" pitchFamily="18" charset="0"/>
                <a:cs typeface="Times New Roman" panose="02020603050405020304" pitchFamily="18" charset="0"/>
              </a:rPr>
              <a:t>Assembler directive to indicate start of subroutine </a:t>
            </a:r>
          </a:p>
          <a:p>
            <a:r>
              <a:rPr lang="pt-BR" sz="2000" dirty="0">
                <a:latin typeface="Times New Roman" panose="02020603050405020304" pitchFamily="18" charset="0"/>
                <a:cs typeface="Times New Roman" panose="02020603050405020304" pitchFamily="18" charset="0"/>
              </a:rPr>
              <a:t>	ADD R0 , R0 , R1 	</a:t>
            </a:r>
            <a:r>
              <a:rPr lang="pt-BR" sz="2000" dirty="0" smtClean="0">
                <a:latin typeface="Times New Roman" panose="02020603050405020304" pitchFamily="18" charset="0"/>
                <a:cs typeface="Times New Roman" panose="02020603050405020304" pitchFamily="18" charset="0"/>
              </a:rPr>
              <a:t>	; </a:t>
            </a:r>
            <a:r>
              <a:rPr lang="pt-BR" sz="2000" dirty="0">
                <a:latin typeface="Times New Roman" panose="02020603050405020304" pitchFamily="18" charset="0"/>
                <a:cs typeface="Times New Roman" panose="02020603050405020304" pitchFamily="18" charset="0"/>
              </a:rPr>
              <a:t>Add number into R0 </a:t>
            </a:r>
          </a:p>
          <a:p>
            <a:r>
              <a:rPr lang="pt-BR" sz="2000" dirty="0">
                <a:latin typeface="Times New Roman" panose="02020603050405020304" pitchFamily="18" charset="0"/>
                <a:cs typeface="Times New Roman" panose="02020603050405020304" pitchFamily="18" charset="0"/>
              </a:rPr>
              <a:t>	SUBS R1 , R1 , #1 	</a:t>
            </a:r>
            <a:r>
              <a:rPr lang="pt-BR" sz="2000" dirty="0" smtClean="0">
                <a:latin typeface="Times New Roman" panose="02020603050405020304" pitchFamily="18" charset="0"/>
                <a:cs typeface="Times New Roman" panose="02020603050405020304" pitchFamily="18" charset="0"/>
              </a:rPr>
              <a:t>	; </a:t>
            </a:r>
            <a:r>
              <a:rPr lang="pt-BR" sz="2000" dirty="0">
                <a:latin typeface="Times New Roman" panose="02020603050405020304" pitchFamily="18" charset="0"/>
                <a:cs typeface="Times New Roman" panose="02020603050405020304" pitchFamily="18" charset="0"/>
              </a:rPr>
              <a:t>Decrement loop counter R1 </a:t>
            </a:r>
          </a:p>
          <a:p>
            <a:r>
              <a:rPr lang="pt-BR" sz="2000" dirty="0">
                <a:latin typeface="Times New Roman" panose="02020603050405020304" pitchFamily="18" charset="0"/>
                <a:cs typeface="Times New Roman" panose="02020603050405020304" pitchFamily="18" charset="0"/>
              </a:rPr>
              <a:t>	BGT SUMUP 		</a:t>
            </a:r>
            <a:r>
              <a:rPr lang="pt-BR" sz="2000" dirty="0" smtClean="0">
                <a:latin typeface="Times New Roman" panose="02020603050405020304" pitchFamily="18" charset="0"/>
                <a:cs typeface="Times New Roman" panose="02020603050405020304" pitchFamily="18" charset="0"/>
              </a:rPr>
              <a:t>	; </a:t>
            </a:r>
            <a:r>
              <a:rPr lang="pt-BR" sz="2000" dirty="0">
                <a:latin typeface="Times New Roman" panose="02020603050405020304" pitchFamily="18" charset="0"/>
                <a:cs typeface="Times New Roman" panose="02020603050405020304" pitchFamily="18" charset="0"/>
              </a:rPr>
              <a:t>Branch back if not done </a:t>
            </a:r>
          </a:p>
          <a:p>
            <a:r>
              <a:rPr lang="pt-BR" sz="2000" dirty="0">
                <a:latin typeface="Times New Roman" panose="02020603050405020304" pitchFamily="18" charset="0"/>
                <a:cs typeface="Times New Roman" panose="02020603050405020304" pitchFamily="18" charset="0"/>
              </a:rPr>
              <a:t>	BX LR 			</a:t>
            </a:r>
            <a:r>
              <a:rPr lang="pt-BR" sz="2000" dirty="0" smtClean="0">
                <a:latin typeface="Times New Roman" panose="02020603050405020304" pitchFamily="18" charset="0"/>
                <a:cs typeface="Times New Roman" panose="02020603050405020304" pitchFamily="18" charset="0"/>
              </a:rPr>
              <a:t>		; </a:t>
            </a:r>
            <a:r>
              <a:rPr lang="pt-BR" sz="2000" dirty="0">
                <a:latin typeface="Times New Roman" panose="02020603050405020304" pitchFamily="18" charset="0"/>
                <a:cs typeface="Times New Roman" panose="02020603050405020304" pitchFamily="18" charset="0"/>
              </a:rPr>
              <a:t>Restore the address of PC </a:t>
            </a:r>
          </a:p>
          <a:p>
            <a:r>
              <a:rPr lang="pt-BR" sz="2000" dirty="0">
                <a:latin typeface="Times New Roman" panose="02020603050405020304" pitchFamily="18" charset="0"/>
                <a:cs typeface="Times New Roman" panose="02020603050405020304" pitchFamily="18" charset="0"/>
              </a:rPr>
              <a:t>	ENDP </a:t>
            </a:r>
            <a:endParaRPr lang="pt-BR" sz="2000" dirty="0" smtClean="0">
              <a:latin typeface="Times New Roman" panose="02020603050405020304" pitchFamily="18" charset="0"/>
              <a:cs typeface="Times New Roman" panose="02020603050405020304" pitchFamily="18" charset="0"/>
            </a:endParaRPr>
          </a:p>
          <a:p>
            <a:endParaRPr lang="pt-BR" sz="2000" dirty="0">
              <a:latin typeface="Times New Roman" panose="02020603050405020304" pitchFamily="18" charset="0"/>
              <a:cs typeface="Times New Roman" panose="02020603050405020304" pitchFamily="18" charset="0"/>
            </a:endParaRPr>
          </a:p>
          <a:p>
            <a:r>
              <a:rPr lang="pt-BR" sz="2000" dirty="0">
                <a:latin typeface="Times New Roman" panose="02020603050405020304" pitchFamily="18" charset="0"/>
                <a:cs typeface="Times New Roman" panose="02020603050405020304" pitchFamily="18" charset="0"/>
              </a:rPr>
              <a:t>N 	DCD 5 			</a:t>
            </a:r>
            <a:r>
              <a:rPr lang="pt-BR" sz="2000" dirty="0" smtClean="0">
                <a:latin typeface="Times New Roman" panose="02020603050405020304" pitchFamily="18" charset="0"/>
                <a:cs typeface="Times New Roman" panose="02020603050405020304" pitchFamily="18" charset="0"/>
              </a:rPr>
              <a:t>		; </a:t>
            </a:r>
            <a:r>
              <a:rPr lang="pt-BR" sz="2000" dirty="0">
                <a:latin typeface="Times New Roman" panose="02020603050405020304" pitchFamily="18" charset="0"/>
                <a:cs typeface="Times New Roman" panose="02020603050405020304" pitchFamily="18" charset="0"/>
              </a:rPr>
              <a:t>Local variable initialized to 5 </a:t>
            </a:r>
          </a:p>
          <a:p>
            <a:r>
              <a:rPr lang="pt-BR" sz="2000" dirty="0">
                <a:latin typeface="Times New Roman" panose="02020603050405020304" pitchFamily="18" charset="0"/>
                <a:cs typeface="Times New Roman" panose="02020603050405020304" pitchFamily="18" charset="0"/>
              </a:rPr>
              <a:t>	ALIGN </a:t>
            </a:r>
          </a:p>
          <a:p>
            <a:endParaRPr lang="pt-BR" sz="2000" dirty="0" smtClean="0">
              <a:latin typeface="Times New Roman" panose="02020603050405020304" pitchFamily="18" charset="0"/>
              <a:cs typeface="Times New Roman" panose="02020603050405020304" pitchFamily="18" charset="0"/>
            </a:endParaRPr>
          </a:p>
          <a:p>
            <a:r>
              <a:rPr lang="pt-BR" sz="2000" dirty="0" smtClean="0">
                <a:latin typeface="Times New Roman" panose="02020603050405020304" pitchFamily="18" charset="0"/>
                <a:cs typeface="Times New Roman" panose="02020603050405020304" pitchFamily="18" charset="0"/>
              </a:rPr>
              <a:t>STOP </a:t>
            </a:r>
            <a:endParaRPr lang="pt-BR" sz="2000" dirty="0">
              <a:latin typeface="Times New Roman" panose="02020603050405020304" pitchFamily="18" charset="0"/>
              <a:cs typeface="Times New Roman" panose="02020603050405020304" pitchFamily="18" charset="0"/>
            </a:endParaRPr>
          </a:p>
          <a:p>
            <a:r>
              <a:rPr lang="pt-BR" sz="2000" dirty="0">
                <a:latin typeface="Times New Roman" panose="02020603050405020304" pitchFamily="18" charset="0"/>
                <a:cs typeface="Times New Roman" panose="02020603050405020304" pitchFamily="18" charset="0"/>
              </a:rPr>
              <a:t>	END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99923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103</TotalTime>
  <Words>1151</Words>
  <Application>Microsoft Office PowerPoint</Application>
  <PresentationFormat>Widescreen</PresentationFormat>
  <Paragraphs>158</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Calibri Light</vt:lpstr>
      <vt:lpstr>Times New Roman</vt:lpstr>
      <vt:lpstr>Retrospect</vt:lpstr>
      <vt:lpstr>Program Control Instructions,</vt:lpstr>
      <vt:lpstr>Program Control Instructions</vt:lpstr>
      <vt:lpstr>Types of Program Control Instructions</vt:lpstr>
      <vt:lpstr>Cont.…</vt:lpstr>
      <vt:lpstr>Cont.…</vt:lpstr>
      <vt:lpstr>Subroutines</vt:lpstr>
      <vt:lpstr>Advantages</vt:lpstr>
      <vt:lpstr>Disadvantages</vt:lpstr>
      <vt:lpstr>Subroutines in Assembly Language</vt:lpstr>
      <vt:lpstr>Components of Subroutines</vt:lpstr>
      <vt:lpstr>Calling Subroutines</vt:lpstr>
      <vt:lpstr>Cont.…</vt:lpstr>
      <vt:lpstr>Parameter Passing</vt:lpstr>
      <vt:lpstr>Passing Parameters in Registers</vt:lpstr>
      <vt:lpstr>Types of Parameters</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 Control Instructions</dc:title>
  <dc:creator>sami aqeel</dc:creator>
  <cp:lastModifiedBy>sami aqeel</cp:lastModifiedBy>
  <cp:revision>24</cp:revision>
  <dcterms:created xsi:type="dcterms:W3CDTF">2020-12-14T06:35:59Z</dcterms:created>
  <dcterms:modified xsi:type="dcterms:W3CDTF">2022-06-04T07:40:55Z</dcterms:modified>
</cp:coreProperties>
</file>