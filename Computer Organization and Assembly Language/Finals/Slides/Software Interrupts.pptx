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59" r:id="rId3"/>
    <p:sldId id="258" r:id="rId4"/>
    <p:sldId id="260" r:id="rId5"/>
    <p:sldId id="261" r:id="rId6"/>
    <p:sldId id="262" r:id="rId7"/>
    <p:sldId id="263" r:id="rId8"/>
    <p:sldId id="265" r:id="rId9"/>
    <p:sldId id="266" r:id="rId10"/>
    <p:sldId id="268" r:id="rId11"/>
    <p:sldId id="274" r:id="rId12"/>
    <p:sldId id="276" r:id="rId13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2A2A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5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F304D-9FBF-4B4D-AB5C-790149BB4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0C0F5D-325B-4660-8632-EBB9EC084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C7CD5-CB98-4F1C-8F4E-14A8F9EE1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69AAB-D032-4740-999C-6FECB3BEC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2CE2C-3FF8-4ED5-9A0F-6E35B87E8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83214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11BF5-D802-48A8-8681-E64C843E4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63E54-C420-46A7-95A3-D26D99CE9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21E6C-72DA-4925-94EE-0D245623B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6D8A9-019D-413B-8A1E-F14D6EE3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0099F-8C38-444A-A7F8-21336A623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75964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43EB3-C47B-49A1-BB67-347B61A6D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E9B96-3C04-415D-86F4-32630CB36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AA9B9-E771-49B5-9E2D-06EAF24C1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7F1A7-FFC1-4BDE-908E-7A849372F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47FAB-5890-41CE-8DA9-CB5788221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6498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98E66-B67C-4351-89B6-A169553C0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91AA4-B785-4E02-B612-05E57B25A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0E598-0767-477D-B9E8-2BCCF5C51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D8C23-6B26-4B19-BEEB-7AEFC2A1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12/10/2024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B8FE9-ABD0-4AA5-986C-BC29ECC4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F8042-F61C-495E-8C35-E7989AA7E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61973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21205-E47B-4E88-8DFD-1C6071B7A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4C0F1-91A6-4158-8855-0C7208370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B615B-6DBF-4632-94D0-3791085A6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CB3133-8FE9-4883-B870-D642C1DF03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8078B5-E153-4D81-A163-C758FDB89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D200C8-3958-4AE2-85B4-16A6511DD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12/10/2024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253149-4D4C-46D5-8100-4A3D9F41B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B7D50A-B373-419E-9BDA-973DC1118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76628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3C455-2666-47C6-BF3E-44EE0A290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CDB8A3-54C9-4DF0-AF58-847CC781E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12/10/2024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A80F5-1CBF-45BD-A6AD-6BE98C141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E03123-314A-4412-8618-E5C45344E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14327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C5179-D82F-40FA-BF21-7AA507CE0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12/10/2024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CC15DB-F842-49C3-B55B-A16E38843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DBBF2-4194-4BEA-AC76-A5704F3BB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40227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38F8C-D3DE-403C-AF37-746C3367B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F2B9D-4546-43D6-91C9-FFB86CF4E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56608-3C52-495D-A214-A55C36D00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98E0AF-DD29-4C26-82C8-ACF8330B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12/10/2024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35345-7A18-4D42-9681-50058B9D5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22563-5A9D-4035-99DC-A96787B7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21264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E83F7-E36A-48E5-8DCA-087E21BBE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2A8EBF-99DA-4706-BCCE-9EBA54596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EF8FC-B1A6-401C-9069-13842D8C8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73258-FD4E-43EE-BF6C-3DADDEA9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12/10/2024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0AB588-D788-4246-8BC5-FC3FB7485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FFD2F-0AC3-4390-8990-6C3DDE55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16293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9B165-E271-4702-AC6D-63BC723E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5CA41-5CBD-4E65-95AA-B3EFB8BD3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ACED0-31DD-4C4F-B63A-02250626E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5553D-FD7D-4432-BC5C-F78462D7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46CDF-12B4-4900-A154-E219D22E9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7631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29BF1E-BE8B-4353-B936-AE8071F9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22873-176A-4EA9-9941-DC9941F47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5E231-43A9-48DA-833A-A8750A6CA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en-PK" smtClean="0"/>
              <a:t>12/10/2024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07A8C-6932-4260-BAAA-DBE1B1288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E6F17-3B9F-4C75-98BF-F79F5D018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10841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339B51-54CA-49F5-8966-F46D83C42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9CFAA-AD75-4697-91AC-85CEC6C6B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27230-2512-4F28-A281-14854D1474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en-PK" smtClean="0"/>
              <a:t>12/10/2024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06234-7A7A-4EED-8F6D-3D8EBC2D1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49BF4-1286-4C31-9FB5-ED9DDFE1E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13388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5.sv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7.svg"/><Relationship Id="rId4" Type="http://schemas.openxmlformats.org/officeDocument/2006/relationships/image" Target="../media/image4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EF21E1-2D98-4671-AEAF-A201BC9C40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46CD5F-621C-4899-B8C5-417BE3F1E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344" y="2448878"/>
            <a:ext cx="6219662" cy="1162812"/>
          </a:xfrm>
        </p:spPr>
        <p:txBody>
          <a:bodyPr>
            <a:normAutofit/>
          </a:bodyPr>
          <a:lstStyle/>
          <a:p>
            <a:pPr algn="l"/>
            <a:r>
              <a:rPr lang="en-GB" b="1" dirty="0" smtClean="0">
                <a:solidFill>
                  <a:schemeClr val="bg1"/>
                </a:solidFill>
              </a:rPr>
              <a:t>Chapter 8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06DBB-5AF5-48F8-9377-D0A0ACE9B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0224" y="3602038"/>
            <a:ext cx="8955024" cy="1153160"/>
          </a:xfrm>
        </p:spPr>
        <p:txBody>
          <a:bodyPr>
            <a:noAutofit/>
          </a:bodyPr>
          <a:lstStyle/>
          <a:p>
            <a:r>
              <a:rPr lang="en-GB" sz="5400" b="1" dirty="0">
                <a:solidFill>
                  <a:schemeClr val="bg1"/>
                </a:solidFill>
              </a:rPr>
              <a:t>Software Interrupts</a:t>
            </a:r>
            <a:endParaRPr lang="en-GB" sz="54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C869FE1-C1C4-48A8-AA9E-99CAE025B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0" cy="361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796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409FE-0CBB-4EAD-8A22-C51F65DE1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4404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b="1" dirty="0"/>
              <a:t>Introduction to </a:t>
            </a:r>
            <a:r>
              <a:rPr lang="en-US" sz="3600" b="1" dirty="0" smtClean="0"/>
              <a:t>Interrupts</a:t>
            </a:r>
          </a:p>
          <a:p>
            <a:pPr marL="0" indent="0" algn="ctr">
              <a:buNone/>
            </a:pPr>
            <a:endParaRPr lang="en-US" sz="3600" b="1" dirty="0"/>
          </a:p>
          <a:p>
            <a:pPr algn="just"/>
            <a:r>
              <a:rPr lang="en-US" b="1" dirty="0"/>
              <a:t>Definition</a:t>
            </a:r>
            <a:r>
              <a:rPr lang="en-US" dirty="0"/>
              <a:t>: Interrupts are asynchronous events external to the processor.</a:t>
            </a:r>
          </a:p>
          <a:p>
            <a:pPr algn="just"/>
            <a:r>
              <a:rPr lang="en-US" b="1" dirty="0"/>
              <a:t>Key Characteristics</a:t>
            </a:r>
            <a:r>
              <a:rPr lang="en-US" dirty="0"/>
              <a:t>:</a:t>
            </a:r>
          </a:p>
          <a:p>
            <a:pPr lvl="1" algn="just"/>
            <a:r>
              <a:rPr lang="en-US" b="1" dirty="0"/>
              <a:t>Asynchronous</a:t>
            </a:r>
            <a:r>
              <a:rPr lang="en-US" dirty="0"/>
              <a:t>: Occur independently of the processor's current operation.</a:t>
            </a:r>
          </a:p>
          <a:p>
            <a:pPr lvl="1" algn="just"/>
            <a:r>
              <a:rPr lang="en-US" b="1" dirty="0"/>
              <a:t>Unpredictable</a:t>
            </a:r>
            <a:r>
              <a:rPr lang="en-US" dirty="0"/>
              <a:t>: Exact timing of occurrence cannot be anticipated.</a:t>
            </a:r>
          </a:p>
          <a:p>
            <a:pPr algn="just"/>
            <a:r>
              <a:rPr lang="en-US" b="1" dirty="0"/>
              <a:t>Importance</a:t>
            </a:r>
            <a:r>
              <a:rPr lang="en-US" dirty="0"/>
              <a:t>: Allow the processor to respond to external events.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8584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FF7170C3-FB1F-4CF8-A115-23304150A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011" y="1519722"/>
            <a:ext cx="9961228" cy="444092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/>
              <a:t>Types of Interrupts in 8088 </a:t>
            </a:r>
            <a:r>
              <a:rPr lang="en-US" sz="3200" b="1" dirty="0" smtClean="0"/>
              <a:t>Processor</a:t>
            </a:r>
          </a:p>
          <a:p>
            <a:pPr marL="0" indent="0" algn="ctr">
              <a:buNone/>
            </a:pPr>
            <a:endParaRPr lang="en-US" sz="3200" b="1" dirty="0"/>
          </a:p>
          <a:p>
            <a:r>
              <a:rPr lang="en-US" b="1" dirty="0"/>
              <a:t>1. Hardware Interrupts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Generated by external hardware.</a:t>
            </a:r>
          </a:p>
          <a:p>
            <a:pPr lvl="1"/>
            <a:r>
              <a:rPr lang="en-US" dirty="0"/>
              <a:t>Examples: Pressure sensors, external signals.</a:t>
            </a:r>
          </a:p>
          <a:p>
            <a:r>
              <a:rPr lang="en-US" b="1" dirty="0"/>
              <a:t>2. Software Interrupts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Generated within the processor.</a:t>
            </a:r>
          </a:p>
          <a:p>
            <a:pPr lvl="1"/>
            <a:r>
              <a:rPr lang="en-US" dirty="0"/>
              <a:t>Act as an extended far call mechanism.</a:t>
            </a:r>
          </a:p>
          <a:p>
            <a:pPr lvl="1"/>
            <a:r>
              <a:rPr lang="en-US" dirty="0"/>
              <a:t>Pushes FLAGS, CS, and IP onto the stack.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76FD797-A00B-49D8-A888-67D34967B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19B401B7-B613-4C06-A492-7A70682495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9847252" y="1519722"/>
            <a:ext cx="2039974" cy="5144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341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034DD2C6-4CC8-4F4C-9615-8F42757A1CE2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B7C661D-5448-402F-AD37-037DDA89EAE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7AA08FC-35FB-44F1-BB8F-399F019CBF4F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BF06EB7-5284-4699-8F45-3C7496036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DFE4515-6F2B-4BB8-8018-36AFB06BA194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10EB8B8D-6004-4AED-A244-C4DC6F8DA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90D907E-CA01-4229-92EF-9ABBCFBA1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3CE084BF-DF82-4A63-A9CB-4F517A8FDE95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394" y="153305"/>
            <a:ext cx="1443969" cy="82820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66FF2A6-21EC-4DCA-B8DA-6528DF9934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71197" y="1514474"/>
            <a:ext cx="2039974" cy="5144283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389363" y="1461745"/>
            <a:ext cx="9139906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Software Interrupt Mechanism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INT Instruction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Syntax: INT n (where n is 0-255).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Executes Interrupt Service Routine (ISR).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Interrupt Vector Table (IVT)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Location: Physical memory address 0.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Size: 1 KB (256 vectors × 4 bytes each).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Format:</a:t>
            </a:r>
          </a:p>
          <a:p>
            <a:pPr marL="1257300" marR="0" lvl="2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First 2 bytes: Offset of ISR.</a:t>
            </a:r>
          </a:p>
          <a:p>
            <a:pPr marL="1257300" marR="0" lvl="2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Next 2 bytes: Segment of ISR.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7439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19163-209C-4AAC-9D0B-A21627686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/>
              <a:t>Operation of INT Instruction</a:t>
            </a:r>
          </a:p>
          <a:p>
            <a:r>
              <a:rPr lang="en-US" dirty="0"/>
              <a:t>Microcode steps:</a:t>
            </a:r>
          </a:p>
          <a:p>
            <a:pPr lvl="1"/>
            <a:r>
              <a:rPr lang="en-US" dirty="0"/>
              <a:t>Push FLAGS, CS, and IP onto the stack.</a:t>
            </a:r>
          </a:p>
          <a:p>
            <a:pPr lvl="1"/>
            <a:r>
              <a:rPr lang="en-US" dirty="0"/>
              <a:t>Disable interrupts by clearing IF and TF flags.</a:t>
            </a:r>
          </a:p>
          <a:p>
            <a:pPr lvl="1"/>
            <a:r>
              <a:rPr lang="en-US" dirty="0"/>
              <a:t>Load CS and IP with ISR address from IVT</a:t>
            </a:r>
            <a:r>
              <a:rPr lang="en-US" dirty="0" smtClean="0"/>
              <a:t>.</a:t>
            </a:r>
          </a:p>
          <a:p>
            <a:pPr marL="0" indent="0" algn="ctr">
              <a:buNone/>
            </a:pPr>
            <a:r>
              <a:rPr lang="en-US" b="1" dirty="0"/>
              <a:t>Operation of IRET Instruction</a:t>
            </a:r>
          </a:p>
          <a:p>
            <a:r>
              <a:rPr lang="en-US" dirty="0"/>
              <a:t>Microcode steps:</a:t>
            </a:r>
          </a:p>
          <a:p>
            <a:pPr lvl="1"/>
            <a:r>
              <a:rPr lang="en-US" dirty="0"/>
              <a:t>Pop IP, CS, and FLAGS from the stack.</a:t>
            </a:r>
          </a:p>
          <a:p>
            <a:pPr lvl="1"/>
            <a:r>
              <a:rPr lang="en-US" dirty="0"/>
              <a:t>Restore original state of IF and TF.</a:t>
            </a:r>
          </a:p>
          <a:p>
            <a:pPr lvl="1"/>
            <a:r>
              <a:rPr lang="en-US" dirty="0"/>
              <a:t>Return to the interrupted program.</a:t>
            </a:r>
          </a:p>
          <a:p>
            <a:pPr marL="457200" lvl="1" indent="0">
              <a:buNone/>
            </a:pPr>
            <a:endParaRPr lang="en-US" dirty="0" smtClean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DB829FF-4C37-46B6-B4E2-5F205C614DC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7866F03-AB28-4076-A101-C05ED2916839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FF2093B-3FF1-45E4-8236-0C753316A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BF863EB-B7C4-4845-A157-7BB371E924B3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86F0B4C8-CC62-4891-9C99-B146F4A850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18007ED-0B2B-42D8-9394-014EC0497A35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26482E21-91A3-466E-88F0-0149ECFB7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BBDC86F-ED38-4A71-B98D-BFBFB34B9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77974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E2889D4-75DA-4D6B-B8A6-BEC829D8F12B}"/>
              </a:ext>
            </a:extLst>
          </p:cNvPr>
          <p:cNvSpPr txBox="1"/>
          <p:nvPr/>
        </p:nvSpPr>
        <p:spPr>
          <a:xfrm>
            <a:off x="861877" y="1519722"/>
            <a:ext cx="10332992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Interrupts Reserved by </a:t>
            </a:r>
            <a:r>
              <a:rPr lang="en-US" sz="3200" b="1" dirty="0" smtClean="0"/>
              <a:t>8088</a:t>
            </a:r>
          </a:p>
          <a:p>
            <a:pPr algn="ctr"/>
            <a:endParaRPr lang="en-US" sz="3200" b="1" dirty="0"/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INT 0</a:t>
            </a:r>
            <a:r>
              <a:rPr lang="en-US" sz="2400" dirty="0"/>
              <a:t>: Division by zero.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Triggered by a DIV instruction if the quotient doesn't fit.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INT 1</a:t>
            </a:r>
            <a:r>
              <a:rPr lang="en-US" sz="2400" dirty="0"/>
              <a:t>: Trap (Single Step Interrupt).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Used in debugging.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INT 2</a:t>
            </a:r>
            <a:r>
              <a:rPr lang="en-US" sz="2400" dirty="0"/>
              <a:t>: Non-</a:t>
            </a:r>
            <a:r>
              <a:rPr lang="en-US" sz="2400" dirty="0" err="1"/>
              <a:t>Maskable</a:t>
            </a:r>
            <a:r>
              <a:rPr lang="en-US" sz="2400" dirty="0"/>
              <a:t> Interrupt (NMI).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Used for critical failures (e.g., hardware failure).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INT 3</a:t>
            </a:r>
            <a:r>
              <a:rPr lang="en-US" sz="2400" dirty="0"/>
              <a:t>: Debug Interrupt.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Single-byte opcode, used in debuggers.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INT 4</a:t>
            </a:r>
            <a:r>
              <a:rPr lang="en-US" sz="2400" dirty="0"/>
              <a:t>: Arithmetic Overflow.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Triggered by INTO instruction when the overflow flag is set.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1001890-2D27-4C06-8608-762CAE8C86A2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44EECAA-E328-47D6-ACBC-7B6045FFBA9E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B310BC6-D369-40F7-9134-CA1AF26C1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C4A534A-AF61-4A94-9BBB-ECD9B5E8BF56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7FD3E16B-B08C-424B-B4E0-5F9C11D04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FF2B077-D3DF-4751-8D55-BD3BDAEDAB0F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B35BA541-C933-4EB5-A6B6-39E31DDF9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9D81B47-A520-4FD2-B153-D43C470F825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4179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1EBEA25A-199D-4D78-B795-C46C85A52E0B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70D3031-B614-4825-9EBF-C1E73C4E9DBB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74C19F5-C6B4-4428-89D1-EB6EC79A5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A2AD84F-7748-4055-8715-3197B2C846C7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C28E98CA-7A21-4AA3-9B8F-1799DD3482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CDD3783-E879-4E85-BB51-871A7A8018E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5C669A3-D490-4746-8542-0EDF14F74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8F309829-A49F-4E58-8019-7A5F6A26DDC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135414"/>
              </p:ext>
            </p:extLst>
          </p:nvPr>
        </p:nvGraphicFramePr>
        <p:xfrm>
          <a:off x="838200" y="2136292"/>
          <a:ext cx="10515600" cy="146304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50645234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3133535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222745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Hardware Interrupts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Software Interrupts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2370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Generated by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External hardware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Processor itself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4145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Trigger mechanism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Signal on INT or NMI pin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INT instruction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0754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Interrupt handler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Address in IVT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Address in IVT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705017"/>
                  </a:ext>
                </a:extLst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38200" y="1364404"/>
            <a:ext cx="10515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Hardware vs. Software Interrupts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4027939"/>
            <a:ext cx="105156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Real-Time Interrupts (Overview)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Used for: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Control Applications</a:t>
            </a:r>
            <a:r>
              <a:rPr lang="en-US" sz="2400" dirty="0"/>
              <a:t>: e.g., closing a valve in response to a sensor.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Critical System Responses</a:t>
            </a:r>
            <a:r>
              <a:rPr lang="en-US" sz="2400" dirty="0"/>
              <a:t>: Handling urgent hardware events.</a:t>
            </a:r>
          </a:p>
        </p:txBody>
      </p:sp>
    </p:spTree>
    <p:extLst>
      <p:ext uri="{BB962C8B-B14F-4D97-AF65-F5344CB8AC3E}">
        <p14:creationId xmlns:p14="http://schemas.microsoft.com/office/powerpoint/2010/main" val="1140632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C67F0B-6357-403C-A028-EA7626D8104E}"/>
              </a:ext>
            </a:extLst>
          </p:cNvPr>
          <p:cNvSpPr txBox="1"/>
          <p:nvPr/>
        </p:nvSpPr>
        <p:spPr>
          <a:xfrm>
            <a:off x="838200" y="1519722"/>
            <a:ext cx="1051559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Flexibility of IVT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Mapping Mechanism</a:t>
            </a:r>
            <a:r>
              <a:rPr lang="en-US" sz="24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Address of ISR can be changed dynamically.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Enables flexible control of interrupt handling</a:t>
            </a:r>
            <a:r>
              <a:rPr lang="en-US" sz="2400" dirty="0" smtClean="0"/>
              <a:t>.</a:t>
            </a:r>
          </a:p>
          <a:p>
            <a:pPr lvl="1"/>
            <a:endParaRPr lang="en-US" sz="2400" dirty="0" smtClean="0"/>
          </a:p>
          <a:p>
            <a:pPr algn="ctr"/>
            <a:r>
              <a:rPr lang="en-US" sz="2800" b="1" dirty="0"/>
              <a:t>Summary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Key Concepts</a:t>
            </a:r>
            <a:r>
              <a:rPr lang="en-US" sz="24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INT and IRET operation.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IVT and its structure.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Reserved interrupts in 8088.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Applications</a:t>
            </a:r>
            <a:r>
              <a:rPr lang="en-US" sz="24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Debugging, control systems, and hardware failure management.</a:t>
            </a:r>
          </a:p>
          <a:p>
            <a:pPr lvl="1"/>
            <a:endParaRPr lang="en-US" sz="2400" dirty="0" smtClean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6CB3A1-2F0C-4B2E-B7CA-A23AA016B82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99DF749-C1DE-44F1-A0AE-4706451F9DC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9D7FAC1-C050-44C3-A520-F7E0452EA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A6F26BF-93C2-4599-8B3A-583CD8A06DE8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8181E826-520B-42BD-8798-DFC87C7271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FDE77C3-8284-43D1-8BB9-0E1FE03DB50B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5905B5D0-B635-43DA-AFAC-C24406CF3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51AB74C-8A70-4C3E-A650-D7E8022D40F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066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0398FBFF-3402-44AC-9CFF-71D3C76E053A}"/>
              </a:ext>
            </a:extLst>
          </p:cNvPr>
          <p:cNvSpPr txBox="1">
            <a:spLocks/>
          </p:cNvSpPr>
          <p:nvPr/>
        </p:nvSpPr>
        <p:spPr>
          <a:xfrm>
            <a:off x="808923" y="1364404"/>
            <a:ext cx="10574153" cy="5376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PK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</a:rPr>
              <a:t>BIOS and DOS </a:t>
            </a:r>
            <a:r>
              <a:rPr lang="en-US" sz="2800" b="1" dirty="0" smtClean="0">
                <a:solidFill>
                  <a:schemeClr val="tx1"/>
                </a:solidFill>
              </a:rPr>
              <a:t>Interrupts</a:t>
            </a:r>
            <a:endParaRPr lang="en-US" sz="2800" b="1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Purpose of Interrupts in IBM PCs: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Enable user programs to access system services for hardware (e.g., floppy drive, VGA, clock).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Avoids the need to understand detailed hardware mechanisms.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BIOS and Firmware</a:t>
            </a:r>
            <a:r>
              <a:rPr lang="en-US" sz="2400" dirty="0">
                <a:solidFill>
                  <a:schemeClr val="tx1"/>
                </a:solidFill>
              </a:rPr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BIOS (Basic Input Output Services)</a:t>
            </a:r>
            <a:r>
              <a:rPr lang="en-US" sz="2000" dirty="0"/>
              <a:t>: Interface to basic hardware.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Firmware</a:t>
            </a:r>
            <a:r>
              <a:rPr lang="en-US" sz="2000" dirty="0"/>
              <a:t>: Software burned into ROM by the manufacturer.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BIOS Services: Low-level services for hardware control</a:t>
            </a:r>
            <a:r>
              <a:rPr lang="en-US" sz="2000" dirty="0" smtClean="0"/>
              <a:t>.</a:t>
            </a:r>
          </a:p>
          <a:p>
            <a:pPr algn="ctr"/>
            <a:r>
              <a:rPr lang="en-US" sz="2800" b="1" dirty="0">
                <a:solidFill>
                  <a:schemeClr val="tx1"/>
                </a:solidFill>
              </a:rPr>
              <a:t>BIOS Role in Boot Process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Boot Sequence</a:t>
            </a:r>
            <a:r>
              <a:rPr lang="en-US" sz="2400" dirty="0">
                <a:solidFill>
                  <a:schemeClr val="tx1"/>
                </a:solidFill>
              </a:rPr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BIOS gains control after power-on at a fixed address.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Executes hardware testing and initializes bootstrap to load 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Layers of Abstraction</a:t>
            </a:r>
            <a:r>
              <a:rPr lang="en-US" sz="2400" dirty="0">
                <a:solidFill>
                  <a:schemeClr val="tx1"/>
                </a:solidFill>
              </a:rPr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Hardware</a:t>
            </a:r>
            <a:r>
              <a:rPr lang="en-US" sz="2000" dirty="0"/>
              <a:t> → BIOS Services → OS Services.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BIOS provides device-independent services like clearing the screen, displaying characters, etc.</a:t>
            </a:r>
          </a:p>
          <a:p>
            <a:pPr lvl="1"/>
            <a:endParaRPr lang="en-US" sz="2000" dirty="0" smtClean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47A9A5-6E4B-45B5-A1D6-2E2CC3DACA54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CAEB2B4-072D-4229-94BD-E34FA4C1D4E6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2AEB78D-C3B4-4A7A-80CA-53543A5D4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D93294A-2F98-4A5A-A82E-005CD9D43DF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85894A6D-0713-42B1-893C-A4CD02806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0DCD85-05B0-4260-866F-C0E865F08F86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691E0CCE-CC2F-48D8-BD6A-164BA1890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AE0E661-5285-4714-81F2-35134892A6F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22007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50E8-70C4-41E2-98DF-B41418886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4404"/>
            <a:ext cx="10515600" cy="5310716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b="1" dirty="0"/>
              <a:t>Interrupt Mechanism for BIOS</a:t>
            </a:r>
          </a:p>
          <a:p>
            <a:r>
              <a:rPr lang="en-US" b="1" dirty="0"/>
              <a:t>Why Use Interrupts?</a:t>
            </a:r>
            <a:endParaRPr lang="en-US" dirty="0"/>
          </a:p>
          <a:p>
            <a:pPr lvl="1"/>
            <a:r>
              <a:rPr lang="en-US" dirty="0"/>
              <a:t>Flexible mechanism for accessing firmware services.</a:t>
            </a:r>
          </a:p>
          <a:p>
            <a:pPr lvl="1"/>
            <a:r>
              <a:rPr lang="en-US" dirty="0"/>
              <a:t>Allows manufacturers to place routines at any memory location.</a:t>
            </a:r>
          </a:p>
          <a:p>
            <a:r>
              <a:rPr lang="en-US" b="1" dirty="0"/>
              <a:t>BIOS Interrupts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Examples:</a:t>
            </a:r>
          </a:p>
          <a:p>
            <a:pPr lvl="2"/>
            <a:r>
              <a:rPr lang="en-US" b="1" dirty="0"/>
              <a:t>INT 10</a:t>
            </a:r>
            <a:r>
              <a:rPr lang="en-US" dirty="0"/>
              <a:t>: Video services.</a:t>
            </a:r>
          </a:p>
          <a:p>
            <a:pPr lvl="2"/>
            <a:r>
              <a:rPr lang="en-US" b="1" dirty="0"/>
              <a:t>INT 16</a:t>
            </a:r>
            <a:r>
              <a:rPr lang="en-US" dirty="0"/>
              <a:t>: Keyboard services.</a:t>
            </a:r>
          </a:p>
          <a:p>
            <a:pPr lvl="2"/>
            <a:r>
              <a:rPr lang="en-US" b="1" dirty="0"/>
              <a:t>INT 17</a:t>
            </a:r>
            <a:r>
              <a:rPr lang="en-US" dirty="0"/>
              <a:t>: Parallel port services</a:t>
            </a:r>
            <a:r>
              <a:rPr lang="en-US" dirty="0" smtClean="0"/>
              <a:t>.</a:t>
            </a:r>
          </a:p>
          <a:p>
            <a:pPr marL="0" indent="0" algn="ctr">
              <a:buNone/>
            </a:pPr>
            <a:r>
              <a:rPr lang="en-US" b="1" dirty="0"/>
              <a:t>DOS Interrupts</a:t>
            </a:r>
          </a:p>
          <a:p>
            <a:r>
              <a:rPr lang="en-US" b="1" dirty="0"/>
              <a:t>Single Entry Point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INT 21</a:t>
            </a:r>
            <a:r>
              <a:rPr lang="en-US" dirty="0"/>
              <a:t>: Access to all DOS services.</a:t>
            </a:r>
          </a:p>
          <a:p>
            <a:pPr lvl="1"/>
            <a:r>
              <a:rPr lang="en-US" dirty="0"/>
              <a:t>Services identified by </a:t>
            </a:r>
            <a:r>
              <a:rPr lang="en-US" b="1" dirty="0"/>
              <a:t>Service Numbers</a:t>
            </a:r>
            <a:r>
              <a:rPr lang="en-US" dirty="0"/>
              <a:t> in registers.</a:t>
            </a:r>
          </a:p>
          <a:p>
            <a:r>
              <a:rPr lang="en-US" b="1" dirty="0"/>
              <a:t>Service Numbers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Service number often in AH.</a:t>
            </a:r>
          </a:p>
          <a:p>
            <a:pPr lvl="1"/>
            <a:r>
              <a:rPr lang="en-US" dirty="0"/>
              <a:t>Sub-services in AL or BL.</a:t>
            </a:r>
          </a:p>
          <a:p>
            <a:pPr marL="914400" lvl="2" indent="0">
              <a:buNone/>
            </a:pPr>
            <a:endParaRPr lang="en-US" dirty="0" smtClean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3218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50E8-70C4-41E2-98DF-B41418886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4404"/>
            <a:ext cx="10515600" cy="53107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BIOS Interrupt Service Numbers</a:t>
            </a:r>
          </a:p>
          <a:p>
            <a:r>
              <a:rPr lang="en-US" b="1" dirty="0"/>
              <a:t>Service Numbering Scheme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Example: INT 10 Service 0 → Character printing.</a:t>
            </a:r>
          </a:p>
          <a:p>
            <a:pPr lvl="1"/>
            <a:r>
              <a:rPr lang="en-US" dirty="0"/>
              <a:t>Allows efficient multiplexing of services within an interrupt.</a:t>
            </a:r>
          </a:p>
          <a:p>
            <a:r>
              <a:rPr lang="en-US" b="1" dirty="0"/>
              <a:t>Arguments in Interrupts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Passed via registers (not the stack).</a:t>
            </a:r>
          </a:p>
          <a:p>
            <a:pPr lvl="1"/>
            <a:r>
              <a:rPr lang="en-US" dirty="0"/>
              <a:t>Documented per service and sub-service</a:t>
            </a:r>
            <a:r>
              <a:rPr lang="en-US" dirty="0" smtClean="0"/>
              <a:t>.</a:t>
            </a:r>
          </a:p>
          <a:p>
            <a:pPr marL="0" indent="0" algn="ctr">
              <a:buNone/>
            </a:pPr>
            <a:r>
              <a:rPr lang="en-US" b="1" dirty="0"/>
              <a:t>Example: INT 10 Service 13</a:t>
            </a:r>
          </a:p>
          <a:p>
            <a:r>
              <a:rPr lang="en-US" b="1" dirty="0"/>
              <a:t>Program Objective</a:t>
            </a:r>
            <a:r>
              <a:rPr lang="en-US" dirty="0"/>
              <a:t>: Print a string using BIOS video services.</a:t>
            </a:r>
          </a:p>
          <a:p>
            <a:r>
              <a:rPr lang="en-US" b="1" dirty="0"/>
              <a:t>Why BIOS Works Universally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Independent of video memory location or hardware specifics.</a:t>
            </a:r>
          </a:p>
          <a:p>
            <a:pPr marL="457200" lvl="1" indent="0">
              <a:buNone/>
            </a:pPr>
            <a:endParaRPr lang="en-US" dirty="0" smtClean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8269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50E8-70C4-41E2-98DF-B41418886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4404"/>
            <a:ext cx="10515600" cy="531071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; print string using bios service</a:t>
            </a:r>
          </a:p>
          <a:p>
            <a:pPr marL="0" indent="0">
              <a:buNone/>
            </a:pPr>
            <a:r>
              <a:rPr lang="en-US" dirty="0"/>
              <a:t>[org 0x0100]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jmp</a:t>
            </a:r>
            <a:r>
              <a:rPr lang="en-US" dirty="0" smtClean="0"/>
              <a:t> </a:t>
            </a:r>
            <a:r>
              <a:rPr lang="en-US" dirty="0"/>
              <a:t>start</a:t>
            </a:r>
          </a:p>
          <a:p>
            <a:pPr marL="0" indent="0">
              <a:buNone/>
            </a:pPr>
            <a:r>
              <a:rPr lang="en-US" dirty="0" smtClean="0"/>
              <a:t>	message</a:t>
            </a:r>
            <a:r>
              <a:rPr lang="en-US" dirty="0"/>
              <a:t>: </a:t>
            </a:r>
            <a:r>
              <a:rPr lang="en-US" dirty="0"/>
              <a:t>	</a:t>
            </a:r>
            <a:r>
              <a:rPr lang="en-US" dirty="0" err="1" smtClean="0"/>
              <a:t>db</a:t>
            </a:r>
            <a:r>
              <a:rPr lang="en-US" dirty="0" smtClean="0"/>
              <a:t> </a:t>
            </a:r>
            <a:r>
              <a:rPr lang="en-US" dirty="0"/>
              <a:t>'Hello World'</a:t>
            </a:r>
          </a:p>
          <a:p>
            <a:pPr marL="0" indent="0">
              <a:buNone/>
            </a:pPr>
            <a:r>
              <a:rPr lang="en-US" dirty="0" smtClean="0"/>
              <a:t>	start</a:t>
            </a:r>
            <a:r>
              <a:rPr lang="en-US" dirty="0"/>
              <a:t>: </a:t>
            </a:r>
            <a:r>
              <a:rPr lang="en-US" dirty="0" smtClean="0"/>
              <a:t>		</a:t>
            </a:r>
            <a:r>
              <a:rPr lang="en-US" dirty="0" err="1" smtClean="0"/>
              <a:t>mov</a:t>
            </a:r>
            <a:r>
              <a:rPr lang="en-US" dirty="0" smtClean="0"/>
              <a:t> </a:t>
            </a:r>
            <a:r>
              <a:rPr lang="en-US" dirty="0"/>
              <a:t>ah, 0x13 </a:t>
            </a:r>
            <a:r>
              <a:rPr lang="en-US" dirty="0" smtClean="0"/>
              <a:t>	; </a:t>
            </a:r>
            <a:r>
              <a:rPr lang="en-US" dirty="0"/>
              <a:t>service 13 - print string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mov</a:t>
            </a:r>
            <a:r>
              <a:rPr lang="en-US" dirty="0" smtClean="0"/>
              <a:t> 	al</a:t>
            </a:r>
            <a:r>
              <a:rPr lang="en-US" dirty="0"/>
              <a:t>, 1 </a:t>
            </a:r>
            <a:r>
              <a:rPr lang="en-US" dirty="0" smtClean="0"/>
              <a:t>			; </a:t>
            </a:r>
            <a:r>
              <a:rPr lang="en-US" dirty="0"/>
              <a:t>subservice 01 – update cursor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mov</a:t>
            </a:r>
            <a:r>
              <a:rPr lang="en-US" dirty="0" smtClean="0"/>
              <a:t> 	</a:t>
            </a:r>
            <a:r>
              <a:rPr lang="en-US" dirty="0" err="1" smtClean="0"/>
              <a:t>bh</a:t>
            </a:r>
            <a:r>
              <a:rPr lang="en-US" dirty="0"/>
              <a:t>, 0 </a:t>
            </a:r>
            <a:r>
              <a:rPr lang="en-US" dirty="0" smtClean="0"/>
              <a:t>			; </a:t>
            </a:r>
            <a:r>
              <a:rPr lang="en-US" dirty="0"/>
              <a:t>output on page 0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mov</a:t>
            </a:r>
            <a:r>
              <a:rPr lang="en-US" dirty="0" smtClean="0"/>
              <a:t> 	</a:t>
            </a:r>
            <a:r>
              <a:rPr lang="en-US" dirty="0" err="1" smtClean="0"/>
              <a:t>bl</a:t>
            </a:r>
            <a:r>
              <a:rPr lang="en-US" dirty="0"/>
              <a:t>, 7 </a:t>
            </a:r>
            <a:r>
              <a:rPr lang="en-US" dirty="0" smtClean="0"/>
              <a:t>			; </a:t>
            </a:r>
            <a:r>
              <a:rPr lang="en-US" dirty="0"/>
              <a:t>normal </a:t>
            </a:r>
            <a:r>
              <a:rPr lang="en-US" dirty="0" err="1"/>
              <a:t>attrib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mov</a:t>
            </a:r>
            <a:r>
              <a:rPr lang="en-US" dirty="0" smtClean="0"/>
              <a:t> 	dx</a:t>
            </a:r>
            <a:r>
              <a:rPr lang="en-US" dirty="0"/>
              <a:t>, 0x0A03 </a:t>
            </a:r>
            <a:r>
              <a:rPr lang="en-US" dirty="0" smtClean="0"/>
              <a:t>		; </a:t>
            </a:r>
            <a:r>
              <a:rPr lang="en-US" dirty="0"/>
              <a:t>row 10 column 3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mov</a:t>
            </a:r>
            <a:r>
              <a:rPr lang="en-US" dirty="0" smtClean="0"/>
              <a:t> 	cx</a:t>
            </a:r>
            <a:r>
              <a:rPr lang="en-US" dirty="0"/>
              <a:t>, 11 </a:t>
            </a:r>
            <a:r>
              <a:rPr lang="en-US" dirty="0" smtClean="0"/>
              <a:t>			; </a:t>
            </a:r>
            <a:r>
              <a:rPr lang="en-US" dirty="0"/>
              <a:t>length of string</a:t>
            </a:r>
          </a:p>
          <a:p>
            <a:pPr marL="0" indent="0">
              <a:buNone/>
            </a:pPr>
            <a:r>
              <a:rPr lang="en-US" dirty="0" smtClean="0"/>
              <a:t>	push 	</a:t>
            </a:r>
            <a:r>
              <a:rPr lang="en-US" dirty="0" err="1" smtClean="0"/>
              <a:t>cs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pop 	</a:t>
            </a:r>
            <a:r>
              <a:rPr lang="en-US" dirty="0" err="1" smtClean="0"/>
              <a:t>es</a:t>
            </a:r>
            <a:r>
              <a:rPr lang="en-US" dirty="0" smtClean="0"/>
              <a:t> 			; </a:t>
            </a:r>
            <a:r>
              <a:rPr lang="en-US" dirty="0"/>
              <a:t>segment of string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mov</a:t>
            </a:r>
            <a:r>
              <a:rPr lang="en-US" dirty="0" smtClean="0"/>
              <a:t> 	</a:t>
            </a:r>
            <a:r>
              <a:rPr lang="en-US" dirty="0" err="1" smtClean="0"/>
              <a:t>bp</a:t>
            </a:r>
            <a:r>
              <a:rPr lang="en-US" dirty="0"/>
              <a:t>, message </a:t>
            </a:r>
            <a:r>
              <a:rPr lang="en-US" dirty="0" smtClean="0"/>
              <a:t>		; </a:t>
            </a:r>
            <a:r>
              <a:rPr lang="en-US" dirty="0"/>
              <a:t>offset of string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	0x10 			; </a:t>
            </a:r>
            <a:r>
              <a:rPr lang="en-US" dirty="0"/>
              <a:t>call BIOS video service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mov</a:t>
            </a:r>
            <a:r>
              <a:rPr lang="en-US" dirty="0" smtClean="0"/>
              <a:t> 	ax</a:t>
            </a:r>
            <a:r>
              <a:rPr lang="en-US" dirty="0"/>
              <a:t>, 0x4c00 </a:t>
            </a:r>
            <a:r>
              <a:rPr lang="en-US" dirty="0" smtClean="0"/>
              <a:t>		; </a:t>
            </a:r>
            <a:r>
              <a:rPr lang="en-US" dirty="0"/>
              <a:t>terminate program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	0x21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48EDEA5-6F4E-494E-815A-CCF1A7B833E7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3045AD-4842-4A8C-966A-35ECDC39C9B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BB0B-400F-480C-AFD9-ACEDEFA6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6C7A49-8B06-4148-A8B5-556500600B2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C074D21-17CF-4514-8D23-9EC41C174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5F8CFF-608A-41D0-869F-D1E7BDD76C3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DD1A806-05C4-4F48-A1AC-CA732FC0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8C439F-A762-48D2-B04B-2CCE741A5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087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895</Words>
  <Application>Microsoft Office PowerPoint</Application>
  <PresentationFormat>Widescreen</PresentationFormat>
  <Paragraphs>160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Bahnschrift</vt:lpstr>
      <vt:lpstr>Calibri</vt:lpstr>
      <vt:lpstr>Calibri Light</vt:lpstr>
      <vt:lpstr>Office Theme</vt:lpstr>
      <vt:lpstr>Chapter 8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Muhammad Sami Aqeel</cp:lastModifiedBy>
  <cp:revision>22</cp:revision>
  <dcterms:created xsi:type="dcterms:W3CDTF">2024-06-21T09:49:54Z</dcterms:created>
  <dcterms:modified xsi:type="dcterms:W3CDTF">2024-12-10T05:00:12Z</dcterms:modified>
</cp:coreProperties>
</file>