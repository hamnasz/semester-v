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9" r:id="rId3"/>
    <p:sldId id="258" r:id="rId4"/>
    <p:sldId id="812" r:id="rId5"/>
    <p:sldId id="813" r:id="rId6"/>
    <p:sldId id="260" r:id="rId7"/>
    <p:sldId id="814" r:id="rId8"/>
    <p:sldId id="261" r:id="rId9"/>
    <p:sldId id="262" r:id="rId10"/>
    <p:sldId id="263" r:id="rId11"/>
    <p:sldId id="265" r:id="rId12"/>
    <p:sldId id="268" r:id="rId13"/>
    <p:sldId id="815" r:id="rId14"/>
    <p:sldId id="816" r:id="rId15"/>
    <p:sldId id="817" r:id="rId16"/>
    <p:sldId id="818" r:id="rId17"/>
    <p:sldId id="819" r:id="rId18"/>
    <p:sldId id="820" r:id="rId19"/>
    <p:sldId id="822" r:id="rId20"/>
    <p:sldId id="823" r:id="rId21"/>
    <p:sldId id="821" r:id="rId22"/>
    <p:sldId id="824" r:id="rId23"/>
    <p:sldId id="826" r:id="rId24"/>
    <p:sldId id="827" r:id="rId25"/>
    <p:sldId id="828" r:id="rId26"/>
    <p:sldId id="829" r:id="rId27"/>
    <p:sldId id="830" r:id="rId28"/>
    <p:sldId id="831" r:id="rId2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12/18/2024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12/18/2024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12/18/2024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12/18/2024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12/18/2024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12/18/2024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12/18/2024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12/18/2024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12/18/2024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12/18/2024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12/18/2024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en-PK" smtClean="0"/>
              <a:t>12/18/2024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343" y="2448878"/>
            <a:ext cx="7147125" cy="1153160"/>
          </a:xfrm>
        </p:spPr>
        <p:txBody>
          <a:bodyPr>
            <a:normAutofit/>
          </a:bodyPr>
          <a:lstStyle/>
          <a:p>
            <a:r>
              <a:rPr lang="en-GB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MIPS Architecture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0224" y="3602038"/>
            <a:ext cx="8955024" cy="115316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 RISC-based Instruction Set Architecture</a:t>
            </a:r>
            <a:endParaRPr lang="en-GB" sz="2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DA394B8-F89E-45AC-9E3F-FEC161BFAFAB}"/>
              </a:ext>
            </a:extLst>
          </p:cNvPr>
          <p:cNvSpPr txBox="1">
            <a:spLocks/>
          </p:cNvSpPr>
          <p:nvPr/>
        </p:nvSpPr>
        <p:spPr>
          <a:xfrm>
            <a:off x="1158240" y="5331778"/>
            <a:ext cx="2828544" cy="719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9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MIPS (Microprocessor without Interlocked Pipeline Stages)</a:t>
            </a:r>
            <a:r>
              <a:rPr lang="en-US" dirty="0"/>
              <a:t> architecture is a RISC (Reduced Instruction Set Computer) instruction set architecture (ISA) developed by MIPS Computer Systems.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widely used in embedded systems, digital devices, and educational </a:t>
            </a:r>
            <a:r>
              <a:rPr lang="en-US" dirty="0" smtClean="0"/>
              <a:t>contexts </a:t>
            </a:r>
            <a:r>
              <a:rPr lang="en-US" dirty="0"/>
              <a:t>for learning computer architecture concepts</a:t>
            </a:r>
            <a:r>
              <a:rPr lang="en-US" dirty="0" smtClean="0"/>
              <a:t>.</a:t>
            </a:r>
            <a:endParaRPr lang="en-US" dirty="0" smtClean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Rectangle 4"/>
          <p:cNvSpPr/>
          <p:nvPr/>
        </p:nvSpPr>
        <p:spPr>
          <a:xfrm>
            <a:off x="3247237" y="234701"/>
            <a:ext cx="59142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MIPS Architecture Overview</a:t>
            </a:r>
          </a:p>
        </p:txBody>
      </p:sp>
    </p:spTree>
    <p:extLst>
      <p:ext uri="{BB962C8B-B14F-4D97-AF65-F5344CB8AC3E}">
        <p14:creationId xmlns:p14="http://schemas.microsoft.com/office/powerpoint/2010/main" val="143858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F7170C3-FB1F-4CF8-A115-23304150A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011" y="1519722"/>
            <a:ext cx="9961228" cy="497251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RISC Design Philosophy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MIPS follows the </a:t>
            </a:r>
            <a:r>
              <a:rPr lang="en-US" sz="2000" b="1" dirty="0"/>
              <a:t>RISC principles</a:t>
            </a:r>
            <a:r>
              <a:rPr lang="en-US" sz="2000" dirty="0"/>
              <a:t>, which focus on:</a:t>
            </a:r>
          </a:p>
          <a:p>
            <a:pPr lvl="2"/>
            <a:r>
              <a:rPr lang="en-US" dirty="0"/>
              <a:t>A small set of simple, uniform instructions.</a:t>
            </a:r>
          </a:p>
          <a:p>
            <a:pPr lvl="2"/>
            <a:r>
              <a:rPr lang="en-US" dirty="0"/>
              <a:t>Fixed instruction size (32 bits in standard MIPS</a:t>
            </a:r>
            <a:r>
              <a:rPr lang="en-US" dirty="0" smtClean="0"/>
              <a:t>).</a:t>
            </a:r>
          </a:p>
          <a:p>
            <a:pPr lvl="2"/>
            <a:r>
              <a:rPr lang="en-US" dirty="0" smtClean="0"/>
              <a:t>Load/store </a:t>
            </a:r>
            <a:r>
              <a:rPr lang="en-US" dirty="0"/>
              <a:t>architecture: Only load </a:t>
            </a:r>
            <a:r>
              <a:rPr lang="en-US" dirty="0" smtClean="0"/>
              <a:t>(LW) and store (SW) instructions access memory.</a:t>
            </a:r>
          </a:p>
          <a:p>
            <a:pPr lvl="2"/>
            <a:r>
              <a:rPr lang="en-US" dirty="0" smtClean="0">
                <a:ea typeface="Arial" charset="0"/>
                <a:cs typeface="Arial" charset="0"/>
              </a:rPr>
              <a:t>Simple addressing modes.</a:t>
            </a:r>
          </a:p>
          <a:p>
            <a:pPr lvl="2"/>
            <a:endParaRPr lang="en-GB" dirty="0">
              <a:ea typeface="Arial" charset="0"/>
              <a:cs typeface="Arial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b="1" dirty="0"/>
              <a:t>Instruction Formats</a:t>
            </a:r>
            <a:r>
              <a:rPr lang="en-US" sz="2000" dirty="0"/>
              <a:t>: MIPS uses three main instruction formats:</a:t>
            </a:r>
          </a:p>
          <a:p>
            <a:pPr lvl="1"/>
            <a:r>
              <a:rPr lang="en-US" sz="2000" b="1" dirty="0"/>
              <a:t>R-type (Register-type)</a:t>
            </a:r>
            <a:r>
              <a:rPr lang="en-US" sz="2000" dirty="0"/>
              <a:t>: Used for arithmetic and logical instructions.</a:t>
            </a:r>
          </a:p>
          <a:p>
            <a:pPr marL="457200" lvl="1" indent="0" algn="ctr">
              <a:buNone/>
            </a:pPr>
            <a:r>
              <a:rPr lang="pt-BR" sz="2000" dirty="0"/>
              <a:t>Example: ADD $d, $s, $t   → R[d] = R[s] + R[t]</a:t>
            </a:r>
          </a:p>
          <a:p>
            <a:pPr lvl="1"/>
            <a:r>
              <a:rPr lang="en-US" sz="2000" b="1" dirty="0"/>
              <a:t>I-type (Immediate-type)</a:t>
            </a:r>
            <a:r>
              <a:rPr lang="en-US" sz="2000" dirty="0"/>
              <a:t>: Used for instructions with constants or addresses.</a:t>
            </a:r>
          </a:p>
          <a:p>
            <a:pPr marL="457200" lvl="1" indent="0" algn="ctr">
              <a:buNone/>
            </a:pPr>
            <a:r>
              <a:rPr lang="pt-BR" sz="2000" dirty="0"/>
              <a:t>Example: ADDI $t, $s, 10  → R[t] = R[s] + 10</a:t>
            </a:r>
          </a:p>
          <a:p>
            <a:pPr lvl="1"/>
            <a:r>
              <a:rPr lang="en-US" sz="2000" b="1" dirty="0"/>
              <a:t>J-type (Jump-type)</a:t>
            </a:r>
            <a:r>
              <a:rPr lang="en-US" sz="2000" dirty="0"/>
              <a:t>: Used for jump instructions.</a:t>
            </a:r>
          </a:p>
          <a:p>
            <a:pPr marL="457200" lvl="1" indent="0" algn="ctr">
              <a:buNone/>
            </a:pPr>
            <a:r>
              <a:rPr lang="en-US" sz="2000" dirty="0"/>
              <a:t>Example: J 10000 → Jump to address 10000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76FD797-A00B-49D8-A888-67D34967B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19B401B7-B613-4C06-A492-7A70682495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47252" y="1519722"/>
            <a:ext cx="2039974" cy="51442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77222" y="273680"/>
            <a:ext cx="6084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Key Features of MIPS Architecture:</a:t>
            </a:r>
          </a:p>
        </p:txBody>
      </p:sp>
    </p:spTree>
    <p:extLst>
      <p:ext uri="{BB962C8B-B14F-4D97-AF65-F5344CB8AC3E}">
        <p14:creationId xmlns:p14="http://schemas.microsoft.com/office/powerpoint/2010/main" val="323934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76FD797-A00B-49D8-A888-67D34967B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19B401B7-B613-4C06-A492-7A70682495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47252" y="1519722"/>
            <a:ext cx="2039974" cy="51442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77222" y="273680"/>
            <a:ext cx="6084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Key Features of MIPS Architecture: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32623" y="1247085"/>
            <a:ext cx="1017349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Registers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MIPS has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32 general-purpose registers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($0 to $31) of size 32 bits.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Register $0 always holds the value 0.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Examples of registers: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$s0-$s7: Saved registers for preserving values.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$t0-$t9: Temporary registers for intermediate values.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$a0-$a3: Argument registers for passing parameters.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$v0, $v1: Return value registers.</a:t>
            </a:r>
            <a:endParaRPr lang="en-US" altLang="en-US" sz="2000" dirty="0"/>
          </a:p>
          <a:p>
            <a:pPr marL="342900" indent="-342900">
              <a:buFont typeface="+mj-lt"/>
              <a:buAutoNum type="arabicPeriod" startAt="4"/>
            </a:pPr>
            <a:r>
              <a:rPr lang="en-US" sz="2000" b="1" dirty="0"/>
              <a:t>Pipelining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MIPS uses </a:t>
            </a:r>
            <a:r>
              <a:rPr lang="en-US" sz="2000" b="1" dirty="0"/>
              <a:t>pipeline processing</a:t>
            </a:r>
            <a:r>
              <a:rPr lang="en-US" sz="2000" dirty="0"/>
              <a:t> to execute instructions </a:t>
            </a:r>
            <a:r>
              <a:rPr lang="en-US" sz="2000" dirty="0" smtClean="0"/>
              <a:t>efficiently.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Instructions </a:t>
            </a:r>
            <a:r>
              <a:rPr lang="en-US" sz="2000" dirty="0"/>
              <a:t>are divided into stages: </a:t>
            </a:r>
            <a:r>
              <a:rPr lang="en-US" sz="2000" b="1" dirty="0"/>
              <a:t>IF (Instruction Fetch), ID (Instruction Decode), EX (Execute), MEM (Memory Access), and WB (Write Back</a:t>
            </a:r>
            <a:r>
              <a:rPr lang="en-US" sz="2000" b="1" dirty="0" smtClean="0"/>
              <a:t>)</a:t>
            </a:r>
            <a:r>
              <a:rPr lang="en-US" sz="20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032623" y="5003604"/>
            <a:ext cx="1017349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Load/Store Architecture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MIPS separates memory access operations (LW, SW) from computation operations (ADD, SUB, etc.).</a:t>
            </a: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Only load and store instructions access memory; all computations occur in registers.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1780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76FD797-A00B-49D8-A888-67D34967B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19B401B7-B613-4C06-A492-7A70682495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47252" y="1519722"/>
            <a:ext cx="2039974" cy="51442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77222" y="273680"/>
            <a:ext cx="6084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Key Features of MIPS Architecture: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78802" y="1462528"/>
            <a:ext cx="10088437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6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Endianness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MIPS supports both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big-endian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little-endian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byte ordering.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7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Instruction Set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The instruction set consists of: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Arithmetic and logical instructions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ADD, SUB, AND, OR, XOR.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 transfer instructions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LW (Load Word), SW (Store Word).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Control flow instructions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BEQ (Branch if Equal), BNE (Branch if Not Equal), J (Jump).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Shift instructions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SLL (Shift Left Logical), SRL (Shift Right Logical).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8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MIPS Variants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MIPS32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32-bit version of MIPS.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MIPS64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64-bit version of MIPS.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indent="-342900">
              <a:buFont typeface="+mj-lt"/>
              <a:buAutoNum type="arabicPeriod" startAt="9"/>
            </a:pPr>
            <a:r>
              <a:rPr lang="en-US" b="1" dirty="0"/>
              <a:t>Applications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Embedded systems, gaming consoles (e.g., PlayStation 2), routers, and academic learning</a:t>
            </a:r>
            <a:r>
              <a:rPr lang="en-US" dirty="0" smtClean="0"/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7967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6A3C55-3FA7-4FD7-A293-B1F56E297A25}"/>
              </a:ext>
            </a:extLst>
          </p:cNvPr>
          <p:cNvSpPr txBox="1"/>
          <p:nvPr/>
        </p:nvSpPr>
        <p:spPr>
          <a:xfrm>
            <a:off x="537754" y="1380251"/>
            <a:ext cx="1111649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MIPS-I Memory Model</a:t>
            </a:r>
            <a:r>
              <a:rPr lang="en-US" sz="2000" dirty="0"/>
              <a:t> and </a:t>
            </a:r>
            <a:r>
              <a:rPr lang="en-US" sz="2000" b="1" dirty="0"/>
              <a:t>MMU (Memory Management Unit)</a:t>
            </a:r>
            <a:r>
              <a:rPr lang="en-US" sz="2000" dirty="0"/>
              <a:t> are critical components of the MIPS architecture, defining how memory is accessed and managed in MIPS-based systems</a:t>
            </a:r>
            <a:r>
              <a:rPr lang="en-US" sz="20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MIPS-I Memory Model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2000" b="1" dirty="0"/>
              <a:t>Byte-Addressable Memory</a:t>
            </a:r>
            <a:r>
              <a:rPr lang="en-US" sz="2000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The MIPS memory model is </a:t>
            </a:r>
            <a:r>
              <a:rPr lang="en-US" sz="2000" b="1" dirty="0"/>
              <a:t>byte-addressable</a:t>
            </a:r>
            <a:r>
              <a:rPr lang="en-US" sz="2000" dirty="0"/>
              <a:t>, which means that each memory address points to a single byte (8 bits).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However, MIPS instructions typically work with </a:t>
            </a:r>
            <a:r>
              <a:rPr lang="en-US" sz="2000" b="1" dirty="0"/>
              <a:t>words</a:t>
            </a:r>
            <a:r>
              <a:rPr lang="en-US" sz="2000" dirty="0"/>
              <a:t> (4 bytes = 32 bits), so memory addresses must be aligned.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2000" b="1" dirty="0"/>
              <a:t>Aligned Memory Access</a:t>
            </a:r>
            <a:r>
              <a:rPr lang="en-US" sz="2000" dirty="0"/>
              <a:t>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Alignment</a:t>
            </a:r>
            <a:r>
              <a:rPr lang="en-US" sz="2000" dirty="0"/>
              <a:t> requires that word addresses (32-bit values) start at memory addresses that are multiples of 4.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Misaligned accesses (e.g., reading a word from address (0x1001) are not supported in MIPS-I and cause exceptions.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Example</a:t>
            </a:r>
            <a:r>
              <a:rPr lang="en-US" sz="2000" dirty="0" smtClean="0"/>
              <a:t>:</a:t>
            </a:r>
          </a:p>
          <a:p>
            <a:pPr lvl="2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	Address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   0x1000  0x1001  0x1002  0x1003  ← Word aligned 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		Value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      0xDE    0xAD    0xBE    0xEF  ← 4 bytes (word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4DD2C6-4CC8-4F4C-9615-8F42757A1CE2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7C661D-5448-402F-AD37-037DDA89EAE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7AA08FC-35FB-44F1-BB8F-399F019CBF4F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BF06EB7-5284-4699-8F45-3C7496036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DFE4515-6F2B-4BB8-8018-36AFB06BA194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EB8B8D-6004-4AED-A244-C4DC6F8DA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90D907E-CA01-4229-92EF-9ABBCFBA1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3CE084BF-DF82-4A63-A9CB-4F517A8FDE9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94" y="153305"/>
            <a:ext cx="1443969" cy="82820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6FF2A6-21EC-4DCA-B8DA-6528DF9934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97" y="1514474"/>
            <a:ext cx="2039974" cy="51442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332401" y="328672"/>
            <a:ext cx="58675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MIPS-I Memory Model and MMU</a:t>
            </a:r>
          </a:p>
        </p:txBody>
      </p:sp>
    </p:spTree>
    <p:extLst>
      <p:ext uri="{BB962C8B-B14F-4D97-AF65-F5344CB8AC3E}">
        <p14:creationId xmlns:p14="http://schemas.microsoft.com/office/powerpoint/2010/main" val="26743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6A3C55-3FA7-4FD7-A293-B1F56E297A25}"/>
              </a:ext>
            </a:extLst>
          </p:cNvPr>
          <p:cNvSpPr txBox="1"/>
          <p:nvPr/>
        </p:nvSpPr>
        <p:spPr>
          <a:xfrm>
            <a:off x="537754" y="1380251"/>
            <a:ext cx="1111649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 startAt="3"/>
            </a:pPr>
            <a:r>
              <a:rPr lang="en-US" sz="2000" b="1" dirty="0"/>
              <a:t>Memory </a:t>
            </a:r>
            <a:r>
              <a:rPr lang="en-US" sz="2000" b="1" dirty="0" smtClean="0"/>
              <a:t>Segmentation</a:t>
            </a:r>
            <a:r>
              <a:rPr lang="en-US" sz="2000" dirty="0" smtClean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MIPS </a:t>
            </a:r>
            <a:r>
              <a:rPr lang="en-US" sz="2000" dirty="0"/>
              <a:t>divides its address space into specific regions, separating </a:t>
            </a:r>
            <a:r>
              <a:rPr lang="en-US" sz="2000" b="1" dirty="0"/>
              <a:t>user mode</a:t>
            </a:r>
            <a:r>
              <a:rPr lang="en-US" sz="2000" dirty="0"/>
              <a:t> and </a:t>
            </a:r>
            <a:r>
              <a:rPr lang="en-US" sz="2000" b="1" dirty="0"/>
              <a:t>kernel mode</a:t>
            </a:r>
            <a:r>
              <a:rPr lang="en-US" sz="2000" dirty="0"/>
              <a:t> operations.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User Address Space</a:t>
            </a:r>
            <a:r>
              <a:rPr lang="en-US" sz="2000" dirty="0"/>
              <a:t>: Typically ranges from 0x00000000 to </a:t>
            </a:r>
            <a:r>
              <a:rPr lang="en-US" sz="2000" dirty="0" smtClean="0"/>
              <a:t>0x7FFFFFFF.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Kernel Address Space</a:t>
            </a:r>
            <a:r>
              <a:rPr lang="en-US" sz="2000" dirty="0"/>
              <a:t>: Higher addresses, reserved for OS and privileged access</a:t>
            </a:r>
            <a:r>
              <a:rPr lang="en-US" sz="2000" dirty="0" smtClean="0"/>
              <a:t>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14350" indent="-514350">
              <a:buFont typeface="+mj-lt"/>
              <a:buAutoNum type="romanUcPeriod" startAt="4"/>
            </a:pPr>
            <a:r>
              <a:rPr lang="en-US" sz="2000" b="1" dirty="0"/>
              <a:t>Endianness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MIPS supports both </a:t>
            </a:r>
            <a:r>
              <a:rPr lang="en-US" sz="2000" b="1" dirty="0"/>
              <a:t>Big-endian</a:t>
            </a:r>
            <a:r>
              <a:rPr lang="en-US" sz="2000" dirty="0"/>
              <a:t> and </a:t>
            </a:r>
            <a:r>
              <a:rPr lang="en-US" sz="2000" b="1" dirty="0"/>
              <a:t>Little-endian</a:t>
            </a:r>
            <a:r>
              <a:rPr lang="en-US" sz="2000" dirty="0"/>
              <a:t> byte orders.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Big-endian</a:t>
            </a:r>
            <a:r>
              <a:rPr lang="en-US" sz="2000" dirty="0"/>
              <a:t>: Most significant byte (MSB) stored at the lowest address.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Little-endian</a:t>
            </a:r>
            <a:r>
              <a:rPr lang="en-US" sz="2000" dirty="0"/>
              <a:t>: Least significant byte (LSB) stored at the lowest address.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The system's endianness can be configured at startup</a:t>
            </a:r>
            <a:r>
              <a:rPr lang="en-US" sz="2000" dirty="0" smtClean="0"/>
              <a:t>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4DD2C6-4CC8-4F4C-9615-8F42757A1CE2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7C661D-5448-402F-AD37-037DDA89EAE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7AA08FC-35FB-44F1-BB8F-399F019CBF4F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BF06EB7-5284-4699-8F45-3C7496036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DFE4515-6F2B-4BB8-8018-36AFB06BA194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EB8B8D-6004-4AED-A244-C4DC6F8DA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90D907E-CA01-4229-92EF-9ABBCFBA1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3CE084BF-DF82-4A63-A9CB-4F517A8FDE9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94" y="153305"/>
            <a:ext cx="1443969" cy="82820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6FF2A6-21EC-4DCA-B8DA-6528DF9934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97" y="1514474"/>
            <a:ext cx="2039974" cy="51442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332401" y="328672"/>
            <a:ext cx="58675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MIPS-I Memory Model and MMU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5324"/>
              </p:ext>
            </p:extLst>
          </p:nvPr>
        </p:nvGraphicFramePr>
        <p:xfrm>
          <a:off x="1988996" y="3115820"/>
          <a:ext cx="8128000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0330804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44123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Address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318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User space for applications.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720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0x80000000-0xFFFFFFFF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Kernel space (privileged mode).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172664"/>
                  </a:ext>
                </a:extLst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1988996" y="3487414"/>
            <a:ext cx="2526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0x00000000–0x7FFFFFFF</a:t>
            </a:r>
          </a:p>
        </p:txBody>
      </p:sp>
    </p:spTree>
    <p:extLst>
      <p:ext uri="{BB962C8B-B14F-4D97-AF65-F5344CB8AC3E}">
        <p14:creationId xmlns:p14="http://schemas.microsoft.com/office/powerpoint/2010/main" val="194751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19163-209C-4AAC-9D0B-A2162768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404"/>
            <a:ext cx="10515600" cy="537603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000" b="1" dirty="0"/>
              <a:t>MIPS-I MMU (Memory Management Unit)</a:t>
            </a:r>
          </a:p>
          <a:p>
            <a:pPr lvl="1"/>
            <a:r>
              <a:rPr lang="en-US" sz="2000" dirty="0"/>
              <a:t>The </a:t>
            </a:r>
            <a:r>
              <a:rPr lang="en-US" sz="2000" b="1" dirty="0"/>
              <a:t>Memory Management Unit (MMU)</a:t>
            </a:r>
            <a:r>
              <a:rPr lang="en-US" sz="2000" dirty="0"/>
              <a:t> in MIPS is responsible for managing memory access, virtual memory, and address translation.</a:t>
            </a:r>
          </a:p>
          <a:p>
            <a:pPr lvl="1"/>
            <a:r>
              <a:rPr lang="en-US" sz="2000" b="1" dirty="0"/>
              <a:t>Key Features of the MMU:</a:t>
            </a:r>
          </a:p>
          <a:p>
            <a:pPr marL="1428750" lvl="2" indent="-514350">
              <a:buFont typeface="+mj-lt"/>
              <a:buAutoNum type="romanUcPeriod"/>
            </a:pPr>
            <a:r>
              <a:rPr lang="en-US" b="1" dirty="0"/>
              <a:t>Virtual Memory Support</a:t>
            </a:r>
            <a:r>
              <a:rPr lang="en-US" dirty="0"/>
              <a:t>:</a:t>
            </a:r>
          </a:p>
          <a:p>
            <a:pPr lvl="3"/>
            <a:r>
              <a:rPr lang="en-US" sz="2000" dirty="0"/>
              <a:t>The MMU allows processes to use </a:t>
            </a:r>
            <a:r>
              <a:rPr lang="en-US" sz="2000" b="1" dirty="0"/>
              <a:t>virtual addresses</a:t>
            </a:r>
            <a:r>
              <a:rPr lang="en-US" sz="2000" dirty="0"/>
              <a:t> instead of physical memory addresses.</a:t>
            </a:r>
          </a:p>
          <a:p>
            <a:pPr lvl="3"/>
            <a:r>
              <a:rPr lang="en-US" sz="2000" dirty="0"/>
              <a:t>Virtual memory provides an </a:t>
            </a:r>
            <a:r>
              <a:rPr lang="en-US" sz="2000" b="1" dirty="0"/>
              <a:t>illusion</a:t>
            </a:r>
            <a:r>
              <a:rPr lang="en-US" sz="2000" dirty="0"/>
              <a:t> of a large, contiguous memory space, even if physical memory is fragmented.</a:t>
            </a:r>
          </a:p>
          <a:p>
            <a:pPr marL="1428750" lvl="2" indent="-514350">
              <a:buFont typeface="+mj-lt"/>
              <a:buAutoNum type="romanUcPeriod"/>
            </a:pPr>
            <a:r>
              <a:rPr lang="en-US" b="1" dirty="0"/>
              <a:t>Page-Based Memory Management</a:t>
            </a:r>
            <a:r>
              <a:rPr lang="en-US" dirty="0"/>
              <a:t>:</a:t>
            </a:r>
          </a:p>
          <a:p>
            <a:pPr lvl="3"/>
            <a:r>
              <a:rPr lang="en-US" sz="2000" dirty="0"/>
              <a:t>The memory is divided into </a:t>
            </a:r>
            <a:r>
              <a:rPr lang="en-US" sz="2000" b="1" dirty="0"/>
              <a:t>fixed-size pages</a:t>
            </a:r>
            <a:r>
              <a:rPr lang="en-US" sz="2000" dirty="0"/>
              <a:t> (commonly 4 KB).</a:t>
            </a:r>
          </a:p>
          <a:p>
            <a:pPr lvl="3"/>
            <a:r>
              <a:rPr lang="en-US" sz="2000" dirty="0"/>
              <a:t>The </a:t>
            </a:r>
            <a:r>
              <a:rPr lang="en-US" sz="2000" dirty="0" smtClean="0"/>
              <a:t>MMU </a:t>
            </a:r>
            <a:r>
              <a:rPr lang="en-US" sz="2000" dirty="0"/>
              <a:t>maps virtual pages to physical frames in </a:t>
            </a:r>
            <a:r>
              <a:rPr lang="en-US" sz="2000" dirty="0" smtClean="0"/>
              <a:t>memory.</a:t>
            </a:r>
          </a:p>
          <a:p>
            <a:pPr lvl="3"/>
            <a:r>
              <a:rPr lang="en-US" sz="2000" b="1" dirty="0"/>
              <a:t>Example</a:t>
            </a:r>
            <a:r>
              <a:rPr lang="en-US" sz="2000" dirty="0" smtClean="0"/>
              <a:t>:</a:t>
            </a:r>
          </a:p>
          <a:p>
            <a:pPr marL="1371600" lvl="3" indent="0" algn="ctr">
              <a:buNone/>
            </a:pPr>
            <a:r>
              <a:rPr lang="en-US" sz="2000" dirty="0"/>
              <a:t>Virtual Address: 0x00401234 → Translates to Physical Address: </a:t>
            </a:r>
            <a:r>
              <a:rPr lang="en-US" sz="2000" dirty="0" smtClean="0"/>
              <a:t>0x1F00234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B829FF-4C37-46B6-B4E2-5F205C614DC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866F03-AB28-4076-A101-C05ED2916839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FF2093B-3FF1-45E4-8236-0C753316A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F863EB-B7C4-4845-A157-7BB371E924B3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6F0B4C8-CC62-4891-9C99-B146F4A85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8007ED-0B2B-42D8-9394-014EC0497A35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6482E21-91A3-466E-88F0-0149ECFB7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BBDC86F-ED38-4A71-B98D-BFBFB34B9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797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1001890-2D27-4C06-8608-762CAE8C86A2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4EECAA-E328-47D6-ACBC-7B6045FFBA9E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310BC6-D369-40F7-9134-CA1AF26C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4A534A-AF61-4A94-9BBB-ECD9B5E8BF56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7FD3E16B-B08C-424B-B4E0-5F9C11D04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F2B077-D3DF-4751-8D55-BD3BDAEDAB0F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B35BA541-C933-4EB5-A6B6-39E31DDF9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9D81B47-A520-4FD2-B153-D43C470F8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44284" y="1209498"/>
            <a:ext cx="10689772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 startAt="3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Translation Lookaside Buffer (TLB)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MMU uses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TLB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speed up address translation.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TLB is a small cache that stores recently accessed page table entries, avoiding repeated lookups in the page table.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TLB Operations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TLB Hit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Address translation found in TLB → Fast access.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TLB Miss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Address not in TLB → MMU performs a page table lookup.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 startAt="4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Page Faults and Exceptions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If a program accesses an invalid virtual address (e.g., unmapped page), the MMU raises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page fault exception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OS handles the page fault, either by: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Loading the required page into physical memory.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Terminating the process if access is invalid.</a:t>
            </a:r>
          </a:p>
          <a:p>
            <a:pPr marL="400050" indent="-400050">
              <a:buFont typeface="+mj-lt"/>
              <a:buAutoNum type="romanUcPeriod" startAt="5"/>
            </a:pPr>
            <a:r>
              <a:rPr lang="en-US" sz="2000" b="1" dirty="0"/>
              <a:t>Kernel vs. User Mode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The MMU separates </a:t>
            </a:r>
            <a:r>
              <a:rPr lang="en-US" sz="2000" b="1" dirty="0"/>
              <a:t>user mode</a:t>
            </a:r>
            <a:r>
              <a:rPr lang="en-US" sz="2000" dirty="0"/>
              <a:t> and </a:t>
            </a:r>
            <a:r>
              <a:rPr lang="en-US" sz="2000" b="1" dirty="0"/>
              <a:t>kernel mode</a:t>
            </a:r>
            <a:r>
              <a:rPr lang="en-US" sz="2000" dirty="0"/>
              <a:t>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Kernel Mode</a:t>
            </a:r>
            <a:r>
              <a:rPr lang="en-US" sz="2000" dirty="0"/>
              <a:t>: Provides privileged access to manage the system (e.g., I/O, device drivers).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User Mode</a:t>
            </a:r>
            <a:r>
              <a:rPr lang="en-US" sz="2000" dirty="0"/>
              <a:t>: Restricts access to user processes to prevent unauthorized operations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24179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9A5FA253-E6BC-4DC7-8473-349FAFA95F7E}"/>
              </a:ext>
            </a:extLst>
          </p:cNvPr>
          <p:cNvSpPr txBox="1"/>
          <p:nvPr/>
        </p:nvSpPr>
        <p:spPr>
          <a:xfrm>
            <a:off x="662730" y="1169597"/>
            <a:ext cx="1080135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 </a:t>
            </a:r>
            <a:r>
              <a:rPr lang="en-US" dirty="0"/>
              <a:t>MIPS, </a:t>
            </a:r>
            <a:r>
              <a:rPr lang="en-US" b="1" dirty="0"/>
              <a:t>memory can only be accessed using load/store instructions</a:t>
            </a:r>
            <a:r>
              <a:rPr lang="en-US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Load Instructions</a:t>
            </a:r>
            <a:r>
              <a:rPr lang="en-US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Used to bring data from memory into registers.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Example</a:t>
            </a:r>
            <a:r>
              <a:rPr lang="en-US" dirty="0" smtClean="0"/>
              <a:t>:</a:t>
            </a:r>
          </a:p>
          <a:p>
            <a:pPr lvl="3"/>
            <a:r>
              <a:rPr lang="en-US" dirty="0"/>
              <a:t>LW $t0, 4($s0)    # Load a word from address ($s0 + 4) into $t0</a:t>
            </a:r>
          </a:p>
          <a:p>
            <a:pPr lvl="3"/>
            <a:r>
              <a:rPr lang="en-US" dirty="0"/>
              <a:t>LB $t1, 0($s1)    # Load a byte from address ($s1 + 0) into $</a:t>
            </a:r>
            <a:r>
              <a:rPr lang="en-US" dirty="0" smtClean="0"/>
              <a:t>t1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Store Instructions</a:t>
            </a:r>
            <a:r>
              <a:rPr lang="en-US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Used to write data from registers back to memory.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lvl="3"/>
            <a:r>
              <a:rPr lang="en-US" dirty="0"/>
              <a:t>SW $t2, 8($s0)    # Store the word in $t2 to address ($s0 + 8)</a:t>
            </a:r>
          </a:p>
          <a:p>
            <a:pPr lvl="3"/>
            <a:r>
              <a:rPr lang="en-US" dirty="0"/>
              <a:t>SB $t3, 0($s1)    # Store the byte in $t3 to address ($s1 + 0)</a:t>
            </a:r>
          </a:p>
          <a:p>
            <a:r>
              <a:rPr lang="en-US" b="1" dirty="0"/>
              <a:t>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MIPS-I memory model</a:t>
            </a:r>
            <a:r>
              <a:rPr lang="en-US" dirty="0"/>
              <a:t> uses a </a:t>
            </a:r>
            <a:r>
              <a:rPr lang="en-US" b="1" dirty="0"/>
              <a:t>byte-addressable</a:t>
            </a:r>
            <a:r>
              <a:rPr lang="en-US" dirty="0"/>
              <a:t>, word-aligned structure with support for both endianness modes.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is divided into </a:t>
            </a:r>
            <a:r>
              <a:rPr lang="en-US" b="1" dirty="0"/>
              <a:t>user space</a:t>
            </a:r>
            <a:r>
              <a:rPr lang="en-US" dirty="0"/>
              <a:t> and </a:t>
            </a:r>
            <a:r>
              <a:rPr lang="en-US" b="1" dirty="0"/>
              <a:t>kernel space</a:t>
            </a:r>
            <a:r>
              <a:rPr lang="en-US" dirty="0"/>
              <a:t>, providing security and privilege separation.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MMU</a:t>
            </a:r>
            <a:r>
              <a:rPr lang="en-US" dirty="0"/>
              <a:t> in MIPS manages virtual memory, translating virtual addresses to physical addresses via page-based mapping and TLB.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 and store instructions provide controlled access to memory, adhering to the </a:t>
            </a:r>
            <a:r>
              <a:rPr lang="en-US" b="1" dirty="0"/>
              <a:t>load/store architecture</a:t>
            </a:r>
            <a:r>
              <a:rPr lang="en-US" dirty="0"/>
              <a:t> principle of MIPS</a:t>
            </a:r>
            <a:r>
              <a:rPr lang="en-US" dirty="0" smtClean="0"/>
              <a:t>.</a:t>
            </a:r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BEA25A-199D-4D78-B795-C46C85A52E0B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70D3031-B614-4825-9EBF-C1E73C4E9DBB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74C19F5-C6B4-4428-89D1-EB6EC79A5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A2AD84F-7748-4055-8715-3197B2C846C7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C28E98CA-7A21-4AA3-9B8F-1799DD348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DD3783-E879-4E85-BB51-871A7A8018E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5C669A3-D490-4746-8542-0EDF14F74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F309829-A49F-4E58-8019-7A5F6A26D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3483341" y="273181"/>
            <a:ext cx="52300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MIPS Memory Access Instructions</a:t>
            </a:r>
          </a:p>
        </p:txBody>
      </p:sp>
    </p:spTree>
    <p:extLst>
      <p:ext uri="{BB962C8B-B14F-4D97-AF65-F5344CB8AC3E}">
        <p14:creationId xmlns:p14="http://schemas.microsoft.com/office/powerpoint/2010/main" val="114063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16CB3A1-2F0C-4B2E-B7CA-A23AA016B82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9DF749-C1DE-44F1-A0AE-4706451F9DC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9D7FAC1-C050-44C3-A520-F7E0452EA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6F26BF-93C2-4599-8B3A-583CD8A06DE8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8181E826-520B-42BD-8798-DFC87C727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DE77C3-8284-43D1-8BB9-0E1FE03DB50B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905B5D0-B635-43DA-AFAC-C24406CF3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51AB74C-8A70-4C3E-A650-D7E8022D4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62730" y="1195128"/>
            <a:ext cx="10345783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MIPS-I instruction set</a:t>
            </a:r>
            <a:r>
              <a:rPr lang="en-US" dirty="0"/>
              <a:t> is a part of the MIPS architecture and follows the </a:t>
            </a:r>
            <a:r>
              <a:rPr lang="en-US" b="1" dirty="0"/>
              <a:t>RISC (Reduced Instruction Set Computer)</a:t>
            </a:r>
            <a:r>
              <a:rPr lang="en-US" dirty="0"/>
              <a:t> design philosophy. </a:t>
            </a:r>
            <a:endParaRPr lang="en-US" dirty="0" smtClean="0"/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includes a simple and fixed set of instructions for efficient hardware implementation and software execution</a:t>
            </a:r>
            <a:r>
              <a:rPr lang="en-US" dirty="0" smtClean="0"/>
              <a:t>.</a:t>
            </a: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MIPS-I instruction set consists of </a:t>
            </a:r>
            <a:r>
              <a:rPr lang="en-US" b="1" dirty="0"/>
              <a:t>32-bit fixed-length instructions</a:t>
            </a:r>
            <a:r>
              <a:rPr lang="en-US" dirty="0"/>
              <a:t> divided into three main formats</a:t>
            </a:r>
            <a:r>
              <a:rPr lang="en-US" dirty="0" smtClean="0"/>
              <a:t>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R-type (Register)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Used for arithmetic and logical operations.</a:t>
            </a:r>
          </a:p>
          <a:p>
            <a:pPr marL="1257300" marR="0" lvl="2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 ADD $d, $s, $t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I-type (Immediate)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Used for data transfer and branching.</a:t>
            </a:r>
          </a:p>
          <a:p>
            <a:pPr marL="1257300" marR="0" lvl="2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 LW $t, offset($s)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J-type (Jump)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Used for jump instructions.</a:t>
            </a:r>
          </a:p>
          <a:p>
            <a:pPr marL="1257300" marR="0" lvl="2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 J target</a:t>
            </a: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Each format corresponds to a specific class of operations, and they simplify instruction decoding and execution</a:t>
            </a:r>
            <a:r>
              <a:rPr lang="en-US" dirty="0" smtClean="0"/>
              <a:t>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Types of Instructions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9144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Arithmetic: ADD, SUB</a:t>
            </a:r>
          </a:p>
          <a:p>
            <a:pPr marL="9144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Logical: AND, OR, XOR</a:t>
            </a:r>
          </a:p>
          <a:p>
            <a:pPr marL="9144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 Transfer: LW, SW</a:t>
            </a:r>
          </a:p>
          <a:p>
            <a:pPr marL="9144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Branching/Control: BEQ, BNE, J</a:t>
            </a:r>
          </a:p>
          <a:p>
            <a:pPr marL="9144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Shifting: SLL, SRL</a:t>
            </a:r>
          </a:p>
        </p:txBody>
      </p:sp>
      <p:sp>
        <p:nvSpPr>
          <p:cNvPr id="3" name="Rectangle 2"/>
          <p:cNvSpPr/>
          <p:nvPr/>
        </p:nvSpPr>
        <p:spPr>
          <a:xfrm>
            <a:off x="3860443" y="188570"/>
            <a:ext cx="46813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chemeClr val="bg1"/>
                </a:solidFill>
              </a:rPr>
              <a:t>MIPS-I Instruction Set</a:t>
            </a:r>
          </a:p>
        </p:txBody>
      </p:sp>
    </p:spTree>
    <p:extLst>
      <p:ext uri="{BB962C8B-B14F-4D97-AF65-F5344CB8AC3E}">
        <p14:creationId xmlns:p14="http://schemas.microsoft.com/office/powerpoint/2010/main" val="8306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532736"/>
              </p:ext>
            </p:extLst>
          </p:nvPr>
        </p:nvGraphicFramePr>
        <p:xfrm>
          <a:off x="819318" y="2651762"/>
          <a:ext cx="10515600" cy="39594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89716138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7480453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4300136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750945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0401141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79498695"/>
                    </a:ext>
                  </a:extLst>
                </a:gridCol>
              </a:tblGrid>
              <a:tr h="395945">
                <a:tc>
                  <a:txBody>
                    <a:bodyPr/>
                    <a:lstStyle/>
                    <a:p>
                      <a:r>
                        <a:rPr lang="en-US"/>
                        <a:t>Opcode (6)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rs</a:t>
                      </a:r>
                      <a:r>
                        <a:rPr lang="en-US" dirty="0"/>
                        <a:t> 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rt 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rd 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shamt 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funct</a:t>
                      </a:r>
                      <a:r>
                        <a:rPr lang="en-US" dirty="0"/>
                        <a:t> (6)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9137453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62730" y="1269209"/>
            <a:ext cx="105156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R-Type (Register-Type) Instructions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for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arithmetic, logical, and shift operations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that involve registers.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Operates on data stored in registers.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Instruction Format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Opcode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Specifies the operation type (always 0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000" dirty="0"/>
              <a:t>for R-type instructions</a:t>
            </a:r>
            <a:r>
              <a:rPr lang="en-US" sz="2000" dirty="0" smtClean="0"/>
              <a:t>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err="1"/>
              <a:t>rs</a:t>
            </a:r>
            <a:r>
              <a:rPr lang="en-US" altLang="en-US" sz="2000" dirty="0"/>
              <a:t>: Source register 1.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err="1"/>
              <a:t>rt</a:t>
            </a:r>
            <a:r>
              <a:rPr lang="en-US" altLang="en-US" sz="2000" dirty="0"/>
              <a:t>: Source register 2.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err="1"/>
              <a:t>rd</a:t>
            </a:r>
            <a:r>
              <a:rPr lang="en-US" altLang="en-US" sz="2000" dirty="0"/>
              <a:t>: Destination register where the result is stored.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err="1"/>
              <a:t>shamt</a:t>
            </a:r>
            <a:r>
              <a:rPr lang="en-US" altLang="en-US" sz="2000" dirty="0"/>
              <a:t>: Shift amount (used for shift instructions).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err="1"/>
              <a:t>funct</a:t>
            </a:r>
            <a:r>
              <a:rPr lang="en-US" altLang="en-US" sz="2000" dirty="0"/>
              <a:t>: Function code to determine the exact operation (e.g., ADD, SUB).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US" sz="2000" b="1" dirty="0"/>
              <a:t>Examples</a:t>
            </a:r>
            <a:r>
              <a:rPr lang="en-US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ADD</a:t>
            </a:r>
            <a:r>
              <a:rPr lang="en-US" sz="2000" dirty="0"/>
              <a:t>: ADD $</a:t>
            </a:r>
            <a:r>
              <a:rPr lang="en-US" sz="2000" dirty="0" err="1"/>
              <a:t>rd</a:t>
            </a:r>
            <a:r>
              <a:rPr lang="en-US" sz="2000" dirty="0"/>
              <a:t>, $</a:t>
            </a:r>
            <a:r>
              <a:rPr lang="en-US" sz="2000" dirty="0" err="1"/>
              <a:t>rs</a:t>
            </a:r>
            <a:r>
              <a:rPr lang="en-US" sz="2000" dirty="0"/>
              <a:t>, $</a:t>
            </a:r>
            <a:r>
              <a:rPr lang="en-US" sz="2000" dirty="0" err="1" smtClean="0"/>
              <a:t>rt</a:t>
            </a:r>
            <a:r>
              <a:rPr lang="en-US" sz="2000" dirty="0"/>
              <a:t> → Adds two registers.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ADD $t0, $t1, $t2   # $t0 = $t1 + $t2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SUB: </a:t>
            </a:r>
            <a:r>
              <a:rPr lang="en-US" sz="2000" dirty="0"/>
              <a:t>SUB $</a:t>
            </a:r>
            <a:r>
              <a:rPr lang="en-US" sz="2000" dirty="0" err="1"/>
              <a:t>rd</a:t>
            </a:r>
            <a:r>
              <a:rPr lang="en-US" sz="2000" dirty="0"/>
              <a:t>, $</a:t>
            </a:r>
            <a:r>
              <a:rPr lang="en-US" sz="2000" dirty="0" err="1"/>
              <a:t>rs</a:t>
            </a:r>
            <a:r>
              <a:rPr lang="en-US" sz="2000" dirty="0"/>
              <a:t>, $</a:t>
            </a:r>
            <a:r>
              <a:rPr lang="en-US" sz="2000" dirty="0" err="1" smtClean="0"/>
              <a:t>rt</a:t>
            </a:r>
            <a:r>
              <a:rPr lang="en-US" sz="2000" dirty="0"/>
              <a:t> → Subtracts two registers</a:t>
            </a:r>
            <a:r>
              <a:rPr lang="en-US" sz="2000" dirty="0" smtClean="0"/>
              <a:t>.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SUB $s0, $s1, $s2   # $s0 = $s1 - $</a:t>
            </a:r>
            <a:r>
              <a:rPr lang="en-US" altLang="en-US" sz="2000" dirty="0" smtClean="0"/>
              <a:t>s2</a:t>
            </a: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51389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Instruction Formats in MIPS-I</a:t>
            </a:r>
          </a:p>
        </p:txBody>
      </p:sp>
    </p:spTree>
    <p:extLst>
      <p:ext uri="{BB962C8B-B14F-4D97-AF65-F5344CB8AC3E}">
        <p14:creationId xmlns:p14="http://schemas.microsoft.com/office/powerpoint/2010/main" val="287321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62730" y="3731421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51389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Instruction Formats in MIPS-I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21987" y="1256936"/>
            <a:ext cx="1042415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Logical Operations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AND: AND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OR: OR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Shift Operations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SLL: SLL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shamt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(Shift Left Logical).</a:t>
            </a:r>
          </a:p>
          <a:p>
            <a:pPr lvl="1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SLL $t0, $t1, 2 # $t0 = $t1 &lt;&lt; 2 (shift left by 2 bits)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139174"/>
              </p:ext>
            </p:extLst>
          </p:nvPr>
        </p:nvGraphicFramePr>
        <p:xfrm>
          <a:off x="662730" y="4844084"/>
          <a:ext cx="10515600" cy="3657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181486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252516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6081019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054798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Opcode (6)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rs 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rt 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Immediate (16)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088616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62730" y="3380124"/>
            <a:ext cx="1073549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I-Type (Immediate-Type) Instructions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for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immediate values, memory access, and branching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Includes a constant or address offset (immediate value).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Instruction Format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Opcode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Specifies the operation type.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Source register.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Destination register (or source/destination for memory instructions).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Immediate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16-bit constant or address offset.</a:t>
            </a:r>
          </a:p>
        </p:txBody>
      </p:sp>
    </p:spTree>
    <p:extLst>
      <p:ext uri="{BB962C8B-B14F-4D97-AF65-F5344CB8AC3E}">
        <p14:creationId xmlns:p14="http://schemas.microsoft.com/office/powerpoint/2010/main" val="330211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62730" y="3731421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51389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Instruction Formats in MIPS-I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57348" y="1348385"/>
            <a:ext cx="1087265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Immediate Arithmetic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ADDI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immediate → Adds immediate to a register.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ADDI $t0, $t1, 10 # $t0 = $t1 + 10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Memory Access Instructions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(Load/Store):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(Load Word): LW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offset($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→ Loads a word from memory.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LW $t0, 8($s0) # Load word at address $s0 + 8 into $t0 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(Store Word): SW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offset($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→ Stores a word into memory.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SW $t0, 8($s0) # Store word in $t0 to address $s0 + 8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Branch Instructions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BEQ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(Branch if Equal): BEQ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offset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BEQ $t0, $t1, LABEL # If $t0 == $t1, branch to LABEL 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BNE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(Branch if Not Equal): BNE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offset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BNE $t0, $t1, LABEL # If $t0 != $t1, branch to LABEL</a:t>
            </a:r>
          </a:p>
        </p:txBody>
      </p:sp>
    </p:spTree>
    <p:extLst>
      <p:ext uri="{BB962C8B-B14F-4D97-AF65-F5344CB8AC3E}">
        <p14:creationId xmlns:p14="http://schemas.microsoft.com/office/powerpoint/2010/main" val="116409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442" y="244321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51389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Instruction Formats in MIPS-I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427929"/>
              </p:ext>
            </p:extLst>
          </p:nvPr>
        </p:nvGraphicFramePr>
        <p:xfrm>
          <a:off x="1415189" y="3038755"/>
          <a:ext cx="9484696" cy="3657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4742348">
                  <a:extLst>
                    <a:ext uri="{9D8B030D-6E8A-4147-A177-3AD203B41FA5}">
                      <a16:colId xmlns:a16="http://schemas.microsoft.com/office/drawing/2014/main" val="983657316"/>
                    </a:ext>
                  </a:extLst>
                </a:gridCol>
                <a:gridCol w="4742348">
                  <a:extLst>
                    <a:ext uri="{9D8B030D-6E8A-4147-A177-3AD203B41FA5}">
                      <a16:colId xmlns:a16="http://schemas.microsoft.com/office/drawing/2014/main" val="1438236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Opcode (6)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Address (26)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35040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59162" y="1681086"/>
            <a:ext cx="1099674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J-Type (Jump-Type) Instructions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for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unconditional jumps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specific addresses.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Contains a large target address for branching.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Instruction Format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Opcode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Specifies the operation type.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Target Address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26-bit immediate address (combined with PC during execution).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Jump Instruction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J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J target → Jumps to the specified address.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J 10000 # Jump to address 10000 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Jump and Link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JAL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JAL target → Jumps to address and saves return address in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ra.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JAL FUNCTION # Call FUNCTION and save return address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363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442" y="244321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53321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Types of Instructions in MIPS-I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11427" y="1718674"/>
            <a:ext cx="1086522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MIPS-I includes the following types of instructions: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Arithmetic Instructions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ADD, ADDI, SUB, MUL, DIV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 $t0, $t1, $t2 # $t0 = $t1 + $t2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Logical Instructions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AND, OR, XOR, NOR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AND $s0, $s1, $s2 # $s0 = $s1 AND $s2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Shift Instructions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SLL (Shift Left Logical), SRL (Shift Right Logical), SRA (Shift Right Arithmetic)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SLL $t0, $t1, 2 # $t0 = $t1 &lt;&lt; 2 </a:t>
            </a:r>
          </a:p>
        </p:txBody>
      </p:sp>
    </p:spTree>
    <p:extLst>
      <p:ext uri="{BB962C8B-B14F-4D97-AF65-F5344CB8AC3E}">
        <p14:creationId xmlns:p14="http://schemas.microsoft.com/office/powerpoint/2010/main" val="375138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442" y="244321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53321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Types of Instructions in MIPS-I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11427" y="2011062"/>
            <a:ext cx="1086522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4"/>
            </a:pPr>
            <a:r>
              <a:rPr lang="en-US" altLang="en-US" sz="2000" b="1" dirty="0"/>
              <a:t>Data Transfer Instructions</a:t>
            </a:r>
            <a:r>
              <a:rPr lang="en-US" altLang="en-US" sz="2000" dirty="0"/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LW (Load Word), SW (Store Word), LB (Load Byte), SB (Store Byte)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Example: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LW $t0, 4($s0) # Load word from memory SW $t1, 8($s0) # Store word to memory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5"/>
            </a:pPr>
            <a:r>
              <a:rPr lang="en-US" altLang="en-US" sz="2000" b="1" dirty="0"/>
              <a:t>Branch and Jump Instructions</a:t>
            </a:r>
            <a:r>
              <a:rPr lang="en-US" altLang="en-US" sz="2000" dirty="0"/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BEQ (Branch if Equal), BNE (Branch if Not Equal)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J (Jump), JAL (Jump and Link), JR (Jump Register)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Example: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BEQ $t0, $t1, TARGET # Branch to TARGET if $t0 == $t1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6"/>
            </a:pPr>
            <a:r>
              <a:rPr lang="en-US" altLang="en-US" sz="2000" b="1" dirty="0"/>
              <a:t>Special Instructions</a:t>
            </a:r>
            <a:r>
              <a:rPr lang="en-US" altLang="en-US" sz="2000" dirty="0"/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NOP</a:t>
            </a:r>
            <a:r>
              <a:rPr lang="en-US" altLang="en-US" sz="2000" dirty="0"/>
              <a:t> (No Operation): Executes no action.</a:t>
            </a:r>
          </a:p>
        </p:txBody>
      </p:sp>
    </p:spTree>
    <p:extLst>
      <p:ext uri="{BB962C8B-B14F-4D97-AF65-F5344CB8AC3E}">
        <p14:creationId xmlns:p14="http://schemas.microsoft.com/office/powerpoint/2010/main" val="57339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442" y="244321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53321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Types of Instructions in MIPS-I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523322"/>
              </p:ext>
            </p:extLst>
          </p:nvPr>
        </p:nvGraphicFramePr>
        <p:xfrm>
          <a:off x="915883" y="2447641"/>
          <a:ext cx="10515600" cy="24993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7240436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102590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203899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7660532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382591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Format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Opcode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rs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rt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rd</a:t>
                      </a:r>
                      <a:r>
                        <a:rPr lang="en-US" sz="2000" b="1" dirty="0"/>
                        <a:t> / Immediate / Target</a:t>
                      </a:r>
                      <a:endParaRPr lang="en-US" sz="2000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874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 bits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 bits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5 bits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rd, shamt, funct (11 bits)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3453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I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6 bits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5 bits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5 bits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16-bit immediate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890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J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6 bits</a:t>
                      </a:r>
                      <a:endParaRPr lang="en-US" sz="2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26-bit target address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6800158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4314135" y="1567737"/>
            <a:ext cx="37190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Visual Representation of Formats</a:t>
            </a:r>
          </a:p>
        </p:txBody>
      </p:sp>
    </p:spTree>
    <p:extLst>
      <p:ext uri="{BB962C8B-B14F-4D97-AF65-F5344CB8AC3E}">
        <p14:creationId xmlns:p14="http://schemas.microsoft.com/office/powerpoint/2010/main" val="43321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3507633" y="280448"/>
            <a:ext cx="499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Register Convention in MIPS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54034" y="1802295"/>
            <a:ext cx="946571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MIPS Register Convention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defines how registers are used and what each register's role is within a program.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MIPS architecture follows a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RISC (Reduced Instruction Set Computer)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design, which means it relies heavily on a small set of fast registers for computation.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MIPS has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32 general-purpose registers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each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32 bits wide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(in MIPS32), and they are denoted as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$0 to $31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 ensure consistency in programming and facilitate function calls, these registers are assigned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specific conventions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271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3507633" y="280448"/>
            <a:ext cx="499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Register Convention in MIPS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14473" y="1138276"/>
            <a:ext cx="1051479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Register 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MIPS registers are classified based on their </a:t>
            </a:r>
            <a:r>
              <a:rPr lang="en-US" sz="2000" b="1" dirty="0"/>
              <a:t>usage convention</a:t>
            </a:r>
            <a:r>
              <a:rPr lang="en-US" sz="2000" dirty="0"/>
              <a:t> into the following categories: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586681"/>
              </p:ext>
            </p:extLst>
          </p:nvPr>
        </p:nvGraphicFramePr>
        <p:xfrm>
          <a:off x="363973" y="1828800"/>
          <a:ext cx="11464053" cy="502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90934">
                  <a:extLst>
                    <a:ext uri="{9D8B030D-6E8A-4147-A177-3AD203B41FA5}">
                      <a16:colId xmlns:a16="http://schemas.microsoft.com/office/drawing/2014/main" val="3389460364"/>
                    </a:ext>
                  </a:extLst>
                </a:gridCol>
                <a:gridCol w="1769599">
                  <a:extLst>
                    <a:ext uri="{9D8B030D-6E8A-4147-A177-3AD203B41FA5}">
                      <a16:colId xmlns:a16="http://schemas.microsoft.com/office/drawing/2014/main" val="3106514605"/>
                    </a:ext>
                  </a:extLst>
                </a:gridCol>
                <a:gridCol w="5803520">
                  <a:extLst>
                    <a:ext uri="{9D8B030D-6E8A-4147-A177-3AD203B41FA5}">
                      <a16:colId xmlns:a16="http://schemas.microsoft.com/office/drawing/2014/main" val="2758686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Register Name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Number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Usage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39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Zero Register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$zero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Always contains the value 0.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9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Assembler Reserved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$at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Reserved for assembler usage.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5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Function Arguments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$a0–$a3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Pass arguments to functions.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2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Temporary Registers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$t0–$t9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Temporary variables (caller-saved).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076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Saved Registers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$s0–$s7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Preserved across function calls.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645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Return Value Registers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$v0–$v1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Store return values from functions.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2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Global Pointer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</a:t>
                      </a:r>
                      <a:r>
                        <a:rPr lang="en-US" sz="2400" dirty="0" err="1" smtClean="0"/>
                        <a:t>gp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Points to global/static data.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745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Stack Pointer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</a:t>
                      </a:r>
                      <a:r>
                        <a:rPr lang="en-US" sz="2400" dirty="0" err="1" smtClean="0"/>
                        <a:t>sp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Points to the top of the stack.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32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Frame Pointer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</a:t>
                      </a:r>
                      <a:r>
                        <a:rPr lang="en-US" sz="2400" dirty="0" err="1" smtClean="0"/>
                        <a:t>fp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Points to the base of the stack frame.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19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Return Address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</a:t>
                      </a:r>
                      <a:r>
                        <a:rPr lang="en-US" sz="2400" dirty="0" err="1" smtClean="0"/>
                        <a:t>ra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Stores the return address for functions.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908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2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442" y="244321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499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Register Convention in MIPS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61258" y="1424941"/>
            <a:ext cx="56170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MIPS has 32 general-purpose registers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$0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Always holds 0.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$at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Reserved for assembler.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$v0-$v1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Function return values.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$a0-$a3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Arguments for function calls.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$t0-$t9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Temporary registers (caller-saved).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$s0-$s7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Saved registers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callee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-saved).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Global pointer.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Stack pointer.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Frame pointer.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Return address.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Register Summary Table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722085"/>
              </p:ext>
            </p:extLst>
          </p:nvPr>
        </p:nvGraphicFramePr>
        <p:xfrm>
          <a:off x="4352229" y="3917463"/>
          <a:ext cx="7093917" cy="21945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364639">
                  <a:extLst>
                    <a:ext uri="{9D8B030D-6E8A-4147-A177-3AD203B41FA5}">
                      <a16:colId xmlns:a16="http://schemas.microsoft.com/office/drawing/2014/main" val="1321358603"/>
                    </a:ext>
                  </a:extLst>
                </a:gridCol>
                <a:gridCol w="2364639">
                  <a:extLst>
                    <a:ext uri="{9D8B030D-6E8A-4147-A177-3AD203B41FA5}">
                      <a16:colId xmlns:a16="http://schemas.microsoft.com/office/drawing/2014/main" val="198573783"/>
                    </a:ext>
                  </a:extLst>
                </a:gridCol>
                <a:gridCol w="2364639">
                  <a:extLst>
                    <a:ext uri="{9D8B030D-6E8A-4147-A177-3AD203B41FA5}">
                      <a16:colId xmlns:a16="http://schemas.microsoft.com/office/drawing/2014/main" val="170199238"/>
                    </a:ext>
                  </a:extLst>
                </a:gridCol>
              </a:tblGrid>
              <a:tr h="29491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2469319"/>
                  </a:ext>
                </a:extLst>
              </a:tr>
              <a:tr h="294911">
                <a:tc>
                  <a:txBody>
                    <a:bodyPr/>
                    <a:lstStyle/>
                    <a:p>
                      <a:r>
                        <a:rPr lang="en-US" dirty="0"/>
                        <a:t>$0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Constant value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850298"/>
                  </a:ext>
                </a:extLst>
              </a:tr>
              <a:tr h="294911">
                <a:tc>
                  <a:txBody>
                    <a:bodyPr/>
                    <a:lstStyle/>
                    <a:p>
                      <a:r>
                        <a:rPr lang="en-US"/>
                        <a:t>$t0-$t9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Temporaries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Temporary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348691"/>
                  </a:ext>
                </a:extLst>
              </a:tr>
              <a:tr h="294911">
                <a:tc>
                  <a:txBody>
                    <a:bodyPr/>
                    <a:lstStyle/>
                    <a:p>
                      <a:r>
                        <a:rPr lang="en-US"/>
                        <a:t>$s0-$s7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Preserved across calls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478763"/>
                  </a:ext>
                </a:extLst>
              </a:tr>
              <a:tr h="294911">
                <a:tc>
                  <a:txBody>
                    <a:bodyPr/>
                    <a:lstStyle/>
                    <a:p>
                      <a:r>
                        <a:rPr lang="en-US"/>
                        <a:t>$a0-$a3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Arguments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 arguments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015362"/>
                  </a:ext>
                </a:extLst>
              </a:tr>
              <a:tr h="294911">
                <a:tc>
                  <a:txBody>
                    <a:bodyPr/>
                    <a:lstStyle/>
                    <a:p>
                      <a:r>
                        <a:rPr lang="en-US"/>
                        <a:t>$v0-$v1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 return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031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85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-31923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442" y="244321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499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Register Convention in MIPS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62730" y="1177594"/>
            <a:ext cx="1045028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MIPS Register Breakdown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Special Purpose Registers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$zero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(Register 0):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Always contains the value 0.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when you need a constant zero value in operations.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 $t0, $t1, $zero # $t0 = $t1 + 0 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$at (Assembler Temporary)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Reserved for the assembler (pseudo-instructions).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Not intended for general use by programmers.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62730" y="4356605"/>
            <a:ext cx="1058931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Function Argument Registers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$a0–$a3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(Registers 4–7):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to pass up to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4 arguments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a function.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If a function has more than 4 arguments, additional arguments are passed on the stack.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ADDI $a0, $zero, 10 # Pass 10 as the first argument </a:t>
            </a:r>
          </a:p>
        </p:txBody>
      </p:sp>
    </p:spTree>
    <p:extLst>
      <p:ext uri="{BB962C8B-B14F-4D97-AF65-F5344CB8AC3E}">
        <p14:creationId xmlns:p14="http://schemas.microsoft.com/office/powerpoint/2010/main" val="321970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-31923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442" y="244321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499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Register Convention in MIPS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005841" y="1356994"/>
            <a:ext cx="1042416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 startAt="3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Temporary Registers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$t0–$t9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(Registers 8–15, 24–25):</a:t>
            </a:r>
          </a:p>
          <a:p>
            <a:pPr marL="1257300" lvl="2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for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temporary variables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within a function.</a:t>
            </a:r>
          </a:p>
          <a:p>
            <a:pPr marL="1257300" lvl="2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Caller-saved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If a function needs these registers, it must save them before making a function call.</a:t>
            </a:r>
          </a:p>
          <a:p>
            <a:pPr marL="1257300" lvl="2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 $t0, $t1, $t2 # Temporary result in $t0 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1005840" y="3897010"/>
            <a:ext cx="1042416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 startAt="4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Saved Registers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$s0–$s7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(Registers 16–23):</a:t>
            </a:r>
          </a:p>
          <a:p>
            <a:pPr marL="1257300" lvl="2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for variables that need to be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preserved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across function calls.</a:t>
            </a:r>
          </a:p>
          <a:p>
            <a:pPr marL="1257300" lvl="2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Callee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-saved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If a function modifies these registers, it must restore them before returning.</a:t>
            </a:r>
          </a:p>
          <a:p>
            <a:pPr marL="1257300" lvl="2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 $s0, $s1, $s2 # $s0 is preserved </a:t>
            </a:r>
          </a:p>
        </p:txBody>
      </p:sp>
    </p:spTree>
    <p:extLst>
      <p:ext uri="{BB962C8B-B14F-4D97-AF65-F5344CB8AC3E}">
        <p14:creationId xmlns:p14="http://schemas.microsoft.com/office/powerpoint/2010/main" val="162326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-31923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442" y="244321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499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Register Convention in MIPS</a:t>
            </a: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555250" y="1339285"/>
            <a:ext cx="1069679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 startAt="5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Return Value Registers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$v0–$v1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(Registers 2–3):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to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return values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from functions.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If a function returns a single value, it is stored in $v0.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 $v0, $t0, $t1 # Function result in $v0 </a:t>
            </a: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662729" y="3409083"/>
            <a:ext cx="1058931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 startAt="6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Stack Management Registers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sp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(Stack Pointer)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Points to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top of the stack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for function calls and local variables.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SW $t0, 0($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# Store $t0 at top of the stack 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fp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(Frame Pointer)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Points to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base of the current stack frame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Useful for accessing local variables within functions.</a:t>
            </a:r>
          </a:p>
        </p:txBody>
      </p:sp>
    </p:spTree>
    <p:extLst>
      <p:ext uri="{BB962C8B-B14F-4D97-AF65-F5344CB8AC3E}">
        <p14:creationId xmlns:p14="http://schemas.microsoft.com/office/powerpoint/2010/main" val="339531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-31923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442" y="244321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499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Register Convention in MIPS</a:t>
            </a:r>
          </a:p>
        </p:txBody>
      </p:sp>
      <p:sp>
        <p:nvSpPr>
          <p:cNvPr id="16" name="Rectangle 13"/>
          <p:cNvSpPr>
            <a:spLocks noGrp="1" noChangeArrowheads="1"/>
          </p:cNvSpPr>
          <p:nvPr>
            <p:ph idx="1"/>
          </p:nvPr>
        </p:nvSpPr>
        <p:spPr bwMode="auto">
          <a:xfrm>
            <a:off x="838200" y="1653199"/>
            <a:ext cx="10515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 startAt="7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Return Address Register</a:t>
            </a:r>
          </a:p>
          <a:p>
            <a:pPr marL="9144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ra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(Return Address)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Stores the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return address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when a function is called.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return address is the instruction immediately after the JAL (Jump and Link) instruction.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JAL FUNCTION # Jump to FUNCTION and save return address in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JR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# Return to saved address </a:t>
            </a:r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889079" y="4689979"/>
            <a:ext cx="1041384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 startAt="8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Global Pointer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gp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(Global Pointer)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Points to the middle of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static data segment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to access global or static variables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9373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-31923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442" y="244321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499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Register Convention in MIPS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99264" y="1180741"/>
            <a:ext cx="1020701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Register Usage Rules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Caller-Saved Registers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971550" marR="0" lvl="1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$t0–$t9, $a0–$a3, $v0–$v1.</a:t>
            </a:r>
          </a:p>
          <a:p>
            <a:pPr marL="971550" marR="0" lvl="1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caller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saves these registers before calling a function if needed.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Callee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-Saved Registers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971550" marR="0" lvl="1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$s0–$s7.</a:t>
            </a:r>
          </a:p>
          <a:p>
            <a:pPr marL="971550" marR="0" lvl="1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callee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(called function) saves and restores these registers.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Special-Purpose Registers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971550" marR="0" lvl="1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sp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must always point to the top of the stack.</a:t>
            </a:r>
          </a:p>
          <a:p>
            <a:pPr marL="971550" marR="0" lvl="1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must store the return address for proper function execution.</a:t>
            </a:r>
          </a:p>
        </p:txBody>
      </p:sp>
    </p:spTree>
    <p:extLst>
      <p:ext uri="{BB962C8B-B14F-4D97-AF65-F5344CB8AC3E}">
        <p14:creationId xmlns:p14="http://schemas.microsoft.com/office/powerpoint/2010/main" val="108686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-31923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442" y="244321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507633" y="280448"/>
            <a:ext cx="499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</a:rPr>
              <a:t>Register Convention in MIPS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304780"/>
              </p:ext>
            </p:extLst>
          </p:nvPr>
        </p:nvGraphicFramePr>
        <p:xfrm>
          <a:off x="736442" y="1870350"/>
          <a:ext cx="10515600" cy="46634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892844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381011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362756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32831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Convention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18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$zero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Constant zero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Always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2577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$at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Reserved for assembler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Assembler-specific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6871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$v0–$v1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2–3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Function return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Caller saves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796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$a0–$a3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4–7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Function arguments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Caller saves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548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$t0–$t9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8–15, 24–25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Temporary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Caller saves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813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$s0–$s7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16–23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Saved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Callee saves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04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$gp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Global pointer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Static data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2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$sp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Stack pointer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Function 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398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$fp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Frame pointer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Base of stack frame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956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$ra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Return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Function return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260480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65177" y="1108517"/>
            <a:ext cx="109640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Register Convention Summary</a:t>
            </a:r>
          </a:p>
        </p:txBody>
      </p:sp>
    </p:spTree>
    <p:extLst>
      <p:ext uri="{BB962C8B-B14F-4D97-AF65-F5344CB8AC3E}">
        <p14:creationId xmlns:p14="http://schemas.microsoft.com/office/powerpoint/2010/main" val="16677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-31923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6442" y="2443210"/>
            <a:ext cx="1051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4143545" y="249022"/>
            <a:ext cx="37866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Example </a:t>
            </a: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</a:rPr>
              <a:t>Program</a:t>
            </a:r>
            <a:r>
              <a:rPr lang="en-US" altLang="en-US" sz="3200" dirty="0" smtClean="0">
                <a:solidFill>
                  <a:schemeClr val="bg1"/>
                </a:solidFill>
                <a:latin typeface="Arial" panose="020B0604020202020204" pitchFamily="34" charset="0"/>
              </a:rPr>
              <a:t>:</a:t>
            </a:r>
            <a:endParaRPr lang="en-US" altLang="en-US" sz="1400" dirty="0">
              <a:solidFill>
                <a:schemeClr val="bg1"/>
              </a:solidFill>
              <a:latin typeface="Arial Unicode M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2730" y="1830535"/>
            <a:ext cx="10780333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.data  </a:t>
            </a:r>
          </a:p>
          <a:p>
            <a:r>
              <a:rPr lang="en-US" sz="2000" dirty="0"/>
              <a:t>A: .word 5         </a:t>
            </a:r>
            <a:r>
              <a:rPr lang="en-US" sz="2000" dirty="0" smtClean="0"/>
              <a:t>		# </a:t>
            </a:r>
            <a:r>
              <a:rPr lang="en-US" sz="2000" dirty="0"/>
              <a:t>First number  </a:t>
            </a:r>
          </a:p>
          <a:p>
            <a:r>
              <a:rPr lang="en-US" sz="2000" dirty="0"/>
              <a:t>B: .word 7         </a:t>
            </a:r>
            <a:r>
              <a:rPr lang="en-US" sz="2000" dirty="0" smtClean="0"/>
              <a:t>		# </a:t>
            </a:r>
            <a:r>
              <a:rPr lang="en-US" sz="2000" dirty="0"/>
              <a:t>Second number  </a:t>
            </a:r>
          </a:p>
          <a:p>
            <a:r>
              <a:rPr lang="en-US" sz="2000" dirty="0"/>
              <a:t>C: .space 4        </a:t>
            </a:r>
            <a:r>
              <a:rPr lang="en-US" sz="2000" dirty="0" smtClean="0"/>
              <a:t>		# </a:t>
            </a:r>
            <a:r>
              <a:rPr lang="en-US" sz="2000" dirty="0"/>
              <a:t>Memory for result  </a:t>
            </a:r>
          </a:p>
          <a:p>
            <a:endParaRPr lang="en-US" sz="2000" dirty="0"/>
          </a:p>
          <a:p>
            <a:r>
              <a:rPr lang="en-US" sz="2000" dirty="0"/>
              <a:t>.text  </a:t>
            </a:r>
          </a:p>
          <a:p>
            <a:r>
              <a:rPr lang="en-US" sz="2000" dirty="0"/>
              <a:t>main:  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lw</a:t>
            </a:r>
            <a:r>
              <a:rPr lang="en-US" sz="2000" dirty="0"/>
              <a:t> $t0, A       </a:t>
            </a:r>
            <a:r>
              <a:rPr lang="en-US" sz="2000" dirty="0" smtClean="0"/>
              <a:t>		# </a:t>
            </a:r>
            <a:r>
              <a:rPr lang="en-US" sz="2000" dirty="0"/>
              <a:t>Load A into $t0  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lw</a:t>
            </a:r>
            <a:r>
              <a:rPr lang="en-US" sz="2000" dirty="0"/>
              <a:t> $t1, B       </a:t>
            </a:r>
            <a:r>
              <a:rPr lang="en-US" sz="2000" dirty="0" smtClean="0"/>
              <a:t>		# </a:t>
            </a:r>
            <a:r>
              <a:rPr lang="en-US" sz="2000" dirty="0"/>
              <a:t>Load B into $t1  </a:t>
            </a:r>
          </a:p>
          <a:p>
            <a:r>
              <a:rPr lang="en-US" sz="2000" dirty="0"/>
              <a:t>    add $t2, $t0, $t1  </a:t>
            </a:r>
            <a:r>
              <a:rPr lang="en-US" sz="2000" dirty="0" smtClean="0"/>
              <a:t>	# </a:t>
            </a:r>
            <a:r>
              <a:rPr lang="en-US" sz="2000" dirty="0"/>
              <a:t>$t2 = $t0 + $t1  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sw</a:t>
            </a:r>
            <a:r>
              <a:rPr lang="en-US" sz="2000" dirty="0"/>
              <a:t> $t2, C       </a:t>
            </a:r>
            <a:r>
              <a:rPr lang="en-US" sz="2000" dirty="0" smtClean="0"/>
              <a:t>		# </a:t>
            </a:r>
            <a:r>
              <a:rPr lang="en-US" sz="2000" dirty="0"/>
              <a:t>Store result in C  </a:t>
            </a:r>
          </a:p>
          <a:p>
            <a:r>
              <a:rPr lang="en-US" sz="2000" dirty="0"/>
              <a:t>    li $v0, 10      </a:t>
            </a:r>
            <a:r>
              <a:rPr lang="en-US" sz="2000" dirty="0" smtClean="0"/>
              <a:t>		# </a:t>
            </a:r>
            <a:r>
              <a:rPr lang="en-US" sz="2000" dirty="0"/>
              <a:t>Exit </a:t>
            </a:r>
            <a:r>
              <a:rPr lang="en-US" sz="2000" dirty="0" err="1"/>
              <a:t>syscall</a:t>
            </a:r>
            <a:r>
              <a:rPr lang="en-US" sz="2000" dirty="0"/>
              <a:t>  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syscall</a:t>
            </a:r>
            <a:r>
              <a:rPr lang="en-US" sz="2000" dirty="0"/>
              <a:t>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99982" y="1325334"/>
            <a:ext cx="4743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Adding two numbers using MIPS assembly.</a:t>
            </a:r>
          </a:p>
        </p:txBody>
      </p:sp>
    </p:spTree>
    <p:extLst>
      <p:ext uri="{BB962C8B-B14F-4D97-AF65-F5344CB8AC3E}">
        <p14:creationId xmlns:p14="http://schemas.microsoft.com/office/powerpoint/2010/main" val="154094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3711</Words>
  <Application>Microsoft Office PowerPoint</Application>
  <PresentationFormat>Widescreen</PresentationFormat>
  <Paragraphs>525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Arial Unicode MS</vt:lpstr>
      <vt:lpstr>Bahnschrift</vt:lpstr>
      <vt:lpstr>Calibri</vt:lpstr>
      <vt:lpstr>Calibri Light</vt:lpstr>
      <vt:lpstr>Office Theme</vt:lpstr>
      <vt:lpstr>MIPS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Muhammad Sami Aqeel</cp:lastModifiedBy>
  <cp:revision>43</cp:revision>
  <dcterms:created xsi:type="dcterms:W3CDTF">2024-06-21T09:49:54Z</dcterms:created>
  <dcterms:modified xsi:type="dcterms:W3CDTF">2024-12-18T03:35:26Z</dcterms:modified>
</cp:coreProperties>
</file>