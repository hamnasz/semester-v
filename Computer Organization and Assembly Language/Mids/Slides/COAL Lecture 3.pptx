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78" r:id="rId3"/>
    <p:sldId id="257" r:id="rId4"/>
    <p:sldId id="258" r:id="rId5"/>
    <p:sldId id="276" r:id="rId6"/>
    <p:sldId id="277"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36"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41476A0-CF61-4EEC-90E6-10F2FACF9D36}"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BE66A-D0D8-4F45-9D38-C5E9E7383A1A}" type="slidenum">
              <a:rPr lang="en-US" smtClean="0"/>
              <a:t>‹#›</a:t>
            </a:fld>
            <a:endParaRPr lang="en-US"/>
          </a:p>
        </p:txBody>
      </p:sp>
    </p:spTree>
    <p:extLst>
      <p:ext uri="{BB962C8B-B14F-4D97-AF65-F5344CB8AC3E}">
        <p14:creationId xmlns:p14="http://schemas.microsoft.com/office/powerpoint/2010/main" val="1997034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1476A0-CF61-4EEC-90E6-10F2FACF9D36}"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BE66A-D0D8-4F45-9D38-C5E9E7383A1A}" type="slidenum">
              <a:rPr lang="en-US" smtClean="0"/>
              <a:t>‹#›</a:t>
            </a:fld>
            <a:endParaRPr lang="en-US"/>
          </a:p>
        </p:txBody>
      </p:sp>
    </p:spTree>
    <p:extLst>
      <p:ext uri="{BB962C8B-B14F-4D97-AF65-F5344CB8AC3E}">
        <p14:creationId xmlns:p14="http://schemas.microsoft.com/office/powerpoint/2010/main" val="502676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41476A0-CF61-4EEC-90E6-10F2FACF9D36}"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BE66A-D0D8-4F45-9D38-C5E9E7383A1A}" type="slidenum">
              <a:rPr lang="en-US" smtClean="0"/>
              <a:t>‹#›</a:t>
            </a:fld>
            <a:endParaRPr lang="en-US"/>
          </a:p>
        </p:txBody>
      </p:sp>
    </p:spTree>
    <p:extLst>
      <p:ext uri="{BB962C8B-B14F-4D97-AF65-F5344CB8AC3E}">
        <p14:creationId xmlns:p14="http://schemas.microsoft.com/office/powerpoint/2010/main" val="58151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41476A0-CF61-4EEC-90E6-10F2FACF9D36}"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BE66A-D0D8-4F45-9D38-C5E9E7383A1A}" type="slidenum">
              <a:rPr lang="en-US" smtClean="0"/>
              <a:t>‹#›</a:t>
            </a:fld>
            <a:endParaRPr lang="en-US"/>
          </a:p>
        </p:txBody>
      </p:sp>
    </p:spTree>
    <p:extLst>
      <p:ext uri="{BB962C8B-B14F-4D97-AF65-F5344CB8AC3E}">
        <p14:creationId xmlns:p14="http://schemas.microsoft.com/office/powerpoint/2010/main" val="1050594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1476A0-CF61-4EEC-90E6-10F2FACF9D36}" type="datetimeFigureOut">
              <a:rPr lang="en-US" smtClean="0"/>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3BE66A-D0D8-4F45-9D38-C5E9E7383A1A}" type="slidenum">
              <a:rPr lang="en-US" smtClean="0"/>
              <a:t>‹#›</a:t>
            </a:fld>
            <a:endParaRPr lang="en-US"/>
          </a:p>
        </p:txBody>
      </p:sp>
    </p:spTree>
    <p:extLst>
      <p:ext uri="{BB962C8B-B14F-4D97-AF65-F5344CB8AC3E}">
        <p14:creationId xmlns:p14="http://schemas.microsoft.com/office/powerpoint/2010/main" val="3879740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1476A0-CF61-4EEC-90E6-10F2FACF9D36}" type="datetimeFigureOut">
              <a:rPr lang="en-US" smtClean="0"/>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3BE66A-D0D8-4F45-9D38-C5E9E7383A1A}" type="slidenum">
              <a:rPr lang="en-US" smtClean="0"/>
              <a:t>‹#›</a:t>
            </a:fld>
            <a:endParaRPr lang="en-US"/>
          </a:p>
        </p:txBody>
      </p:sp>
    </p:spTree>
    <p:extLst>
      <p:ext uri="{BB962C8B-B14F-4D97-AF65-F5344CB8AC3E}">
        <p14:creationId xmlns:p14="http://schemas.microsoft.com/office/powerpoint/2010/main" val="276579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1476A0-CF61-4EEC-90E6-10F2FACF9D36}" type="datetimeFigureOut">
              <a:rPr lang="en-US" smtClean="0"/>
              <a:t>10/14/2025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3BE66A-D0D8-4F45-9D38-C5E9E7383A1A}" type="slidenum">
              <a:rPr lang="en-US" smtClean="0"/>
              <a:t>‹#›</a:t>
            </a:fld>
            <a:endParaRPr lang="en-US"/>
          </a:p>
        </p:txBody>
      </p:sp>
    </p:spTree>
    <p:extLst>
      <p:ext uri="{BB962C8B-B14F-4D97-AF65-F5344CB8AC3E}">
        <p14:creationId xmlns:p14="http://schemas.microsoft.com/office/powerpoint/2010/main" val="2117535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41476A0-CF61-4EEC-90E6-10F2FACF9D36}"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BE66A-D0D8-4F45-9D38-C5E9E7383A1A}" type="slidenum">
              <a:rPr lang="en-US" smtClean="0"/>
              <a:t>‹#›</a:t>
            </a:fld>
            <a:endParaRPr lang="en-US"/>
          </a:p>
        </p:txBody>
      </p:sp>
    </p:spTree>
    <p:extLst>
      <p:ext uri="{BB962C8B-B14F-4D97-AF65-F5344CB8AC3E}">
        <p14:creationId xmlns:p14="http://schemas.microsoft.com/office/powerpoint/2010/main" val="53664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41476A0-CF61-4EEC-90E6-10F2FACF9D36}"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BE66A-D0D8-4F45-9D38-C5E9E7383A1A}" type="slidenum">
              <a:rPr lang="en-US" smtClean="0"/>
              <a:t>‹#›</a:t>
            </a:fld>
            <a:endParaRPr lang="en-US"/>
          </a:p>
        </p:txBody>
      </p:sp>
    </p:spTree>
    <p:extLst>
      <p:ext uri="{BB962C8B-B14F-4D97-AF65-F5344CB8AC3E}">
        <p14:creationId xmlns:p14="http://schemas.microsoft.com/office/powerpoint/2010/main" val="733068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1476A0-CF61-4EEC-90E6-10F2FACF9D36}"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BE66A-D0D8-4F45-9D38-C5E9E7383A1A}" type="slidenum">
              <a:rPr lang="en-US" smtClean="0"/>
              <a:t>‹#›</a:t>
            </a:fld>
            <a:endParaRPr lang="en-US"/>
          </a:p>
        </p:txBody>
      </p:sp>
    </p:spTree>
    <p:extLst>
      <p:ext uri="{BB962C8B-B14F-4D97-AF65-F5344CB8AC3E}">
        <p14:creationId xmlns:p14="http://schemas.microsoft.com/office/powerpoint/2010/main" val="243234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1476A0-CF61-4EEC-90E6-10F2FACF9D36}"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BE66A-D0D8-4F45-9D38-C5E9E7383A1A}" type="slidenum">
              <a:rPr lang="en-US" smtClean="0"/>
              <a:t>‹#›</a:t>
            </a:fld>
            <a:endParaRPr lang="en-US"/>
          </a:p>
        </p:txBody>
      </p:sp>
    </p:spTree>
    <p:extLst>
      <p:ext uri="{BB962C8B-B14F-4D97-AF65-F5344CB8AC3E}">
        <p14:creationId xmlns:p14="http://schemas.microsoft.com/office/powerpoint/2010/main" val="2180181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330C7E-939E-4171-8F19-7186D045AE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3795B47A-E0A4-4621-A6A0-C2937206AD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C0E33F01-5BF9-4793-9C48-FFAF0F83F9B8}"/>
              </a:ext>
            </a:extLst>
          </p:cNvPr>
          <p:cNvSpPr>
            <a:spLocks noGrp="1"/>
          </p:cNvSpPr>
          <p:nvPr>
            <p:ph type="dt" sz="half" idx="10"/>
          </p:nvPr>
        </p:nvSpPr>
        <p:spPr/>
        <p:txBody>
          <a:bodyPr/>
          <a:lstStyle/>
          <a:p>
            <a:fld id="{CCA9CA7A-E785-4E59-8808-5818ABC1E688}" type="datetime1">
              <a:rPr lang="en-GB" smtClean="0"/>
              <a:pPr/>
              <a:t>14/10/2025</a:t>
            </a:fld>
            <a:endParaRPr lang="en-GB" dirty="0"/>
          </a:p>
        </p:txBody>
      </p:sp>
      <p:sp>
        <p:nvSpPr>
          <p:cNvPr id="5" name="Footer Placeholder 4">
            <a:extLst>
              <a:ext uri="{FF2B5EF4-FFF2-40B4-BE49-F238E27FC236}">
                <a16:creationId xmlns:a16="http://schemas.microsoft.com/office/drawing/2014/main" xmlns="" id="{4616A233-E551-4CCC-81C3-81F468446BE8}"/>
              </a:ext>
            </a:extLst>
          </p:cNvPr>
          <p:cNvSpPr>
            <a:spLocks noGrp="1"/>
          </p:cNvSpPr>
          <p:nvPr>
            <p:ph type="ftr" sz="quarter" idx="11"/>
          </p:nvPr>
        </p:nvSpPr>
        <p:spPr/>
        <p:txBody>
          <a:bodyPr/>
          <a:lstStyle/>
          <a:p>
            <a:r>
              <a:rPr lang="en-GB" dirty="0"/>
              <a:t>Microprocessor and Assembly Language</a:t>
            </a:r>
          </a:p>
        </p:txBody>
      </p:sp>
      <p:sp>
        <p:nvSpPr>
          <p:cNvPr id="6" name="Slide Number Placeholder 5">
            <a:extLst>
              <a:ext uri="{FF2B5EF4-FFF2-40B4-BE49-F238E27FC236}">
                <a16:creationId xmlns:a16="http://schemas.microsoft.com/office/drawing/2014/main" xmlns="" id="{7C226E6E-E377-455A-9220-6C1FD2863651}"/>
              </a:ext>
            </a:extLst>
          </p:cNvPr>
          <p:cNvSpPr>
            <a:spLocks noGrp="1"/>
          </p:cNvSpPr>
          <p:nvPr>
            <p:ph type="sldNum" sz="quarter" idx="12"/>
          </p:nvPr>
        </p:nvSpPr>
        <p:spPr/>
        <p:txBody>
          <a:body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7831775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DD40B8-EE95-476C-B183-398C0A0CD8C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21B9A9B5-3D88-4317-BF1B-6B6F0B204A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2753A7A1-09CE-4589-8B3F-933178B45D14}"/>
              </a:ext>
            </a:extLst>
          </p:cNvPr>
          <p:cNvSpPr>
            <a:spLocks noGrp="1"/>
          </p:cNvSpPr>
          <p:nvPr>
            <p:ph type="dt" sz="half" idx="10"/>
          </p:nvPr>
        </p:nvSpPr>
        <p:spPr/>
        <p:txBody>
          <a:bodyPr/>
          <a:lstStyle/>
          <a:p>
            <a:fld id="{9474A7AF-D125-4BD4-9739-B6348214D2CD}" type="datetime1">
              <a:rPr lang="en-GB" smtClean="0"/>
              <a:pPr/>
              <a:t>14/10/2025</a:t>
            </a:fld>
            <a:endParaRPr lang="en-GB" dirty="0"/>
          </a:p>
        </p:txBody>
      </p:sp>
      <p:sp>
        <p:nvSpPr>
          <p:cNvPr id="5" name="Footer Placeholder 4">
            <a:extLst>
              <a:ext uri="{FF2B5EF4-FFF2-40B4-BE49-F238E27FC236}">
                <a16:creationId xmlns:a16="http://schemas.microsoft.com/office/drawing/2014/main" xmlns="" id="{8D62CAD2-1985-4D41-814B-75339C23C6CB}"/>
              </a:ext>
            </a:extLst>
          </p:cNvPr>
          <p:cNvSpPr>
            <a:spLocks noGrp="1"/>
          </p:cNvSpPr>
          <p:nvPr>
            <p:ph type="ftr" sz="quarter" idx="11"/>
          </p:nvPr>
        </p:nvSpPr>
        <p:spPr/>
        <p:txBody>
          <a:bodyPr/>
          <a:lstStyle/>
          <a:p>
            <a:r>
              <a:rPr lang="en-GB" dirty="0"/>
              <a:t>Microprocessor and Assembly Language</a:t>
            </a:r>
          </a:p>
        </p:txBody>
      </p:sp>
      <p:sp>
        <p:nvSpPr>
          <p:cNvPr id="6" name="Slide Number Placeholder 5">
            <a:extLst>
              <a:ext uri="{FF2B5EF4-FFF2-40B4-BE49-F238E27FC236}">
                <a16:creationId xmlns:a16="http://schemas.microsoft.com/office/drawing/2014/main" xmlns="" id="{F7DA801A-21A4-476D-814D-CD6B379679AD}"/>
              </a:ext>
            </a:extLst>
          </p:cNvPr>
          <p:cNvSpPr>
            <a:spLocks noGrp="1"/>
          </p:cNvSpPr>
          <p:nvPr>
            <p:ph type="sldNum" sz="quarter" idx="12"/>
          </p:nvPr>
        </p:nvSpPr>
        <p:spPr/>
        <p:txBody>
          <a:body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5111933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17ABE0-8D38-4A3C-840A-7CE7E7BE84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C4C6B63B-10BF-4606-8154-07A4C57C67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1EB24E1-E88E-4EAB-8C92-D393C11C5D8D}"/>
              </a:ext>
            </a:extLst>
          </p:cNvPr>
          <p:cNvSpPr>
            <a:spLocks noGrp="1"/>
          </p:cNvSpPr>
          <p:nvPr>
            <p:ph type="dt" sz="half" idx="10"/>
          </p:nvPr>
        </p:nvSpPr>
        <p:spPr/>
        <p:txBody>
          <a:bodyPr/>
          <a:lstStyle/>
          <a:p>
            <a:fld id="{050EEB92-1C49-40A8-87D0-F913753B1C28}" type="datetime1">
              <a:rPr lang="en-GB" smtClean="0"/>
              <a:pPr/>
              <a:t>14/10/2025</a:t>
            </a:fld>
            <a:endParaRPr lang="en-GB" dirty="0"/>
          </a:p>
        </p:txBody>
      </p:sp>
      <p:sp>
        <p:nvSpPr>
          <p:cNvPr id="5" name="Footer Placeholder 4">
            <a:extLst>
              <a:ext uri="{FF2B5EF4-FFF2-40B4-BE49-F238E27FC236}">
                <a16:creationId xmlns:a16="http://schemas.microsoft.com/office/drawing/2014/main" xmlns="" id="{DE407C9C-5054-424D-908D-6BAA5113013D}"/>
              </a:ext>
            </a:extLst>
          </p:cNvPr>
          <p:cNvSpPr>
            <a:spLocks noGrp="1"/>
          </p:cNvSpPr>
          <p:nvPr>
            <p:ph type="ftr" sz="quarter" idx="11"/>
          </p:nvPr>
        </p:nvSpPr>
        <p:spPr/>
        <p:txBody>
          <a:bodyPr/>
          <a:lstStyle/>
          <a:p>
            <a:r>
              <a:rPr lang="en-GB" dirty="0"/>
              <a:t>Microprocessor and Assembly Language</a:t>
            </a:r>
          </a:p>
        </p:txBody>
      </p:sp>
      <p:sp>
        <p:nvSpPr>
          <p:cNvPr id="6" name="Slide Number Placeholder 5">
            <a:extLst>
              <a:ext uri="{FF2B5EF4-FFF2-40B4-BE49-F238E27FC236}">
                <a16:creationId xmlns:a16="http://schemas.microsoft.com/office/drawing/2014/main" xmlns="" id="{942C94AB-2276-4D51-99C6-00E1411445D6}"/>
              </a:ext>
            </a:extLst>
          </p:cNvPr>
          <p:cNvSpPr>
            <a:spLocks noGrp="1"/>
          </p:cNvSpPr>
          <p:nvPr>
            <p:ph type="sldNum" sz="quarter" idx="12"/>
          </p:nvPr>
        </p:nvSpPr>
        <p:spPr/>
        <p:txBody>
          <a:body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4100381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5FC237-EF9B-4509-897E-23F41920101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56690AD9-3C21-48F8-9FED-2ECD113CBB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A7846495-EA70-4D5E-B64C-59BE59614C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89750AA7-4931-4A1E-8502-0440FDF64F6A}"/>
              </a:ext>
            </a:extLst>
          </p:cNvPr>
          <p:cNvSpPr>
            <a:spLocks noGrp="1"/>
          </p:cNvSpPr>
          <p:nvPr>
            <p:ph type="dt" sz="half" idx="10"/>
          </p:nvPr>
        </p:nvSpPr>
        <p:spPr/>
        <p:txBody>
          <a:bodyPr/>
          <a:lstStyle/>
          <a:p>
            <a:fld id="{ADFFB43E-7CEE-4A02-A71E-E0CEC82F38D9}" type="datetime1">
              <a:rPr lang="en-GB" smtClean="0"/>
              <a:pPr/>
              <a:t>14/10/2025</a:t>
            </a:fld>
            <a:endParaRPr lang="en-GB" dirty="0"/>
          </a:p>
        </p:txBody>
      </p:sp>
      <p:sp>
        <p:nvSpPr>
          <p:cNvPr id="6" name="Footer Placeholder 5">
            <a:extLst>
              <a:ext uri="{FF2B5EF4-FFF2-40B4-BE49-F238E27FC236}">
                <a16:creationId xmlns:a16="http://schemas.microsoft.com/office/drawing/2014/main" xmlns="" id="{F5EBDF16-5646-482C-8974-0BCD688BE802}"/>
              </a:ext>
            </a:extLst>
          </p:cNvPr>
          <p:cNvSpPr>
            <a:spLocks noGrp="1"/>
          </p:cNvSpPr>
          <p:nvPr>
            <p:ph type="ftr" sz="quarter" idx="11"/>
          </p:nvPr>
        </p:nvSpPr>
        <p:spPr/>
        <p:txBody>
          <a:bodyPr/>
          <a:lstStyle/>
          <a:p>
            <a:r>
              <a:rPr lang="en-GB" dirty="0"/>
              <a:t>Microprocessor and Assembly Language</a:t>
            </a:r>
          </a:p>
        </p:txBody>
      </p:sp>
      <p:sp>
        <p:nvSpPr>
          <p:cNvPr id="7" name="Slide Number Placeholder 6">
            <a:extLst>
              <a:ext uri="{FF2B5EF4-FFF2-40B4-BE49-F238E27FC236}">
                <a16:creationId xmlns:a16="http://schemas.microsoft.com/office/drawing/2014/main" xmlns="" id="{D680EC53-48DE-4384-B3FB-9B3705B9DF16}"/>
              </a:ext>
            </a:extLst>
          </p:cNvPr>
          <p:cNvSpPr>
            <a:spLocks noGrp="1"/>
          </p:cNvSpPr>
          <p:nvPr>
            <p:ph type="sldNum" sz="quarter" idx="12"/>
          </p:nvPr>
        </p:nvSpPr>
        <p:spPr/>
        <p:txBody>
          <a:body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8549070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7B53FF-89F1-45D9-B0A7-D2F5BA6171F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704D6905-867B-412B-BDEA-8D84053681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BBF9FDA0-1473-452B-906E-2940914A72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5DB6CE12-3D27-4018-8806-9AAA42BE08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C30A4887-129B-4C8D-8684-300BB5BDBC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9BC3DF01-1724-459B-BE81-B47BA40D4B5F}"/>
              </a:ext>
            </a:extLst>
          </p:cNvPr>
          <p:cNvSpPr>
            <a:spLocks noGrp="1"/>
          </p:cNvSpPr>
          <p:nvPr>
            <p:ph type="dt" sz="half" idx="10"/>
          </p:nvPr>
        </p:nvSpPr>
        <p:spPr/>
        <p:txBody>
          <a:bodyPr/>
          <a:lstStyle/>
          <a:p>
            <a:fld id="{2BC013CF-773C-4F1F-9116-8E7011E25F60}" type="datetime1">
              <a:rPr lang="en-GB" smtClean="0"/>
              <a:pPr/>
              <a:t>14/10/2025</a:t>
            </a:fld>
            <a:endParaRPr lang="en-GB" dirty="0"/>
          </a:p>
        </p:txBody>
      </p:sp>
      <p:sp>
        <p:nvSpPr>
          <p:cNvPr id="8" name="Footer Placeholder 7">
            <a:extLst>
              <a:ext uri="{FF2B5EF4-FFF2-40B4-BE49-F238E27FC236}">
                <a16:creationId xmlns:a16="http://schemas.microsoft.com/office/drawing/2014/main" xmlns="" id="{88CFDA15-B252-4E4A-B73E-B45F5ACB4B96}"/>
              </a:ext>
            </a:extLst>
          </p:cNvPr>
          <p:cNvSpPr>
            <a:spLocks noGrp="1"/>
          </p:cNvSpPr>
          <p:nvPr>
            <p:ph type="ftr" sz="quarter" idx="11"/>
          </p:nvPr>
        </p:nvSpPr>
        <p:spPr/>
        <p:txBody>
          <a:bodyPr/>
          <a:lstStyle/>
          <a:p>
            <a:r>
              <a:rPr lang="en-GB" dirty="0"/>
              <a:t>Microprocessor and Assembly Language</a:t>
            </a:r>
          </a:p>
        </p:txBody>
      </p:sp>
      <p:sp>
        <p:nvSpPr>
          <p:cNvPr id="9" name="Slide Number Placeholder 8">
            <a:extLst>
              <a:ext uri="{FF2B5EF4-FFF2-40B4-BE49-F238E27FC236}">
                <a16:creationId xmlns:a16="http://schemas.microsoft.com/office/drawing/2014/main" xmlns="" id="{C005B360-5BBB-4F13-96F7-DE7544E773E7}"/>
              </a:ext>
            </a:extLst>
          </p:cNvPr>
          <p:cNvSpPr>
            <a:spLocks noGrp="1"/>
          </p:cNvSpPr>
          <p:nvPr>
            <p:ph type="sldNum" sz="quarter" idx="12"/>
          </p:nvPr>
        </p:nvSpPr>
        <p:spPr/>
        <p:txBody>
          <a:body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40197786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553E71-BF1D-439C-AE9A-CE9FFCDD5BE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0B49F185-F79A-4BCD-A951-FA092A174E00}"/>
              </a:ext>
            </a:extLst>
          </p:cNvPr>
          <p:cNvSpPr>
            <a:spLocks noGrp="1"/>
          </p:cNvSpPr>
          <p:nvPr>
            <p:ph type="dt" sz="half" idx="10"/>
          </p:nvPr>
        </p:nvSpPr>
        <p:spPr/>
        <p:txBody>
          <a:bodyPr/>
          <a:lstStyle/>
          <a:p>
            <a:fld id="{138FEBDA-13DF-401B-ACA6-4B085FEA4E16}" type="datetime1">
              <a:rPr lang="en-GB" smtClean="0"/>
              <a:pPr/>
              <a:t>14/10/2025</a:t>
            </a:fld>
            <a:endParaRPr lang="en-GB" dirty="0"/>
          </a:p>
        </p:txBody>
      </p:sp>
      <p:sp>
        <p:nvSpPr>
          <p:cNvPr id="4" name="Footer Placeholder 3">
            <a:extLst>
              <a:ext uri="{FF2B5EF4-FFF2-40B4-BE49-F238E27FC236}">
                <a16:creationId xmlns:a16="http://schemas.microsoft.com/office/drawing/2014/main" xmlns="" id="{3DD13546-C522-41F7-9D4E-BDA4689B0957}"/>
              </a:ext>
            </a:extLst>
          </p:cNvPr>
          <p:cNvSpPr>
            <a:spLocks noGrp="1"/>
          </p:cNvSpPr>
          <p:nvPr>
            <p:ph type="ftr" sz="quarter" idx="11"/>
          </p:nvPr>
        </p:nvSpPr>
        <p:spPr/>
        <p:txBody>
          <a:bodyPr/>
          <a:lstStyle/>
          <a:p>
            <a:r>
              <a:rPr lang="en-GB" dirty="0"/>
              <a:t>Microprocessor and Assembly Language</a:t>
            </a:r>
          </a:p>
        </p:txBody>
      </p:sp>
      <p:sp>
        <p:nvSpPr>
          <p:cNvPr id="5" name="Slide Number Placeholder 4">
            <a:extLst>
              <a:ext uri="{FF2B5EF4-FFF2-40B4-BE49-F238E27FC236}">
                <a16:creationId xmlns:a16="http://schemas.microsoft.com/office/drawing/2014/main" xmlns="" id="{56C0A247-0611-4465-ABFA-C31841C03257}"/>
              </a:ext>
            </a:extLst>
          </p:cNvPr>
          <p:cNvSpPr>
            <a:spLocks noGrp="1"/>
          </p:cNvSpPr>
          <p:nvPr>
            <p:ph type="sldNum" sz="quarter" idx="12"/>
          </p:nvPr>
        </p:nvSpPr>
        <p:spPr/>
        <p:txBody>
          <a:body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4338889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8AAFE31-DCAE-4D0A-AF5F-C9974C295B89}"/>
              </a:ext>
            </a:extLst>
          </p:cNvPr>
          <p:cNvSpPr>
            <a:spLocks noGrp="1"/>
          </p:cNvSpPr>
          <p:nvPr>
            <p:ph type="dt" sz="half" idx="10"/>
          </p:nvPr>
        </p:nvSpPr>
        <p:spPr/>
        <p:txBody>
          <a:bodyPr/>
          <a:lstStyle/>
          <a:p>
            <a:fld id="{4BF8DB35-712D-4C24-B46C-5C5BF9649AB5}" type="datetime1">
              <a:rPr lang="en-GB" smtClean="0"/>
              <a:pPr/>
              <a:t>14/10/2025</a:t>
            </a:fld>
            <a:endParaRPr lang="en-GB" dirty="0"/>
          </a:p>
        </p:txBody>
      </p:sp>
      <p:sp>
        <p:nvSpPr>
          <p:cNvPr id="3" name="Footer Placeholder 2">
            <a:extLst>
              <a:ext uri="{FF2B5EF4-FFF2-40B4-BE49-F238E27FC236}">
                <a16:creationId xmlns:a16="http://schemas.microsoft.com/office/drawing/2014/main" xmlns="" id="{E179FAD5-3C00-4565-A720-95B2D7186697}"/>
              </a:ext>
            </a:extLst>
          </p:cNvPr>
          <p:cNvSpPr>
            <a:spLocks noGrp="1"/>
          </p:cNvSpPr>
          <p:nvPr>
            <p:ph type="ftr" sz="quarter" idx="11"/>
          </p:nvPr>
        </p:nvSpPr>
        <p:spPr/>
        <p:txBody>
          <a:bodyPr/>
          <a:lstStyle/>
          <a:p>
            <a:r>
              <a:rPr lang="en-GB" dirty="0"/>
              <a:t>Microprocessor and Assembly Language</a:t>
            </a:r>
          </a:p>
        </p:txBody>
      </p:sp>
      <p:sp>
        <p:nvSpPr>
          <p:cNvPr id="4" name="Slide Number Placeholder 3">
            <a:extLst>
              <a:ext uri="{FF2B5EF4-FFF2-40B4-BE49-F238E27FC236}">
                <a16:creationId xmlns:a16="http://schemas.microsoft.com/office/drawing/2014/main" xmlns="" id="{33FEE9FF-BB87-41D7-909E-F6D66F2464F3}"/>
              </a:ext>
            </a:extLst>
          </p:cNvPr>
          <p:cNvSpPr>
            <a:spLocks noGrp="1"/>
          </p:cNvSpPr>
          <p:nvPr>
            <p:ph type="sldNum" sz="quarter" idx="12"/>
          </p:nvPr>
        </p:nvSpPr>
        <p:spPr/>
        <p:txBody>
          <a:body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673754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690D3F-D2E7-47BC-AA2E-62B35DFE8B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233138E7-A407-4C08-B412-9E9E62D396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C4CDA6C5-30B6-4DEE-B822-F987AD290F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C519306-B8E0-476B-992B-912A67BB366F}"/>
              </a:ext>
            </a:extLst>
          </p:cNvPr>
          <p:cNvSpPr>
            <a:spLocks noGrp="1"/>
          </p:cNvSpPr>
          <p:nvPr>
            <p:ph type="dt" sz="half" idx="10"/>
          </p:nvPr>
        </p:nvSpPr>
        <p:spPr/>
        <p:txBody>
          <a:bodyPr/>
          <a:lstStyle/>
          <a:p>
            <a:fld id="{7B96C315-A6E7-45D6-9D5E-92AA80F3D81D}" type="datetime1">
              <a:rPr lang="en-GB" smtClean="0"/>
              <a:pPr/>
              <a:t>14/10/2025</a:t>
            </a:fld>
            <a:endParaRPr lang="en-GB" dirty="0"/>
          </a:p>
        </p:txBody>
      </p:sp>
      <p:sp>
        <p:nvSpPr>
          <p:cNvPr id="6" name="Footer Placeholder 5">
            <a:extLst>
              <a:ext uri="{FF2B5EF4-FFF2-40B4-BE49-F238E27FC236}">
                <a16:creationId xmlns:a16="http://schemas.microsoft.com/office/drawing/2014/main" xmlns="" id="{28A6CC8F-4254-4E63-8106-B4CA4716F729}"/>
              </a:ext>
            </a:extLst>
          </p:cNvPr>
          <p:cNvSpPr>
            <a:spLocks noGrp="1"/>
          </p:cNvSpPr>
          <p:nvPr>
            <p:ph type="ftr" sz="quarter" idx="11"/>
          </p:nvPr>
        </p:nvSpPr>
        <p:spPr/>
        <p:txBody>
          <a:bodyPr/>
          <a:lstStyle/>
          <a:p>
            <a:r>
              <a:rPr lang="en-GB" dirty="0"/>
              <a:t>Microprocessor and Assembly Language</a:t>
            </a:r>
          </a:p>
        </p:txBody>
      </p:sp>
      <p:sp>
        <p:nvSpPr>
          <p:cNvPr id="7" name="Slide Number Placeholder 6">
            <a:extLst>
              <a:ext uri="{FF2B5EF4-FFF2-40B4-BE49-F238E27FC236}">
                <a16:creationId xmlns:a16="http://schemas.microsoft.com/office/drawing/2014/main" xmlns="" id="{2263688C-744B-4572-BB2C-A08E2029C952}"/>
              </a:ext>
            </a:extLst>
          </p:cNvPr>
          <p:cNvSpPr>
            <a:spLocks noGrp="1"/>
          </p:cNvSpPr>
          <p:nvPr>
            <p:ph type="sldNum" sz="quarter" idx="12"/>
          </p:nvPr>
        </p:nvSpPr>
        <p:spPr/>
        <p:txBody>
          <a:body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5972223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FC55CC-C303-48F1-95F1-920BA473CC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42CB32BC-4769-49AC-BA0A-CC83E4AC6D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xmlns="" id="{61F469D0-6112-401F-B4FC-B5A38D4E1D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FFCF680-2517-4182-964B-23C451BDEF91}"/>
              </a:ext>
            </a:extLst>
          </p:cNvPr>
          <p:cNvSpPr>
            <a:spLocks noGrp="1"/>
          </p:cNvSpPr>
          <p:nvPr>
            <p:ph type="dt" sz="half" idx="10"/>
          </p:nvPr>
        </p:nvSpPr>
        <p:spPr/>
        <p:txBody>
          <a:bodyPr/>
          <a:lstStyle/>
          <a:p>
            <a:fld id="{064A708B-0907-40CD-A41C-68696348882F}" type="datetime1">
              <a:rPr lang="en-GB" smtClean="0"/>
              <a:pPr/>
              <a:t>14/10/2025</a:t>
            </a:fld>
            <a:endParaRPr lang="en-GB" dirty="0"/>
          </a:p>
        </p:txBody>
      </p:sp>
      <p:sp>
        <p:nvSpPr>
          <p:cNvPr id="6" name="Footer Placeholder 5">
            <a:extLst>
              <a:ext uri="{FF2B5EF4-FFF2-40B4-BE49-F238E27FC236}">
                <a16:creationId xmlns:a16="http://schemas.microsoft.com/office/drawing/2014/main" xmlns="" id="{13AF724F-38D0-42DE-888B-B0B4EB7B1601}"/>
              </a:ext>
            </a:extLst>
          </p:cNvPr>
          <p:cNvSpPr>
            <a:spLocks noGrp="1"/>
          </p:cNvSpPr>
          <p:nvPr>
            <p:ph type="ftr" sz="quarter" idx="11"/>
          </p:nvPr>
        </p:nvSpPr>
        <p:spPr/>
        <p:txBody>
          <a:bodyPr/>
          <a:lstStyle/>
          <a:p>
            <a:r>
              <a:rPr lang="en-GB" dirty="0"/>
              <a:t>Microprocessor and Assembly Language</a:t>
            </a:r>
          </a:p>
        </p:txBody>
      </p:sp>
      <p:sp>
        <p:nvSpPr>
          <p:cNvPr id="7" name="Slide Number Placeholder 6">
            <a:extLst>
              <a:ext uri="{FF2B5EF4-FFF2-40B4-BE49-F238E27FC236}">
                <a16:creationId xmlns:a16="http://schemas.microsoft.com/office/drawing/2014/main" xmlns="" id="{A60E65E4-AE5F-4E2E-85D0-188435F2FB9F}"/>
              </a:ext>
            </a:extLst>
          </p:cNvPr>
          <p:cNvSpPr>
            <a:spLocks noGrp="1"/>
          </p:cNvSpPr>
          <p:nvPr>
            <p:ph type="sldNum" sz="quarter" idx="12"/>
          </p:nvPr>
        </p:nvSpPr>
        <p:spPr/>
        <p:txBody>
          <a:body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21223306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EB3801-BA04-438E-AE41-490F4FE343B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C19A3CE2-9828-40C8-B0B5-E3F4769965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191BC348-72DA-4906-89B7-86D976D1D5F5}"/>
              </a:ext>
            </a:extLst>
          </p:cNvPr>
          <p:cNvSpPr>
            <a:spLocks noGrp="1"/>
          </p:cNvSpPr>
          <p:nvPr>
            <p:ph type="dt" sz="half" idx="10"/>
          </p:nvPr>
        </p:nvSpPr>
        <p:spPr/>
        <p:txBody>
          <a:bodyPr/>
          <a:lstStyle/>
          <a:p>
            <a:fld id="{5DEFB16B-CECA-4233-BD5B-DA095483E510}" type="datetime1">
              <a:rPr lang="en-GB" smtClean="0"/>
              <a:pPr/>
              <a:t>14/10/2025</a:t>
            </a:fld>
            <a:endParaRPr lang="en-GB" dirty="0"/>
          </a:p>
        </p:txBody>
      </p:sp>
      <p:sp>
        <p:nvSpPr>
          <p:cNvPr id="5" name="Footer Placeholder 4">
            <a:extLst>
              <a:ext uri="{FF2B5EF4-FFF2-40B4-BE49-F238E27FC236}">
                <a16:creationId xmlns:a16="http://schemas.microsoft.com/office/drawing/2014/main" xmlns="" id="{693B6537-9D49-460C-BDC1-6D33B4056FCE}"/>
              </a:ext>
            </a:extLst>
          </p:cNvPr>
          <p:cNvSpPr>
            <a:spLocks noGrp="1"/>
          </p:cNvSpPr>
          <p:nvPr>
            <p:ph type="ftr" sz="quarter" idx="11"/>
          </p:nvPr>
        </p:nvSpPr>
        <p:spPr/>
        <p:txBody>
          <a:bodyPr/>
          <a:lstStyle/>
          <a:p>
            <a:r>
              <a:rPr lang="en-GB" dirty="0"/>
              <a:t>Microprocessor and Assembly Language</a:t>
            </a:r>
          </a:p>
        </p:txBody>
      </p:sp>
      <p:sp>
        <p:nvSpPr>
          <p:cNvPr id="6" name="Slide Number Placeholder 5">
            <a:extLst>
              <a:ext uri="{FF2B5EF4-FFF2-40B4-BE49-F238E27FC236}">
                <a16:creationId xmlns:a16="http://schemas.microsoft.com/office/drawing/2014/main" xmlns="" id="{7248F75F-1BB7-4944-818D-C851F9089406}"/>
              </a:ext>
            </a:extLst>
          </p:cNvPr>
          <p:cNvSpPr>
            <a:spLocks noGrp="1"/>
          </p:cNvSpPr>
          <p:nvPr>
            <p:ph type="sldNum" sz="quarter" idx="12"/>
          </p:nvPr>
        </p:nvSpPr>
        <p:spPr/>
        <p:txBody>
          <a:body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37265557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25FE17D-B499-42B6-971D-067708FD20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70429522-98BB-430A-BF2D-605E52665D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0CC4DCCB-CD52-4E43-950F-60846C385703}"/>
              </a:ext>
            </a:extLst>
          </p:cNvPr>
          <p:cNvSpPr>
            <a:spLocks noGrp="1"/>
          </p:cNvSpPr>
          <p:nvPr>
            <p:ph type="dt" sz="half" idx="10"/>
          </p:nvPr>
        </p:nvSpPr>
        <p:spPr/>
        <p:txBody>
          <a:bodyPr/>
          <a:lstStyle/>
          <a:p>
            <a:fld id="{CCF56097-0010-4438-9BB2-427CEA5887BF}" type="datetime1">
              <a:rPr lang="en-GB" smtClean="0"/>
              <a:pPr/>
              <a:t>14/10/2025</a:t>
            </a:fld>
            <a:endParaRPr lang="en-GB" dirty="0"/>
          </a:p>
        </p:txBody>
      </p:sp>
      <p:sp>
        <p:nvSpPr>
          <p:cNvPr id="5" name="Footer Placeholder 4">
            <a:extLst>
              <a:ext uri="{FF2B5EF4-FFF2-40B4-BE49-F238E27FC236}">
                <a16:creationId xmlns:a16="http://schemas.microsoft.com/office/drawing/2014/main" xmlns="" id="{CD43CD60-F8B0-498B-9567-EE812C1D7AAD}"/>
              </a:ext>
            </a:extLst>
          </p:cNvPr>
          <p:cNvSpPr>
            <a:spLocks noGrp="1"/>
          </p:cNvSpPr>
          <p:nvPr>
            <p:ph type="ftr" sz="quarter" idx="11"/>
          </p:nvPr>
        </p:nvSpPr>
        <p:spPr/>
        <p:txBody>
          <a:bodyPr/>
          <a:lstStyle/>
          <a:p>
            <a:r>
              <a:rPr lang="en-GB" dirty="0"/>
              <a:t>Microprocessor and Assembly Language</a:t>
            </a:r>
          </a:p>
        </p:txBody>
      </p:sp>
      <p:sp>
        <p:nvSpPr>
          <p:cNvPr id="6" name="Slide Number Placeholder 5">
            <a:extLst>
              <a:ext uri="{FF2B5EF4-FFF2-40B4-BE49-F238E27FC236}">
                <a16:creationId xmlns:a16="http://schemas.microsoft.com/office/drawing/2014/main" xmlns="" id="{4EE79519-B3B9-42F6-A4F5-957B4A375577}"/>
              </a:ext>
            </a:extLst>
          </p:cNvPr>
          <p:cNvSpPr>
            <a:spLocks noGrp="1"/>
          </p:cNvSpPr>
          <p:nvPr>
            <p:ph type="sldNum" sz="quarter" idx="12"/>
          </p:nvPr>
        </p:nvSpPr>
        <p:spPr/>
        <p:txBody>
          <a:body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895331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1476A0-CF61-4EEC-90E6-10F2FACF9D36}" type="datetimeFigureOut">
              <a:rPr lang="en-US" smtClean="0"/>
              <a:t>10/14/2025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BE66A-D0D8-4F45-9D38-C5E9E7383A1A}" type="slidenum">
              <a:rPr lang="en-US" smtClean="0"/>
              <a:t>‹#›</a:t>
            </a:fld>
            <a:endParaRPr lang="en-US"/>
          </a:p>
        </p:txBody>
      </p:sp>
      <p:grpSp>
        <p:nvGrpSpPr>
          <p:cNvPr id="7" name="Group 6">
            <a:extLst>
              <a:ext uri="{FF2B5EF4-FFF2-40B4-BE49-F238E27FC236}">
                <a16:creationId xmlns:a16="http://schemas.microsoft.com/office/drawing/2014/main" xmlns=""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xmlns=""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9" name="Picture 8">
              <a:extLst>
                <a:ext uri="{FF2B5EF4-FFF2-40B4-BE49-F238E27FC236}">
                  <a16:creationId xmlns:a16="http://schemas.microsoft.com/office/drawing/2014/main" xmlns="" id="{D279BBF0-3F01-4944-AF8F-73A34B5B9CEF}"/>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xmlns=""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a16="http://schemas.microsoft.com/office/drawing/2014/main" xmlns="" id="{75FFEA7F-8809-458D-BE80-99F7CFB965CA}"/>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xmlns=""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a16="http://schemas.microsoft.com/office/drawing/2014/main" xmlns="" id="{ACED766F-A0E3-4D45-8A6E-86CCFAFA5D96}"/>
                </a:ext>
              </a:extLst>
            </p:cNvPr>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xmlns="" id="{F83660F3-45D1-4CA0-BE2A-E7E6C1B794A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724877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F9C397F-C38A-4878-AD62-4F57638CAF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04F70C8D-8B68-4210-BC6A-609B7E119A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0411008F-CBD1-42BF-8B1D-5F9B2E6AE1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AAD99C-6369-4BD0-9923-BBFDB352CE4C}" type="datetime1">
              <a:rPr lang="en-GB" smtClean="0"/>
              <a:pPr/>
              <a:t>14/10/2025</a:t>
            </a:fld>
            <a:endParaRPr lang="en-GB" dirty="0"/>
          </a:p>
        </p:txBody>
      </p:sp>
      <p:sp>
        <p:nvSpPr>
          <p:cNvPr id="5" name="Footer Placeholder 4">
            <a:extLst>
              <a:ext uri="{FF2B5EF4-FFF2-40B4-BE49-F238E27FC236}">
                <a16:creationId xmlns:a16="http://schemas.microsoft.com/office/drawing/2014/main" xmlns="" id="{167879CF-ABCD-4913-B378-578AB53BF0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dirty="0"/>
              <a:t>Microprocessor and Assembly Language</a:t>
            </a:r>
          </a:p>
        </p:txBody>
      </p:sp>
      <p:sp>
        <p:nvSpPr>
          <p:cNvPr id="6" name="Slide Number Placeholder 5">
            <a:extLst>
              <a:ext uri="{FF2B5EF4-FFF2-40B4-BE49-F238E27FC236}">
                <a16:creationId xmlns:a16="http://schemas.microsoft.com/office/drawing/2014/main" xmlns="" id="{762C270C-294C-4806-87EC-7577F81C42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CC252E-DA0E-4237-ADDA-C893F63FB2C2}" type="slidenum">
              <a:rPr lang="en-GB" smtClean="0"/>
              <a:pPr/>
              <a:t>‹#›</a:t>
            </a:fld>
            <a:endParaRPr lang="en-GB" dirty="0"/>
          </a:p>
        </p:txBody>
      </p:sp>
    </p:spTree>
    <p:extLst>
      <p:ext uri="{BB962C8B-B14F-4D97-AF65-F5344CB8AC3E}">
        <p14:creationId xmlns:p14="http://schemas.microsoft.com/office/powerpoint/2010/main" val="3856300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xmlns="" id="{5946CD5F-621C-4899-B8C5-417BE3F1ECD0}"/>
              </a:ext>
            </a:extLst>
          </p:cNvPr>
          <p:cNvSpPr>
            <a:spLocks noGrp="1"/>
          </p:cNvSpPr>
          <p:nvPr>
            <p:ph type="ctrTitle"/>
          </p:nvPr>
        </p:nvSpPr>
        <p:spPr>
          <a:xfrm>
            <a:off x="970519" y="1229265"/>
            <a:ext cx="10250962" cy="1153160"/>
          </a:xfrm>
        </p:spPr>
        <p:txBody>
          <a:bodyPr>
            <a:normAutofit fontScale="90000"/>
          </a:bodyPr>
          <a:lstStyle/>
          <a:p>
            <a:r>
              <a:rPr lang="en-US" b="1" dirty="0">
                <a:solidFill>
                  <a:schemeClr val="bg1"/>
                </a:solidFill>
                <a:latin typeface="Bahnschrift" panose="020B0502040204020203" pitchFamily="34" charset="0"/>
              </a:rPr>
              <a:t>Computer Organization and Assembly Language</a:t>
            </a:r>
            <a:endParaRPr lang="en-GB" dirty="0"/>
          </a:p>
        </p:txBody>
      </p:sp>
      <p:sp>
        <p:nvSpPr>
          <p:cNvPr id="3" name="Subtitle 2">
            <a:extLst>
              <a:ext uri="{FF2B5EF4-FFF2-40B4-BE49-F238E27FC236}">
                <a16:creationId xmlns:a16="http://schemas.microsoft.com/office/drawing/2014/main" xmlns="" id="{EC406DBB-5AF5-48F8-9377-D0A0ACE9B10B}"/>
              </a:ext>
            </a:extLst>
          </p:cNvPr>
          <p:cNvSpPr>
            <a:spLocks noGrp="1"/>
          </p:cNvSpPr>
          <p:nvPr>
            <p:ph type="subTitle" idx="1"/>
          </p:nvPr>
        </p:nvSpPr>
        <p:spPr>
          <a:xfrm>
            <a:off x="1854977" y="2510118"/>
            <a:ext cx="8955024" cy="3181229"/>
          </a:xfrm>
        </p:spPr>
        <p:txBody>
          <a:bodyPr>
            <a:noAutofit/>
          </a:bodyPr>
          <a:lstStyle/>
          <a:p>
            <a:r>
              <a:rPr lang="en-GB" sz="2800" b="1" dirty="0">
                <a:solidFill>
                  <a:schemeClr val="bg1"/>
                </a:solidFill>
                <a:latin typeface="Garamond" panose="02020404030301010803" pitchFamily="18" charset="0"/>
              </a:rPr>
              <a:t>(CS – 318)</a:t>
            </a:r>
          </a:p>
          <a:p>
            <a:r>
              <a:rPr lang="en-GB" sz="2800" b="1" dirty="0">
                <a:solidFill>
                  <a:schemeClr val="bg1"/>
                </a:solidFill>
                <a:latin typeface="Garamond" panose="02020404030301010803" pitchFamily="18" charset="0"/>
              </a:rPr>
              <a:t>3(2-1)</a:t>
            </a:r>
          </a:p>
          <a:p>
            <a:pPr algn="r"/>
            <a:endParaRPr lang="en-GB" sz="2800" b="1" dirty="0">
              <a:solidFill>
                <a:schemeClr val="bg1"/>
              </a:solidFill>
              <a:latin typeface="Garamond" panose="02020404030301010803" pitchFamily="18" charset="0"/>
            </a:endParaRPr>
          </a:p>
          <a:p>
            <a:pPr algn="r"/>
            <a:r>
              <a:rPr lang="en-GB" sz="2800" b="1" smtClean="0">
                <a:solidFill>
                  <a:schemeClr val="bg1"/>
                </a:solidFill>
                <a:latin typeface="Garamond" panose="02020404030301010803" pitchFamily="18" charset="0"/>
              </a:rPr>
              <a:t>Fatima Naveed</a:t>
            </a:r>
          </a:p>
          <a:p>
            <a:pPr algn="r"/>
            <a:r>
              <a:rPr lang="en-GB" sz="2800" b="1" smtClean="0">
                <a:solidFill>
                  <a:schemeClr val="bg1"/>
                </a:solidFill>
                <a:latin typeface="Garamond" panose="02020404030301010803" pitchFamily="18" charset="0"/>
              </a:rPr>
              <a:t>Lecturer</a:t>
            </a:r>
            <a:endParaRPr lang="en-GB" sz="2800" b="1" dirty="0">
              <a:solidFill>
                <a:schemeClr val="bg1"/>
              </a:solidFill>
              <a:latin typeface="Garamond" panose="02020404030301010803" pitchFamily="18" charset="0"/>
            </a:endParaRPr>
          </a:p>
          <a:p>
            <a:pPr algn="r"/>
            <a:r>
              <a:rPr lang="en-GB" sz="2800" b="1" dirty="0">
                <a:solidFill>
                  <a:schemeClr val="bg1"/>
                </a:solidFill>
                <a:latin typeface="Garamond" panose="02020404030301010803" pitchFamily="18" charset="0"/>
              </a:rPr>
              <a:t>The University of Faisalabad</a:t>
            </a:r>
          </a:p>
        </p:txBody>
      </p:sp>
      <p:pic>
        <p:nvPicPr>
          <p:cNvPr id="10" name="Graphic 9">
            <a:extLst>
              <a:ext uri="{FF2B5EF4-FFF2-40B4-BE49-F238E27FC236}">
                <a16:creationId xmlns:a16="http://schemas.microsoft.com/office/drawing/2014/main" xmlns="" id="{1C869FE1-C1C4-48A8-AA9E-99CAE025BEAF}"/>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3963026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solidFill>
                  <a:schemeClr val="bg1"/>
                </a:solidFill>
              </a:rPr>
              <a:t>What is Cache Memory?</a:t>
            </a:r>
          </a:p>
        </p:txBody>
      </p:sp>
      <p:sp>
        <p:nvSpPr>
          <p:cNvPr id="3" name="Content Placeholder 2"/>
          <p:cNvSpPr>
            <a:spLocks noGrp="1"/>
          </p:cNvSpPr>
          <p:nvPr>
            <p:ph idx="1"/>
          </p:nvPr>
        </p:nvSpPr>
        <p:spPr/>
        <p:txBody>
          <a:bodyPr/>
          <a:lstStyle/>
          <a:p>
            <a:pPr algn="just"/>
            <a:r>
              <a:rPr lang="en-US" dirty="0"/>
              <a:t>Cache memory refers to high-speed memory. It is small but faster than RAM (the main memory). The CPU can access the cache comparatively more quickly than its primary memory. Thus, we use it to synchronize with a high-speed CPU and also to improve its overall performance.</a:t>
            </a:r>
          </a:p>
        </p:txBody>
      </p:sp>
      <p:pic>
        <p:nvPicPr>
          <p:cNvPr id="4" name="Picture 3"/>
          <p:cNvPicPr>
            <a:picLocks noChangeAspect="1"/>
          </p:cNvPicPr>
          <p:nvPr/>
        </p:nvPicPr>
        <p:blipFill rotWithShape="1">
          <a:blip r:embed="rId2"/>
          <a:srcRect l="28910" t="10882" r="29033" b="9444"/>
          <a:stretch/>
        </p:blipFill>
        <p:spPr>
          <a:xfrm>
            <a:off x="4119154" y="3857897"/>
            <a:ext cx="3004458" cy="2656115"/>
          </a:xfrm>
          <a:prstGeom prst="rect">
            <a:avLst/>
          </a:prstGeom>
        </p:spPr>
      </p:pic>
    </p:spTree>
    <p:extLst>
      <p:ext uri="{BB962C8B-B14F-4D97-AF65-F5344CB8AC3E}">
        <p14:creationId xmlns:p14="http://schemas.microsoft.com/office/powerpoint/2010/main" val="127803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092" y="0"/>
            <a:ext cx="10515600" cy="1325563"/>
          </a:xfrm>
        </p:spPr>
        <p:txBody>
          <a:bodyPr/>
          <a:lstStyle/>
          <a:p>
            <a:pPr algn="ctr"/>
            <a:r>
              <a:rPr lang="en-US" b="1" dirty="0">
                <a:solidFill>
                  <a:schemeClr val="bg1"/>
                </a:solidFill>
              </a:rPr>
              <a:t>Accessing Cache Memory</a:t>
            </a:r>
          </a:p>
        </p:txBody>
      </p:sp>
      <p:sp>
        <p:nvSpPr>
          <p:cNvPr id="3" name="Content Placeholder 2"/>
          <p:cNvSpPr>
            <a:spLocks noGrp="1"/>
          </p:cNvSpPr>
          <p:nvPr>
            <p:ph idx="1"/>
          </p:nvPr>
        </p:nvSpPr>
        <p:spPr/>
        <p:txBody>
          <a:bodyPr/>
          <a:lstStyle/>
          <a:p>
            <a:pPr algn="just"/>
            <a:r>
              <a:rPr lang="en-US" dirty="0"/>
              <a:t>Only the CPU can access the cache memory. </a:t>
            </a:r>
          </a:p>
          <a:p>
            <a:pPr algn="just"/>
            <a:r>
              <a:rPr lang="en-US" dirty="0"/>
              <a:t>The cache holds the data and programs that the CPU uses frequently. Thus, it ensures that the information is instantaneously available for the CPU as and when the CPU needs this information. </a:t>
            </a:r>
          </a:p>
          <a:p>
            <a:pPr algn="just"/>
            <a:r>
              <a:rPr lang="en-US" dirty="0"/>
              <a:t>In simpler words, if the CPU finds the required instructions or data in the system’s cache memory, it does NOT need to access its primary memory or RAM. </a:t>
            </a:r>
          </a:p>
        </p:txBody>
      </p:sp>
    </p:spTree>
    <p:extLst>
      <p:ext uri="{BB962C8B-B14F-4D97-AF65-F5344CB8AC3E}">
        <p14:creationId xmlns:p14="http://schemas.microsoft.com/office/powerpoint/2010/main" val="2897210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9F6D1FA-DADA-4165-876E-B0F9FD98FE08}"/>
              </a:ext>
            </a:extLst>
          </p:cNvPr>
          <p:cNvSpPr>
            <a:spLocks noGrp="1"/>
          </p:cNvSpPr>
          <p:nvPr>
            <p:ph idx="1"/>
          </p:nvPr>
        </p:nvSpPr>
        <p:spPr>
          <a:xfrm>
            <a:off x="853190" y="1151068"/>
            <a:ext cx="10515600" cy="5294702"/>
          </a:xfrm>
        </p:spPr>
        <p:txBody>
          <a:bodyPr>
            <a:normAutofit/>
          </a:bodyPr>
          <a:lstStyle/>
          <a:p>
            <a:pPr marL="0" indent="0">
              <a:buNone/>
            </a:pPr>
            <a:r>
              <a:rPr lang="en-US" b="1" dirty="0"/>
              <a:t>Structure of Cache Memory </a:t>
            </a:r>
          </a:p>
          <a:p>
            <a:pPr marL="0" indent="0">
              <a:buNone/>
            </a:pPr>
            <a:r>
              <a:rPr lang="en-US" b="1" dirty="0"/>
              <a:t>	</a:t>
            </a:r>
          </a:p>
          <a:p>
            <a:pPr marL="0" indent="0"/>
            <a:r>
              <a:rPr lang="en-US" dirty="0"/>
              <a:t>Main memory consists of up to 2ˆ</a:t>
            </a:r>
            <a:r>
              <a:rPr lang="en-US" sz="2000" dirty="0"/>
              <a:t>n</a:t>
            </a:r>
            <a:r>
              <a:rPr lang="en-US" dirty="0"/>
              <a:t> addressable words, with each word having a unique n-bit address.</a:t>
            </a:r>
          </a:p>
          <a:p>
            <a:pPr marL="0" indent="0"/>
            <a:r>
              <a:rPr lang="en-US" dirty="0"/>
              <a:t>For mapping purposes, this memory is considered to consist of a number of fixed length blocks of K words each.</a:t>
            </a:r>
          </a:p>
          <a:p>
            <a:pPr marL="0" indent="0"/>
            <a:r>
              <a:rPr lang="en-US" dirty="0"/>
              <a:t>That is, there are M = 2ˆn/K blocks in main memory.</a:t>
            </a:r>
          </a:p>
          <a:p>
            <a:pPr marL="0" indent="0"/>
            <a:r>
              <a:rPr lang="en-US" dirty="0"/>
              <a:t>The cache consists of </a:t>
            </a:r>
            <a:r>
              <a:rPr lang="en-US" i="1" dirty="0"/>
              <a:t>m</a:t>
            </a:r>
            <a:r>
              <a:rPr lang="en-US" dirty="0"/>
              <a:t> blocks, called lines.</a:t>
            </a:r>
          </a:p>
          <a:p>
            <a:pPr marL="0" indent="0"/>
            <a:r>
              <a:rPr lang="en-US" dirty="0"/>
              <a:t>Each line contains K words, plus a tag of a few bits.</a:t>
            </a:r>
          </a:p>
          <a:p>
            <a:pPr marL="0" indent="0"/>
            <a:r>
              <a:rPr lang="en-US" dirty="0"/>
              <a:t>Each line also includes control bits, such as a bit to indicate whether the line has been modified since being loaded into the cache.</a:t>
            </a:r>
          </a:p>
          <a:p>
            <a:pPr marL="0" indent="0">
              <a:buNone/>
            </a:pPr>
            <a:endParaRPr lang="en-US" dirty="0"/>
          </a:p>
          <a:p>
            <a:pPr marL="0" indent="0">
              <a:buNone/>
            </a:pPr>
            <a:endParaRPr lang="en-GB" sz="2400" dirty="0"/>
          </a:p>
        </p:txBody>
      </p:sp>
      <p:sp>
        <p:nvSpPr>
          <p:cNvPr id="5" name="Footer Placeholder 4">
            <a:extLst>
              <a:ext uri="{FF2B5EF4-FFF2-40B4-BE49-F238E27FC236}">
                <a16:creationId xmlns:a16="http://schemas.microsoft.com/office/drawing/2014/main" xmlns="" id="{754C0C90-C89B-4D16-AB20-3DC5694876A4}"/>
              </a:ext>
            </a:extLst>
          </p:cNvPr>
          <p:cNvSpPr>
            <a:spLocks noGrp="1"/>
          </p:cNvSpPr>
          <p:nvPr>
            <p:ph type="ftr" sz="quarter" idx="11"/>
          </p:nvPr>
        </p:nvSpPr>
        <p:spPr/>
        <p:txBody>
          <a:bodyPr/>
          <a:lstStyle/>
          <a:p>
            <a:r>
              <a:rPr lang="en-GB" dirty="0"/>
              <a:t>Microprocessor and Assembly Language</a:t>
            </a:r>
          </a:p>
        </p:txBody>
      </p:sp>
      <p:sp>
        <p:nvSpPr>
          <p:cNvPr id="6" name="Slide Number Placeholder 5">
            <a:extLst>
              <a:ext uri="{FF2B5EF4-FFF2-40B4-BE49-F238E27FC236}">
                <a16:creationId xmlns:a16="http://schemas.microsoft.com/office/drawing/2014/main" xmlns="" id="{1A153883-4FA5-4932-BB79-19009E1A90EC}"/>
              </a:ext>
            </a:extLst>
          </p:cNvPr>
          <p:cNvSpPr>
            <a:spLocks noGrp="1"/>
          </p:cNvSpPr>
          <p:nvPr>
            <p:ph type="sldNum" sz="quarter" idx="12"/>
          </p:nvPr>
        </p:nvSpPr>
        <p:spPr/>
        <p:txBody>
          <a:bodyPr/>
          <a:lstStyle/>
          <a:p>
            <a:fld id="{FFCC252E-DA0E-4237-ADDA-C893F63FB2C2}" type="slidenum">
              <a:rPr lang="en-GB" smtClean="0"/>
              <a:pPr/>
              <a:t>4</a:t>
            </a:fld>
            <a:endParaRPr lang="en-GB" dirty="0"/>
          </a:p>
        </p:txBody>
      </p:sp>
      <p:pic>
        <p:nvPicPr>
          <p:cNvPr id="4" name="Picture 3">
            <a:extLst>
              <a:ext uri="{FF2B5EF4-FFF2-40B4-BE49-F238E27FC236}">
                <a16:creationId xmlns:a16="http://schemas.microsoft.com/office/drawing/2014/main" xmlns="" id="{DE8805E2-2FDE-4BDF-BC4E-D21BD7E1D6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41991" y="419144"/>
            <a:ext cx="1223618" cy="1217523"/>
          </a:xfrm>
          <a:prstGeom prst="rect">
            <a:avLst/>
          </a:prstGeom>
        </p:spPr>
      </p:pic>
    </p:spTree>
    <p:extLst>
      <p:ext uri="{BB962C8B-B14F-4D97-AF65-F5344CB8AC3E}">
        <p14:creationId xmlns:p14="http://schemas.microsoft.com/office/powerpoint/2010/main" val="107159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9F6D1FA-DADA-4165-876E-B0F9FD98FE08}"/>
              </a:ext>
            </a:extLst>
          </p:cNvPr>
          <p:cNvSpPr>
            <a:spLocks noGrp="1"/>
          </p:cNvSpPr>
          <p:nvPr>
            <p:ph idx="1"/>
          </p:nvPr>
        </p:nvSpPr>
        <p:spPr>
          <a:xfrm>
            <a:off x="853190" y="1151068"/>
            <a:ext cx="10515600" cy="5294702"/>
          </a:xfrm>
        </p:spPr>
        <p:txBody>
          <a:bodyPr>
            <a:normAutofit fontScale="85000" lnSpcReduction="20000"/>
          </a:bodyPr>
          <a:lstStyle/>
          <a:p>
            <a:pPr marL="0" indent="0">
              <a:buNone/>
            </a:pPr>
            <a:r>
              <a:rPr lang="en-US" b="1" dirty="0"/>
              <a:t>Structure of Cache Memory </a:t>
            </a:r>
          </a:p>
          <a:p>
            <a:pPr marL="0" indent="0">
              <a:buNone/>
            </a:pPr>
            <a:r>
              <a:rPr lang="en-US" b="1" dirty="0"/>
              <a:t>	</a:t>
            </a:r>
          </a:p>
          <a:p>
            <a:pPr marL="0" indent="0"/>
            <a:r>
              <a:rPr lang="en-US" dirty="0"/>
              <a:t>The length of a line, not including tag and control bits, is the line size.</a:t>
            </a:r>
          </a:p>
          <a:p>
            <a:pPr marL="0" indent="0"/>
            <a:r>
              <a:rPr lang="en-US" dirty="0"/>
              <a:t>The line size may be as small as 32 bits, with each “word” being a single byte; in this case the line size is 4 bytes.</a:t>
            </a:r>
          </a:p>
          <a:p>
            <a:pPr marL="0" indent="0"/>
            <a:r>
              <a:rPr lang="en-US" dirty="0"/>
              <a:t>The number of lines is considerably less than the number of main memory blocks (m&lt;&lt; M). </a:t>
            </a:r>
          </a:p>
          <a:p>
            <a:pPr marL="0" indent="0"/>
            <a:r>
              <a:rPr lang="en-US" dirty="0"/>
              <a:t>At any time, some subset of the blocks of memory resides in lines in the cache. If a word in a block of memory is read, that block is transferred to one of the lines of the cache. Because there are more blocks than lines, an individual line cannot be uniquely and permanently dedicated to a particular block.</a:t>
            </a:r>
          </a:p>
          <a:p>
            <a:pPr marL="0" indent="0"/>
            <a:r>
              <a:rPr lang="en-US" dirty="0"/>
              <a:t>Each line includes a tag that identifies which particular block is currently being stored.</a:t>
            </a:r>
          </a:p>
          <a:p>
            <a:pPr marL="0" indent="0"/>
            <a:r>
              <a:rPr lang="en-US" dirty="0"/>
              <a:t>The processor generates the read address (RA) of a word to be read. If the word is contained in the cache, it is delivered.</a:t>
            </a:r>
          </a:p>
          <a:p>
            <a:pPr marL="0" indent="0">
              <a:buNone/>
            </a:pPr>
            <a:endParaRPr lang="en-GB" sz="2400" dirty="0"/>
          </a:p>
        </p:txBody>
      </p:sp>
      <p:sp>
        <p:nvSpPr>
          <p:cNvPr id="5" name="Footer Placeholder 4">
            <a:extLst>
              <a:ext uri="{FF2B5EF4-FFF2-40B4-BE49-F238E27FC236}">
                <a16:creationId xmlns:a16="http://schemas.microsoft.com/office/drawing/2014/main" xmlns="" id="{754C0C90-C89B-4D16-AB20-3DC5694876A4}"/>
              </a:ext>
            </a:extLst>
          </p:cNvPr>
          <p:cNvSpPr>
            <a:spLocks noGrp="1"/>
          </p:cNvSpPr>
          <p:nvPr>
            <p:ph type="ftr" sz="quarter" idx="11"/>
          </p:nvPr>
        </p:nvSpPr>
        <p:spPr/>
        <p:txBody>
          <a:bodyPr/>
          <a:lstStyle/>
          <a:p>
            <a:r>
              <a:rPr lang="en-GB" dirty="0"/>
              <a:t>Microprocessor and Assembly Language</a:t>
            </a:r>
          </a:p>
        </p:txBody>
      </p:sp>
      <p:sp>
        <p:nvSpPr>
          <p:cNvPr id="6" name="Slide Number Placeholder 5">
            <a:extLst>
              <a:ext uri="{FF2B5EF4-FFF2-40B4-BE49-F238E27FC236}">
                <a16:creationId xmlns:a16="http://schemas.microsoft.com/office/drawing/2014/main" xmlns="" id="{1A153883-4FA5-4932-BB79-19009E1A90EC}"/>
              </a:ext>
            </a:extLst>
          </p:cNvPr>
          <p:cNvSpPr>
            <a:spLocks noGrp="1"/>
          </p:cNvSpPr>
          <p:nvPr>
            <p:ph type="sldNum" sz="quarter" idx="12"/>
          </p:nvPr>
        </p:nvSpPr>
        <p:spPr/>
        <p:txBody>
          <a:bodyPr/>
          <a:lstStyle/>
          <a:p>
            <a:fld id="{FFCC252E-DA0E-4237-ADDA-C893F63FB2C2}" type="slidenum">
              <a:rPr lang="en-GB" smtClean="0"/>
              <a:pPr/>
              <a:t>5</a:t>
            </a:fld>
            <a:endParaRPr lang="en-GB" dirty="0"/>
          </a:p>
        </p:txBody>
      </p:sp>
      <p:pic>
        <p:nvPicPr>
          <p:cNvPr id="4" name="Picture 3">
            <a:extLst>
              <a:ext uri="{FF2B5EF4-FFF2-40B4-BE49-F238E27FC236}">
                <a16:creationId xmlns:a16="http://schemas.microsoft.com/office/drawing/2014/main" xmlns="" id="{DE8805E2-2FDE-4BDF-BC4E-D21BD7E1D6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41991" y="419144"/>
            <a:ext cx="1223618" cy="1217523"/>
          </a:xfrm>
          <a:prstGeom prst="rect">
            <a:avLst/>
          </a:prstGeom>
        </p:spPr>
      </p:pic>
    </p:spTree>
    <p:extLst>
      <p:ext uri="{BB962C8B-B14F-4D97-AF65-F5344CB8AC3E}">
        <p14:creationId xmlns:p14="http://schemas.microsoft.com/office/powerpoint/2010/main" val="3168229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solidFill>
                  <a:schemeClr val="bg1"/>
                </a:solidFill>
              </a:rPr>
              <a:t>Types of Cache Memory</a:t>
            </a:r>
          </a:p>
        </p:txBody>
      </p:sp>
      <p:sp>
        <p:nvSpPr>
          <p:cNvPr id="3" name="Content Placeholder 2"/>
          <p:cNvSpPr>
            <a:spLocks noGrp="1"/>
          </p:cNvSpPr>
          <p:nvPr>
            <p:ph idx="1"/>
          </p:nvPr>
        </p:nvSpPr>
        <p:spPr/>
        <p:txBody>
          <a:bodyPr>
            <a:normAutofit lnSpcReduction="10000"/>
          </a:bodyPr>
          <a:lstStyle/>
          <a:p>
            <a:pPr marL="0" indent="0">
              <a:buNone/>
            </a:pPr>
            <a:r>
              <a:rPr lang="en-US" b="1" dirty="0"/>
              <a:t>L1 Cache</a:t>
            </a:r>
          </a:p>
          <a:p>
            <a:pPr algn="just"/>
            <a:r>
              <a:rPr lang="en-US" dirty="0"/>
              <a:t>This refers to the first level of any cache memory, usually known as the L1 cache or Level 1 cache. </a:t>
            </a:r>
          </a:p>
          <a:p>
            <a:pPr algn="just"/>
            <a:r>
              <a:rPr lang="en-US" dirty="0"/>
              <a:t>In case the CPU consists of four cores (A quad-core CPU), each core will then have its own L1 cache.</a:t>
            </a:r>
          </a:p>
          <a:p>
            <a:pPr algn="just"/>
            <a:r>
              <a:rPr lang="en-US" dirty="0"/>
              <a:t>The actual size of such a memory ranges from </a:t>
            </a:r>
            <a:r>
              <a:rPr lang="en-US" b="1" dirty="0"/>
              <a:t>2 kilobytes to 64 kilobytes</a:t>
            </a:r>
            <a:r>
              <a:rPr lang="en-US" dirty="0"/>
              <a:t>. </a:t>
            </a:r>
          </a:p>
          <a:p>
            <a:pPr algn="just"/>
            <a:r>
              <a:rPr lang="en-US" dirty="0"/>
              <a:t>The Level 1 cache has two further types of caches: The Instruction cache storing, the instructions that are required by a CPU, along with the data cache storing, the data that is required by a CPU.</a:t>
            </a:r>
          </a:p>
        </p:txBody>
      </p:sp>
    </p:spTree>
    <p:extLst>
      <p:ext uri="{BB962C8B-B14F-4D97-AF65-F5344CB8AC3E}">
        <p14:creationId xmlns:p14="http://schemas.microsoft.com/office/powerpoint/2010/main" val="2625709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646" y="83771"/>
            <a:ext cx="10515600" cy="1325563"/>
          </a:xfrm>
        </p:spPr>
        <p:txBody>
          <a:bodyPr/>
          <a:lstStyle/>
          <a:p>
            <a:pPr algn="ctr"/>
            <a:r>
              <a:rPr lang="en-US" dirty="0">
                <a:solidFill>
                  <a:schemeClr val="bg1"/>
                </a:solidFill>
              </a:rPr>
              <a:t>Example:</a:t>
            </a:r>
          </a:p>
        </p:txBody>
      </p:sp>
      <p:sp>
        <p:nvSpPr>
          <p:cNvPr id="3" name="Content Placeholder 2"/>
          <p:cNvSpPr>
            <a:spLocks noGrp="1"/>
          </p:cNvSpPr>
          <p:nvPr>
            <p:ph idx="1"/>
          </p:nvPr>
        </p:nvSpPr>
        <p:spPr/>
        <p:txBody>
          <a:bodyPr>
            <a:normAutofit fontScale="77500" lnSpcReduction="20000"/>
          </a:bodyPr>
          <a:lstStyle/>
          <a:p>
            <a:r>
              <a:rPr lang="en-US" dirty="0"/>
              <a:t>A program executing on a processor needs to fetch the sequence of instructions (or code/program) from memory. At the same time the code/instruction might need to access data from different memory locations.</a:t>
            </a:r>
          </a:p>
          <a:p>
            <a:r>
              <a:rPr lang="en-US" dirty="0"/>
              <a:t>For e.g., lets say a program is reading one memory location and writing it into another location </a:t>
            </a:r>
          </a:p>
          <a:p>
            <a:pPr marL="0" indent="0">
              <a:buNone/>
            </a:pPr>
            <a:r>
              <a:rPr lang="en-US" dirty="0"/>
              <a:t>Load reg0, </a:t>
            </a:r>
            <a:r>
              <a:rPr lang="en-US" dirty="0" err="1"/>
              <a:t>memA</a:t>
            </a:r>
            <a:endParaRPr lang="en-US" dirty="0"/>
          </a:p>
          <a:p>
            <a:pPr marL="0" indent="0">
              <a:buNone/>
            </a:pPr>
            <a:r>
              <a:rPr lang="en-US" dirty="0"/>
              <a:t>Store reg0, </a:t>
            </a:r>
            <a:r>
              <a:rPr lang="en-US" dirty="0" err="1"/>
              <a:t>memB</a:t>
            </a:r>
            <a:endParaRPr lang="en-US" dirty="0"/>
          </a:p>
          <a:p>
            <a:r>
              <a:rPr lang="en-US" dirty="0"/>
              <a:t>There are two instructions (Load, Store) that needs to be fetched from instruction memory and the contents </a:t>
            </a:r>
            <a:r>
              <a:rPr lang="en-US" dirty="0" err="1"/>
              <a:t>memA</a:t>
            </a:r>
            <a:r>
              <a:rPr lang="en-US" dirty="0"/>
              <a:t> has to be read first and then written to </a:t>
            </a:r>
            <a:r>
              <a:rPr lang="en-US" dirty="0" err="1"/>
              <a:t>memB</a:t>
            </a:r>
            <a:endParaRPr lang="en-US" dirty="0"/>
          </a:p>
          <a:p>
            <a:r>
              <a:rPr lang="en-US" dirty="0"/>
              <a:t>The instruction cache will </a:t>
            </a:r>
            <a:r>
              <a:rPr lang="en-US" dirty="0" err="1"/>
              <a:t>prefetch</a:t>
            </a:r>
            <a:r>
              <a:rPr lang="en-US" dirty="0"/>
              <a:t> and store all the instructions (in this case, load, store) into the instruction cache while the data cache will </a:t>
            </a:r>
            <a:r>
              <a:rPr lang="en-US" dirty="0" err="1"/>
              <a:t>prefetch</a:t>
            </a:r>
            <a:r>
              <a:rPr lang="en-US" dirty="0"/>
              <a:t> the memory locations accessed (like </a:t>
            </a:r>
            <a:r>
              <a:rPr lang="en-US" dirty="0" err="1"/>
              <a:t>memA</a:t>
            </a:r>
            <a:r>
              <a:rPr lang="en-US" dirty="0"/>
              <a:t>)</a:t>
            </a:r>
          </a:p>
          <a:p>
            <a:r>
              <a:rPr lang="en-US" dirty="0"/>
              <a:t>The benefits of having separate cache instead of a single cache is that both instruction fetch and decode can proceed separately from the load/store execution.</a:t>
            </a:r>
          </a:p>
        </p:txBody>
      </p:sp>
    </p:spTree>
    <p:extLst>
      <p:ext uri="{BB962C8B-B14F-4D97-AF65-F5344CB8AC3E}">
        <p14:creationId xmlns:p14="http://schemas.microsoft.com/office/powerpoint/2010/main" val="3060940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r>
              <a:rPr lang="en-US" b="1" dirty="0"/>
              <a:t>L2 Cache</a:t>
            </a:r>
          </a:p>
          <a:p>
            <a:r>
              <a:rPr lang="en-US" dirty="0"/>
              <a:t>The level 2 cache may reside both inside or outside any given CPU. </a:t>
            </a:r>
          </a:p>
          <a:p>
            <a:r>
              <a:rPr lang="en-US" dirty="0"/>
              <a:t>All the cores of the CPU can consist of their separate (own) level 2 cache, or they can even share a single L2 cache among themselves. </a:t>
            </a:r>
          </a:p>
          <a:p>
            <a:r>
              <a:rPr lang="en-US" dirty="0"/>
              <a:t>Now, in case it’s outside the CPU, it connects with the CPU using a very high-speed bus. </a:t>
            </a:r>
          </a:p>
          <a:p>
            <a:r>
              <a:rPr lang="en-US" dirty="0"/>
              <a:t>The memory size of a cache ranges from 256 kilobytes to 512 kilobytes. </a:t>
            </a:r>
          </a:p>
          <a:p>
            <a:r>
              <a:rPr lang="en-US" dirty="0"/>
              <a:t>If we go for the speed, these are comparatively slower than the Level 1 cache.</a:t>
            </a:r>
          </a:p>
        </p:txBody>
      </p:sp>
    </p:spTree>
    <p:extLst>
      <p:ext uri="{BB962C8B-B14F-4D97-AF65-F5344CB8AC3E}">
        <p14:creationId xmlns:p14="http://schemas.microsoft.com/office/powerpoint/2010/main" val="1050920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a:t>L3 Cache</a:t>
            </a:r>
          </a:p>
          <a:p>
            <a:r>
              <a:rPr lang="en-US" dirty="0"/>
              <a:t>This type of cache isn’t present in all of the processors. Only a few of the high-end processors may contain this type of cache. </a:t>
            </a:r>
          </a:p>
          <a:p>
            <a:r>
              <a:rPr lang="en-US" dirty="0"/>
              <a:t>We use the L3 cache to enhance the overall performance of the L1 and the L2 cache. </a:t>
            </a:r>
          </a:p>
          <a:p>
            <a:r>
              <a:rPr lang="en-US" dirty="0"/>
              <a:t>This type of memory is located outside a CPU. </a:t>
            </a:r>
          </a:p>
          <a:p>
            <a:r>
              <a:rPr lang="en-US" dirty="0"/>
              <a:t>The memory size of the L3 cache ranges from 1 to 8 megabytes. </a:t>
            </a:r>
          </a:p>
          <a:p>
            <a:r>
              <a:rPr lang="en-US" dirty="0"/>
              <a:t>Though the L3 cache is slower than that of the L1 cache and the L2 cache, it is much faster than that of the RAM</a:t>
            </a:r>
          </a:p>
          <a:p>
            <a:endParaRPr lang="en-US" dirty="0"/>
          </a:p>
        </p:txBody>
      </p:sp>
    </p:spTree>
    <p:extLst>
      <p:ext uri="{BB962C8B-B14F-4D97-AF65-F5344CB8AC3E}">
        <p14:creationId xmlns:p14="http://schemas.microsoft.com/office/powerpoint/2010/main" val="3139360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6477" y="1185741"/>
            <a:ext cx="10515600" cy="1325563"/>
          </a:xfrm>
        </p:spPr>
        <p:txBody>
          <a:bodyPr/>
          <a:lstStyle/>
          <a:p>
            <a:r>
              <a:rPr lang="en-US" b="1" dirty="0"/>
              <a:t>How does the Cache Memory work with the CPU?</a:t>
            </a:r>
          </a:p>
        </p:txBody>
      </p:sp>
      <p:sp>
        <p:nvSpPr>
          <p:cNvPr id="3" name="Content Placeholder 2"/>
          <p:cNvSpPr>
            <a:spLocks noGrp="1"/>
          </p:cNvSpPr>
          <p:nvPr>
            <p:ph idx="1"/>
          </p:nvPr>
        </p:nvSpPr>
        <p:spPr>
          <a:xfrm>
            <a:off x="697523" y="2506662"/>
            <a:ext cx="10515600" cy="4351338"/>
          </a:xfrm>
        </p:spPr>
        <p:txBody>
          <a:bodyPr/>
          <a:lstStyle/>
          <a:p>
            <a:pPr marL="0" indent="0">
              <a:buNone/>
            </a:pPr>
            <a:r>
              <a:rPr lang="en-US" dirty="0"/>
              <a:t>Whenever a CPU needs the data/information, it first of all looks inside its L1 cache. </a:t>
            </a:r>
          </a:p>
          <a:p>
            <a:pPr marL="0" indent="0">
              <a:buNone/>
            </a:pPr>
            <a:r>
              <a:rPr lang="en-US" dirty="0"/>
              <a:t>In case it doesn’t find anything in the L1 cache, then it looks inside L2. </a:t>
            </a:r>
          </a:p>
          <a:p>
            <a:pPr marL="0" indent="0">
              <a:buNone/>
            </a:pPr>
            <a:r>
              <a:rPr lang="en-US" dirty="0"/>
              <a:t>If it again does not find any data in L2, it then looks into L3. </a:t>
            </a:r>
          </a:p>
          <a:p>
            <a:pPr marL="0" indent="0">
              <a:buNone/>
            </a:pPr>
            <a:r>
              <a:rPr lang="en-US" dirty="0"/>
              <a:t>Now, if the information is found in the memory of the cache, then it is called a </a:t>
            </a:r>
            <a:r>
              <a:rPr lang="en-US" b="1" dirty="0"/>
              <a:t>cache hit</a:t>
            </a:r>
            <a:r>
              <a:rPr lang="en-US" dirty="0"/>
              <a:t>. On the other hand, if data isn’t found inside this cache, then it is known as a </a:t>
            </a:r>
            <a:r>
              <a:rPr lang="en-US" b="1" dirty="0"/>
              <a:t>cache miss</a:t>
            </a:r>
            <a:r>
              <a:rPr lang="en-US" dirty="0"/>
              <a:t>.</a:t>
            </a:r>
          </a:p>
        </p:txBody>
      </p:sp>
    </p:spTree>
    <p:extLst>
      <p:ext uri="{BB962C8B-B14F-4D97-AF65-F5344CB8AC3E}">
        <p14:creationId xmlns:p14="http://schemas.microsoft.com/office/powerpoint/2010/main" val="4197669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4754" y="857494"/>
            <a:ext cx="10515600" cy="1325563"/>
          </a:xfrm>
        </p:spPr>
        <p:txBody>
          <a:bodyPr/>
          <a:lstStyle/>
          <a:p>
            <a:r>
              <a:rPr lang="en-US" b="1" dirty="0"/>
              <a:t>Cache Coherence</a:t>
            </a:r>
          </a:p>
        </p:txBody>
      </p:sp>
      <p:sp>
        <p:nvSpPr>
          <p:cNvPr id="3" name="Content Placeholder 2"/>
          <p:cNvSpPr>
            <a:spLocks noGrp="1"/>
          </p:cNvSpPr>
          <p:nvPr>
            <p:ph idx="1"/>
          </p:nvPr>
        </p:nvSpPr>
        <p:spPr>
          <a:xfrm>
            <a:off x="849923" y="2165594"/>
            <a:ext cx="10515600" cy="4351338"/>
          </a:xfrm>
        </p:spPr>
        <p:txBody>
          <a:bodyPr>
            <a:normAutofit fontScale="92500" lnSpcReduction="10000"/>
          </a:bodyPr>
          <a:lstStyle/>
          <a:p>
            <a:pPr algn="just"/>
            <a:r>
              <a:rPr lang="en-US" dirty="0"/>
              <a:t>However, there is a creation of a problem known as a coherence problem. In a single CPU system, two copies of the same data, one in the cache memory and another one in main memory may become different due to which it can result in inconsistencies in the value of cache and main memory.</a:t>
            </a:r>
          </a:p>
          <a:p>
            <a:pPr marL="0" indent="0" algn="just">
              <a:buNone/>
            </a:pPr>
            <a:r>
              <a:rPr lang="en-US" b="1" dirty="0"/>
              <a:t>Techniques for cache coherence</a:t>
            </a:r>
            <a:endParaRPr lang="en-US" dirty="0"/>
          </a:p>
          <a:p>
            <a:pPr algn="just"/>
            <a:r>
              <a:rPr lang="en-US" b="1" dirty="0"/>
              <a:t>Write through: </a:t>
            </a:r>
            <a:r>
              <a:rPr lang="en-US" dirty="0"/>
              <a:t>In this technique write the data in the cache and in main memory, which will always keep the two copies of data consistent.</a:t>
            </a:r>
          </a:p>
          <a:p>
            <a:pPr algn="just"/>
            <a:r>
              <a:rPr lang="en-US" b="1" dirty="0"/>
              <a:t>Write back: </a:t>
            </a:r>
            <a:r>
              <a:rPr lang="en-US" dirty="0"/>
              <a:t>In this method, updates are made in the cache, by setting a bit called update bit. Only those blocks whose updates bit is set is replaced in the main memory.</a:t>
            </a:r>
          </a:p>
        </p:txBody>
      </p:sp>
    </p:spTree>
    <p:extLst>
      <p:ext uri="{BB962C8B-B14F-4D97-AF65-F5344CB8AC3E}">
        <p14:creationId xmlns:p14="http://schemas.microsoft.com/office/powerpoint/2010/main" val="1256980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924" y="1009895"/>
            <a:ext cx="10515600" cy="1325563"/>
          </a:xfrm>
        </p:spPr>
        <p:txBody>
          <a:bodyPr/>
          <a:lstStyle/>
          <a:p>
            <a:r>
              <a:rPr lang="en-US" b="1" dirty="0"/>
              <a:t>Replacement algorithm of cache memory</a:t>
            </a:r>
          </a:p>
        </p:txBody>
      </p:sp>
      <p:sp>
        <p:nvSpPr>
          <p:cNvPr id="3" name="Content Placeholder 2"/>
          <p:cNvSpPr>
            <a:spLocks noGrp="1"/>
          </p:cNvSpPr>
          <p:nvPr>
            <p:ph idx="1"/>
          </p:nvPr>
        </p:nvSpPr>
        <p:spPr>
          <a:xfrm>
            <a:off x="849923" y="2306271"/>
            <a:ext cx="10515600" cy="4351338"/>
          </a:xfrm>
        </p:spPr>
        <p:txBody>
          <a:bodyPr>
            <a:normAutofit/>
          </a:bodyPr>
          <a:lstStyle/>
          <a:p>
            <a:r>
              <a:rPr lang="en-US" dirty="0"/>
              <a:t>When the cache is full, there is a need for replacement algorithm for replacing the cache block with a new block. In the cache memory, there are three types of replacement algorithm are used that are:</a:t>
            </a:r>
          </a:p>
          <a:p>
            <a:endParaRPr lang="en-US" dirty="0"/>
          </a:p>
          <a:p>
            <a:r>
              <a:rPr lang="en-US" dirty="0"/>
              <a:t>Random replacement policy.</a:t>
            </a:r>
          </a:p>
          <a:p>
            <a:r>
              <a:rPr lang="en-US" dirty="0"/>
              <a:t>First in first Out (FIFO) replacement policy</a:t>
            </a:r>
          </a:p>
          <a:p>
            <a:r>
              <a:rPr lang="en-US" dirty="0"/>
              <a:t>Least recently used (LCU) replacement policy.</a:t>
            </a:r>
          </a:p>
        </p:txBody>
      </p:sp>
    </p:spTree>
    <p:extLst>
      <p:ext uri="{BB962C8B-B14F-4D97-AF65-F5344CB8AC3E}">
        <p14:creationId xmlns:p14="http://schemas.microsoft.com/office/powerpoint/2010/main" val="2972546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a:t>Random replacement policy</a:t>
            </a:r>
          </a:p>
          <a:p>
            <a:r>
              <a:rPr lang="en-US" dirty="0"/>
              <a:t>This is a very simple algorithm which used to choose the block to be overwritten at random. In this algorithm replace any cache line by using random selection. It is an algorithm which is simple and has been found to be very effective in practice.</a:t>
            </a:r>
          </a:p>
          <a:p>
            <a:pPr marL="0" indent="0">
              <a:buNone/>
            </a:pPr>
            <a:r>
              <a:rPr lang="en-US" b="1" dirty="0"/>
              <a:t>First in first out (FIFO)</a:t>
            </a:r>
          </a:p>
          <a:p>
            <a:r>
              <a:rPr lang="en-US" dirty="0"/>
              <a:t>In this algorithm replace the cache block which is having the </a:t>
            </a:r>
            <a:r>
              <a:rPr lang="en-US" b="1" dirty="0"/>
              <a:t>longest time stamp</a:t>
            </a:r>
            <a:r>
              <a:rPr lang="en-US" dirty="0"/>
              <a:t>. </a:t>
            </a:r>
          </a:p>
        </p:txBody>
      </p:sp>
    </p:spTree>
    <p:extLst>
      <p:ext uri="{BB962C8B-B14F-4D97-AF65-F5344CB8AC3E}">
        <p14:creationId xmlns:p14="http://schemas.microsoft.com/office/powerpoint/2010/main" val="1459016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Least recently used (LRU)</a:t>
            </a:r>
          </a:p>
          <a:p>
            <a:r>
              <a:rPr lang="en-US" dirty="0"/>
              <a:t>It defines the policy to discard the least recently used items first from the cache and make room for new elements when the cache is full. It is used to organize items in order of their use, which allows identifying items that have not been used for a long time.</a:t>
            </a:r>
          </a:p>
        </p:txBody>
      </p:sp>
    </p:spTree>
    <p:extLst>
      <p:ext uri="{BB962C8B-B14F-4D97-AF65-F5344CB8AC3E}">
        <p14:creationId xmlns:p14="http://schemas.microsoft.com/office/powerpoint/2010/main" val="1166062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Process of Cache Mapping</a:t>
            </a:r>
          </a:p>
          <a:p>
            <a:r>
              <a:rPr lang="en-US" dirty="0"/>
              <a:t>The process of cache mapping helps us define how a certain block that is present in the main memory gets mapped to the memory of a cache in the case of any cache miss.</a:t>
            </a:r>
          </a:p>
          <a:p>
            <a:endParaRPr lang="en-US" dirty="0"/>
          </a:p>
        </p:txBody>
      </p:sp>
      <p:pic>
        <p:nvPicPr>
          <p:cNvPr id="4" name="Picture 3"/>
          <p:cNvPicPr>
            <a:picLocks noChangeAspect="1"/>
          </p:cNvPicPr>
          <p:nvPr/>
        </p:nvPicPr>
        <p:blipFill rotWithShape="1">
          <a:blip r:embed="rId2"/>
          <a:srcRect l="12819" t="13755" r="12088" b="9184"/>
          <a:stretch/>
        </p:blipFill>
        <p:spPr>
          <a:xfrm>
            <a:off x="3021874" y="3742871"/>
            <a:ext cx="5364480" cy="2569029"/>
          </a:xfrm>
          <a:prstGeom prst="rect">
            <a:avLst/>
          </a:prstGeom>
        </p:spPr>
      </p:pic>
    </p:spTree>
    <p:extLst>
      <p:ext uri="{BB962C8B-B14F-4D97-AF65-F5344CB8AC3E}">
        <p14:creationId xmlns:p14="http://schemas.microsoft.com/office/powerpoint/2010/main" val="2394419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TotalTime>
  <Words>1103</Words>
  <Application>Microsoft Office PowerPoint</Application>
  <PresentationFormat>Widescreen</PresentationFormat>
  <Paragraphs>83</Paragraphs>
  <Slides>15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Arial</vt:lpstr>
      <vt:lpstr>Bahnschrift</vt:lpstr>
      <vt:lpstr>Calibri</vt:lpstr>
      <vt:lpstr>Calibri Light</vt:lpstr>
      <vt:lpstr>Garamond</vt:lpstr>
      <vt:lpstr>Office Theme</vt:lpstr>
      <vt:lpstr>1_Office Theme</vt:lpstr>
      <vt:lpstr>Computer Organization and Assembly Language</vt:lpstr>
      <vt:lpstr>What is Cache Memory?</vt:lpstr>
      <vt:lpstr>Accessing Cache Memory</vt:lpstr>
      <vt:lpstr>PowerPoint Presentation</vt:lpstr>
      <vt:lpstr>PowerPoint Presentation</vt:lpstr>
      <vt:lpstr>Types of Cache Memory</vt:lpstr>
      <vt:lpstr>Example:</vt:lpstr>
      <vt:lpstr>PowerPoint Presentation</vt:lpstr>
      <vt:lpstr>PowerPoint Presentation</vt:lpstr>
      <vt:lpstr>How does the Cache Memory work with the CPU?</vt:lpstr>
      <vt:lpstr>Cache Coherence</vt:lpstr>
      <vt:lpstr>Replacement algorithm of cache memory</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RAMEEN SOHAIL</dc:creator>
  <cp:lastModifiedBy>Microsoft account</cp:lastModifiedBy>
  <cp:revision>30</cp:revision>
  <dcterms:created xsi:type="dcterms:W3CDTF">2022-09-25T08:43:00Z</dcterms:created>
  <dcterms:modified xsi:type="dcterms:W3CDTF">2025-10-14T03:07:46Z</dcterms:modified>
</cp:coreProperties>
</file>