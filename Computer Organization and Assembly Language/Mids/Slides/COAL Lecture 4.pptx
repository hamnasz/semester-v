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0"/>
  </p:notesMasterIdLst>
  <p:sldIdLst>
    <p:sldId id="256" r:id="rId2"/>
    <p:sldId id="257" r:id="rId3"/>
    <p:sldId id="335" r:id="rId4"/>
    <p:sldId id="338" r:id="rId5"/>
    <p:sldId id="328" r:id="rId6"/>
    <p:sldId id="329" r:id="rId7"/>
    <p:sldId id="330" r:id="rId8"/>
    <p:sldId id="339" r:id="rId9"/>
    <p:sldId id="331" r:id="rId10"/>
    <p:sldId id="332" r:id="rId11"/>
    <p:sldId id="340" r:id="rId12"/>
    <p:sldId id="349" r:id="rId13"/>
    <p:sldId id="350" r:id="rId14"/>
    <p:sldId id="351" r:id="rId15"/>
    <p:sldId id="352" r:id="rId16"/>
    <p:sldId id="353" r:id="rId17"/>
    <p:sldId id="354" r:id="rId18"/>
    <p:sldId id="355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956" autoAdjust="0"/>
  </p:normalViewPr>
  <p:slideViewPr>
    <p:cSldViewPr>
      <p:cViewPr varScale="1">
        <p:scale>
          <a:sx n="53" d="100"/>
          <a:sy n="53" d="100"/>
        </p:scale>
        <p:origin x="166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AC2E62-3873-4E6B-B967-FF2BFAD8A2F7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B212B-14B6-45DE-B243-80E89BC63F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247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AB212B-14B6-45DE-B243-80E89BC63FF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749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3753B6-6CC1-47E1-B294-0626EA6BCD6E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7528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EE9C4F-6447-4058-BBF5-2058D74D205D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3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C69A16-E131-4450-97B2-5C9BB01761CD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486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6C22FF-EE8D-49CB-883B-C1EC3EECDBF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8443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9AE98248-F834-4875-8F57-4F6C93C7DDA4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850FC-048D-475D-89E4-09AF79FF23A7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4C269345-CE2F-4F66-B56B-2524B1687C47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64579-453E-4944-953B-3DAB75267BB3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168E-7105-4F38-B9CE-E67FDE9F9594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73792-B8DE-4EFC-91FE-E3BAC13B01C8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BBCC-BCA9-40FD-9701-4360B4386985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E7077-F4C6-413C-8D43-D74632625AEB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3D38D-2EF2-4B3B-8513-AA490C2D391C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FF757-6E01-4653-87C2-91702F95F6BC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CEAFC-98E2-4C9C-BF81-A6CD202724C4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00EB00B-35A8-40E0-958A-6DC2EA387420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3733800"/>
            <a:ext cx="6934200" cy="1143000"/>
          </a:xfrm>
        </p:spPr>
        <p:txBody>
          <a:bodyPr>
            <a:normAutofit/>
          </a:bodyPr>
          <a:lstStyle/>
          <a:p>
            <a:r>
              <a:rPr lang="en-US" dirty="0"/>
              <a:t>Computer Organization &amp; Assembly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5400" y="5181600"/>
            <a:ext cx="655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 – System Bus &amp;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800" dirty="0"/>
              <a:t>The Components of Microcomputer System</a:t>
            </a:r>
          </a:p>
          <a:p>
            <a:pPr lvl="2"/>
            <a:r>
              <a:rPr lang="en-US" sz="2800" dirty="0"/>
              <a:t>System Bus  </a:t>
            </a:r>
          </a:p>
          <a:p>
            <a:pPr lvl="3"/>
            <a:r>
              <a:rPr lang="en-US" sz="2800" dirty="0"/>
              <a:t>Data, Address &amp; Control </a:t>
            </a:r>
          </a:p>
          <a:p>
            <a:pPr lvl="2"/>
            <a:r>
              <a:rPr lang="en-US" sz="2800" dirty="0"/>
              <a:t>The CPU</a:t>
            </a:r>
          </a:p>
          <a:p>
            <a:pPr lvl="3"/>
            <a:r>
              <a:rPr lang="en-US" sz="2800" dirty="0"/>
              <a:t>Registers</a:t>
            </a:r>
          </a:p>
          <a:p>
            <a:pPr lvl="2"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S</a:t>
            </a:r>
            <a:r>
              <a:rPr lang="en-US" dirty="0"/>
              <a:t>ystem </a:t>
            </a:r>
            <a:r>
              <a:rPr lang="en-US" i="1" dirty="0"/>
              <a:t>B</a:t>
            </a:r>
            <a:r>
              <a:rPr lang="en-US" dirty="0"/>
              <a:t>us</a:t>
            </a:r>
          </a:p>
        </p:txBody>
      </p:sp>
    </p:spTree>
    <p:extLst>
      <p:ext uri="{BB962C8B-B14F-4D97-AF65-F5344CB8AC3E}">
        <p14:creationId xmlns:p14="http://schemas.microsoft.com/office/powerpoint/2010/main" val="3245865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What is a Bus?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504238" cy="2286000"/>
          </a:xfrm>
        </p:spPr>
        <p:txBody>
          <a:bodyPr/>
          <a:lstStyle/>
          <a:p>
            <a:pPr algn="just" eaLnBrk="1" hangingPunct="1"/>
            <a:r>
              <a:rPr lang="en-GB" dirty="0"/>
              <a:t>A communication pathway connecting two or more devices</a:t>
            </a:r>
          </a:p>
          <a:p>
            <a:pPr algn="just" eaLnBrk="1" hangingPunct="1"/>
            <a:r>
              <a:rPr lang="en-GB" dirty="0"/>
              <a:t>Often grouped</a:t>
            </a:r>
          </a:p>
          <a:p>
            <a:pPr lvl="1" algn="just" eaLnBrk="1" hangingPunct="1"/>
            <a:r>
              <a:rPr lang="en-GB" dirty="0">
                <a:solidFill>
                  <a:schemeClr val="tx1"/>
                </a:solidFill>
              </a:rPr>
              <a:t>A number of channels in one bus</a:t>
            </a:r>
          </a:p>
          <a:p>
            <a:pPr lvl="1" algn="just" eaLnBrk="1" hangingPunct="1"/>
            <a:r>
              <a:rPr lang="en-GB" dirty="0">
                <a:solidFill>
                  <a:schemeClr val="tx1"/>
                </a:solidFill>
              </a:rPr>
              <a:t>e.g. 32-bit data bus is 32 separate single bit channels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A6C819-E8BA-4EF0-BF75-4A2E8F6505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62000" y="4659312"/>
            <a:ext cx="1828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CPU</a:t>
            </a:r>
          </a:p>
        </p:txBody>
      </p:sp>
      <p:sp>
        <p:nvSpPr>
          <p:cNvPr id="7" name="Rectangle 6"/>
          <p:cNvSpPr/>
          <p:nvPr/>
        </p:nvSpPr>
        <p:spPr>
          <a:xfrm>
            <a:off x="3581400" y="4659312"/>
            <a:ext cx="1828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Memory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4659312"/>
            <a:ext cx="1828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I/O</a:t>
            </a:r>
          </a:p>
        </p:txBody>
      </p:sp>
      <p:sp>
        <p:nvSpPr>
          <p:cNvPr id="9" name="U-Turn Arrow 8"/>
          <p:cNvSpPr/>
          <p:nvPr/>
        </p:nvSpPr>
        <p:spPr>
          <a:xfrm>
            <a:off x="1600200" y="4278312"/>
            <a:ext cx="5562600" cy="38100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Down Arrow 9"/>
          <p:cNvSpPr/>
          <p:nvPr/>
        </p:nvSpPr>
        <p:spPr>
          <a:xfrm>
            <a:off x="4419600" y="4354512"/>
            <a:ext cx="228600" cy="304800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TextBox 13"/>
          <p:cNvSpPr txBox="1">
            <a:spLocks noChangeArrowheads="1"/>
          </p:cNvSpPr>
          <p:nvPr/>
        </p:nvSpPr>
        <p:spPr bwMode="auto">
          <a:xfrm>
            <a:off x="3429000" y="3821112"/>
            <a:ext cx="2362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/>
              <a:t>Address Bus</a:t>
            </a:r>
          </a:p>
        </p:txBody>
      </p:sp>
      <p:sp>
        <p:nvSpPr>
          <p:cNvPr id="12" name="Bent-Up Arrow 11"/>
          <p:cNvSpPr/>
          <p:nvPr/>
        </p:nvSpPr>
        <p:spPr>
          <a:xfrm>
            <a:off x="4495800" y="5573712"/>
            <a:ext cx="2667000" cy="45720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Bent-Up Arrow 12"/>
          <p:cNvSpPr/>
          <p:nvPr/>
        </p:nvSpPr>
        <p:spPr>
          <a:xfrm>
            <a:off x="1752600" y="5573712"/>
            <a:ext cx="2819400" cy="45720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Up Arrow 13"/>
          <p:cNvSpPr/>
          <p:nvPr/>
        </p:nvSpPr>
        <p:spPr>
          <a:xfrm>
            <a:off x="1676400" y="5573712"/>
            <a:ext cx="228600" cy="4572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TextBox 17"/>
          <p:cNvSpPr txBox="1">
            <a:spLocks noChangeArrowheads="1"/>
          </p:cNvSpPr>
          <p:nvPr/>
        </p:nvSpPr>
        <p:spPr bwMode="auto">
          <a:xfrm>
            <a:off x="2514600" y="5497512"/>
            <a:ext cx="2590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/>
              <a:t>Control Bus</a:t>
            </a:r>
          </a:p>
        </p:txBody>
      </p:sp>
      <p:sp>
        <p:nvSpPr>
          <p:cNvPr id="16" name="TextBox 19"/>
          <p:cNvSpPr txBox="1">
            <a:spLocks noChangeArrowheads="1"/>
          </p:cNvSpPr>
          <p:nvPr/>
        </p:nvSpPr>
        <p:spPr bwMode="auto">
          <a:xfrm>
            <a:off x="3352800" y="6488112"/>
            <a:ext cx="2590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Data Bus</a:t>
            </a:r>
          </a:p>
        </p:txBody>
      </p:sp>
      <p:sp>
        <p:nvSpPr>
          <p:cNvPr id="17" name="Bent-Up Arrow 16"/>
          <p:cNvSpPr/>
          <p:nvPr/>
        </p:nvSpPr>
        <p:spPr>
          <a:xfrm>
            <a:off x="4724400" y="5649912"/>
            <a:ext cx="3124200" cy="685800"/>
          </a:xfrm>
          <a:prstGeom prst="bentUp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Up Arrow 17"/>
          <p:cNvSpPr/>
          <p:nvPr/>
        </p:nvSpPr>
        <p:spPr>
          <a:xfrm>
            <a:off x="4648200" y="5573712"/>
            <a:ext cx="304800" cy="762000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Bent-Up Arrow 18"/>
          <p:cNvSpPr/>
          <p:nvPr/>
        </p:nvSpPr>
        <p:spPr>
          <a:xfrm flipH="1">
            <a:off x="1905000" y="5573712"/>
            <a:ext cx="2819400" cy="762000"/>
          </a:xfrm>
          <a:prstGeom prst="bentUp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78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Data Bus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48663" cy="4572000"/>
          </a:xfrm>
        </p:spPr>
        <p:txBody>
          <a:bodyPr/>
          <a:lstStyle/>
          <a:p>
            <a:pPr algn="just" eaLnBrk="1" hangingPunct="1"/>
            <a:r>
              <a:rPr lang="en-GB" sz="2800" dirty="0"/>
              <a:t>Carries data</a:t>
            </a:r>
          </a:p>
          <a:p>
            <a:pPr lvl="1" algn="just" eaLnBrk="1" hangingPunct="1"/>
            <a:r>
              <a:rPr lang="en-GB" sz="2400" dirty="0">
                <a:solidFill>
                  <a:schemeClr val="tx1"/>
                </a:solidFill>
              </a:rPr>
              <a:t>Remember that there is no difference between “data” and “instruction” at this level</a:t>
            </a:r>
          </a:p>
          <a:p>
            <a:pPr algn="just" eaLnBrk="1" hangingPunct="1"/>
            <a:r>
              <a:rPr lang="en-GB" sz="2800" dirty="0"/>
              <a:t>Width is a key determinant of performance</a:t>
            </a:r>
          </a:p>
          <a:p>
            <a:pPr lvl="1" algn="just" eaLnBrk="1" hangingPunct="1"/>
            <a:r>
              <a:rPr lang="en-GB" sz="2400" dirty="0">
                <a:solidFill>
                  <a:schemeClr val="tx1"/>
                </a:solidFill>
              </a:rPr>
              <a:t>8, 16, 32, 64 bit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E033F8-D481-4993-90C6-652B7224014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479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Address bus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504238" cy="4572000"/>
          </a:xfrm>
        </p:spPr>
        <p:txBody>
          <a:bodyPr/>
          <a:lstStyle/>
          <a:p>
            <a:pPr algn="just" eaLnBrk="1" hangingPunct="1"/>
            <a:r>
              <a:rPr lang="en-GB" dirty="0"/>
              <a:t>Identify the source or destination of data</a:t>
            </a:r>
          </a:p>
          <a:p>
            <a:pPr lvl="1" algn="just"/>
            <a:r>
              <a:rPr lang="en-GB" dirty="0"/>
              <a:t>e.g. CPU needs to read an instruction (data) from a given location in memory</a:t>
            </a:r>
          </a:p>
          <a:p>
            <a:pPr algn="just" eaLnBrk="1" hangingPunct="1"/>
            <a:r>
              <a:rPr lang="en-GB" dirty="0"/>
              <a:t>Bus width determines maximum memory capacity of system</a:t>
            </a:r>
          </a:p>
          <a:p>
            <a:pPr lvl="1" algn="just" eaLnBrk="1" hangingPunct="1"/>
            <a:r>
              <a:rPr lang="en-GB" dirty="0">
                <a:solidFill>
                  <a:schemeClr val="tx1"/>
                </a:solidFill>
              </a:rPr>
              <a:t>e.g. 8080 has 16 bit address bus giving 64k address space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A6A412-DE7F-4EF0-92A1-4A3587358DC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741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Control Bus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82000" cy="4572000"/>
          </a:xfrm>
        </p:spPr>
        <p:txBody>
          <a:bodyPr/>
          <a:lstStyle/>
          <a:p>
            <a:pPr algn="just" eaLnBrk="1" hangingPunct="1"/>
            <a:r>
              <a:rPr lang="en-GB" sz="2800" dirty="0"/>
              <a:t>Control and timing information</a:t>
            </a:r>
          </a:p>
          <a:p>
            <a:pPr lvl="1" algn="just" eaLnBrk="1" hangingPunct="1"/>
            <a:r>
              <a:rPr lang="en-GB" sz="2400" dirty="0">
                <a:solidFill>
                  <a:schemeClr val="tx1"/>
                </a:solidFill>
              </a:rPr>
              <a:t>Memory read/write signal</a:t>
            </a:r>
          </a:p>
          <a:p>
            <a:pPr lvl="1" algn="just" eaLnBrk="1" hangingPunct="1"/>
            <a:r>
              <a:rPr lang="en-GB" sz="2400" u="sng" dirty="0">
                <a:solidFill>
                  <a:schemeClr val="tx1"/>
                </a:solidFill>
              </a:rPr>
              <a:t>Interrupt request</a:t>
            </a:r>
          </a:p>
          <a:p>
            <a:pPr lvl="1" algn="just" eaLnBrk="1" hangingPunct="1"/>
            <a:r>
              <a:rPr lang="en-GB" sz="2400" u="sng" dirty="0">
                <a:solidFill>
                  <a:schemeClr val="tx1"/>
                </a:solidFill>
              </a:rPr>
              <a:t>Clock signals</a:t>
            </a:r>
          </a:p>
          <a:p>
            <a:pPr lvl="1" algn="just" eaLnBrk="1" hangingPunct="1"/>
            <a:endParaRPr lang="en-GB" sz="2400" dirty="0">
              <a:solidFill>
                <a:schemeClr val="tx1"/>
              </a:solidFill>
            </a:endParaRPr>
          </a:p>
          <a:p>
            <a:pPr algn="just" eaLnBrk="1" hangingPunct="1"/>
            <a:endParaRPr lang="en-GB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57F68D-9C35-45A3-8258-BC575845D140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24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Transfer 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r>
              <a:rPr lang="en-US"/>
              <a:t>Memory to Processor</a:t>
            </a:r>
          </a:p>
          <a:p>
            <a:r>
              <a:rPr lang="en-US"/>
              <a:t>Processor to Memory</a:t>
            </a:r>
          </a:p>
          <a:p>
            <a:r>
              <a:rPr lang="en-US"/>
              <a:t>I/O to Processor</a:t>
            </a:r>
          </a:p>
          <a:p>
            <a:r>
              <a:rPr lang="en-US"/>
              <a:t>Processor to I/O</a:t>
            </a:r>
          </a:p>
          <a:p>
            <a:r>
              <a:rPr lang="en-US"/>
              <a:t>I/O to and from Memory</a:t>
            </a:r>
          </a:p>
          <a:p>
            <a:pPr lvl="1">
              <a:buFont typeface="Wingdings 3" pitchFamily="18" charset="2"/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09431-5D92-483A-BCB3-54694381EB79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665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Interconnection Structure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algn="just"/>
            <a:r>
              <a:rPr lang="en-US" dirty="0"/>
              <a:t>Memory</a:t>
            </a:r>
          </a:p>
          <a:p>
            <a:pPr lvl="1" algn="just"/>
            <a:r>
              <a:rPr lang="en-US" dirty="0"/>
              <a:t>N words of equal length, each word having a unique address</a:t>
            </a:r>
          </a:p>
          <a:p>
            <a:pPr lvl="1" algn="just"/>
            <a:r>
              <a:rPr lang="en-US" dirty="0"/>
              <a:t>Unit of Transfer (read/Write): Word</a:t>
            </a:r>
          </a:p>
          <a:p>
            <a:pPr lvl="1" algn="just"/>
            <a:r>
              <a:rPr lang="en-US" dirty="0"/>
              <a:t>Operation: Read/Write indicated by Control Signal</a:t>
            </a:r>
          </a:p>
          <a:p>
            <a:pPr lvl="1" algn="just"/>
            <a:r>
              <a:rPr lang="en-US" dirty="0"/>
              <a:t>Location of operation specified by an address</a:t>
            </a:r>
          </a:p>
          <a:p>
            <a:pPr algn="just"/>
            <a:r>
              <a:rPr lang="en-US" dirty="0"/>
              <a:t>I/O Module (Middleman)</a:t>
            </a:r>
          </a:p>
          <a:p>
            <a:pPr lvl="1" algn="just"/>
            <a:r>
              <a:rPr lang="en-US" dirty="0"/>
              <a:t>Two operations: read and write</a:t>
            </a:r>
          </a:p>
          <a:p>
            <a:pPr lvl="1" algn="just"/>
            <a:r>
              <a:rPr lang="en-US" dirty="0"/>
              <a:t>May control other external devices</a:t>
            </a:r>
          </a:p>
          <a:p>
            <a:pPr lvl="1" algn="just"/>
            <a:r>
              <a:rPr lang="en-US" dirty="0"/>
              <a:t>Port: interface between I/O module and device</a:t>
            </a:r>
          </a:p>
          <a:p>
            <a:pPr lvl="1" algn="just"/>
            <a:r>
              <a:rPr lang="en-US" dirty="0"/>
              <a:t>Able to send interrupt signal to CPU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F2DE0E-FB1C-472F-B6BF-E725FF83BC2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012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marL="273050" lvl="1" algn="just">
              <a:spcBef>
                <a:spcPts val="600"/>
              </a:spcBef>
              <a:buClr>
                <a:schemeClr val="accent1"/>
              </a:buClr>
              <a:defRPr/>
            </a:pPr>
            <a:r>
              <a:rPr lang="en-US" dirty="0"/>
              <a:t>CPU</a:t>
            </a:r>
          </a:p>
          <a:p>
            <a:pPr lvl="1" algn="just">
              <a:defRPr/>
            </a:pPr>
            <a:r>
              <a:rPr lang="en-US" dirty="0"/>
              <a:t>Reads in instruction and data</a:t>
            </a:r>
          </a:p>
          <a:p>
            <a:pPr lvl="1" algn="just">
              <a:defRPr/>
            </a:pPr>
            <a:r>
              <a:rPr lang="en-US" dirty="0"/>
              <a:t>Writes out data</a:t>
            </a:r>
          </a:p>
          <a:p>
            <a:pPr lvl="1" algn="just">
              <a:defRPr/>
            </a:pPr>
            <a:r>
              <a:rPr lang="en-US" dirty="0"/>
              <a:t>Uses control signal to control all operations</a:t>
            </a:r>
          </a:p>
          <a:p>
            <a:pPr lvl="1" algn="just">
              <a:defRPr/>
            </a:pPr>
            <a:r>
              <a:rPr lang="en-US" dirty="0"/>
              <a:t>Receives interrupt signal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D3414F-1010-4EFE-870E-584CD54D9CD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28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76A11A-4390-47CC-9810-16D3A6C1B0E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36870" name="Picture 4"/>
          <p:cNvPicPr>
            <a:picLocks noChangeAspect="1" noChangeArrowheads="1"/>
          </p:cNvPicPr>
          <p:nvPr/>
        </p:nvPicPr>
        <p:blipFill>
          <a:blip r:embed="rId2" cstate="print"/>
          <a:srcRect l="22549" t="9848" r="24510" b="15909"/>
          <a:stretch>
            <a:fillRect/>
          </a:stretch>
        </p:blipFill>
        <p:spPr bwMode="auto">
          <a:xfrm>
            <a:off x="2438400" y="1066800"/>
            <a:ext cx="3190875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Connector 7"/>
          <p:cNvCxnSpPr/>
          <p:nvPr/>
        </p:nvCxnSpPr>
        <p:spPr>
          <a:xfrm rot="10800000">
            <a:off x="1752600" y="4191000"/>
            <a:ext cx="3429000" cy="144780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1828800" y="3962400"/>
            <a:ext cx="838200" cy="22860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5400000" flipH="1" flipV="1">
            <a:off x="1028700" y="2705100"/>
            <a:ext cx="2286000" cy="68580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629400" y="1600200"/>
            <a:ext cx="2057400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Address</a:t>
            </a:r>
          </a:p>
          <a:p>
            <a:pPr>
              <a:defRPr/>
            </a:pPr>
            <a:r>
              <a:rPr lang="en-GB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Data Read</a:t>
            </a:r>
          </a:p>
          <a:p>
            <a:pPr>
              <a:defRPr/>
            </a:pPr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Data Write</a:t>
            </a:r>
          </a:p>
          <a:p>
            <a:pPr>
              <a:defRPr/>
            </a:pPr>
            <a:r>
              <a:rPr lang="en-GB" b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Interrupt Signals</a:t>
            </a:r>
          </a:p>
        </p:txBody>
      </p:sp>
      <p:cxnSp>
        <p:nvCxnSpPr>
          <p:cNvPr id="20" name="Straight Connector 19"/>
          <p:cNvCxnSpPr/>
          <p:nvPr/>
        </p:nvCxnSpPr>
        <p:spPr>
          <a:xfrm rot="10800000" flipV="1">
            <a:off x="1371600" y="1905000"/>
            <a:ext cx="4114800" cy="3733800"/>
          </a:xfrm>
          <a:prstGeom prst="line">
            <a:avLst/>
          </a:prstGeom>
          <a:ln w="38100">
            <a:solidFill>
              <a:srgbClr val="0070C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rot="10800000" flipV="1">
            <a:off x="1447800" y="3505200"/>
            <a:ext cx="4038600" cy="2133600"/>
          </a:xfrm>
          <a:prstGeom prst="line">
            <a:avLst/>
          </a:prstGeom>
          <a:ln w="38100">
            <a:solidFill>
              <a:srgbClr val="0070C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524000" y="5638800"/>
            <a:ext cx="990600" cy="457200"/>
          </a:xfrm>
          <a:prstGeom prst="line">
            <a:avLst/>
          </a:prstGeom>
          <a:ln w="38100">
            <a:solidFill>
              <a:srgbClr val="0070C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10800000">
            <a:off x="990600" y="4038600"/>
            <a:ext cx="4495800" cy="2438400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1066800" y="4038600"/>
            <a:ext cx="1524000" cy="228600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rot="5400000" flipH="1" flipV="1">
            <a:off x="876300" y="2400300"/>
            <a:ext cx="1752600" cy="1524000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rot="10800000" flipV="1">
            <a:off x="2514600" y="4343400"/>
            <a:ext cx="2895600" cy="2286000"/>
          </a:xfrm>
          <a:prstGeom prst="line">
            <a:avLst/>
          </a:prstGeom>
          <a:ln w="38100">
            <a:solidFill>
              <a:srgbClr val="7030A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1524000" y="5562600"/>
            <a:ext cx="990600" cy="76200"/>
          </a:xfrm>
          <a:prstGeom prst="line">
            <a:avLst/>
          </a:prstGeom>
          <a:ln w="38100">
            <a:solidFill>
              <a:srgbClr val="0070C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6451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3" dur="8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4" dur="8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8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1" dur="8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2" dur="8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8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00"/>
                            </p:stCondLst>
                            <p:childTnLst>
                              <p:par>
                                <p:cTn id="8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00"/>
                            </p:stCondLst>
                            <p:childTnLst>
                              <p:par>
                                <p:cTn id="9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2" dur="8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13" dur="8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8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R</a:t>
            </a:r>
            <a:r>
              <a:rPr lang="en-US" dirty="0"/>
              <a:t>egisters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Registers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4937125"/>
          </a:xfrm>
        </p:spPr>
        <p:txBody>
          <a:bodyPr/>
          <a:lstStyle/>
          <a:p>
            <a:pPr algn="just" eaLnBrk="1" hangingPunct="1"/>
            <a:r>
              <a:rPr lang="en-US" sz="2400" dirty="0">
                <a:cs typeface="Times New Roman" pitchFamily="18" charset="0"/>
              </a:rPr>
              <a:t>Registers are high-speed storage locations inside the microprocessor.</a:t>
            </a:r>
          </a:p>
          <a:p>
            <a:pPr algn="just" eaLnBrk="1" hangingPunct="1"/>
            <a:r>
              <a:rPr lang="en-US" sz="2400" dirty="0">
                <a:cs typeface="Times New Roman" pitchFamily="18" charset="0"/>
              </a:rPr>
              <a:t>Designed to be accessed at much higher speed than conventional memory.</a:t>
            </a:r>
          </a:p>
          <a:p>
            <a:pPr algn="just" eaLnBrk="1" hangingPunct="1"/>
            <a:r>
              <a:rPr lang="en-US" sz="2400" dirty="0">
                <a:cs typeface="Times New Roman" pitchFamily="18" charset="0"/>
              </a:rPr>
              <a:t>Registers are classified according to the functions they perform.</a:t>
            </a:r>
          </a:p>
          <a:p>
            <a:pPr algn="just" eaLnBrk="1" hangingPunct="1"/>
            <a:r>
              <a:rPr lang="en-US" sz="2400" dirty="0">
                <a:cs typeface="Times New Roman" pitchFamily="18" charset="0"/>
              </a:rPr>
              <a:t>General Types of Registers:</a:t>
            </a:r>
          </a:p>
          <a:p>
            <a:pPr lvl="1" algn="just" eaLnBrk="1" hangingPunct="1"/>
            <a:r>
              <a:rPr lang="en-US" sz="2000" b="1" dirty="0">
                <a:cs typeface="Times New Roman" pitchFamily="18" charset="0"/>
              </a:rPr>
              <a:t>Data Registers</a:t>
            </a:r>
            <a:r>
              <a:rPr lang="en-US" sz="2000" dirty="0">
                <a:cs typeface="Times New Roman" pitchFamily="18" charset="0"/>
              </a:rPr>
              <a:t>:  To hold data for an operation. </a:t>
            </a:r>
          </a:p>
          <a:p>
            <a:pPr lvl="1" algn="just" eaLnBrk="1" hangingPunct="1"/>
            <a:r>
              <a:rPr lang="en-US" sz="2000" b="1" dirty="0">
                <a:cs typeface="Times New Roman" pitchFamily="18" charset="0"/>
              </a:rPr>
              <a:t>Address Registers</a:t>
            </a:r>
            <a:r>
              <a:rPr lang="en-US" sz="2000" dirty="0">
                <a:cs typeface="Times New Roman" pitchFamily="18" charset="0"/>
              </a:rPr>
              <a:t>: To hold the address of an instruction or data.</a:t>
            </a:r>
          </a:p>
          <a:p>
            <a:pPr lvl="1" algn="just" eaLnBrk="1" hangingPunct="1"/>
            <a:r>
              <a:rPr lang="en-US" sz="2000" b="1" dirty="0">
                <a:cs typeface="Times New Roman" pitchFamily="18" charset="0"/>
              </a:rPr>
              <a:t>Status/Flag Register</a:t>
            </a:r>
            <a:r>
              <a:rPr lang="en-US" sz="2000" dirty="0">
                <a:cs typeface="Times New Roman" pitchFamily="18" charset="0"/>
              </a:rPr>
              <a:t>: keeps the current status of the processor or result of an arithmetic operation.</a:t>
            </a:r>
          </a:p>
          <a:p>
            <a:pPr algn="just" eaLnBrk="1" hangingPunct="1"/>
            <a:endParaRPr lang="en-US" sz="2000" dirty="0">
              <a:cs typeface="Times New Roman" pitchFamily="18" charset="0"/>
            </a:endParaRPr>
          </a:p>
          <a:p>
            <a:pPr lvl="2" eaLnBrk="1" hangingPunct="1">
              <a:buFontTx/>
              <a:buNone/>
            </a:pPr>
            <a:endParaRPr lang="en-US" sz="1600" dirty="0">
              <a:cs typeface="Times New Roman" pitchFamily="18" charset="0"/>
            </a:endParaRPr>
          </a:p>
          <a:p>
            <a:pPr eaLnBrk="1" hangingPunct="1"/>
            <a:endParaRPr lang="en-US" dirty="0"/>
          </a:p>
        </p:txBody>
      </p:sp>
      <p:sp>
        <p:nvSpPr>
          <p:cNvPr id="307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D4E6AA-047B-44C6-99EA-8532B279CCE9}" type="slidenum">
              <a:rPr lang="en-US" smtClean="0">
                <a:latin typeface="Arial" pitchFamily="34" charset="0"/>
              </a:rPr>
              <a:pPr>
                <a:defRPr/>
              </a:pPr>
              <a:t>13</a:t>
            </a:fld>
            <a:endParaRPr lang="en-US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8312E6-8E68-4A9D-9CB1-42445363EAD2}" type="slidenum">
              <a:rPr lang="en-US" altLang="en-US" smtClean="0">
                <a:latin typeface="Arial" pitchFamily="34" charset="0"/>
              </a:rPr>
              <a:pPr>
                <a:defRPr/>
              </a:pPr>
              <a:t>14</a:t>
            </a:fld>
            <a:endParaRPr lang="en-US" altLang="en-US">
              <a:latin typeface="Arial" pitchFamily="34" charset="0"/>
            </a:endParaRPr>
          </a:p>
        </p:txBody>
      </p:sp>
      <p:sp>
        <p:nvSpPr>
          <p:cNvPr id="21507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620000" cy="457200"/>
          </a:xfrm>
          <a:noFill/>
        </p:spPr>
        <p:txBody>
          <a:bodyPr/>
          <a:lstStyle/>
          <a:p>
            <a:pPr eaLnBrk="1" hangingPunct="1"/>
            <a:r>
              <a:rPr lang="en-US" sz="2400" b="1" dirty="0"/>
              <a:t>8086 Internal registers 16 bits (2 bytes each)</a:t>
            </a:r>
          </a:p>
        </p:txBody>
      </p:sp>
      <p:pic>
        <p:nvPicPr>
          <p:cNvPr id="21508" name="Picture 5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5283" y="681038"/>
            <a:ext cx="441325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495" name="Rectangle 7"/>
          <p:cNvSpPr>
            <a:spLocks noChangeArrowheads="1"/>
          </p:cNvSpPr>
          <p:nvPr/>
        </p:nvSpPr>
        <p:spPr bwMode="auto">
          <a:xfrm>
            <a:off x="4953000" y="838200"/>
            <a:ext cx="3962400" cy="1371600"/>
          </a:xfrm>
          <a:prstGeom prst="rect">
            <a:avLst/>
          </a:prstGeom>
          <a:solidFill>
            <a:srgbClr val="B9D1D0"/>
          </a:solidFill>
          <a:ln w="12699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dirty="0">
              <a:cs typeface="Arial" pitchFamily="34" charset="0"/>
            </a:endParaRPr>
          </a:p>
        </p:txBody>
      </p:sp>
      <p:sp>
        <p:nvSpPr>
          <p:cNvPr id="63496" name="Rectangle 8"/>
          <p:cNvSpPr>
            <a:spLocks noChangeArrowheads="1"/>
          </p:cNvSpPr>
          <p:nvPr/>
        </p:nvSpPr>
        <p:spPr bwMode="auto">
          <a:xfrm>
            <a:off x="5051425" y="966788"/>
            <a:ext cx="3765550" cy="1266825"/>
          </a:xfrm>
          <a:prstGeom prst="rect">
            <a:avLst/>
          </a:prstGeom>
          <a:solidFill>
            <a:srgbClr val="B9D1D0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400" dirty="0">
                <a:latin typeface="Times New Roman" pitchFamily="18" charset="0"/>
              </a:rPr>
              <a:t>AX, BX, CX and DX are two</a:t>
            </a:r>
          </a:p>
          <a:p>
            <a:pPr algn="ctr" eaLnBrk="0" hangingPunct="0"/>
            <a:r>
              <a:rPr lang="en-US" sz="2400" dirty="0">
                <a:latin typeface="Times New Roman" pitchFamily="18" charset="0"/>
              </a:rPr>
              <a:t>bytes wide and each byte can </a:t>
            </a:r>
          </a:p>
          <a:p>
            <a:pPr algn="ctr" eaLnBrk="0" hangingPunct="0"/>
            <a:r>
              <a:rPr lang="en-US" sz="2400" dirty="0">
                <a:latin typeface="Times New Roman" pitchFamily="18" charset="0"/>
              </a:rPr>
              <a:t>be accessed separately</a:t>
            </a:r>
          </a:p>
        </p:txBody>
      </p:sp>
      <p:sp>
        <p:nvSpPr>
          <p:cNvPr id="63497" name="Rectangle 9"/>
          <p:cNvSpPr>
            <a:spLocks noChangeArrowheads="1"/>
          </p:cNvSpPr>
          <p:nvPr/>
        </p:nvSpPr>
        <p:spPr bwMode="auto">
          <a:xfrm>
            <a:off x="4953000" y="2362200"/>
            <a:ext cx="3962400" cy="1371600"/>
          </a:xfrm>
          <a:prstGeom prst="rect">
            <a:avLst/>
          </a:prstGeom>
          <a:solidFill>
            <a:srgbClr val="B9D1D0"/>
          </a:solidFill>
          <a:ln w="12699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dirty="0">
              <a:cs typeface="Arial" pitchFamily="34" charset="0"/>
            </a:endParaRPr>
          </a:p>
        </p:txBody>
      </p:sp>
      <p:sp>
        <p:nvSpPr>
          <p:cNvPr id="63498" name="Rectangle 10"/>
          <p:cNvSpPr>
            <a:spLocks noChangeArrowheads="1"/>
          </p:cNvSpPr>
          <p:nvPr/>
        </p:nvSpPr>
        <p:spPr bwMode="auto">
          <a:xfrm>
            <a:off x="5101724" y="2402055"/>
            <a:ext cx="3765550" cy="1266825"/>
          </a:xfrm>
          <a:prstGeom prst="rect">
            <a:avLst/>
          </a:prstGeom>
          <a:solidFill>
            <a:srgbClr val="B9D1D0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400" dirty="0">
                <a:latin typeface="Times New Roman" pitchFamily="18" charset="0"/>
              </a:rPr>
              <a:t>These registers are used as </a:t>
            </a:r>
          </a:p>
          <a:p>
            <a:pPr algn="ctr" eaLnBrk="0" hangingPunct="0"/>
            <a:r>
              <a:rPr lang="en-US" sz="2400" dirty="0">
                <a:latin typeface="Times New Roman" pitchFamily="18" charset="0"/>
              </a:rPr>
              <a:t>memory </a:t>
            </a:r>
            <a:r>
              <a:rPr lang="en-US" sz="2400" i="1" u="sng" dirty="0">
                <a:solidFill>
                  <a:srgbClr val="FF0000"/>
                </a:solidFill>
                <a:latin typeface="Times New Roman" pitchFamily="18" charset="0"/>
              </a:rPr>
              <a:t>pointers</a:t>
            </a:r>
            <a:r>
              <a:rPr lang="en-US" sz="2400" dirty="0">
                <a:latin typeface="Times New Roman" pitchFamily="18" charset="0"/>
              </a:rPr>
              <a:t>.</a:t>
            </a:r>
          </a:p>
        </p:txBody>
      </p:sp>
      <p:sp>
        <p:nvSpPr>
          <p:cNvPr id="63501" name="Rectangle 13"/>
          <p:cNvSpPr>
            <a:spLocks noChangeArrowheads="1"/>
          </p:cNvSpPr>
          <p:nvPr/>
        </p:nvSpPr>
        <p:spPr bwMode="auto">
          <a:xfrm>
            <a:off x="4953000" y="4876800"/>
            <a:ext cx="3962400" cy="1371600"/>
          </a:xfrm>
          <a:prstGeom prst="rect">
            <a:avLst/>
          </a:prstGeom>
          <a:solidFill>
            <a:srgbClr val="B9D1D0"/>
          </a:solidFill>
          <a:ln w="12699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dirty="0">
              <a:cs typeface="Arial" pitchFamily="34" charset="0"/>
            </a:endParaRPr>
          </a:p>
        </p:txBody>
      </p:sp>
      <p:sp>
        <p:nvSpPr>
          <p:cNvPr id="63502" name="Rectangle 14"/>
          <p:cNvSpPr>
            <a:spLocks noChangeArrowheads="1"/>
          </p:cNvSpPr>
          <p:nvPr/>
        </p:nvSpPr>
        <p:spPr bwMode="auto">
          <a:xfrm>
            <a:off x="5051425" y="5105400"/>
            <a:ext cx="3765550" cy="1143000"/>
          </a:xfrm>
          <a:prstGeom prst="rect">
            <a:avLst/>
          </a:prstGeom>
          <a:solidFill>
            <a:srgbClr val="B9D1D0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400" dirty="0">
                <a:latin typeface="Times New Roman" pitchFamily="18" charset="0"/>
              </a:rPr>
              <a:t>Segment registers are used</a:t>
            </a:r>
          </a:p>
          <a:p>
            <a:pPr algn="ctr" eaLnBrk="0" hangingPunct="0"/>
            <a:r>
              <a:rPr lang="en-US" sz="2400" dirty="0">
                <a:latin typeface="Times New Roman" pitchFamily="18" charset="0"/>
              </a:rPr>
              <a:t>as base address for a segment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4876800" y="4038600"/>
            <a:ext cx="4038600" cy="609600"/>
            <a:chOff x="3072" y="2496"/>
            <a:chExt cx="2544" cy="384"/>
          </a:xfrm>
        </p:grpSpPr>
        <p:sp>
          <p:nvSpPr>
            <p:cNvPr id="63499" name="Rectangle 11"/>
            <p:cNvSpPr>
              <a:spLocks noChangeArrowheads="1"/>
            </p:cNvSpPr>
            <p:nvPr/>
          </p:nvSpPr>
          <p:spPr bwMode="auto">
            <a:xfrm>
              <a:off x="3120" y="2496"/>
              <a:ext cx="2496" cy="384"/>
            </a:xfrm>
            <a:prstGeom prst="rect">
              <a:avLst/>
            </a:prstGeom>
            <a:solidFill>
              <a:srgbClr val="FFFF99"/>
            </a:solidFill>
            <a:ln w="12699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pitchFamily="34" charset="0"/>
              </a:endParaRPr>
            </a:p>
          </p:txBody>
        </p:sp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3072" y="2544"/>
              <a:ext cx="2496" cy="318"/>
              <a:chOff x="3072" y="2544"/>
              <a:chExt cx="2496" cy="318"/>
            </a:xfrm>
          </p:grpSpPr>
          <p:sp>
            <p:nvSpPr>
              <p:cNvPr id="21518" name="Rectangle 12"/>
              <p:cNvSpPr>
                <a:spLocks noChangeArrowheads="1"/>
              </p:cNvSpPr>
              <p:nvPr/>
            </p:nvSpPr>
            <p:spPr bwMode="auto">
              <a:xfrm>
                <a:off x="3182" y="2544"/>
                <a:ext cx="2372" cy="3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endParaRPr lang="en-US"/>
              </a:p>
            </p:txBody>
          </p:sp>
          <p:sp>
            <p:nvSpPr>
              <p:cNvPr id="21519" name="Text Box 15"/>
              <p:cNvSpPr txBox="1">
                <a:spLocks noChangeArrowheads="1"/>
              </p:cNvSpPr>
              <p:nvPr/>
            </p:nvSpPr>
            <p:spPr bwMode="auto">
              <a:xfrm>
                <a:off x="3072" y="2544"/>
                <a:ext cx="249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400" b="1">
                    <a:latin typeface="Times New Roman" pitchFamily="18" charset="0"/>
                  </a:rPr>
                  <a:t>6 status; 3 control ; 7 unused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3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3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3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3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5" grpId="0" animBg="1"/>
      <p:bldP spid="63496" grpId="0" animBg="1" autoUpdateAnimBg="0"/>
      <p:bldP spid="63497" grpId="0" animBg="1"/>
      <p:bldP spid="63498" grpId="0" animBg="1" autoUpdateAnimBg="0"/>
      <p:bldP spid="63501" grpId="0" animBg="1"/>
      <p:bldP spid="63502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001000" cy="838200"/>
          </a:xfrm>
          <a:noFill/>
        </p:spPr>
        <p:txBody>
          <a:bodyPr/>
          <a:lstStyle/>
          <a:p>
            <a:pPr eaLnBrk="1" hangingPunct="1"/>
            <a:r>
              <a:rPr lang="en-US" dirty="0"/>
              <a:t>General Purpose/Data Registers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001000" cy="5029200"/>
          </a:xfrm>
          <a:noFill/>
        </p:spPr>
        <p:txBody>
          <a:bodyPr/>
          <a:lstStyle/>
          <a:p>
            <a:pPr algn="just" eaLnBrk="1" hangingPunct="1">
              <a:spcAft>
                <a:spcPts val="400"/>
              </a:spcAft>
            </a:pPr>
            <a:r>
              <a:rPr lang="en-US" sz="2000" dirty="0"/>
              <a:t>Following four registers are available to the programmer for general data manipulation:</a:t>
            </a:r>
          </a:p>
          <a:p>
            <a:pPr algn="just" eaLnBrk="1" hangingPunct="1">
              <a:spcAft>
                <a:spcPts val="400"/>
              </a:spcAft>
            </a:pPr>
            <a:r>
              <a:rPr lang="en-US" sz="2000" b="1" dirty="0"/>
              <a:t>AX (Accumulator):</a:t>
            </a:r>
            <a:r>
              <a:rPr lang="en-US" sz="2000" dirty="0"/>
              <a:t> Used in arithmetic, logic and data transfer instructions. Also required in multiplication, division and input/output operations. </a:t>
            </a:r>
          </a:p>
          <a:p>
            <a:pPr algn="just" eaLnBrk="1" hangingPunct="1">
              <a:spcAft>
                <a:spcPts val="400"/>
              </a:spcAft>
            </a:pPr>
            <a:r>
              <a:rPr lang="en-US" sz="2000" b="1" dirty="0"/>
              <a:t>BX (Base): </a:t>
            </a:r>
            <a:r>
              <a:rPr lang="en-US" sz="2000" dirty="0"/>
              <a:t>It can hold a memory address that points to a variable. </a:t>
            </a:r>
          </a:p>
          <a:p>
            <a:pPr algn="just" eaLnBrk="1" hangingPunct="1">
              <a:spcAft>
                <a:spcPts val="400"/>
              </a:spcAft>
            </a:pPr>
            <a:r>
              <a:rPr lang="en-US" sz="2000" b="1" dirty="0"/>
              <a:t>CX (Counter): </a:t>
            </a:r>
            <a:r>
              <a:rPr lang="en-US" sz="2000" dirty="0"/>
              <a:t>Act as a counter for repeating or looping instructions. These instructions automatically repeat and decrement CX and quit when equals to 0.</a:t>
            </a:r>
          </a:p>
          <a:p>
            <a:pPr algn="just" eaLnBrk="1" hangingPunct="1">
              <a:spcAft>
                <a:spcPts val="400"/>
              </a:spcAft>
            </a:pPr>
            <a:r>
              <a:rPr lang="en-US" sz="2000" b="1" dirty="0"/>
              <a:t>DX (Data): </a:t>
            </a:r>
            <a:r>
              <a:rPr lang="en-US" sz="2000" dirty="0"/>
              <a:t>It has a special role in multiply and divide operations. Also used in input/output operations. 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4E77E9-38EE-44C6-A195-AD254EE5C6A5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001000" cy="685800"/>
          </a:xfrm>
          <a:noFill/>
        </p:spPr>
        <p:txBody>
          <a:bodyPr/>
          <a:lstStyle/>
          <a:p>
            <a:pPr eaLnBrk="1" hangingPunct="1"/>
            <a:r>
              <a:rPr lang="en-US" dirty="0"/>
              <a:t>Segment Registers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001000" cy="5029200"/>
          </a:xfrm>
          <a:noFill/>
        </p:spPr>
        <p:txBody>
          <a:bodyPr/>
          <a:lstStyle/>
          <a:p>
            <a:pPr algn="just" eaLnBrk="1" hangingPunct="1"/>
            <a:r>
              <a:rPr lang="en-US" sz="2000" dirty="0"/>
              <a:t>Store addresses of instruction and data in memory.</a:t>
            </a:r>
          </a:p>
          <a:p>
            <a:pPr algn="just" eaLnBrk="1" hangingPunct="1"/>
            <a:r>
              <a:rPr lang="en-US" sz="2000" dirty="0"/>
              <a:t>These values are used by the processor to access memory locations.</a:t>
            </a:r>
          </a:p>
          <a:p>
            <a:pPr algn="just" eaLnBrk="1" hangingPunct="1"/>
            <a:r>
              <a:rPr lang="en-US" sz="2000" b="1" dirty="0"/>
              <a:t>CS (Code)</a:t>
            </a:r>
            <a:r>
              <a:rPr lang="en-US" sz="2000" dirty="0"/>
              <a:t>: Defines the starting address of the section of memory holding code.</a:t>
            </a:r>
          </a:p>
          <a:p>
            <a:pPr algn="just" eaLnBrk="1" hangingPunct="1"/>
            <a:r>
              <a:rPr lang="en-US" sz="2000" b="1" dirty="0"/>
              <a:t>DS (Data)</a:t>
            </a:r>
            <a:r>
              <a:rPr lang="en-US" sz="2000" dirty="0"/>
              <a:t>: Defines the section of memory that holds most of the data used by programs.</a:t>
            </a:r>
          </a:p>
          <a:p>
            <a:pPr algn="just" eaLnBrk="1" hangingPunct="1"/>
            <a:r>
              <a:rPr lang="en-US" sz="2000" b="1" dirty="0"/>
              <a:t>ES (Extra)</a:t>
            </a:r>
            <a:r>
              <a:rPr lang="en-US" sz="2000" dirty="0"/>
              <a:t>: This is an additional data segment that is used by some of the string instructions.</a:t>
            </a:r>
          </a:p>
          <a:p>
            <a:pPr algn="just" eaLnBrk="1" hangingPunct="1"/>
            <a:r>
              <a:rPr lang="en-US" sz="2000" b="1" dirty="0"/>
              <a:t>SS (Stack</a:t>
            </a:r>
            <a:r>
              <a:rPr lang="en-US" sz="2000" dirty="0"/>
              <a:t>): It defines the area of the memory used for stack</a:t>
            </a:r>
          </a:p>
          <a:p>
            <a:pPr algn="just" eaLnBrk="1" hangingPunct="1">
              <a:buFontTx/>
              <a:buNone/>
            </a:pPr>
            <a:endParaRPr lang="en-US" sz="2000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B56F99-E1BB-4119-95C2-190D2B48B3A7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001000" cy="762000"/>
          </a:xfrm>
          <a:noFill/>
        </p:spPr>
        <p:txBody>
          <a:bodyPr/>
          <a:lstStyle/>
          <a:p>
            <a:pPr eaLnBrk="1" hangingPunct="1"/>
            <a:r>
              <a:rPr lang="en-US" dirty="0"/>
              <a:t>Pointers and Index Registers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001000" cy="5029200"/>
          </a:xfrm>
          <a:noFill/>
        </p:spPr>
        <p:txBody>
          <a:bodyPr/>
          <a:lstStyle/>
          <a:p>
            <a:pPr algn="just" eaLnBrk="1" hangingPunct="1"/>
            <a:r>
              <a:rPr lang="en-US" sz="2000" dirty="0"/>
              <a:t>These can be accessed only as 16 bit registers.</a:t>
            </a:r>
          </a:p>
          <a:p>
            <a:pPr algn="just" eaLnBrk="1" hangingPunct="1"/>
            <a:r>
              <a:rPr lang="en-US" sz="2000" b="1" dirty="0"/>
              <a:t>IP - instruction pointer</a:t>
            </a:r>
            <a:r>
              <a:rPr lang="en-US" sz="2000" dirty="0"/>
              <a:t>: Always points to next instruction to be executed. IP register always works together with CS segment register and it points to currently executing instruction.</a:t>
            </a:r>
          </a:p>
          <a:p>
            <a:pPr algn="just" eaLnBrk="1" hangingPunct="1"/>
            <a:r>
              <a:rPr lang="en-US" sz="2000" b="1" dirty="0"/>
              <a:t>SI - source index register</a:t>
            </a:r>
            <a:r>
              <a:rPr lang="en-US" sz="2000" dirty="0"/>
              <a:t>: Can be used for pointer addressing of data. Offset address relative to DS </a:t>
            </a:r>
          </a:p>
          <a:p>
            <a:pPr algn="just" eaLnBrk="1" hangingPunct="1"/>
            <a:r>
              <a:rPr lang="en-US" sz="2000" b="1" dirty="0"/>
              <a:t>DI - destination index register</a:t>
            </a:r>
            <a:r>
              <a:rPr lang="en-US" sz="2000" dirty="0"/>
              <a:t>: Can be used for pointer addressing of data . Offset address relative to ES </a:t>
            </a:r>
          </a:p>
          <a:p>
            <a:pPr algn="just" eaLnBrk="1" hangingPunct="1"/>
            <a:r>
              <a:rPr lang="en-US" sz="2000" b="1" dirty="0"/>
              <a:t>SI</a:t>
            </a:r>
            <a:r>
              <a:rPr lang="en-US" sz="2000" dirty="0"/>
              <a:t> and </a:t>
            </a:r>
            <a:r>
              <a:rPr lang="en-US" sz="2000" b="1" dirty="0"/>
              <a:t>DI </a:t>
            </a:r>
            <a:r>
              <a:rPr lang="en-US" sz="2000" dirty="0"/>
              <a:t>used in string movement instructions.</a:t>
            </a:r>
          </a:p>
          <a:p>
            <a:pPr algn="just" eaLnBrk="1" hangingPunct="1"/>
            <a:r>
              <a:rPr lang="en-US" sz="2000" b="1" dirty="0"/>
              <a:t>SP</a:t>
            </a:r>
            <a:r>
              <a:rPr lang="en-US" sz="2000" dirty="0"/>
              <a:t> and </a:t>
            </a:r>
            <a:r>
              <a:rPr lang="en-US" sz="2000" b="1" dirty="0"/>
              <a:t>BP</a:t>
            </a:r>
            <a:r>
              <a:rPr lang="en-US" sz="2000" dirty="0"/>
              <a:t> are used to access data inside the stack segment</a:t>
            </a:r>
          </a:p>
          <a:p>
            <a:pPr algn="just" eaLnBrk="1" hangingPunct="1"/>
            <a:r>
              <a:rPr lang="en-US" sz="2000" b="1" dirty="0"/>
              <a:t>BP - base pointer</a:t>
            </a:r>
            <a:r>
              <a:rPr lang="en-US" sz="2000" dirty="0"/>
              <a:t>: Primarily used to access parameters passed via the stack. Offset address relative to SS </a:t>
            </a:r>
          </a:p>
          <a:p>
            <a:pPr algn="just" eaLnBrk="1" hangingPunct="1"/>
            <a:r>
              <a:rPr lang="en-US" sz="2000" b="1" dirty="0"/>
              <a:t>SP – stack pointer</a:t>
            </a:r>
            <a:r>
              <a:rPr lang="en-US" sz="2000" dirty="0"/>
              <a:t>: Always points to top item on the stack. Offset address relative to SS </a:t>
            </a:r>
          </a:p>
          <a:p>
            <a:pPr marL="342900" lvl="1" indent="-342900" algn="just" eaLnBrk="1" hangingPunct="1">
              <a:buFontTx/>
              <a:buChar char="•"/>
            </a:pPr>
            <a:endParaRPr lang="en-US" sz="2000" dirty="0"/>
          </a:p>
          <a:p>
            <a:pPr algn="just" eaLnBrk="1" hangingPunct="1"/>
            <a:endParaRPr lang="en-US" sz="2000" dirty="0"/>
          </a:p>
          <a:p>
            <a:pPr algn="just" eaLnBrk="1" hangingPunct="1"/>
            <a:endParaRPr lang="en-US" sz="2000" dirty="0"/>
          </a:p>
          <a:p>
            <a:pPr algn="just" eaLnBrk="1" hangingPunct="1"/>
            <a:endParaRPr lang="en-US" sz="2000" dirty="0"/>
          </a:p>
          <a:p>
            <a:pPr algn="just" eaLnBrk="1" hangingPunct="1"/>
            <a:endParaRPr lang="en-US" sz="2000" dirty="0"/>
          </a:p>
          <a:p>
            <a:pPr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B22DA3-40DE-4E27-A308-E127EE82DD5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/>
          <a:lstStyle/>
          <a:p>
            <a:r>
              <a:rPr lang="en-US" dirty="0"/>
              <a:t>80386 Extended Registers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algn="just"/>
            <a:r>
              <a:rPr lang="en-US" sz="2400" dirty="0"/>
              <a:t>The 80386/80486 processor contain 32-bit registers which greatly improve the efficiency of program that take advantage of them.</a:t>
            </a:r>
          </a:p>
          <a:p>
            <a:pPr lvl="1" algn="just"/>
            <a:r>
              <a:rPr lang="en-US" sz="2000" dirty="0"/>
              <a:t>EAX, EBX, ECX, EDX,</a:t>
            </a:r>
          </a:p>
          <a:p>
            <a:pPr lvl="1" algn="just"/>
            <a:r>
              <a:rPr lang="en-US" sz="2000" dirty="0"/>
              <a:t>EFLAGS</a:t>
            </a:r>
          </a:p>
          <a:p>
            <a:pPr lvl="1" algn="just"/>
            <a:r>
              <a:rPr lang="en-US" sz="2000" dirty="0"/>
              <a:t>EIP</a:t>
            </a:r>
          </a:p>
          <a:p>
            <a:pPr lvl="1" algn="just"/>
            <a:r>
              <a:rPr lang="en-US" sz="2000" dirty="0"/>
              <a:t>EBP, ESP, ESI, EDI.</a:t>
            </a: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060C0D-452D-4BDE-9FDF-8784BB727DA6}" type="slidenum">
              <a:rPr lang="en-US" smtClean="0">
                <a:latin typeface="Arial" pitchFamily="34" charset="0"/>
              </a:rPr>
              <a:pPr>
                <a:defRPr/>
              </a:pPr>
              <a:t>18</a:t>
            </a:fld>
            <a:endParaRPr lang="en-US">
              <a:latin typeface="Arial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1397</TotalTime>
  <Words>847</Words>
  <Application>Microsoft Office PowerPoint</Application>
  <PresentationFormat>On-screen Show (4:3)</PresentationFormat>
  <Paragraphs>134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Bookman Old Style</vt:lpstr>
      <vt:lpstr>Calibri</vt:lpstr>
      <vt:lpstr>Gill Sans MT</vt:lpstr>
      <vt:lpstr>Times New Roman</vt:lpstr>
      <vt:lpstr>Wingdings</vt:lpstr>
      <vt:lpstr>Wingdings 3</vt:lpstr>
      <vt:lpstr>Origin</vt:lpstr>
      <vt:lpstr>Computer Organization &amp; Assembly Language</vt:lpstr>
      <vt:lpstr>Outline</vt:lpstr>
      <vt:lpstr>System Bus</vt:lpstr>
      <vt:lpstr>What is a Bus?</vt:lpstr>
      <vt:lpstr>Data Bus</vt:lpstr>
      <vt:lpstr>Address bus</vt:lpstr>
      <vt:lpstr>Control Bus</vt:lpstr>
      <vt:lpstr>Types of Transfer </vt:lpstr>
      <vt:lpstr>Interconnection Structure</vt:lpstr>
      <vt:lpstr>Contd..</vt:lpstr>
      <vt:lpstr>PowerPoint Presentation</vt:lpstr>
      <vt:lpstr>Registers</vt:lpstr>
      <vt:lpstr>Registers</vt:lpstr>
      <vt:lpstr>8086 Internal registers 16 bits (2 bytes each)</vt:lpstr>
      <vt:lpstr>General Purpose/Data Registers</vt:lpstr>
      <vt:lpstr>Segment Registers</vt:lpstr>
      <vt:lpstr>Pointers and Index Registers</vt:lpstr>
      <vt:lpstr>80386 Extended Registers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 222: Computer Organization &amp; Assembly Language</dc:title>
  <dc:creator>Nausheen</dc:creator>
  <cp:lastModifiedBy>Admin</cp:lastModifiedBy>
  <cp:revision>277</cp:revision>
  <dcterms:created xsi:type="dcterms:W3CDTF">2006-08-16T00:00:00Z</dcterms:created>
  <dcterms:modified xsi:type="dcterms:W3CDTF">2025-09-17T11:08:02Z</dcterms:modified>
</cp:coreProperties>
</file>