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EAB7-DFC4-AD92-95B7-41F66E26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A59D4-793F-74FD-FC33-12176A793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79CD0-3749-422F-FA47-6EF2BF8E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02C7C-E09A-4E49-205B-1D8E3F5E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EC064-7985-9516-4A3D-87CEE53A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5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E848A-513B-6DED-4619-211BB69D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CC5F-CB7D-162F-131F-D63E5D29D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DA1A-34F9-C345-7494-8B8451FE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48701-5935-533A-B823-7EBDD647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6600-0EE7-2BED-2AFB-76FF5501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5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F9D5-022E-BF7E-D516-5CF1CC01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B8AB9-FC45-D9E1-F580-434274197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6DFC1-6B25-FB09-0F54-D4D971B4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0A4B7-788C-F729-7032-1F7D1BE1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0084-19B1-B105-23CD-4DFA6313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7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4B9F-CEDB-2554-B49E-FCBAB87C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1CDB3-DCAC-7B23-B427-520F32422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4F40E-5ABF-4075-66ED-3FF54D458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59188-53A8-EA87-23EB-05394BC4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77C0B-831D-4003-078F-F6215109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5665D-71F9-F460-5C51-CBB4DEFF0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3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DDB7-82C7-79E8-42C4-DB906638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5D806-EBAB-4D7D-2A06-04EC697B8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49236-7EE1-C40A-B777-449C38E79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215AB-726C-B4AF-54ED-F86AB6B30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47D48-72AF-1920-E3D6-AEB3B664F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B8666-5FA7-7AF3-C207-3DEBE8C6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33BF6-8BD2-96E0-5F1F-3290F24B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0F097-A407-410A-DB30-E28D3440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29CE-2531-C08A-8AF3-70B09D7B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46F5-71BA-4E2C-BA3F-04A6B472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03E64-354C-A3A3-C0CA-39557F6C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5E2CC-6A7F-7BE0-B4B5-533A1689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2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CF340A-E342-0BA1-E627-0A7AEBCC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770A5-E759-BC7D-70F2-6A8A7D1E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5C029-9543-2D4A-3FC5-3D3B1192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6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BB46-4238-D456-70FE-9288BD24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BBA3-078C-6FA1-78E9-690ACD50E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23360-FD09-625C-3954-3E7FCEFD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84AAE-585A-5A7A-45FD-3A21BC0C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62021-B9A6-FA88-0C6B-FF81EB92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2377-F0DA-3FF3-8311-B4022EDA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3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24B2-D653-F5FC-AD45-DB83A2E9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F13F3-7F17-B19E-B685-D7302E7B8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C4365-EF48-A9B2-E289-3AB7A3658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1F7D6-1DF1-C307-8689-1D5ADE6B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DE6E1-4DC7-5828-192A-2BEF5CB6F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A50B7-2015-A749-CCE8-C7B938FB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0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D321-AA39-8355-C941-AA803A78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594A9-E625-4682-3D3E-3D6D779E1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6F63C-DC21-BA97-7406-73E09414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A112-2FA3-FDC9-C156-9F09CAED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AB438-2A5E-834F-740A-59E824CD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2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F5F3A-E5B4-1145-356F-A32B542D8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20DF9-5739-12FF-59C3-38801F507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7BF18-511B-0C23-92E9-9F122FAD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2DB30-4190-AC54-D338-DAE3D927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E028C-866A-9D98-F592-091E69FE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0C3CB-EFC3-85B0-ED90-9C2DDB02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139D2-BD79-5A68-B2BA-FAC5CB501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319CD-8365-C263-32FE-8D319E57D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FA748-9447-479E-830B-ED5D500A1AA0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A8CB3-9193-4237-F3F8-2245FFA58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939C-278A-2CAB-CD56-C3CE49394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A4E05-D22B-47E3-A17E-7D9FAD58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2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3C52F-968A-F797-E2E1-26EF529B9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Measure of Central Tendency</a:t>
            </a:r>
          </a:p>
        </p:txBody>
      </p:sp>
    </p:spTree>
    <p:extLst>
      <p:ext uri="{BB962C8B-B14F-4D97-AF65-F5344CB8AC3E}">
        <p14:creationId xmlns:p14="http://schemas.microsoft.com/office/powerpoint/2010/main" val="15791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95CF-9F16-9DB4-D207-64A15439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Measures on 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901EE-F7D4-C08B-7C20-08105573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 (If there is NO Outlier)</a:t>
            </a:r>
          </a:p>
          <a:p>
            <a:endParaRPr lang="en-US" dirty="0"/>
          </a:p>
          <a:p>
            <a:r>
              <a:rPr lang="en-US" dirty="0"/>
              <a:t>Median (If data contain outliers)</a:t>
            </a:r>
          </a:p>
          <a:p>
            <a:endParaRPr lang="en-US" dirty="0"/>
          </a:p>
          <a:p>
            <a:r>
              <a:rPr lang="en-US" dirty="0"/>
              <a:t>Mode (for Qualitative data)</a:t>
            </a:r>
          </a:p>
        </p:txBody>
      </p:sp>
    </p:spTree>
    <p:extLst>
      <p:ext uri="{BB962C8B-B14F-4D97-AF65-F5344CB8AC3E}">
        <p14:creationId xmlns:p14="http://schemas.microsoft.com/office/powerpoint/2010/main" val="290852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B32A-E110-F550-4D52-33FE2143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1: Developer Commit Counts (n = 28)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E2408-B289-F9FA-D066-42D685BB9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4400" dirty="0"/>
              <a:t>45, 50, 52, 55, 60, 62, 63, 64, 65, 66,</a:t>
            </a:r>
          </a:p>
          <a:p>
            <a:pPr marL="0" indent="0">
              <a:buNone/>
            </a:pPr>
            <a:r>
              <a:rPr lang="en-US" sz="4400" dirty="0"/>
              <a:t>	68, 69, 70, 72, 74, 75, 76, 77, 78, 80,</a:t>
            </a:r>
          </a:p>
          <a:p>
            <a:pPr marL="0" indent="0">
              <a:buNone/>
            </a:pPr>
            <a:r>
              <a:rPr lang="en-US" sz="4400" dirty="0"/>
              <a:t>	81, 82, 83, 85, 87, 90, 92, 95</a:t>
            </a:r>
          </a:p>
        </p:txBody>
      </p:sp>
    </p:spTree>
    <p:extLst>
      <p:ext uri="{BB962C8B-B14F-4D97-AF65-F5344CB8AC3E}">
        <p14:creationId xmlns:p14="http://schemas.microsoft.com/office/powerpoint/2010/main" val="254955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C489-0E3A-9B04-6EA6-421A01C3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1: We can simply apply Mean as well as median on this data for data summarization.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4E31-5C79-B5FF-D505-03E2E7208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45, 50, 52, 55, 60, 62, 63, 64, 65, 66,</a:t>
            </a:r>
          </a:p>
          <a:p>
            <a:pPr marL="0" indent="0" algn="ctr">
              <a:buNone/>
            </a:pPr>
            <a:r>
              <a:rPr lang="en-US" dirty="0"/>
              <a:t>68, 69, 70, 72, 74, 75, 76, 77, 78, 80,</a:t>
            </a:r>
          </a:p>
          <a:p>
            <a:pPr marL="0" indent="0" algn="ctr">
              <a:buNone/>
            </a:pPr>
            <a:r>
              <a:rPr lang="en-US" dirty="0"/>
              <a:t>81, 82, 83, 85, 87, 90, 92, 95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Mean = 72			SD = 12.9</a:t>
            </a:r>
          </a:p>
          <a:p>
            <a:r>
              <a:rPr lang="en-US" dirty="0"/>
              <a:t>Median = 73		IQR= 17.5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58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A842-341E-C117-0D27-6796BB6B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2: Code Review Durations (n = 60)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0E99-2050-147D-3797-DDDFFF74C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0.1, 0.3, 0.5, 1.2, 1.5, 1.7, 1.8, 2.0, 2.1, 2.3, </a:t>
            </a:r>
          </a:p>
          <a:p>
            <a:pPr marL="0" indent="0" algn="ctr">
              <a:buNone/>
            </a:pPr>
            <a:r>
              <a:rPr lang="en-US" sz="3600" dirty="0"/>
              <a:t>2.4, 2.5, 2.6, 2.7, 2.8, 3.0, 3.1, 3.2, 3.4, 3.5, </a:t>
            </a:r>
          </a:p>
          <a:p>
            <a:pPr marL="0" indent="0" algn="ctr">
              <a:buNone/>
            </a:pPr>
            <a:r>
              <a:rPr lang="en-US" sz="3600" dirty="0"/>
              <a:t>3.6, 3.8, 4.0, 4.1, 4.2, 4.3, 4.5, 4.7, 4.8, 5.0, </a:t>
            </a:r>
          </a:p>
          <a:p>
            <a:pPr marL="0" indent="0" algn="ctr">
              <a:buNone/>
            </a:pPr>
            <a:r>
              <a:rPr lang="en-US" sz="3600" dirty="0"/>
              <a:t>5.2, 5.3, 5.5, 5.6, 5.7, 5.9, 6.0, 6.1, 6.2, 6.3, </a:t>
            </a:r>
          </a:p>
          <a:p>
            <a:pPr marL="0" indent="0" algn="ctr">
              <a:buNone/>
            </a:pPr>
            <a:r>
              <a:rPr lang="en-US" sz="3600" dirty="0"/>
              <a:t>6.5, 6.7, 6.9, 7.0, 7.2, 7.3, 7.4, 7.5, 7.7, 7.9, </a:t>
            </a:r>
          </a:p>
          <a:p>
            <a:pPr marL="0" indent="0" algn="ctr">
              <a:buNone/>
            </a:pPr>
            <a:r>
              <a:rPr lang="en-US" sz="3600" dirty="0"/>
              <a:t>8.0, 8.2, 8.3, 8.5, 8.7, 8.9, 9.0, 15.0, 18.0, 20.0</a:t>
            </a:r>
          </a:p>
        </p:txBody>
      </p:sp>
    </p:spTree>
    <p:extLst>
      <p:ext uri="{BB962C8B-B14F-4D97-AF65-F5344CB8AC3E}">
        <p14:creationId xmlns:p14="http://schemas.microsoft.com/office/powerpoint/2010/main" val="31606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1D10-D814-7F3B-C7C3-828FD1F29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2: We can simply apply median on this data for data summarization. (contain outliers)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D3163-A437-5961-B227-57DA59AC5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Mean = 5.47 (affected by extreme values)</a:t>
            </a:r>
          </a:p>
          <a:p>
            <a:r>
              <a:rPr lang="en-US" dirty="0"/>
              <a:t>SD = 3.7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Median = 5.1 (not affected)</a:t>
            </a:r>
          </a:p>
          <a:p>
            <a:r>
              <a:rPr lang="en-US" dirty="0"/>
              <a:t>IQR = 4.2</a:t>
            </a:r>
          </a:p>
          <a:p>
            <a:endParaRPr lang="en-US" dirty="0"/>
          </a:p>
          <a:p>
            <a:r>
              <a:rPr lang="en-US" dirty="0"/>
              <a:t>So, we can see that the mean is greater than median, so data is positively skewed.</a:t>
            </a:r>
          </a:p>
        </p:txBody>
      </p:sp>
    </p:spTree>
    <p:extLst>
      <p:ext uri="{BB962C8B-B14F-4D97-AF65-F5344CB8AC3E}">
        <p14:creationId xmlns:p14="http://schemas.microsoft.com/office/powerpoint/2010/main" val="367695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5F5C-ED91-5A8B-A3DB-2F2A07DB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Data summarization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6BF88-F370-4ED2-9C4F-11CDFC93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702"/>
            <a:ext cx="10515600" cy="4784261"/>
          </a:xfrm>
        </p:spPr>
        <p:txBody>
          <a:bodyPr>
            <a:normAutofit/>
          </a:bodyPr>
          <a:lstStyle/>
          <a:p>
            <a:r>
              <a:rPr lang="en-US" dirty="0"/>
              <a:t>If u apply mean you have to find SD as well, and if median is applied find IQR as well.</a:t>
            </a:r>
          </a:p>
          <a:p>
            <a:endParaRPr lang="en-US" dirty="0"/>
          </a:p>
          <a:p>
            <a:r>
              <a:rPr lang="en-US" dirty="0"/>
              <a:t>Mean-----------(central tendency)</a:t>
            </a:r>
          </a:p>
          <a:p>
            <a:r>
              <a:rPr lang="en-US" dirty="0"/>
              <a:t>Standard deviation-------------------(Variation/spread)</a:t>
            </a:r>
          </a:p>
          <a:p>
            <a:endParaRPr lang="en-US" dirty="0"/>
          </a:p>
          <a:p>
            <a:r>
              <a:rPr lang="en-US" dirty="0"/>
              <a:t>Median----------(central tendency)</a:t>
            </a:r>
          </a:p>
          <a:p>
            <a:r>
              <a:rPr lang="en-US" dirty="0"/>
              <a:t>IQR (interquartile Range)-----------(Variation/spread)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42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2D9A-8305-30B1-BA65-49909B86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SD and IQR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BA3E2-C768-CE51-7406-85D9C5EEE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5DE9224-E3F2-1E37-92DD-2F081DDC2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99957"/>
            <a:ext cx="100966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IQR (Interquartile Range)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Q3 − Q1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measures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of the middle 50%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to 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extreme values don’t affect the IQR much, since it only looks at quartiles..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9DAC515-7D99-3896-4B47-3DD254D4F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52BA830-CE87-7C27-988A-91EDD4D1B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144" y="508024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What the SD (Standard Deviation) tells 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distance of all data points from the mean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every data value, so: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SD → values are clustered close to the mean.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 SD → values are spread out far from the mean.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 single very large or small value can drastically increase SD.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357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Measure of Central Tendency</vt:lpstr>
      <vt:lpstr>Applying Measures on Data sets</vt:lpstr>
      <vt:lpstr>Dataset 1: Developer Commit Counts (n = 28)</vt:lpstr>
      <vt:lpstr>Data 1: We can simply apply Mean as well as median on this data for data summarization.</vt:lpstr>
      <vt:lpstr>Dataset 2: Code Review Durations (n = 60)</vt:lpstr>
      <vt:lpstr>Data 2: We can simply apply median on this data for data summarization. (contain outliers)</vt:lpstr>
      <vt:lpstr>For Data summarization </vt:lpstr>
      <vt:lpstr>Difference Between SD and IQR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Hassan</dc:creator>
  <cp:lastModifiedBy>Ahmed Hassan</cp:lastModifiedBy>
  <cp:revision>1</cp:revision>
  <dcterms:created xsi:type="dcterms:W3CDTF">2025-09-25T04:15:48Z</dcterms:created>
  <dcterms:modified xsi:type="dcterms:W3CDTF">2025-09-25T04:16:02Z</dcterms:modified>
</cp:coreProperties>
</file>