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8" r:id="rId2"/>
    <p:sldId id="260" r:id="rId3"/>
    <p:sldId id="847" r:id="rId4"/>
    <p:sldId id="848" r:id="rId5"/>
    <p:sldId id="849" r:id="rId6"/>
    <p:sldId id="850" r:id="rId7"/>
    <p:sldId id="851" r:id="rId8"/>
    <p:sldId id="852" r:id="rId9"/>
    <p:sldId id="853" r:id="rId10"/>
    <p:sldId id="854" r:id="rId11"/>
    <p:sldId id="855" r:id="rId12"/>
    <p:sldId id="863" r:id="rId13"/>
    <p:sldId id="864" r:id="rId14"/>
    <p:sldId id="856" r:id="rId15"/>
    <p:sldId id="857" r:id="rId16"/>
    <p:sldId id="858" r:id="rId17"/>
    <p:sldId id="859" r:id="rId18"/>
    <p:sldId id="860" r:id="rId19"/>
    <p:sldId id="861" r:id="rId20"/>
    <p:sldId id="862" r:id="rId21"/>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0941" autoAdjust="0"/>
  </p:normalViewPr>
  <p:slideViewPr>
    <p:cSldViewPr snapToGrid="0">
      <p:cViewPr varScale="1">
        <p:scale>
          <a:sx n="64" d="100"/>
          <a:sy n="64" d="100"/>
        </p:scale>
        <p:origin x="68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9954CF-6E20-473C-891B-D5208B72E197}" type="datetimeFigureOut">
              <a:rPr lang="en-US" smtClean="0"/>
              <a:t>9/28/2025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930DFE-01BF-4F45-8A64-1EDE3FC2F8F6}" type="slidenum">
              <a:rPr lang="en-US" smtClean="0"/>
              <a:t>‹#›</a:t>
            </a:fld>
            <a:endParaRPr lang="en-US"/>
          </a:p>
        </p:txBody>
      </p:sp>
    </p:spTree>
    <p:extLst>
      <p:ext uri="{BB962C8B-B14F-4D97-AF65-F5344CB8AC3E}">
        <p14:creationId xmlns:p14="http://schemas.microsoft.com/office/powerpoint/2010/main" val="2185355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930DFE-01BF-4F45-8A64-1EDE3FC2F8F6}" type="slidenum">
              <a:rPr lang="en-US" smtClean="0"/>
              <a:t>10</a:t>
            </a:fld>
            <a:endParaRPr lang="en-US"/>
          </a:p>
        </p:txBody>
      </p:sp>
    </p:spTree>
    <p:extLst>
      <p:ext uri="{BB962C8B-B14F-4D97-AF65-F5344CB8AC3E}">
        <p14:creationId xmlns:p14="http://schemas.microsoft.com/office/powerpoint/2010/main" val="3617454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930DFE-01BF-4F45-8A64-1EDE3FC2F8F6}" type="slidenum">
              <a:rPr lang="en-US" smtClean="0"/>
              <a:t>19</a:t>
            </a:fld>
            <a:endParaRPr lang="en-US"/>
          </a:p>
        </p:txBody>
      </p:sp>
    </p:spTree>
    <p:extLst>
      <p:ext uri="{BB962C8B-B14F-4D97-AF65-F5344CB8AC3E}">
        <p14:creationId xmlns:p14="http://schemas.microsoft.com/office/powerpoint/2010/main" val="969433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930DFE-01BF-4F45-8A64-1EDE3FC2F8F6}" type="slidenum">
              <a:rPr lang="en-US" smtClean="0"/>
              <a:t>20</a:t>
            </a:fld>
            <a:endParaRPr lang="en-US"/>
          </a:p>
        </p:txBody>
      </p:sp>
    </p:spTree>
    <p:extLst>
      <p:ext uri="{BB962C8B-B14F-4D97-AF65-F5344CB8AC3E}">
        <p14:creationId xmlns:p14="http://schemas.microsoft.com/office/powerpoint/2010/main" val="969433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wmf"/><Relationship Id="rId3" Type="http://schemas.openxmlformats.org/officeDocument/2006/relationships/image" Target="../media/image3.svg"/><Relationship Id="rId7" Type="http://schemas.openxmlformats.org/officeDocument/2006/relationships/image" Target="../media/image9.png"/><Relationship Id="rId12" Type="http://schemas.openxmlformats.org/officeDocument/2006/relationships/oleObject" Target="../embeddings/oleObject2.bin"/><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0.wmf"/><Relationship Id="rId5" Type="http://schemas.openxmlformats.org/officeDocument/2006/relationships/image" Target="../media/image5.svg"/><Relationship Id="rId10" Type="http://schemas.openxmlformats.org/officeDocument/2006/relationships/oleObject" Target="../embeddings/oleObject1.bin"/><Relationship Id="rId4" Type="http://schemas.openxmlformats.org/officeDocument/2006/relationships/image" Target="../media/image4.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3.wmf"/><Relationship Id="rId3" Type="http://schemas.openxmlformats.org/officeDocument/2006/relationships/image" Target="../media/image3.svg"/><Relationship Id="rId7" Type="http://schemas.openxmlformats.org/officeDocument/2006/relationships/image" Target="../media/image9.png"/><Relationship Id="rId12" Type="http://schemas.openxmlformats.org/officeDocument/2006/relationships/oleObject" Target="../embeddings/oleObject4.bin"/><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2.wmf"/><Relationship Id="rId5" Type="http://schemas.openxmlformats.org/officeDocument/2006/relationships/image" Target="../media/image5.svg"/><Relationship Id="rId10" Type="http://schemas.openxmlformats.org/officeDocument/2006/relationships/oleObject" Target="../embeddings/oleObject3.bin"/><Relationship Id="rId4" Type="http://schemas.openxmlformats.org/officeDocument/2006/relationships/image" Target="../media/image4.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4.wmf"/><Relationship Id="rId5" Type="http://schemas.openxmlformats.org/officeDocument/2006/relationships/image" Target="../media/image5.svg"/><Relationship Id="rId10" Type="http://schemas.openxmlformats.org/officeDocument/2006/relationships/oleObject" Target="../embeddings/oleObject5.bin"/><Relationship Id="rId4" Type="http://schemas.openxmlformats.org/officeDocument/2006/relationships/image" Target="../media/image4.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5.wmf"/><Relationship Id="rId5" Type="http://schemas.openxmlformats.org/officeDocument/2006/relationships/image" Target="../media/image5.svg"/><Relationship Id="rId10" Type="http://schemas.openxmlformats.org/officeDocument/2006/relationships/oleObject" Target="../embeddings/oleObject6.bin"/><Relationship Id="rId4" Type="http://schemas.openxmlformats.org/officeDocument/2006/relationships/image" Target="../media/image4.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oleObject" Target="../embeddings/oleObject8.bin"/><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6.w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oleObject" Target="../embeddings/oleObject7.bin"/><Relationship Id="rId5" Type="http://schemas.openxmlformats.org/officeDocument/2006/relationships/image" Target="../media/image4.png"/><Relationship Id="rId10" Type="http://schemas.openxmlformats.org/officeDocument/2006/relationships/image" Target="../media/image8.svg"/><Relationship Id="rId4" Type="http://schemas.openxmlformats.org/officeDocument/2006/relationships/image" Target="../media/image3.svg"/><Relationship Id="rId9" Type="http://schemas.openxmlformats.org/officeDocument/2006/relationships/image" Target="../media/image7.png"/><Relationship Id="rId14" Type="http://schemas.openxmlformats.org/officeDocument/2006/relationships/image" Target="../media/image17.wmf"/></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8.wmf"/><Relationship Id="rId5" Type="http://schemas.openxmlformats.org/officeDocument/2006/relationships/image" Target="../media/image5.svg"/><Relationship Id="rId10" Type="http://schemas.openxmlformats.org/officeDocument/2006/relationships/oleObject" Target="../embeddings/oleObject9.bin"/><Relationship Id="rId4" Type="http://schemas.openxmlformats.org/officeDocument/2006/relationships/image" Target="../media/image4.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9.wmf"/><Relationship Id="rId5" Type="http://schemas.openxmlformats.org/officeDocument/2006/relationships/image" Target="../media/image5.svg"/><Relationship Id="rId10" Type="http://schemas.openxmlformats.org/officeDocument/2006/relationships/oleObject" Target="../embeddings/oleObject10.bin"/><Relationship Id="rId4" Type="http://schemas.openxmlformats.org/officeDocument/2006/relationships/image" Target="../media/image4.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20.wmf"/><Relationship Id="rId4" Type="http://schemas.openxmlformats.org/officeDocument/2006/relationships/image" Target="../media/image4.png"/><Relationship Id="rId9" Type="http://schemas.openxmlformats.org/officeDocument/2006/relationships/image" Target="../media/image8.sv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8.sv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21.w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oleObject" Target="../embeddings/oleObject11.bin"/><Relationship Id="rId5" Type="http://schemas.openxmlformats.org/officeDocument/2006/relationships/image" Target="../media/image4.png"/><Relationship Id="rId10" Type="http://schemas.openxmlformats.org/officeDocument/2006/relationships/image" Target="../media/image8.svg"/><Relationship Id="rId4" Type="http://schemas.openxmlformats.org/officeDocument/2006/relationships/image" Target="../media/image3.svg"/><Relationship Id="rId9"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8.svg"/><Relationship Id="rId4" Type="http://schemas.openxmlformats.org/officeDocument/2006/relationships/image" Target="../media/image3.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906011" y="2223083"/>
            <a:ext cx="9961228" cy="3878379"/>
          </a:xfrm>
        </p:spPr>
        <p:txBody>
          <a:bodyPr/>
          <a:lstStyle/>
          <a:p>
            <a:pPr marL="0" indent="0" algn="ctr">
              <a:buNone/>
            </a:pPr>
            <a:r>
              <a:rPr lang="en-GB" sz="4000" b="1" dirty="0">
                <a:latin typeface="Arial" charset="0"/>
                <a:ea typeface="Arial" charset="0"/>
                <a:cs typeface="Arial" charset="0"/>
              </a:rPr>
              <a:t>Topic</a:t>
            </a:r>
            <a:r>
              <a:rPr lang="en-GB" sz="3600" b="1" dirty="0">
                <a:latin typeface="Arial" charset="0"/>
                <a:ea typeface="Arial" charset="0"/>
                <a:cs typeface="Arial" charset="0"/>
              </a:rPr>
              <a:t>:</a:t>
            </a:r>
          </a:p>
          <a:p>
            <a:pPr marL="0" indent="0" algn="ctr">
              <a:buNone/>
            </a:pPr>
            <a:r>
              <a:rPr lang="en-GB" sz="3600" b="1" dirty="0">
                <a:latin typeface="Arial" charset="0"/>
                <a:ea typeface="Arial" charset="0"/>
                <a:cs typeface="Arial" charset="0"/>
              </a:rPr>
              <a:t>Measures of Central Tendency</a:t>
            </a:r>
          </a:p>
          <a:p>
            <a:pPr marL="0" indent="0">
              <a:buNone/>
            </a:pPr>
            <a:endParaRPr lang="en-GB" b="1" dirty="0">
              <a:latin typeface="Arial" charset="0"/>
              <a:ea typeface="Arial" charset="0"/>
              <a:cs typeface="Arial" charset="0"/>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Tree>
    <p:extLst>
      <p:ext uri="{BB962C8B-B14F-4D97-AF65-F5344CB8AC3E}">
        <p14:creationId xmlns:p14="http://schemas.microsoft.com/office/powerpoint/2010/main" val="3239341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553792" y="1490536"/>
            <a:ext cx="8500056" cy="2492990"/>
          </a:xfrm>
          <a:prstGeom prst="rect">
            <a:avLst/>
          </a:prstGeom>
        </p:spPr>
        <p:txBody>
          <a:bodyPr wrap="square">
            <a:spAutoFit/>
          </a:bodyPr>
          <a:lstStyle/>
          <a:p>
            <a:r>
              <a:rPr lang="en-US" sz="2800" b="1" dirty="0">
                <a:latin typeface="Times New Roman" pitchFamily="18" charset="0"/>
                <a:cs typeface="Times New Roman" pitchFamily="18" charset="0"/>
              </a:rPr>
              <a:t>MEASURE OF CENTRAL TENDENCY</a:t>
            </a:r>
            <a:endParaRPr lang="en-US" sz="2800" dirty="0">
              <a:latin typeface="Times New Roman" pitchFamily="18" charset="0"/>
              <a:cs typeface="Times New Roman" pitchFamily="18" charset="0"/>
            </a:endParaRPr>
          </a:p>
          <a:p>
            <a:r>
              <a:rPr lang="en-US" sz="2800" b="1" dirty="0">
                <a:latin typeface="Times New Roman" pitchFamily="18" charset="0"/>
                <a:cs typeface="Times New Roman" pitchFamily="18" charset="0"/>
              </a:rPr>
              <a:t>OR</a:t>
            </a:r>
            <a:endParaRPr lang="en-US" sz="2800" dirty="0">
              <a:latin typeface="Times New Roman" pitchFamily="18" charset="0"/>
              <a:cs typeface="Times New Roman" pitchFamily="18" charset="0"/>
            </a:endParaRPr>
          </a:p>
          <a:p>
            <a:r>
              <a:rPr lang="en-US" sz="2800" b="1" dirty="0">
                <a:latin typeface="Times New Roman" pitchFamily="18" charset="0"/>
                <a:cs typeface="Times New Roman" pitchFamily="18" charset="0"/>
              </a:rPr>
              <a:t>MEASURE OF CENTRAL LOCATION</a:t>
            </a:r>
            <a:endParaRPr lang="en-US" sz="2800" dirty="0">
              <a:latin typeface="Times New Roman" pitchFamily="18" charset="0"/>
              <a:cs typeface="Times New Roman" pitchFamily="18" charset="0"/>
            </a:endParaRPr>
          </a:p>
          <a:p>
            <a:r>
              <a:rPr lang="en-US" dirty="0"/>
              <a:t>	</a:t>
            </a:r>
            <a:r>
              <a:rPr lang="en-US" sz="2400" dirty="0">
                <a:latin typeface="Times New Roman" pitchFamily="18" charset="0"/>
                <a:cs typeface="Times New Roman" pitchFamily="18" charset="0"/>
              </a:rPr>
              <a:t>An average is a single value As an average tends to lie at the center of the distribution or data so it is called measure of location or measure of central tendency.</a:t>
            </a:r>
          </a:p>
        </p:txBody>
      </p:sp>
      <p:sp>
        <p:nvSpPr>
          <p:cNvPr id="3" name="Rectangle 2"/>
          <p:cNvSpPr/>
          <p:nvPr/>
        </p:nvSpPr>
        <p:spPr>
          <a:xfrm>
            <a:off x="553791" y="4268101"/>
            <a:ext cx="8847785" cy="1384995"/>
          </a:xfrm>
          <a:prstGeom prst="rect">
            <a:avLst/>
          </a:prstGeom>
        </p:spPr>
        <p:txBody>
          <a:bodyPr wrap="square">
            <a:spAutoFit/>
          </a:bodyPr>
          <a:lstStyle/>
          <a:p>
            <a:r>
              <a:rPr lang="en-US" sz="2800" b="1" u="sng" dirty="0">
                <a:latin typeface="Times New Roman" pitchFamily="18" charset="0"/>
                <a:cs typeface="Times New Roman" pitchFamily="18" charset="0"/>
              </a:rPr>
              <a:t>Average:</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An average is a numerical value that is used to represent a set of data.</a:t>
            </a:r>
          </a:p>
        </p:txBody>
      </p:sp>
    </p:spTree>
    <p:extLst>
      <p:ext uri="{BB962C8B-B14F-4D97-AF65-F5344CB8AC3E}">
        <p14:creationId xmlns:p14="http://schemas.microsoft.com/office/powerpoint/2010/main" val="267439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4" name="Rectangle 3"/>
          <p:cNvSpPr/>
          <p:nvPr/>
        </p:nvSpPr>
        <p:spPr>
          <a:xfrm>
            <a:off x="734096" y="1514474"/>
            <a:ext cx="8937938" cy="3539430"/>
          </a:xfrm>
          <a:prstGeom prst="rect">
            <a:avLst/>
          </a:prstGeom>
        </p:spPr>
        <p:txBody>
          <a:bodyPr wrap="square">
            <a:spAutoFit/>
          </a:bodyPr>
          <a:lstStyle/>
          <a:p>
            <a:r>
              <a:rPr lang="en-US" sz="2800" b="1" u="sng" dirty="0">
                <a:latin typeface="Times New Roman" pitchFamily="18" charset="0"/>
                <a:cs typeface="Times New Roman" pitchFamily="18" charset="0"/>
              </a:rPr>
              <a:t>Properties of a good Average:</a:t>
            </a:r>
          </a:p>
          <a:p>
            <a:r>
              <a:rPr lang="en-US" sz="2800" dirty="0">
                <a:latin typeface="Times New Roman" pitchFamily="18" charset="0"/>
                <a:cs typeface="Times New Roman" pitchFamily="18" charset="0"/>
              </a:rPr>
              <a:t>A good average must have the following properties: </a:t>
            </a:r>
          </a:p>
          <a:p>
            <a:pPr lvl="0"/>
            <a:r>
              <a:rPr lang="en-US" sz="2800" dirty="0">
                <a:latin typeface="Times New Roman" pitchFamily="18" charset="0"/>
                <a:cs typeface="Times New Roman" pitchFamily="18" charset="0"/>
              </a:rPr>
              <a:t>It should be clearly defined by mathematical formula.</a:t>
            </a:r>
          </a:p>
          <a:p>
            <a:pPr lvl="0"/>
            <a:r>
              <a:rPr lang="en-US" sz="2800" dirty="0">
                <a:latin typeface="Times New Roman" pitchFamily="18" charset="0"/>
                <a:cs typeface="Times New Roman" pitchFamily="18" charset="0"/>
              </a:rPr>
              <a:t>It should be easy to calculate and simple to understand.</a:t>
            </a:r>
          </a:p>
          <a:p>
            <a:pPr lvl="0"/>
            <a:r>
              <a:rPr lang="en-US" sz="2800" dirty="0">
                <a:latin typeface="Times New Roman" pitchFamily="18" charset="0"/>
                <a:cs typeface="Times New Roman" pitchFamily="18" charset="0"/>
              </a:rPr>
              <a:t>It should be based on all observation of data.</a:t>
            </a:r>
          </a:p>
          <a:p>
            <a:pPr lvl="0"/>
            <a:r>
              <a:rPr lang="en-US" sz="2800" dirty="0">
                <a:latin typeface="Times New Roman" pitchFamily="18" charset="0"/>
                <a:cs typeface="Times New Roman" pitchFamily="18" charset="0"/>
              </a:rPr>
              <a:t>It should be capable for further algebraic treatment. </a:t>
            </a:r>
          </a:p>
          <a:p>
            <a:pPr lvl="0"/>
            <a:r>
              <a:rPr lang="en-US" sz="2800" dirty="0">
                <a:latin typeface="Times New Roman" pitchFamily="18" charset="0"/>
                <a:cs typeface="Times New Roman" pitchFamily="18" charset="0"/>
              </a:rPr>
              <a:t>It should be least affected by fluctuation of sampling.</a:t>
            </a:r>
          </a:p>
          <a:p>
            <a:pPr lvl="0"/>
            <a:r>
              <a:rPr lang="en-US" sz="2800" dirty="0">
                <a:latin typeface="Times New Roman" pitchFamily="18" charset="0"/>
                <a:cs typeface="Times New Roman" pitchFamily="18" charset="0"/>
              </a:rPr>
              <a:t>It should not be affected by extreme values. </a:t>
            </a:r>
          </a:p>
        </p:txBody>
      </p:sp>
    </p:spTree>
    <p:extLst>
      <p:ext uri="{BB962C8B-B14F-4D97-AF65-F5344CB8AC3E}">
        <p14:creationId xmlns:p14="http://schemas.microsoft.com/office/powerpoint/2010/main" val="172120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845712" y="1532547"/>
            <a:ext cx="9060343" cy="2677656"/>
          </a:xfrm>
          <a:prstGeom prst="rect">
            <a:avLst/>
          </a:prstGeom>
        </p:spPr>
        <p:txBody>
          <a:bodyPr wrap="square">
            <a:spAutoFit/>
          </a:bodyPr>
          <a:lstStyle/>
          <a:p>
            <a:r>
              <a:rPr lang="en-US" sz="2800" b="1" u="sng" dirty="0">
                <a:latin typeface="Times New Roman" pitchFamily="18" charset="0"/>
                <a:cs typeface="Times New Roman" pitchFamily="18" charset="0"/>
              </a:rPr>
              <a:t>Types of averages:</a:t>
            </a:r>
            <a:r>
              <a:rPr lang="en-US" sz="2800" dirty="0">
                <a:latin typeface="Times New Roman" pitchFamily="18" charset="0"/>
                <a:cs typeface="Times New Roman" pitchFamily="18" charset="0"/>
              </a:rPr>
              <a:t> The common used averages are: </a:t>
            </a:r>
          </a:p>
          <a:p>
            <a:pPr marL="571500" indent="-571500">
              <a:buAutoNum type="romanLcParenBoth"/>
            </a:pPr>
            <a:r>
              <a:rPr lang="en-US" sz="2800" b="1" dirty="0">
                <a:latin typeface="Times New Roman" pitchFamily="18" charset="0"/>
                <a:cs typeface="Times New Roman" pitchFamily="18" charset="0"/>
              </a:rPr>
              <a:t>Arithmetic mean </a:t>
            </a:r>
          </a:p>
          <a:p>
            <a:r>
              <a:rPr lang="en-US" sz="2800" b="1" dirty="0">
                <a:latin typeface="Times New Roman" pitchFamily="18" charset="0"/>
                <a:cs typeface="Times New Roman" pitchFamily="18" charset="0"/>
              </a:rPr>
              <a:t>(ii) Geometric mean</a:t>
            </a:r>
          </a:p>
          <a:p>
            <a:r>
              <a:rPr lang="en-US" sz="2800" b="1" dirty="0">
                <a:latin typeface="Times New Roman" pitchFamily="18" charset="0"/>
                <a:cs typeface="Times New Roman" pitchFamily="18" charset="0"/>
              </a:rPr>
              <a:t>(iii) Harmonic mean </a:t>
            </a:r>
            <a:endParaRPr lang="en-US" sz="2800" dirty="0">
              <a:latin typeface="Times New Roman" pitchFamily="18" charset="0"/>
              <a:cs typeface="Times New Roman" pitchFamily="18" charset="0"/>
            </a:endParaRPr>
          </a:p>
          <a:p>
            <a:r>
              <a:rPr lang="en-US" sz="2800" b="1" dirty="0">
                <a:latin typeface="Times New Roman" pitchFamily="18" charset="0"/>
                <a:cs typeface="Times New Roman" pitchFamily="18" charset="0"/>
              </a:rPr>
              <a:t>(iv) Median and </a:t>
            </a:r>
            <a:r>
              <a:rPr lang="en-US" sz="2800" b="1" dirty="0" err="1">
                <a:latin typeface="Times New Roman" pitchFamily="18" charset="0"/>
                <a:cs typeface="Times New Roman" pitchFamily="18" charset="0"/>
              </a:rPr>
              <a:t>quantiles</a:t>
            </a:r>
            <a:r>
              <a:rPr lang="en-US" sz="2800" b="1" dirty="0">
                <a:latin typeface="Times New Roman" pitchFamily="18" charset="0"/>
                <a:cs typeface="Times New Roman" pitchFamily="18" charset="0"/>
              </a:rPr>
              <a:t> </a:t>
            </a:r>
          </a:p>
          <a:p>
            <a:r>
              <a:rPr lang="en-US" sz="2800" b="1" dirty="0">
                <a:latin typeface="Times New Roman" pitchFamily="18" charset="0"/>
                <a:cs typeface="Times New Roman" pitchFamily="18" charset="0"/>
              </a:rPr>
              <a:t>(v) Mode</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861682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5" name="Rectangle 4"/>
          <p:cNvSpPr/>
          <p:nvPr/>
        </p:nvSpPr>
        <p:spPr>
          <a:xfrm>
            <a:off x="540913" y="1408991"/>
            <a:ext cx="9365143" cy="2308324"/>
          </a:xfrm>
          <a:prstGeom prst="rect">
            <a:avLst/>
          </a:prstGeom>
        </p:spPr>
        <p:txBody>
          <a:bodyPr wrap="square">
            <a:spAutoFit/>
          </a:bodyPr>
          <a:lstStyle/>
          <a:p>
            <a:r>
              <a:rPr lang="en-US" sz="2400" b="1" u="sng" dirty="0">
                <a:latin typeface="Times New Roman" pitchFamily="18" charset="0"/>
                <a:cs typeface="Times New Roman" pitchFamily="18" charset="0"/>
              </a:rPr>
              <a:t>Arithmetic mean:</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Arithmetic mean (A.M) of a set of data is obtained by dividing the sum of all the observations by the total number of observations. It is denoted by Greek letter  “µ” read as “</a:t>
            </a:r>
            <a:r>
              <a:rPr lang="en-US" sz="2400" dirty="0" err="1">
                <a:latin typeface="Times New Roman" pitchFamily="18" charset="0"/>
                <a:cs typeface="Times New Roman" pitchFamily="18" charset="0"/>
              </a:rPr>
              <a:t>meu</a:t>
            </a:r>
            <a:r>
              <a:rPr lang="en-US" sz="2400" dirty="0">
                <a:latin typeface="Times New Roman" pitchFamily="18" charset="0"/>
                <a:cs typeface="Times New Roman" pitchFamily="18" charset="0"/>
              </a:rPr>
              <a:t>” for the population data. Population mean for N values is given as</a:t>
            </a:r>
          </a:p>
          <a:p>
            <a:r>
              <a:rPr lang="en-US" sz="2400" b="1" dirty="0">
                <a:latin typeface="Times New Roman" pitchFamily="18" charset="0"/>
                <a:cs typeface="Times New Roman" pitchFamily="18" charset="0"/>
              </a:rPr>
              <a:t>For ungrouped data </a:t>
            </a:r>
          </a:p>
        </p:txBody>
      </p:sp>
      <p:sp>
        <p:nvSpPr>
          <p:cNvPr id="8"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p:cNvGraphicFramePr>
            <a:graphicFrameLocks noChangeAspect="1"/>
          </p:cNvGraphicFramePr>
          <p:nvPr>
            <p:extLst>
              <p:ext uri="{D42A27DB-BD31-4B8C-83A1-F6EECF244321}">
                <p14:modId xmlns:p14="http://schemas.microsoft.com/office/powerpoint/2010/main" val="2189884009"/>
              </p:ext>
            </p:extLst>
          </p:nvPr>
        </p:nvGraphicFramePr>
        <p:xfrm>
          <a:off x="2910624" y="3717315"/>
          <a:ext cx="4391696" cy="1249250"/>
        </p:xfrm>
        <a:graphic>
          <a:graphicData uri="http://schemas.openxmlformats.org/presentationml/2006/ole">
            <mc:AlternateContent xmlns:mc="http://schemas.openxmlformats.org/markup-compatibility/2006">
              <mc:Choice xmlns:v="urn:schemas-microsoft-com:vml" Requires="v">
                <p:oleObj name="Equation" r:id="rId10" imgW="2654300" imgH="609600" progId="Equation.3">
                  <p:embed/>
                </p:oleObj>
              </mc:Choice>
              <mc:Fallback>
                <p:oleObj name="Equation" r:id="rId10" imgW="2654300" imgH="6096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0624" y="3717315"/>
                        <a:ext cx="4391696" cy="1249250"/>
                      </a:xfrm>
                      <a:prstGeom prst="rect">
                        <a:avLst/>
                      </a:prstGeom>
                      <a:noFill/>
                    </p:spPr>
                  </p:pic>
                </p:oleObj>
              </mc:Fallback>
            </mc:AlternateContent>
          </a:graphicData>
        </a:graphic>
      </p:graphicFrame>
      <p:sp>
        <p:nvSpPr>
          <p:cNvPr id="22" name="Rectangle 21"/>
          <p:cNvSpPr/>
          <p:nvPr/>
        </p:nvSpPr>
        <p:spPr>
          <a:xfrm>
            <a:off x="587090" y="5016321"/>
            <a:ext cx="9804287" cy="707886"/>
          </a:xfrm>
          <a:prstGeom prst="rect">
            <a:avLst/>
          </a:prstGeom>
        </p:spPr>
        <p:txBody>
          <a:bodyPr wrap="none">
            <a:spAutoFit/>
          </a:bodyPr>
          <a:lstStyle/>
          <a:p>
            <a:r>
              <a:rPr lang="en-US" sz="2000" dirty="0">
                <a:latin typeface="Times New Roman" pitchFamily="18" charset="0"/>
                <a:cs typeface="Times New Roman" pitchFamily="18" charset="0"/>
              </a:rPr>
              <a:t>The estimate of population mean µ is the sample mean and is denoted by”    “read as “X-bar” </a:t>
            </a:r>
          </a:p>
          <a:p>
            <a:r>
              <a:rPr lang="en-US" sz="2000" dirty="0">
                <a:latin typeface="Times New Roman" pitchFamily="18" charset="0"/>
                <a:cs typeface="Times New Roman" pitchFamily="18" charset="0"/>
              </a:rPr>
              <a:t>for the sample data. Sample mean for n values is given as </a:t>
            </a:r>
          </a:p>
        </p:txBody>
      </p:sp>
      <p:sp>
        <p:nvSpPr>
          <p:cNvPr id="25" name="Rectangle 1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6" name="Object 25"/>
          <p:cNvGraphicFramePr>
            <a:graphicFrameLocks noChangeAspect="1"/>
          </p:cNvGraphicFramePr>
          <p:nvPr>
            <p:extLst>
              <p:ext uri="{D42A27DB-BD31-4B8C-83A1-F6EECF244321}">
                <p14:modId xmlns:p14="http://schemas.microsoft.com/office/powerpoint/2010/main" val="4077354740"/>
              </p:ext>
            </p:extLst>
          </p:nvPr>
        </p:nvGraphicFramePr>
        <p:xfrm>
          <a:off x="7622129" y="5096212"/>
          <a:ext cx="228600" cy="209550"/>
        </p:xfrm>
        <a:graphic>
          <a:graphicData uri="http://schemas.openxmlformats.org/presentationml/2006/ole">
            <mc:AlternateContent xmlns:mc="http://schemas.openxmlformats.org/markup-compatibility/2006">
              <mc:Choice xmlns:v="urn:schemas-microsoft-com:vml" Requires="v">
                <p:oleObj name="Equation" r:id="rId12" imgW="215640" imgH="203040" progId="Equation.3">
                  <p:embed/>
                </p:oleObj>
              </mc:Choice>
              <mc:Fallback>
                <p:oleObj name="Equation" r:id="rId12" imgW="215640" imgH="203040" progId="Equation.3">
                  <p:embed/>
                  <p:pic>
                    <p:nvPicPr>
                      <p:cNvPr id="0" name="Object 14"/>
                      <p:cNvPicPr>
                        <a:picLocks noChangeAspect="1" noChangeArrowheads="1"/>
                      </p:cNvPicPr>
                      <p:nvPr/>
                    </p:nvPicPr>
                    <p:blipFill>
                      <a:blip r:embed="rId13"/>
                      <a:srcRect/>
                      <a:stretch>
                        <a:fillRect/>
                      </a:stretch>
                    </p:blipFill>
                    <p:spPr bwMode="auto">
                      <a:xfrm>
                        <a:off x="7622129" y="5096212"/>
                        <a:ext cx="228600" cy="20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61682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1091184" y="1514474"/>
            <a:ext cx="2952782" cy="461665"/>
          </a:xfrm>
          <a:prstGeom prst="rect">
            <a:avLst/>
          </a:prstGeom>
        </p:spPr>
        <p:txBody>
          <a:bodyPr wrap="square">
            <a:spAutoFit/>
          </a:bodyPr>
          <a:lstStyle/>
          <a:p>
            <a:r>
              <a:rPr lang="en-US" sz="2400" b="1" dirty="0">
                <a:latin typeface="Times New Roman" pitchFamily="18" charset="0"/>
                <a:cs typeface="Times New Roman" pitchFamily="18" charset="0"/>
              </a:rPr>
              <a:t>For ungrouped data</a:t>
            </a:r>
            <a:endParaRPr lang="en-US" sz="2400" dirty="0">
              <a:latin typeface="Times New Roman" pitchFamily="18" charset="0"/>
              <a:cs typeface="Times New Roman" pitchFamily="18" charset="0"/>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1782372856"/>
              </p:ext>
            </p:extLst>
          </p:nvPr>
        </p:nvGraphicFramePr>
        <p:xfrm>
          <a:off x="1605148" y="2215165"/>
          <a:ext cx="3734873" cy="1442435"/>
        </p:xfrm>
        <a:graphic>
          <a:graphicData uri="http://schemas.openxmlformats.org/presentationml/2006/ole">
            <mc:AlternateContent xmlns:mc="http://schemas.openxmlformats.org/markup-compatibility/2006">
              <mc:Choice xmlns:v="urn:schemas-microsoft-com:vml" Requires="v">
                <p:oleObj name="Equation" r:id="rId10" imgW="2413000" imgH="609600" progId="Equation.3">
                  <p:embed/>
                </p:oleObj>
              </mc:Choice>
              <mc:Fallback>
                <p:oleObj name="Equation" r:id="rId10" imgW="2413000" imgH="6096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05148" y="2215165"/>
                        <a:ext cx="3734873" cy="1442435"/>
                      </a:xfrm>
                      <a:prstGeom prst="rect">
                        <a:avLst/>
                      </a:prstGeom>
                      <a:noFill/>
                    </p:spPr>
                  </p:pic>
                </p:oleObj>
              </mc:Fallback>
            </mc:AlternateContent>
          </a:graphicData>
        </a:graphic>
      </p:graphicFrame>
      <p:sp>
        <p:nvSpPr>
          <p:cNvPr id="8" name="Rectangle 7"/>
          <p:cNvSpPr/>
          <p:nvPr/>
        </p:nvSpPr>
        <p:spPr>
          <a:xfrm>
            <a:off x="601013" y="3763449"/>
            <a:ext cx="4859629" cy="923330"/>
          </a:xfrm>
          <a:prstGeom prst="rect">
            <a:avLst/>
          </a:prstGeom>
        </p:spPr>
        <p:txBody>
          <a:bodyPr wrap="square">
            <a:spAutoFit/>
          </a:bodyPr>
          <a:lstStyle/>
          <a:p>
            <a:r>
              <a:rPr lang="en-US" b="1" dirty="0">
                <a:latin typeface="Times New Roman" pitchFamily="18" charset="0"/>
                <a:cs typeface="Times New Roman" pitchFamily="18" charset="0"/>
              </a:rPr>
              <a:t>Example # 1. </a:t>
            </a:r>
            <a:r>
              <a:rPr lang="en-US" dirty="0">
                <a:latin typeface="Times New Roman" pitchFamily="18" charset="0"/>
                <a:cs typeface="Times New Roman" pitchFamily="18" charset="0"/>
              </a:rPr>
              <a:t>Find the arithmetic mean for the following data set.</a:t>
            </a:r>
          </a:p>
          <a:p>
            <a:r>
              <a:rPr lang="en-US" dirty="0"/>
              <a:t>Xi = 87, 91, 89, 88, 89, 91, 87, 92, 90, 98.</a:t>
            </a:r>
          </a:p>
        </p:txBody>
      </p:sp>
      <p:sp>
        <p:nvSpPr>
          <p:cNvPr id="9"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ct 9"/>
          <p:cNvGraphicFramePr>
            <a:graphicFrameLocks noChangeAspect="1"/>
          </p:cNvGraphicFramePr>
          <p:nvPr>
            <p:extLst>
              <p:ext uri="{D42A27DB-BD31-4B8C-83A1-F6EECF244321}">
                <p14:modId xmlns:p14="http://schemas.microsoft.com/office/powerpoint/2010/main" val="2804711403"/>
              </p:ext>
            </p:extLst>
          </p:nvPr>
        </p:nvGraphicFramePr>
        <p:xfrm>
          <a:off x="1511156" y="5035640"/>
          <a:ext cx="4198513" cy="1030309"/>
        </p:xfrm>
        <a:graphic>
          <a:graphicData uri="http://schemas.openxmlformats.org/presentationml/2006/ole">
            <mc:AlternateContent xmlns:mc="http://schemas.openxmlformats.org/markup-compatibility/2006">
              <mc:Choice xmlns:v="urn:schemas-microsoft-com:vml" Requires="v">
                <p:oleObj name="Equation" r:id="rId12" imgW="1688367" imgH="393529" progId="Equation.3">
                  <p:embed/>
                </p:oleObj>
              </mc:Choice>
              <mc:Fallback>
                <p:oleObj name="Equation" r:id="rId12" imgW="1688367" imgH="393529"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11156" y="5035640"/>
                        <a:ext cx="4198513" cy="1030309"/>
                      </a:xfrm>
                      <a:prstGeom prst="rect">
                        <a:avLst/>
                      </a:prstGeom>
                      <a:noFill/>
                    </p:spPr>
                  </p:pic>
                </p:oleObj>
              </mc:Fallback>
            </mc:AlternateContent>
          </a:graphicData>
        </a:graphic>
      </p:graphicFrame>
      <p:sp>
        <p:nvSpPr>
          <p:cNvPr id="12" name="Rectangle 11"/>
          <p:cNvSpPr/>
          <p:nvPr/>
        </p:nvSpPr>
        <p:spPr>
          <a:xfrm>
            <a:off x="6096000" y="1514474"/>
            <a:ext cx="6096000" cy="4524315"/>
          </a:xfrm>
          <a:prstGeom prst="rect">
            <a:avLst/>
          </a:prstGeom>
        </p:spPr>
        <p:txBody>
          <a:bodyPr>
            <a:spAutoFit/>
          </a:bodyPr>
          <a:lstStyle/>
          <a:p>
            <a:pPr algn="just"/>
            <a:r>
              <a:rPr lang="en-US" sz="2400" dirty="0">
                <a:latin typeface="Times New Roman" pitchFamily="18" charset="0"/>
                <a:cs typeface="Times New Roman" pitchFamily="18" charset="0"/>
              </a:rPr>
              <a:t>When the number of observations is very large, the data is organized into a frequency distribution, which is used to calculate the approximate values of descriptive measures as the identity of the observations is lost. To calculate the approximate value of the mean, the observations in each class are assumed to be identical with the class midpoint so that the product of the midpoint by the number of observations, i.e. frequency would be approximately equal to the sum of observations for each class</a:t>
            </a:r>
          </a:p>
        </p:txBody>
      </p:sp>
    </p:spTree>
    <p:extLst>
      <p:ext uri="{BB962C8B-B14F-4D97-AF65-F5344CB8AC3E}">
        <p14:creationId xmlns:p14="http://schemas.microsoft.com/office/powerpoint/2010/main" val="3861682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874846" y="1514474"/>
            <a:ext cx="2602450" cy="461665"/>
          </a:xfrm>
          <a:prstGeom prst="rect">
            <a:avLst/>
          </a:prstGeom>
        </p:spPr>
        <p:txBody>
          <a:bodyPr wrap="square">
            <a:spAutoFit/>
          </a:bodyPr>
          <a:lstStyle/>
          <a:p>
            <a:r>
              <a:rPr lang="en-US" b="1" dirty="0"/>
              <a:t> </a:t>
            </a:r>
            <a:r>
              <a:rPr lang="en-US" sz="2400" b="1" dirty="0">
                <a:latin typeface="Times New Roman" pitchFamily="18" charset="0"/>
                <a:cs typeface="Times New Roman" pitchFamily="18" charset="0"/>
              </a:rPr>
              <a:t>For grouped data</a:t>
            </a:r>
            <a:endParaRPr lang="en-US" sz="2400" dirty="0">
              <a:latin typeface="Times New Roman" pitchFamily="18" charset="0"/>
              <a:cs typeface="Times New Roman" pitchFamily="18" charset="0"/>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4023577542"/>
              </p:ext>
            </p:extLst>
          </p:nvPr>
        </p:nvGraphicFramePr>
        <p:xfrm>
          <a:off x="1455312" y="2176530"/>
          <a:ext cx="5228823" cy="1596980"/>
        </p:xfrm>
        <a:graphic>
          <a:graphicData uri="http://schemas.openxmlformats.org/presentationml/2006/ole">
            <mc:AlternateContent xmlns:mc="http://schemas.openxmlformats.org/markup-compatibility/2006">
              <mc:Choice xmlns:v="urn:schemas-microsoft-com:vml" Requires="v">
                <p:oleObj name="Equation" r:id="rId10" imgW="3086100" imgH="838200" progId="Equation.3">
                  <p:embed/>
                </p:oleObj>
              </mc:Choice>
              <mc:Fallback>
                <p:oleObj name="Equation" r:id="rId10" imgW="3086100" imgH="8382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55312" y="2176530"/>
                        <a:ext cx="5228823" cy="1596980"/>
                      </a:xfrm>
                      <a:prstGeom prst="rect">
                        <a:avLst/>
                      </a:prstGeom>
                      <a:noFill/>
                    </p:spPr>
                  </p:pic>
                </p:oleObj>
              </mc:Fallback>
            </mc:AlternateContent>
          </a:graphicData>
        </a:graphic>
      </p:graphicFrame>
    </p:spTree>
    <p:extLst>
      <p:ext uri="{BB962C8B-B14F-4D97-AF65-F5344CB8AC3E}">
        <p14:creationId xmlns:p14="http://schemas.microsoft.com/office/powerpoint/2010/main" val="3861682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317352" y="1329808"/>
            <a:ext cx="5259199" cy="400110"/>
          </a:xfrm>
          <a:prstGeom prst="rect">
            <a:avLst/>
          </a:prstGeom>
        </p:spPr>
        <p:txBody>
          <a:bodyPr wrap="square">
            <a:spAutoFit/>
          </a:bodyPr>
          <a:lstStyle/>
          <a:p>
            <a:r>
              <a:rPr lang="en-US" sz="2000" b="1" dirty="0">
                <a:latin typeface="Times New Roman" pitchFamily="18" charset="0"/>
                <a:cs typeface="Times New Roman" pitchFamily="18" charset="0"/>
              </a:rPr>
              <a:t>Example # 2. </a:t>
            </a:r>
            <a:r>
              <a:rPr lang="en-US" sz="2000" dirty="0">
                <a:latin typeface="Times New Roman" pitchFamily="18" charset="0"/>
                <a:cs typeface="Times New Roman" pitchFamily="18" charset="0"/>
              </a:rPr>
              <a:t>Find the arithmetic mean for</a:t>
            </a:r>
          </a:p>
        </p:txBody>
      </p:sp>
      <p:graphicFrame>
        <p:nvGraphicFramePr>
          <p:cNvPr id="3" name="Table 2"/>
          <p:cNvGraphicFramePr>
            <a:graphicFrameLocks noGrp="1"/>
          </p:cNvGraphicFramePr>
          <p:nvPr>
            <p:extLst>
              <p:ext uri="{D42A27DB-BD31-4B8C-83A1-F6EECF244321}">
                <p14:modId xmlns:p14="http://schemas.microsoft.com/office/powerpoint/2010/main" val="4217183221"/>
              </p:ext>
            </p:extLst>
          </p:nvPr>
        </p:nvGraphicFramePr>
        <p:xfrm>
          <a:off x="663371" y="1934426"/>
          <a:ext cx="4088932" cy="3294396"/>
        </p:xfrm>
        <a:graphic>
          <a:graphicData uri="http://schemas.openxmlformats.org/drawingml/2006/table">
            <a:tbl>
              <a:tblPr>
                <a:tableStyleId>{5C22544A-7EE6-4342-B048-85BDC9FD1C3A}</a:tableStyleId>
              </a:tblPr>
              <a:tblGrid>
                <a:gridCol w="1022233">
                  <a:extLst>
                    <a:ext uri="{9D8B030D-6E8A-4147-A177-3AD203B41FA5}">
                      <a16:colId xmlns:a16="http://schemas.microsoft.com/office/drawing/2014/main" val="20000"/>
                    </a:ext>
                  </a:extLst>
                </a:gridCol>
                <a:gridCol w="1210539">
                  <a:extLst>
                    <a:ext uri="{9D8B030D-6E8A-4147-A177-3AD203B41FA5}">
                      <a16:colId xmlns:a16="http://schemas.microsoft.com/office/drawing/2014/main" val="20001"/>
                    </a:ext>
                  </a:extLst>
                </a:gridCol>
                <a:gridCol w="1210539">
                  <a:extLst>
                    <a:ext uri="{9D8B030D-6E8A-4147-A177-3AD203B41FA5}">
                      <a16:colId xmlns:a16="http://schemas.microsoft.com/office/drawing/2014/main" val="20002"/>
                    </a:ext>
                  </a:extLst>
                </a:gridCol>
                <a:gridCol w="645621">
                  <a:extLst>
                    <a:ext uri="{9D8B030D-6E8A-4147-A177-3AD203B41FA5}">
                      <a16:colId xmlns:a16="http://schemas.microsoft.com/office/drawing/2014/main" val="20003"/>
                    </a:ext>
                  </a:extLst>
                </a:gridCol>
              </a:tblGrid>
              <a:tr h="732088">
                <a:tc>
                  <a:txBody>
                    <a:bodyPr/>
                    <a:lstStyle/>
                    <a:p>
                      <a:pPr marL="0" marR="0">
                        <a:lnSpc>
                          <a:spcPct val="115000"/>
                        </a:lnSpc>
                        <a:spcBef>
                          <a:spcPts val="450"/>
                        </a:spcBef>
                        <a:spcAft>
                          <a:spcPts val="270"/>
                        </a:spcAft>
                        <a:tabLst>
                          <a:tab pos="306705" algn="ctr"/>
                        </a:tabLst>
                      </a:pPr>
                      <a:r>
                        <a:rPr lang="en-US" sz="1200" spc="-15" dirty="0">
                          <a:effectLst/>
                        </a:rPr>
                        <a:t>	Marks</a:t>
                      </a:r>
                      <a:endParaRPr lang="en-US" sz="1200" dirty="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0"/>
                        </a:spcAft>
                        <a:tabLst>
                          <a:tab pos="501650" algn="ctr"/>
                        </a:tabLst>
                      </a:pPr>
                      <a:r>
                        <a:rPr lang="en-US" sz="1200" spc="-15">
                          <a:effectLst/>
                        </a:rPr>
                        <a:t>	Frequency</a:t>
                      </a:r>
                      <a:endParaRPr lang="en-US" sz="1200">
                        <a:effectLst/>
                      </a:endParaRPr>
                    </a:p>
                    <a:p>
                      <a:pPr marL="0" marR="0">
                        <a:lnSpc>
                          <a:spcPct val="115000"/>
                        </a:lnSpc>
                        <a:spcBef>
                          <a:spcPts val="0"/>
                        </a:spcBef>
                        <a:spcAft>
                          <a:spcPts val="270"/>
                        </a:spcAft>
                        <a:tabLst>
                          <a:tab pos="501650" algn="ctr"/>
                        </a:tabLst>
                      </a:pPr>
                      <a:r>
                        <a:rPr lang="en-US" sz="1200" spc="-15">
                          <a:effectLst/>
                        </a:rPr>
                        <a:t>        (f)</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0"/>
                        </a:spcAft>
                        <a:tabLst>
                          <a:tab pos="489585" algn="ctr"/>
                        </a:tabLst>
                      </a:pPr>
                      <a:r>
                        <a:rPr lang="en-US" sz="1200" spc="-15">
                          <a:effectLst/>
                        </a:rPr>
                        <a:t>	Mid points</a:t>
                      </a:r>
                      <a:endParaRPr lang="en-US" sz="1200">
                        <a:effectLst/>
                      </a:endParaRPr>
                    </a:p>
                    <a:p>
                      <a:pPr marL="0" marR="0">
                        <a:lnSpc>
                          <a:spcPct val="115000"/>
                        </a:lnSpc>
                        <a:spcBef>
                          <a:spcPts val="0"/>
                        </a:spcBef>
                        <a:spcAft>
                          <a:spcPts val="270"/>
                        </a:spcAft>
                        <a:tabLst>
                          <a:tab pos="489585" algn="ctr"/>
                        </a:tabLst>
                      </a:pPr>
                      <a:r>
                        <a:rPr lang="en-US" sz="1200" spc="-15">
                          <a:effectLst/>
                        </a:rPr>
                        <a:t>        (X)</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209550" algn="ctr"/>
                        </a:tabLst>
                      </a:pPr>
                      <a:r>
                        <a:rPr lang="en-US" sz="1200" spc="-15">
                          <a:effectLst/>
                        </a:rPr>
                        <a:t>	fX</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0"/>
                  </a:ext>
                </a:extLst>
              </a:tr>
              <a:tr h="366044">
                <a:tc>
                  <a:txBody>
                    <a:bodyPr/>
                    <a:lstStyle/>
                    <a:p>
                      <a:pPr marL="0" marR="0">
                        <a:lnSpc>
                          <a:spcPct val="115000"/>
                        </a:lnSpc>
                        <a:spcBef>
                          <a:spcPts val="450"/>
                        </a:spcBef>
                        <a:spcAft>
                          <a:spcPts val="270"/>
                        </a:spcAft>
                        <a:tabLst>
                          <a:tab pos="306705" algn="ctr"/>
                        </a:tabLst>
                      </a:pPr>
                      <a:r>
                        <a:rPr lang="en-US" sz="1200" spc="-15">
                          <a:effectLst/>
                        </a:rPr>
                        <a:t>	20—24</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501650" algn="ctr"/>
                        </a:tabLst>
                      </a:pPr>
                      <a:r>
                        <a:rPr lang="en-US" sz="1200" spc="-15">
                          <a:effectLst/>
                        </a:rPr>
                        <a:t>	1</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89585" algn="ctr"/>
                        </a:tabLst>
                      </a:pPr>
                      <a:r>
                        <a:rPr lang="en-US" sz="1200" spc="-15">
                          <a:effectLst/>
                        </a:rPr>
                        <a:t>	22</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209550" algn="ctr"/>
                        </a:tabLst>
                      </a:pPr>
                      <a:r>
                        <a:rPr lang="en-US" sz="1200" spc="-15">
                          <a:effectLst/>
                        </a:rPr>
                        <a:t>	22</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1"/>
                  </a:ext>
                </a:extLst>
              </a:tr>
              <a:tr h="366044">
                <a:tc>
                  <a:txBody>
                    <a:bodyPr/>
                    <a:lstStyle/>
                    <a:p>
                      <a:pPr marL="0" marR="0">
                        <a:lnSpc>
                          <a:spcPct val="115000"/>
                        </a:lnSpc>
                        <a:spcBef>
                          <a:spcPts val="450"/>
                        </a:spcBef>
                        <a:spcAft>
                          <a:spcPts val="270"/>
                        </a:spcAft>
                        <a:tabLst>
                          <a:tab pos="306705" algn="ctr"/>
                        </a:tabLst>
                      </a:pPr>
                      <a:r>
                        <a:rPr lang="en-US" sz="1200" spc="-15">
                          <a:effectLst/>
                        </a:rPr>
                        <a:t>	25—29</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501650" algn="ctr"/>
                        </a:tabLst>
                      </a:pPr>
                      <a:r>
                        <a:rPr lang="en-US" sz="1200" spc="-15">
                          <a:effectLst/>
                        </a:rPr>
                        <a:t>	4</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89585" algn="ctr"/>
                        </a:tabLst>
                      </a:pPr>
                      <a:r>
                        <a:rPr lang="en-US" sz="1200" spc="-15">
                          <a:effectLst/>
                        </a:rPr>
                        <a:t>	27</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209550" algn="ctr"/>
                        </a:tabLst>
                      </a:pPr>
                      <a:r>
                        <a:rPr lang="en-US" sz="1200" spc="-15" dirty="0">
                          <a:effectLst/>
                        </a:rPr>
                        <a:t>	108</a:t>
                      </a:r>
                      <a:endParaRPr lang="en-US" sz="1200" dirty="0">
                        <a:effectLst/>
                        <a:latin typeface="Courier"/>
                        <a:ea typeface="Times New Roman"/>
                        <a:cs typeface="Times New Roman"/>
                      </a:endParaRPr>
                    </a:p>
                  </a:txBody>
                  <a:tcPr marL="76200" marR="76200" marT="0" marB="0"/>
                </a:tc>
                <a:extLst>
                  <a:ext uri="{0D108BD9-81ED-4DB2-BD59-A6C34878D82A}">
                    <a16:rowId xmlns:a16="http://schemas.microsoft.com/office/drawing/2014/main" val="10002"/>
                  </a:ext>
                </a:extLst>
              </a:tr>
              <a:tr h="366044">
                <a:tc>
                  <a:txBody>
                    <a:bodyPr/>
                    <a:lstStyle/>
                    <a:p>
                      <a:pPr marL="0" marR="0">
                        <a:lnSpc>
                          <a:spcPct val="115000"/>
                        </a:lnSpc>
                        <a:spcBef>
                          <a:spcPts val="450"/>
                        </a:spcBef>
                        <a:spcAft>
                          <a:spcPts val="270"/>
                        </a:spcAft>
                        <a:tabLst>
                          <a:tab pos="306705" algn="ctr"/>
                        </a:tabLst>
                      </a:pPr>
                      <a:r>
                        <a:rPr lang="en-US" sz="1200" spc="-15">
                          <a:effectLst/>
                        </a:rPr>
                        <a:t>	30—34</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501650" algn="ctr"/>
                        </a:tabLst>
                      </a:pPr>
                      <a:r>
                        <a:rPr lang="en-US" sz="1200" spc="-15">
                          <a:effectLst/>
                        </a:rPr>
                        <a:t>	8</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89585" algn="ctr"/>
                        </a:tabLst>
                      </a:pPr>
                      <a:r>
                        <a:rPr lang="en-US" sz="1200" spc="-15">
                          <a:effectLst/>
                        </a:rPr>
                        <a:t>	32</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209550" algn="ctr"/>
                        </a:tabLst>
                      </a:pPr>
                      <a:r>
                        <a:rPr lang="en-US" sz="1200" spc="-15">
                          <a:effectLst/>
                        </a:rPr>
                        <a:t>	256</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3"/>
                  </a:ext>
                </a:extLst>
              </a:tr>
              <a:tr h="366044">
                <a:tc>
                  <a:txBody>
                    <a:bodyPr/>
                    <a:lstStyle/>
                    <a:p>
                      <a:pPr marL="0" marR="0">
                        <a:lnSpc>
                          <a:spcPct val="115000"/>
                        </a:lnSpc>
                        <a:spcBef>
                          <a:spcPts val="450"/>
                        </a:spcBef>
                        <a:spcAft>
                          <a:spcPts val="270"/>
                        </a:spcAft>
                        <a:tabLst>
                          <a:tab pos="306705" algn="ctr"/>
                        </a:tabLst>
                      </a:pPr>
                      <a:r>
                        <a:rPr lang="en-US" sz="1200" spc="-15">
                          <a:effectLst/>
                        </a:rPr>
                        <a:t>	35—39</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501650" algn="ctr"/>
                        </a:tabLst>
                      </a:pPr>
                      <a:r>
                        <a:rPr lang="en-US" sz="1200" spc="-15">
                          <a:effectLst/>
                        </a:rPr>
                        <a:t>	11</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89585" algn="ctr"/>
                        </a:tabLst>
                      </a:pPr>
                      <a:r>
                        <a:rPr lang="en-US" sz="1200" spc="-15">
                          <a:effectLst/>
                        </a:rPr>
                        <a:t>	37</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209550" algn="ctr"/>
                        </a:tabLst>
                      </a:pPr>
                      <a:r>
                        <a:rPr lang="en-US" sz="1200" spc="-15">
                          <a:effectLst/>
                        </a:rPr>
                        <a:t>	407</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4"/>
                  </a:ext>
                </a:extLst>
              </a:tr>
              <a:tr h="366044">
                <a:tc>
                  <a:txBody>
                    <a:bodyPr/>
                    <a:lstStyle/>
                    <a:p>
                      <a:pPr marL="0" marR="0">
                        <a:lnSpc>
                          <a:spcPct val="115000"/>
                        </a:lnSpc>
                        <a:spcBef>
                          <a:spcPts val="450"/>
                        </a:spcBef>
                        <a:spcAft>
                          <a:spcPts val="270"/>
                        </a:spcAft>
                        <a:tabLst>
                          <a:tab pos="306705" algn="ctr"/>
                        </a:tabLst>
                      </a:pPr>
                      <a:r>
                        <a:rPr lang="en-US" sz="1200" spc="-15">
                          <a:effectLst/>
                        </a:rPr>
                        <a:t>	40—44</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501650" algn="ctr"/>
                        </a:tabLst>
                      </a:pPr>
                      <a:r>
                        <a:rPr lang="en-US" sz="1200" spc="-15">
                          <a:effectLst/>
                        </a:rPr>
                        <a:t>	15</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89585" algn="ctr"/>
                        </a:tabLst>
                      </a:pPr>
                      <a:r>
                        <a:rPr lang="en-US" sz="1200" spc="-15">
                          <a:effectLst/>
                        </a:rPr>
                        <a:t>	42</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209550" algn="ctr"/>
                        </a:tabLst>
                      </a:pPr>
                      <a:r>
                        <a:rPr lang="en-US" sz="1200" spc="-15">
                          <a:effectLst/>
                        </a:rPr>
                        <a:t>	630</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5"/>
                  </a:ext>
                </a:extLst>
              </a:tr>
              <a:tr h="366044">
                <a:tc>
                  <a:txBody>
                    <a:bodyPr/>
                    <a:lstStyle/>
                    <a:p>
                      <a:pPr marL="0" marR="0">
                        <a:lnSpc>
                          <a:spcPct val="115000"/>
                        </a:lnSpc>
                        <a:spcBef>
                          <a:spcPts val="450"/>
                        </a:spcBef>
                        <a:spcAft>
                          <a:spcPts val="270"/>
                        </a:spcAft>
                        <a:tabLst>
                          <a:tab pos="306705" algn="ctr"/>
                        </a:tabLst>
                      </a:pPr>
                      <a:r>
                        <a:rPr lang="en-US" sz="1200" spc="-15">
                          <a:effectLst/>
                        </a:rPr>
                        <a:t>	45—49</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501650" algn="ctr"/>
                        </a:tabLst>
                      </a:pPr>
                      <a:r>
                        <a:rPr lang="en-US" sz="1200" spc="-15">
                          <a:effectLst/>
                        </a:rPr>
                        <a:t>	9</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89585" algn="ctr"/>
                        </a:tabLst>
                      </a:pPr>
                      <a:r>
                        <a:rPr lang="en-US" sz="1200" spc="-15">
                          <a:effectLst/>
                        </a:rPr>
                        <a:t>	47</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209550" algn="ctr"/>
                        </a:tabLst>
                      </a:pPr>
                      <a:r>
                        <a:rPr lang="en-US" sz="1200" spc="-15">
                          <a:effectLst/>
                        </a:rPr>
                        <a:t>	423</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6"/>
                  </a:ext>
                </a:extLst>
              </a:tr>
              <a:tr h="366044">
                <a:tc>
                  <a:txBody>
                    <a:bodyPr/>
                    <a:lstStyle/>
                    <a:p>
                      <a:pPr marL="0" marR="0">
                        <a:lnSpc>
                          <a:spcPct val="115000"/>
                        </a:lnSpc>
                        <a:spcBef>
                          <a:spcPts val="450"/>
                        </a:spcBef>
                        <a:spcAft>
                          <a:spcPts val="270"/>
                        </a:spcAft>
                        <a:tabLst>
                          <a:tab pos="306705" algn="ctr"/>
                        </a:tabLst>
                      </a:pPr>
                      <a:r>
                        <a:rPr lang="en-US" sz="1200" spc="-15">
                          <a:effectLst/>
                        </a:rPr>
                        <a:t>	TOTAL</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501650" algn="ctr"/>
                        </a:tabLst>
                      </a:pPr>
                      <a:r>
                        <a:rPr lang="en-US" sz="1200" spc="-15">
                          <a:effectLst/>
                        </a:rPr>
                        <a:t>	48</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spc="-15">
                          <a:effectLst/>
                        </a:rPr>
                        <a:t> </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209550" algn="ctr"/>
                        </a:tabLst>
                      </a:pPr>
                      <a:r>
                        <a:rPr lang="en-US" sz="1200" spc="-15" dirty="0">
                          <a:effectLst/>
                        </a:rPr>
                        <a:t>	1846</a:t>
                      </a:r>
                      <a:endParaRPr lang="en-US" sz="1200" dirty="0">
                        <a:effectLst/>
                        <a:latin typeface="Courier"/>
                        <a:ea typeface="Times New Roman"/>
                        <a:cs typeface="Times New Roman"/>
                      </a:endParaRPr>
                    </a:p>
                  </a:txBody>
                  <a:tcPr marL="76200" marR="76200" marT="0" marB="0"/>
                </a:tc>
                <a:extLst>
                  <a:ext uri="{0D108BD9-81ED-4DB2-BD59-A6C34878D82A}">
                    <a16:rowId xmlns:a16="http://schemas.microsoft.com/office/drawing/2014/main" val="10007"/>
                  </a:ext>
                </a:extLst>
              </a:tr>
            </a:tbl>
          </a:graphicData>
        </a:graphic>
      </p:graphicFrame>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3550474302"/>
              </p:ext>
            </p:extLst>
          </p:nvPr>
        </p:nvGraphicFramePr>
        <p:xfrm>
          <a:off x="7469747" y="1983347"/>
          <a:ext cx="3683358" cy="1068946"/>
        </p:xfrm>
        <a:graphic>
          <a:graphicData uri="http://schemas.openxmlformats.org/presentationml/2006/ole">
            <mc:AlternateContent xmlns:mc="http://schemas.openxmlformats.org/markup-compatibility/2006">
              <mc:Choice xmlns:v="urn:schemas-microsoft-com:vml" Requires="v">
                <p:oleObj name="Equation" r:id="rId10" imgW="1917700" imgH="419100" progId="Equation.3">
                  <p:embed/>
                </p:oleObj>
              </mc:Choice>
              <mc:Fallback>
                <p:oleObj name="Equation" r:id="rId10" imgW="1917700" imgH="4191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69747" y="1983347"/>
                        <a:ext cx="3683358" cy="1068946"/>
                      </a:xfrm>
                      <a:prstGeom prst="rect">
                        <a:avLst/>
                      </a:prstGeom>
                      <a:noFill/>
                    </p:spPr>
                  </p:pic>
                </p:oleObj>
              </mc:Fallback>
            </mc:AlternateContent>
          </a:graphicData>
        </a:graphic>
      </p:graphicFrame>
      <p:sp>
        <p:nvSpPr>
          <p:cNvPr id="6" name="Rectangle 5"/>
          <p:cNvSpPr/>
          <p:nvPr/>
        </p:nvSpPr>
        <p:spPr>
          <a:xfrm>
            <a:off x="5350146" y="3741314"/>
            <a:ext cx="6096000" cy="646331"/>
          </a:xfrm>
          <a:prstGeom prst="rect">
            <a:avLst/>
          </a:prstGeom>
        </p:spPr>
        <p:txBody>
          <a:bodyPr>
            <a:spAutoFit/>
          </a:bodyPr>
          <a:lstStyle/>
          <a:p>
            <a:r>
              <a:rPr lang="en-US" b="1" u="sng" dirty="0">
                <a:latin typeface="Times New Roman" pitchFamily="18" charset="0"/>
                <a:cs typeface="Times New Roman" pitchFamily="18" charset="0"/>
              </a:rPr>
              <a:t>NOTE:</a:t>
            </a:r>
            <a:r>
              <a:rPr lang="en-US" dirty="0">
                <a:latin typeface="Times New Roman" pitchFamily="18" charset="0"/>
                <a:cs typeface="Times New Roman" pitchFamily="18" charset="0"/>
              </a:rPr>
              <a:t> At least one observation will be below and </a:t>
            </a:r>
            <a:r>
              <a:rPr lang="en-US" dirty="0" err="1">
                <a:latin typeface="Times New Roman" pitchFamily="18" charset="0"/>
                <a:cs typeface="Times New Roman" pitchFamily="18" charset="0"/>
              </a:rPr>
              <a:t>atleast</a:t>
            </a:r>
            <a:r>
              <a:rPr lang="en-US" dirty="0">
                <a:latin typeface="Times New Roman" pitchFamily="18" charset="0"/>
                <a:cs typeface="Times New Roman" pitchFamily="18" charset="0"/>
              </a:rPr>
              <a:t> one will be above the mean</a:t>
            </a:r>
            <a:r>
              <a:rPr lang="en-US" b="1" u="sng"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61682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803726" y="1347353"/>
            <a:ext cx="8198606" cy="4524315"/>
          </a:xfrm>
          <a:prstGeom prst="rect">
            <a:avLst/>
          </a:prstGeom>
        </p:spPr>
        <p:txBody>
          <a:bodyPr wrap="square">
            <a:spAutoFit/>
          </a:bodyPr>
          <a:lstStyle/>
          <a:p>
            <a:r>
              <a:rPr lang="en-US" sz="2400" b="1" u="sng" dirty="0">
                <a:latin typeface="Times New Roman" pitchFamily="18" charset="0"/>
                <a:cs typeface="Times New Roman" pitchFamily="18" charset="0"/>
              </a:rPr>
              <a:t>Merits of Arithmetic Mean:</a:t>
            </a:r>
            <a:r>
              <a:rPr lang="en-US" sz="2400" dirty="0">
                <a:latin typeface="Times New Roman" pitchFamily="18" charset="0"/>
                <a:cs typeface="Times New Roman" pitchFamily="18" charset="0"/>
              </a:rPr>
              <a:t> </a:t>
            </a:r>
          </a:p>
          <a:p>
            <a:pPr lvl="0"/>
            <a:r>
              <a:rPr lang="en-US" sz="2400" dirty="0">
                <a:latin typeface="Times New Roman" pitchFamily="18" charset="0"/>
                <a:cs typeface="Times New Roman" pitchFamily="18" charset="0"/>
              </a:rPr>
              <a:t>It is clearly defined by mathematical formula.</a:t>
            </a:r>
          </a:p>
          <a:p>
            <a:pPr lvl="0"/>
            <a:r>
              <a:rPr lang="en-US" sz="2400" dirty="0">
                <a:latin typeface="Times New Roman" pitchFamily="18" charset="0"/>
                <a:cs typeface="Times New Roman" pitchFamily="18" charset="0"/>
              </a:rPr>
              <a:t>It is easy to calculate and simple to understand.</a:t>
            </a:r>
          </a:p>
          <a:p>
            <a:pPr lvl="0"/>
            <a:r>
              <a:rPr lang="en-US" sz="2400" dirty="0">
                <a:latin typeface="Times New Roman" pitchFamily="18" charset="0"/>
                <a:cs typeface="Times New Roman" pitchFamily="18" charset="0"/>
              </a:rPr>
              <a:t>It is based on all the observations.</a:t>
            </a:r>
          </a:p>
          <a:p>
            <a:pPr lvl="0"/>
            <a:r>
              <a:rPr lang="en-US" sz="2400" dirty="0">
                <a:latin typeface="Times New Roman" pitchFamily="18" charset="0"/>
                <a:cs typeface="Times New Roman" pitchFamily="18" charset="0"/>
              </a:rPr>
              <a:t>It is capable for further algebraic treatments.</a:t>
            </a:r>
          </a:p>
          <a:p>
            <a:pPr lvl="0"/>
            <a:r>
              <a:rPr lang="en-US" sz="2400" dirty="0">
                <a:latin typeface="Times New Roman" pitchFamily="18" charset="0"/>
                <a:cs typeface="Times New Roman" pitchFamily="18" charset="0"/>
              </a:rPr>
              <a:t>It is least affected by sampling fluctuation.</a:t>
            </a:r>
          </a:p>
          <a:p>
            <a:r>
              <a:rPr lang="en-US" sz="2400" b="1" u="sng" dirty="0">
                <a:latin typeface="Times New Roman" pitchFamily="18" charset="0"/>
                <a:cs typeface="Times New Roman" pitchFamily="18" charset="0"/>
              </a:rPr>
              <a:t>De-Merits of Arithmetic Mean:</a:t>
            </a:r>
            <a:endParaRPr lang="en-US"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It is not an appropriate average for highly-skewed distribution.</a:t>
            </a:r>
          </a:p>
          <a:p>
            <a:pPr lvl="0"/>
            <a:r>
              <a:rPr lang="en-US" sz="2400" dirty="0">
                <a:latin typeface="Times New Roman" pitchFamily="18" charset="0"/>
                <a:cs typeface="Times New Roman" pitchFamily="18" charset="0"/>
              </a:rPr>
              <a:t>It is greatly affected by </a:t>
            </a:r>
            <a:r>
              <a:rPr lang="en-US" sz="2400" dirty="0" err="1">
                <a:latin typeface="Times New Roman" pitchFamily="18" charset="0"/>
                <a:cs typeface="Times New Roman" pitchFamily="18" charset="0"/>
              </a:rPr>
              <a:t>by</a:t>
            </a:r>
            <a:r>
              <a:rPr lang="en-US" sz="2400" dirty="0">
                <a:latin typeface="Times New Roman" pitchFamily="18" charset="0"/>
                <a:cs typeface="Times New Roman" pitchFamily="18" charset="0"/>
              </a:rPr>
              <a:t> extreme values.</a:t>
            </a:r>
          </a:p>
          <a:p>
            <a:pPr lvl="0"/>
            <a:r>
              <a:rPr lang="en-US" sz="2400" dirty="0">
                <a:latin typeface="Times New Roman" pitchFamily="18" charset="0"/>
                <a:cs typeface="Times New Roman" pitchFamily="18" charset="0"/>
              </a:rPr>
              <a:t>It cannot be calculated for open-end classes.</a:t>
            </a:r>
          </a:p>
          <a:p>
            <a:pPr lvl="0"/>
            <a:r>
              <a:rPr lang="en-US" sz="2400" dirty="0">
                <a:latin typeface="Times New Roman" pitchFamily="18" charset="0"/>
                <a:cs typeface="Times New Roman" pitchFamily="18" charset="0"/>
              </a:rPr>
              <a:t>It may be a value which is usually not present in the data.</a:t>
            </a:r>
          </a:p>
          <a:p>
            <a:pPr lvl="0"/>
            <a:r>
              <a:rPr lang="en-US" sz="2400" dirty="0">
                <a:latin typeface="Times New Roman" pitchFamily="18" charset="0"/>
                <a:cs typeface="Times New Roman" pitchFamily="18" charset="0"/>
              </a:rPr>
              <a:t>It cannot be computed accurately even one item is missing. </a:t>
            </a:r>
          </a:p>
        </p:txBody>
      </p:sp>
    </p:spTree>
    <p:extLst>
      <p:ext uri="{BB962C8B-B14F-4D97-AF65-F5344CB8AC3E}">
        <p14:creationId xmlns:p14="http://schemas.microsoft.com/office/powerpoint/2010/main" val="3861682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197" y="1514474"/>
            <a:ext cx="2039974" cy="5144283"/>
          </a:xfrm>
          <a:prstGeom prst="rect">
            <a:avLst/>
          </a:prstGeom>
        </p:spPr>
      </p:pic>
      <p:sp>
        <p:nvSpPr>
          <p:cNvPr id="2" name="Rectangle 1"/>
          <p:cNvSpPr/>
          <p:nvPr/>
        </p:nvSpPr>
        <p:spPr>
          <a:xfrm>
            <a:off x="167425" y="1383028"/>
            <a:ext cx="10000241" cy="5262979"/>
          </a:xfrm>
          <a:prstGeom prst="rect">
            <a:avLst/>
          </a:prstGeom>
        </p:spPr>
        <p:txBody>
          <a:bodyPr wrap="square">
            <a:spAutoFit/>
          </a:bodyPr>
          <a:lstStyle/>
          <a:p>
            <a:pPr algn="just"/>
            <a:r>
              <a:rPr lang="en-US" sz="2400" b="1" u="sng" dirty="0">
                <a:latin typeface="Times New Roman" pitchFamily="18" charset="0"/>
                <a:cs typeface="Times New Roman" pitchFamily="18" charset="0"/>
              </a:rPr>
              <a:t>Median:</a:t>
            </a:r>
            <a:r>
              <a:rPr lang="en-US" sz="2400" dirty="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Median is defined as the middle value of the data when the data is arranged in ascending or descending order of magnitude. The median is a value that divides a set of data in to two equal parts after arranging the values in ascending order of magnitude. It is simply the middle value of the data when the number of values is odd. It is the mean of two middle values if the number of values is even. Median is denoted by “     “</a:t>
            </a:r>
            <a:r>
              <a:rPr lang="en-US" sz="2400" dirty="0"/>
              <a:t>read as X-</a:t>
            </a:r>
            <a:r>
              <a:rPr lang="en-US" sz="2400" dirty="0" err="1"/>
              <a:t>childa</a:t>
            </a:r>
            <a:r>
              <a:rPr lang="en-US" sz="2400" dirty="0"/>
              <a:t> or </a:t>
            </a:r>
            <a:r>
              <a:rPr lang="en-US" sz="2400" dirty="0" err="1"/>
              <a:t>Tilda</a:t>
            </a:r>
            <a:r>
              <a:rPr lang="en-US" sz="2400" dirty="0"/>
              <a:t>.</a:t>
            </a:r>
          </a:p>
          <a:p>
            <a:endParaRPr lang="en-US" sz="2400" dirty="0"/>
          </a:p>
          <a:p>
            <a:r>
              <a:rPr lang="en-US" sz="2400" dirty="0"/>
              <a:t>For ungrouped data:   :        Median=Size of              item.</a:t>
            </a:r>
          </a:p>
          <a:p>
            <a:endParaRPr lang="en-US" sz="2400" dirty="0"/>
          </a:p>
          <a:p>
            <a:r>
              <a:rPr lang="en-US" sz="2400" dirty="0"/>
              <a:t>For Grouped data:   </a:t>
            </a:r>
          </a:p>
          <a:p>
            <a:r>
              <a:rPr lang="en-US" sz="2400" dirty="0"/>
              <a:t>For Discrete Frequency distribution:        Median=Size of              item.</a:t>
            </a:r>
          </a:p>
          <a:p>
            <a:r>
              <a:rPr lang="en-US" sz="2400" dirty="0"/>
              <a:t>Here n = </a:t>
            </a:r>
            <a:r>
              <a:rPr lang="en-US" sz="2400" dirty="0" err="1"/>
              <a:t>Ʃf</a:t>
            </a:r>
            <a:r>
              <a:rPr lang="en-US" sz="2400" dirty="0"/>
              <a:t> </a:t>
            </a:r>
          </a:p>
          <a:p>
            <a:endParaRPr lang="en-US" sz="2400" dirty="0">
              <a:latin typeface="Times New Roman" pitchFamily="18" charset="0"/>
              <a:cs typeface="Times New Roman" pitchFamily="18" charset="0"/>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3270600315"/>
              </p:ext>
            </p:extLst>
          </p:nvPr>
        </p:nvGraphicFramePr>
        <p:xfrm>
          <a:off x="3812147" y="3593207"/>
          <a:ext cx="592427" cy="338862"/>
        </p:xfrm>
        <a:graphic>
          <a:graphicData uri="http://schemas.openxmlformats.org/presentationml/2006/ole">
            <mc:AlternateContent xmlns:mc="http://schemas.openxmlformats.org/markup-compatibility/2006">
              <mc:Choice xmlns:v="urn:schemas-microsoft-com:vml" Requires="v">
                <p:oleObj name="Equation" r:id="rId11" imgW="177569" imgH="202936" progId="Equation.3">
                  <p:embed/>
                </p:oleObj>
              </mc:Choice>
              <mc:Fallback>
                <p:oleObj name="Equation" r:id="rId11" imgW="177569" imgH="202936" progId="Equation.3">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2147" y="3593207"/>
                        <a:ext cx="592427" cy="338862"/>
                      </a:xfrm>
                      <a:prstGeom prst="rect">
                        <a:avLst/>
                      </a:prstGeom>
                      <a:noFill/>
                    </p:spPr>
                  </p:pic>
                </p:oleObj>
              </mc:Fallback>
            </mc:AlternateContent>
          </a:graphicData>
        </a:graphic>
      </p:graphicFrame>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p:cNvGraphicFramePr>
            <a:graphicFrameLocks noChangeAspect="1"/>
          </p:cNvGraphicFramePr>
          <p:nvPr>
            <p:extLst>
              <p:ext uri="{D42A27DB-BD31-4B8C-83A1-F6EECF244321}">
                <p14:modId xmlns:p14="http://schemas.microsoft.com/office/powerpoint/2010/main" val="1089768610"/>
              </p:ext>
            </p:extLst>
          </p:nvPr>
        </p:nvGraphicFramePr>
        <p:xfrm>
          <a:off x="7227201" y="5241701"/>
          <a:ext cx="888642" cy="618186"/>
        </p:xfrm>
        <a:graphic>
          <a:graphicData uri="http://schemas.openxmlformats.org/presentationml/2006/ole">
            <mc:AlternateContent xmlns:mc="http://schemas.openxmlformats.org/markup-compatibility/2006">
              <mc:Choice xmlns:v="urn:schemas-microsoft-com:vml" Requires="v">
                <p:oleObj name="Equation" r:id="rId13" imgW="571252" imgH="469696" progId="Equation.3">
                  <p:embed/>
                </p:oleObj>
              </mc:Choice>
              <mc:Fallback>
                <p:oleObj name="Equation" r:id="rId13" imgW="571252" imgH="469696" progId="Equation.3">
                  <p:embed/>
                  <p:pic>
                    <p:nvPicPr>
                      <p:cNvPr id="0"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27201" y="5241701"/>
                        <a:ext cx="888642" cy="618186"/>
                      </a:xfrm>
                      <a:prstGeom prst="rect">
                        <a:avLst/>
                      </a:prstGeom>
                      <a:noFill/>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131934941"/>
              </p:ext>
            </p:extLst>
          </p:nvPr>
        </p:nvGraphicFramePr>
        <p:xfrm>
          <a:off x="5512851" y="4209469"/>
          <a:ext cx="887412" cy="617538"/>
        </p:xfrm>
        <a:graphic>
          <a:graphicData uri="http://schemas.openxmlformats.org/presentationml/2006/ole">
            <mc:AlternateContent xmlns:mc="http://schemas.openxmlformats.org/markup-compatibility/2006">
              <mc:Choice xmlns:v="urn:schemas-microsoft-com:vml" Requires="v">
                <p:oleObj name="Equation" r:id="rId13" imgW="571252" imgH="469696" progId="Equation.3">
                  <p:embed/>
                </p:oleObj>
              </mc:Choice>
              <mc:Fallback>
                <p:oleObj name="Equation" r:id="rId13" imgW="571252" imgH="469696"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12851" y="4209469"/>
                        <a:ext cx="887412"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61682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669701" y="1514474"/>
            <a:ext cx="8809150" cy="1631216"/>
          </a:xfrm>
          <a:prstGeom prst="rect">
            <a:avLst/>
          </a:prstGeom>
        </p:spPr>
        <p:txBody>
          <a:bodyPr wrap="square">
            <a:spAutoFit/>
          </a:bodyPr>
          <a:lstStyle/>
          <a:p>
            <a:r>
              <a:rPr lang="en-US" sz="2000" b="1" dirty="0">
                <a:latin typeface="Times New Roman" pitchFamily="18" charset="0"/>
                <a:cs typeface="Times New Roman" pitchFamily="18" charset="0"/>
              </a:rPr>
              <a:t>Example # 14. </a:t>
            </a:r>
            <a:r>
              <a:rPr lang="en-US" sz="2000" dirty="0">
                <a:latin typeface="Times New Roman" pitchFamily="18" charset="0"/>
                <a:cs typeface="Times New Roman" pitchFamily="18" charset="0"/>
              </a:rPr>
              <a:t>Given below are the marks obtained by 20 students.</a:t>
            </a:r>
          </a:p>
          <a:p>
            <a:r>
              <a:rPr lang="en-US" sz="2000" dirty="0">
                <a:latin typeface="Times New Roman" pitchFamily="18" charset="0"/>
                <a:cs typeface="Times New Roman" pitchFamily="18" charset="0"/>
              </a:rPr>
              <a:t> 53, 74, 82, 42, 39, 28, 20, 81, 68, 58, 54, 93, 70, 30, 61, 55, 36, 37, 29, 94.  </a:t>
            </a:r>
          </a:p>
          <a:p>
            <a:r>
              <a:rPr lang="en-US" sz="2000" dirty="0">
                <a:latin typeface="Times New Roman" pitchFamily="18" charset="0"/>
                <a:cs typeface="Times New Roman" pitchFamily="18" charset="0"/>
              </a:rPr>
              <a:t>Find Median</a:t>
            </a:r>
          </a:p>
          <a:p>
            <a:r>
              <a:rPr lang="en-US" sz="2000" b="1" dirty="0">
                <a:latin typeface="Times New Roman" pitchFamily="18" charset="0"/>
                <a:cs typeface="Times New Roman" pitchFamily="18" charset="0"/>
              </a:rPr>
              <a:t>Solution:-</a:t>
            </a:r>
            <a:r>
              <a:rPr lang="en-US" sz="2000" dirty="0">
                <a:latin typeface="Times New Roman" pitchFamily="18" charset="0"/>
                <a:cs typeface="Times New Roman" pitchFamily="18" charset="0"/>
              </a:rPr>
              <a:t>First arrange the data in ascending order of magnitude</a:t>
            </a:r>
          </a:p>
          <a:p>
            <a:r>
              <a:rPr lang="en-US" sz="2000" dirty="0">
                <a:latin typeface="Times New Roman" pitchFamily="18" charset="0"/>
                <a:cs typeface="Times New Roman" pitchFamily="18" charset="0"/>
              </a:rPr>
              <a:t>20, 28, 29, 30, 36, 37, 39, 42, 53, 54, 55, 58, 61, 68, 70, 74, 81, 82, 93, 94.</a:t>
            </a:r>
          </a:p>
        </p:txBody>
      </p:sp>
      <p:sp>
        <p:nvSpPr>
          <p:cNvPr id="3" name="Rectangle 2"/>
          <p:cNvSpPr/>
          <p:nvPr/>
        </p:nvSpPr>
        <p:spPr>
          <a:xfrm>
            <a:off x="759853" y="3244334"/>
            <a:ext cx="7843233" cy="2215991"/>
          </a:xfrm>
          <a:prstGeom prst="rect">
            <a:avLst/>
          </a:prstGeom>
        </p:spPr>
        <p:txBody>
          <a:bodyPr wrap="square">
            <a:spAutoFit/>
          </a:bodyPr>
          <a:lstStyle/>
          <a:p>
            <a:r>
              <a:rPr lang="en-US" sz="2400" dirty="0">
                <a:latin typeface="Times New Roman" pitchFamily="18" charset="0"/>
                <a:cs typeface="Times New Roman" pitchFamily="18" charset="0"/>
              </a:rPr>
              <a:t>Median   = Size of              item = 10.5</a:t>
            </a:r>
            <a:r>
              <a:rPr lang="en-US" sz="2400" baseline="30000" dirty="0">
                <a:latin typeface="Times New Roman" pitchFamily="18" charset="0"/>
                <a:cs typeface="Times New Roman" pitchFamily="18" charset="0"/>
              </a:rPr>
              <a:t>th</a:t>
            </a:r>
            <a:r>
              <a:rPr lang="en-US" sz="2400" dirty="0">
                <a:latin typeface="Times New Roman" pitchFamily="18" charset="0"/>
                <a:cs typeface="Times New Roman" pitchFamily="18" charset="0"/>
              </a:rPr>
              <a:t> item</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 Size of 10.5</a:t>
            </a:r>
            <a:r>
              <a:rPr lang="en-US" sz="2400" baseline="30000" dirty="0">
                <a:latin typeface="Times New Roman" pitchFamily="18" charset="0"/>
                <a:cs typeface="Times New Roman" pitchFamily="18" charset="0"/>
              </a:rPr>
              <a:t>th</a:t>
            </a:r>
            <a:r>
              <a:rPr lang="en-US" sz="2400" dirty="0">
                <a:latin typeface="Times New Roman" pitchFamily="18" charset="0"/>
                <a:cs typeface="Times New Roman" pitchFamily="18" charset="0"/>
              </a:rPr>
              <a:t> item = 10</a:t>
            </a:r>
            <a:r>
              <a:rPr lang="en-US" sz="2400" baseline="30000" dirty="0">
                <a:latin typeface="Times New Roman" pitchFamily="18" charset="0"/>
                <a:cs typeface="Times New Roman" pitchFamily="18" charset="0"/>
              </a:rPr>
              <a:t>th</a:t>
            </a:r>
            <a:r>
              <a:rPr lang="en-US" sz="2400" dirty="0">
                <a:latin typeface="Times New Roman" pitchFamily="18" charset="0"/>
                <a:cs typeface="Times New Roman" pitchFamily="18" charset="0"/>
              </a:rPr>
              <a:t> + 0.5(11</a:t>
            </a:r>
            <a:r>
              <a:rPr lang="en-US" sz="2400" baseline="30000" dirty="0">
                <a:latin typeface="Times New Roman" pitchFamily="18" charset="0"/>
                <a:cs typeface="Times New Roman" pitchFamily="18" charset="0"/>
              </a:rPr>
              <a:t>th </a:t>
            </a:r>
            <a:r>
              <a:rPr lang="en-US" sz="2400" dirty="0">
                <a:latin typeface="Times New Roman" pitchFamily="18" charset="0"/>
                <a:cs typeface="Times New Roman" pitchFamily="18" charset="0"/>
              </a:rPr>
              <a:t>- 10</a:t>
            </a:r>
            <a:r>
              <a:rPr lang="en-US" sz="2400" baseline="30000" dirty="0">
                <a:latin typeface="Times New Roman" pitchFamily="18" charset="0"/>
                <a:cs typeface="Times New Roman" pitchFamily="18" charset="0"/>
              </a:rPr>
              <a:t>th</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Median    = 54 + 0.5(55 - 54) = 54.5</a:t>
            </a:r>
          </a:p>
          <a:p>
            <a:r>
              <a:rPr lang="en-US" sz="2400" dirty="0">
                <a:latin typeface="Times New Roman" pitchFamily="18" charset="0"/>
                <a:cs typeface="Times New Roman" pitchFamily="18" charset="0"/>
              </a:rPr>
              <a:t>50% i.e. 10 students obtained marks 54.5 or below </a:t>
            </a:r>
          </a:p>
          <a:p>
            <a:endParaRPr 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4121626751"/>
              </p:ext>
            </p:extLst>
          </p:nvPr>
        </p:nvGraphicFramePr>
        <p:xfrm>
          <a:off x="3206840" y="3145690"/>
          <a:ext cx="927278" cy="692214"/>
        </p:xfrm>
        <a:graphic>
          <a:graphicData uri="http://schemas.openxmlformats.org/presentationml/2006/ole">
            <mc:AlternateContent xmlns:mc="http://schemas.openxmlformats.org/markup-compatibility/2006">
              <mc:Choice xmlns:v="urn:schemas-microsoft-com:vml" Requires="v">
                <p:oleObj name="Equation" r:id="rId10" imgW="571252" imgH="469696" progId="Equation.3">
                  <p:embed/>
                </p:oleObj>
              </mc:Choice>
              <mc:Fallback>
                <p:oleObj name="Equation" r:id="rId10" imgW="571252" imgH="469696"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06840" y="3145690"/>
                        <a:ext cx="927278" cy="692214"/>
                      </a:xfrm>
                      <a:prstGeom prst="rect">
                        <a:avLst/>
                      </a:prstGeom>
                      <a:noFill/>
                    </p:spPr>
                  </p:pic>
                </p:oleObj>
              </mc:Fallback>
            </mc:AlternateContent>
          </a:graphicData>
        </a:graphic>
      </p:graphicFrame>
    </p:spTree>
    <p:extLst>
      <p:ext uri="{BB962C8B-B14F-4D97-AF65-F5344CB8AC3E}">
        <p14:creationId xmlns:p14="http://schemas.microsoft.com/office/powerpoint/2010/main" val="3861682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p:cNvSpPr/>
          <p:nvPr/>
        </p:nvSpPr>
        <p:spPr>
          <a:xfrm>
            <a:off x="510862" y="1514474"/>
            <a:ext cx="6096000" cy="707886"/>
          </a:xfrm>
          <a:prstGeom prst="rect">
            <a:avLst/>
          </a:prstGeom>
        </p:spPr>
        <p:txBody>
          <a:bodyPr>
            <a:spAutoFit/>
          </a:bodyPr>
          <a:lstStyle/>
          <a:p>
            <a:r>
              <a:rPr lang="en-US" sz="2000" b="1" dirty="0">
                <a:latin typeface="Times New Roman" pitchFamily="18" charset="0"/>
                <a:cs typeface="Times New Roman" pitchFamily="18" charset="0"/>
              </a:rPr>
              <a:t>For ungrouped data:</a:t>
            </a:r>
          </a:p>
          <a:p>
            <a:r>
              <a:rPr lang="en-US" sz="2000" b="1" dirty="0">
                <a:latin typeface="Times New Roman" pitchFamily="18" charset="0"/>
                <a:cs typeface="Times New Roman" pitchFamily="18" charset="0"/>
              </a:rPr>
              <a:t> </a:t>
            </a:r>
          </a:p>
        </p:txBody>
      </p:sp>
      <p:graphicFrame>
        <p:nvGraphicFramePr>
          <p:cNvPr id="7" name="Object 6"/>
          <p:cNvGraphicFramePr>
            <a:graphicFrameLocks noChangeAspect="1"/>
          </p:cNvGraphicFramePr>
          <p:nvPr>
            <p:extLst>
              <p:ext uri="{D42A27DB-BD31-4B8C-83A1-F6EECF244321}">
                <p14:modId xmlns:p14="http://schemas.microsoft.com/office/powerpoint/2010/main" val="1645575606"/>
              </p:ext>
            </p:extLst>
          </p:nvPr>
        </p:nvGraphicFramePr>
        <p:xfrm>
          <a:off x="3119727" y="2010961"/>
          <a:ext cx="4143957" cy="1131484"/>
        </p:xfrm>
        <a:graphic>
          <a:graphicData uri="http://schemas.openxmlformats.org/presentationml/2006/ole">
            <mc:AlternateContent xmlns:mc="http://schemas.openxmlformats.org/markup-compatibility/2006">
              <mc:Choice xmlns:v="urn:schemas-microsoft-com:vml" Requires="v">
                <p:oleObj name="Equation" r:id="rId10" imgW="1409400" imgH="419040" progId="Equation.3">
                  <p:embed/>
                </p:oleObj>
              </mc:Choice>
              <mc:Fallback>
                <p:oleObj name="Equation" r:id="rId10" imgW="1409400" imgH="419040" progId="Equation.3">
                  <p:embed/>
                  <p:pic>
                    <p:nvPicPr>
                      <p:cNvPr id="0" name="Object 4"/>
                      <p:cNvPicPr>
                        <a:picLocks noChangeAspect="1" noChangeArrowheads="1"/>
                      </p:cNvPicPr>
                      <p:nvPr/>
                    </p:nvPicPr>
                    <p:blipFill>
                      <a:blip r:embed="rId11"/>
                      <a:srcRect/>
                      <a:stretch>
                        <a:fillRect/>
                      </a:stretch>
                    </p:blipFill>
                    <p:spPr bwMode="auto">
                      <a:xfrm>
                        <a:off x="3119727" y="2010961"/>
                        <a:ext cx="4143957" cy="1131484"/>
                      </a:xfrm>
                      <a:prstGeom prst="rect">
                        <a:avLst/>
                      </a:prstGeom>
                      <a:noFill/>
                      <a:ln>
                        <a:noFill/>
                      </a:ln>
                    </p:spPr>
                  </p:pic>
                </p:oleObj>
              </mc:Fallback>
            </mc:AlternateContent>
          </a:graphicData>
        </a:graphic>
      </p:graphicFrame>
      <p:sp>
        <p:nvSpPr>
          <p:cNvPr id="8" name="Rectangle 7"/>
          <p:cNvSpPr/>
          <p:nvPr/>
        </p:nvSpPr>
        <p:spPr>
          <a:xfrm>
            <a:off x="945393" y="3675468"/>
            <a:ext cx="7709209" cy="1477328"/>
          </a:xfrm>
          <a:prstGeom prst="rect">
            <a:avLst/>
          </a:prstGeom>
        </p:spPr>
        <p:txBody>
          <a:bodyPr wrap="square">
            <a:spAutoFit/>
          </a:bodyPr>
          <a:lstStyle/>
          <a:p>
            <a:r>
              <a:rPr lang="en-US" dirty="0">
                <a:latin typeface="Times New Roman" pitchFamily="18" charset="0"/>
                <a:cs typeface="Times New Roman" pitchFamily="18" charset="0"/>
              </a:rPr>
              <a:t>Where</a:t>
            </a:r>
          </a:p>
          <a:p>
            <a:r>
              <a:rPr lang="en-US" dirty="0">
                <a:latin typeface="Times New Roman" pitchFamily="18" charset="0"/>
                <a:cs typeface="Times New Roman" pitchFamily="18" charset="0"/>
              </a:rPr>
              <a:t>L = Lower class boundary of the median class</a:t>
            </a:r>
          </a:p>
          <a:p>
            <a:r>
              <a:rPr lang="en-US" dirty="0">
                <a:latin typeface="Times New Roman" pitchFamily="18" charset="0"/>
                <a:cs typeface="Times New Roman" pitchFamily="18" charset="0"/>
              </a:rPr>
              <a:t>h = class interval of the class </a:t>
            </a:r>
          </a:p>
          <a:p>
            <a:r>
              <a:rPr lang="en-US" dirty="0">
                <a:latin typeface="Times New Roman" pitchFamily="18" charset="0"/>
                <a:cs typeface="Times New Roman" pitchFamily="18" charset="0"/>
              </a:rPr>
              <a:t>f = Frequency of median class</a:t>
            </a:r>
          </a:p>
          <a:p>
            <a:r>
              <a:rPr lang="en-US" dirty="0">
                <a:latin typeface="Times New Roman" pitchFamily="18" charset="0"/>
                <a:cs typeface="Times New Roman" pitchFamily="18" charset="0"/>
              </a:rPr>
              <a:t>c = cumulative frequency preceding the median class</a:t>
            </a:r>
          </a:p>
        </p:txBody>
      </p:sp>
    </p:spTree>
    <p:extLst>
      <p:ext uri="{BB962C8B-B14F-4D97-AF65-F5344CB8AC3E}">
        <p14:creationId xmlns:p14="http://schemas.microsoft.com/office/powerpoint/2010/main" val="4210098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3078032" y="2912496"/>
            <a:ext cx="6035936" cy="646331"/>
          </a:xfrm>
          <a:prstGeom prst="rect">
            <a:avLst/>
          </a:prstGeom>
        </p:spPr>
        <p:txBody>
          <a:bodyPr wrap="square">
            <a:spAutoFit/>
          </a:bodyPr>
          <a:lstStyle/>
          <a:p>
            <a:r>
              <a:rPr lang="en-US" sz="3600" b="1" dirty="0">
                <a:latin typeface="Times New Roman" pitchFamily="18" charset="0"/>
                <a:cs typeface="Times New Roman" pitchFamily="18" charset="0"/>
              </a:rPr>
              <a:t>Numerical Example</a:t>
            </a:r>
          </a:p>
        </p:txBody>
      </p:sp>
    </p:spTree>
    <p:extLst>
      <p:ext uri="{BB962C8B-B14F-4D97-AF65-F5344CB8AC3E}">
        <p14:creationId xmlns:p14="http://schemas.microsoft.com/office/powerpoint/2010/main" val="3868113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540912" y="1395778"/>
            <a:ext cx="8603087" cy="5262979"/>
          </a:xfrm>
          <a:prstGeom prst="rect">
            <a:avLst/>
          </a:prstGeom>
        </p:spPr>
        <p:txBody>
          <a:bodyPr wrap="square">
            <a:spAutoFit/>
          </a:bodyPr>
          <a:lstStyle/>
          <a:p>
            <a:r>
              <a:rPr lang="en-US" sz="2800" b="1" u="sng" dirty="0">
                <a:latin typeface="Times New Roman" pitchFamily="18" charset="0"/>
                <a:cs typeface="Times New Roman" pitchFamily="18" charset="0"/>
              </a:rPr>
              <a:t>Merits of Median:</a:t>
            </a:r>
            <a:endParaRPr lang="en-US" sz="2800" dirty="0">
              <a:latin typeface="Times New Roman" pitchFamily="18" charset="0"/>
              <a:cs typeface="Times New Roman" pitchFamily="18" charset="0"/>
            </a:endParaRPr>
          </a:p>
          <a:p>
            <a:pPr lvl="0"/>
            <a:r>
              <a:rPr lang="en-US" sz="2800" dirty="0">
                <a:latin typeface="Times New Roman" pitchFamily="18" charset="0"/>
                <a:cs typeface="Times New Roman" pitchFamily="18" charset="0"/>
              </a:rPr>
              <a:t>It is easy to calculate and simple to understand.</a:t>
            </a:r>
          </a:p>
          <a:p>
            <a:pPr lvl="0"/>
            <a:r>
              <a:rPr lang="en-US" sz="2800" dirty="0">
                <a:latin typeface="Times New Roman" pitchFamily="18" charset="0"/>
                <a:cs typeface="Times New Roman" pitchFamily="18" charset="0"/>
              </a:rPr>
              <a:t>It is not affected by extreme values.</a:t>
            </a:r>
          </a:p>
          <a:p>
            <a:pPr lvl="0"/>
            <a:r>
              <a:rPr lang="en-US" sz="2800" dirty="0">
                <a:latin typeface="Times New Roman" pitchFamily="18" charset="0"/>
                <a:cs typeface="Times New Roman" pitchFamily="18" charset="0"/>
              </a:rPr>
              <a:t>It can be calculated for open-end frequency distribution.</a:t>
            </a:r>
          </a:p>
          <a:p>
            <a:pPr lvl="0"/>
            <a:r>
              <a:rPr lang="en-US" sz="2800" dirty="0">
                <a:latin typeface="Times New Roman" pitchFamily="18" charset="0"/>
                <a:cs typeface="Times New Roman" pitchFamily="18" charset="0"/>
              </a:rPr>
              <a:t>It is a useful average, when data are of qualitative nature.</a:t>
            </a:r>
          </a:p>
          <a:p>
            <a:pPr lvl="0"/>
            <a:r>
              <a:rPr lang="en-US" sz="2800" dirty="0">
                <a:latin typeface="Times New Roman" pitchFamily="18" charset="0"/>
                <a:cs typeface="Times New Roman" pitchFamily="18" charset="0"/>
              </a:rPr>
              <a:t>It is appropriate average for highly skewed distribution.</a:t>
            </a:r>
          </a:p>
          <a:p>
            <a:r>
              <a:rPr lang="en-US" sz="2800" b="1" u="sng" dirty="0">
                <a:latin typeface="Times New Roman" pitchFamily="18" charset="0"/>
                <a:cs typeface="Times New Roman" pitchFamily="18" charset="0"/>
              </a:rPr>
              <a:t>De-Merits of Median:</a:t>
            </a:r>
            <a:endParaRPr lang="en-US" sz="2800" dirty="0">
              <a:latin typeface="Times New Roman" pitchFamily="18" charset="0"/>
              <a:cs typeface="Times New Roman" pitchFamily="18" charset="0"/>
            </a:endParaRPr>
          </a:p>
          <a:p>
            <a:pPr lvl="0"/>
            <a:r>
              <a:rPr lang="en-US" sz="2800" dirty="0">
                <a:latin typeface="Times New Roman" pitchFamily="18" charset="0"/>
                <a:cs typeface="Times New Roman" pitchFamily="18" charset="0"/>
              </a:rPr>
              <a:t>It is not clearly defined by mathematical formula.</a:t>
            </a:r>
          </a:p>
          <a:p>
            <a:pPr lvl="0"/>
            <a:r>
              <a:rPr lang="en-US" sz="2800" dirty="0">
                <a:latin typeface="Times New Roman" pitchFamily="18" charset="0"/>
                <a:cs typeface="Times New Roman" pitchFamily="18" charset="0"/>
              </a:rPr>
              <a:t>It is not based on all the values.</a:t>
            </a:r>
          </a:p>
          <a:p>
            <a:pPr lvl="0"/>
            <a:r>
              <a:rPr lang="en-US" sz="2800" dirty="0">
                <a:latin typeface="Times New Roman" pitchFamily="18" charset="0"/>
                <a:cs typeface="Times New Roman" pitchFamily="18" charset="0"/>
              </a:rPr>
              <a:t>It is not suitable for further algebraic treatments.</a:t>
            </a:r>
          </a:p>
          <a:p>
            <a:pPr lvl="0"/>
            <a:r>
              <a:rPr lang="en-US" sz="2800" dirty="0">
                <a:latin typeface="Times New Roman" pitchFamily="18" charset="0"/>
                <a:cs typeface="Times New Roman" pitchFamily="18" charset="0"/>
              </a:rPr>
              <a:t>It is affected by sampling fluctuations.</a:t>
            </a:r>
          </a:p>
          <a:p>
            <a:pPr lvl="0"/>
            <a:r>
              <a:rPr lang="en-US" sz="2800" dirty="0">
                <a:latin typeface="Times New Roman" pitchFamily="18" charset="0"/>
                <a:cs typeface="Times New Roman" pitchFamily="18" charset="0"/>
              </a:rPr>
              <a:t>It is difficult to arrange a large number of values.</a:t>
            </a:r>
          </a:p>
        </p:txBody>
      </p:sp>
    </p:spTree>
    <p:extLst>
      <p:ext uri="{BB962C8B-B14F-4D97-AF65-F5344CB8AC3E}">
        <p14:creationId xmlns:p14="http://schemas.microsoft.com/office/powerpoint/2010/main" val="3861682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528033" y="1259176"/>
            <a:ext cx="9910861" cy="3046988"/>
          </a:xfrm>
          <a:prstGeom prst="rect">
            <a:avLst/>
          </a:prstGeom>
        </p:spPr>
        <p:txBody>
          <a:bodyPr wrap="square">
            <a:spAutoFit/>
          </a:bodyPr>
          <a:lstStyle/>
          <a:p>
            <a:pPr algn="just"/>
            <a:r>
              <a:rPr lang="en-US" sz="2400" b="1" u="sng" dirty="0">
                <a:latin typeface="Times New Roman" pitchFamily="18" charset="0"/>
                <a:cs typeface="Times New Roman" pitchFamily="18" charset="0"/>
              </a:rPr>
              <a:t>Mode:-</a:t>
            </a:r>
            <a:r>
              <a:rPr lang="en-US" sz="2400" dirty="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The mode is defined as that value in the data which occurs the greatest number of time provided such a value exists. A set of data may have more than one mode or no mode at all when each observation occurs the same number of time. A distribution having only one mode is called </a:t>
            </a:r>
            <a:r>
              <a:rPr lang="en-US" sz="2400" dirty="0" err="1">
                <a:latin typeface="Times New Roman" pitchFamily="18" charset="0"/>
                <a:cs typeface="Times New Roman" pitchFamily="18" charset="0"/>
              </a:rPr>
              <a:t>Uni</a:t>
            </a:r>
            <a:r>
              <a:rPr lang="en-US" sz="2400" dirty="0">
                <a:latin typeface="Times New Roman" pitchFamily="18" charset="0"/>
                <a:cs typeface="Times New Roman" pitchFamily="18" charset="0"/>
              </a:rPr>
              <a:t>-modal distribution, having two modes is called bi-modal distribution and a distribution having more than two modes is called a multi-model distribution.</a:t>
            </a:r>
          </a:p>
          <a:p>
            <a:pPr algn="just"/>
            <a:r>
              <a:rPr lang="en-US" sz="2400" dirty="0">
                <a:latin typeface="Times New Roman" pitchFamily="18" charset="0"/>
                <a:cs typeface="Times New Roman" pitchFamily="18" charset="0"/>
              </a:rPr>
              <a:t>For grouped data</a:t>
            </a:r>
          </a:p>
        </p:txBody>
      </p:sp>
      <p:pic>
        <p:nvPicPr>
          <p:cNvPr id="7170"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389363" y="4443212"/>
            <a:ext cx="6793274" cy="1442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1682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669701" y="1397675"/>
            <a:ext cx="9367160" cy="2677656"/>
          </a:xfrm>
          <a:prstGeom prst="rect">
            <a:avLst/>
          </a:prstGeom>
        </p:spPr>
        <p:txBody>
          <a:bodyPr wrap="square">
            <a:spAutoFit/>
          </a:bodyPr>
          <a:lstStyle/>
          <a:p>
            <a:r>
              <a:rPr lang="en-US" sz="2400" dirty="0">
                <a:latin typeface="Times New Roman" pitchFamily="18" charset="0"/>
                <a:cs typeface="Times New Roman" pitchFamily="18" charset="0"/>
              </a:rPr>
              <a:t> Where</a:t>
            </a:r>
          </a:p>
          <a:p>
            <a:r>
              <a:rPr lang="en-US" sz="2400" dirty="0">
                <a:latin typeface="Times New Roman" pitchFamily="18" charset="0"/>
                <a:cs typeface="Times New Roman" pitchFamily="18" charset="0"/>
              </a:rPr>
              <a:t>l= Lower class boundary of the class containing mode (</a:t>
            </a:r>
            <a:r>
              <a:rPr lang="en-US" sz="2400" dirty="0" err="1">
                <a:latin typeface="Times New Roman" pitchFamily="18" charset="0"/>
                <a:cs typeface="Times New Roman" pitchFamily="18" charset="0"/>
              </a:rPr>
              <a:t>i.e</a:t>
            </a:r>
            <a:r>
              <a:rPr lang="en-US" sz="2400" dirty="0">
                <a:latin typeface="Times New Roman" pitchFamily="18" charset="0"/>
                <a:cs typeface="Times New Roman" pitchFamily="18" charset="0"/>
              </a:rPr>
              <a:t> the class corresponding to the highest frequency)</a:t>
            </a:r>
          </a:p>
          <a:p>
            <a:r>
              <a:rPr lang="en-US" sz="2400" dirty="0">
                <a:latin typeface="Times New Roman" pitchFamily="18" charset="0"/>
                <a:cs typeface="Times New Roman" pitchFamily="18" charset="0"/>
              </a:rPr>
              <a:t>h= class interval of the class containing mode</a:t>
            </a:r>
          </a:p>
          <a:p>
            <a:r>
              <a:rPr lang="en-US" sz="2400" dirty="0" err="1">
                <a:latin typeface="Times New Roman" pitchFamily="18" charset="0"/>
                <a:cs typeface="Times New Roman" pitchFamily="18" charset="0"/>
              </a:rPr>
              <a:t>f</a:t>
            </a:r>
            <a:r>
              <a:rPr lang="en-US" sz="2400" baseline="-25000" dirty="0" err="1">
                <a:latin typeface="Times New Roman" pitchFamily="18" charset="0"/>
                <a:cs typeface="Times New Roman" pitchFamily="18" charset="0"/>
              </a:rPr>
              <a:t>m</a:t>
            </a:r>
            <a:r>
              <a:rPr lang="en-US" sz="2400" dirty="0">
                <a:latin typeface="Times New Roman" pitchFamily="18" charset="0"/>
                <a:cs typeface="Times New Roman" pitchFamily="18" charset="0"/>
              </a:rPr>
              <a:t>=Frequency of the class containing mode</a:t>
            </a:r>
          </a:p>
          <a:p>
            <a:r>
              <a:rPr lang="en-US" sz="2400" dirty="0">
                <a:latin typeface="Times New Roman" pitchFamily="18" charset="0"/>
                <a:cs typeface="Times New Roman" pitchFamily="18" charset="0"/>
              </a:rPr>
              <a:t>f</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=Frequency of the class preceding the class containing mode</a:t>
            </a:r>
          </a:p>
          <a:p>
            <a:r>
              <a:rPr lang="en-US" sz="2400" dirty="0">
                <a:latin typeface="Times New Roman" pitchFamily="18" charset="0"/>
                <a:cs typeface="Times New Roman" pitchFamily="18" charset="0"/>
              </a:rPr>
              <a:t>f</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=Frequency of the class following the class containing mode</a:t>
            </a:r>
          </a:p>
        </p:txBody>
      </p:sp>
    </p:spTree>
    <p:extLst>
      <p:ext uri="{BB962C8B-B14F-4D97-AF65-F5344CB8AC3E}">
        <p14:creationId xmlns:p14="http://schemas.microsoft.com/office/powerpoint/2010/main" val="3861682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824248" y="1328138"/>
            <a:ext cx="8319752" cy="4401205"/>
          </a:xfrm>
          <a:prstGeom prst="rect">
            <a:avLst/>
          </a:prstGeom>
        </p:spPr>
        <p:txBody>
          <a:bodyPr wrap="square">
            <a:spAutoFit/>
          </a:bodyPr>
          <a:lstStyle/>
          <a:p>
            <a:r>
              <a:rPr lang="en-US" sz="2800" b="1" u="sng" dirty="0">
                <a:latin typeface="Times New Roman" pitchFamily="18" charset="0"/>
                <a:cs typeface="Times New Roman" pitchFamily="18" charset="0"/>
              </a:rPr>
              <a:t>Merits of Mode:</a:t>
            </a:r>
            <a:endParaRPr lang="en-US" sz="2800" dirty="0">
              <a:latin typeface="Times New Roman" pitchFamily="18" charset="0"/>
              <a:cs typeface="Times New Roman" pitchFamily="18" charset="0"/>
            </a:endParaRPr>
          </a:p>
          <a:p>
            <a:pPr lvl="0"/>
            <a:r>
              <a:rPr lang="en-US" sz="2800" dirty="0">
                <a:latin typeface="Times New Roman" pitchFamily="18" charset="0"/>
                <a:cs typeface="Times New Roman" pitchFamily="18" charset="0"/>
              </a:rPr>
              <a:t>It is easy to calculate and simple to understand.</a:t>
            </a:r>
          </a:p>
          <a:p>
            <a:pPr lvl="0"/>
            <a:r>
              <a:rPr lang="en-US" sz="2800" dirty="0">
                <a:latin typeface="Times New Roman" pitchFamily="18" charset="0"/>
                <a:cs typeface="Times New Roman" pitchFamily="18" charset="0"/>
              </a:rPr>
              <a:t>It is not affected by extreme values.</a:t>
            </a:r>
          </a:p>
          <a:p>
            <a:pPr lvl="0"/>
            <a:r>
              <a:rPr lang="en-US" sz="2800" dirty="0">
                <a:latin typeface="Times New Roman" pitchFamily="18" charset="0"/>
                <a:cs typeface="Times New Roman" pitchFamily="18" charset="0"/>
              </a:rPr>
              <a:t>It is suitable average for qualitative data.</a:t>
            </a:r>
          </a:p>
          <a:p>
            <a:pPr lvl="0"/>
            <a:r>
              <a:rPr lang="en-US" sz="2800" dirty="0">
                <a:latin typeface="Times New Roman" pitchFamily="18" charset="0"/>
                <a:cs typeface="Times New Roman" pitchFamily="18" charset="0"/>
              </a:rPr>
              <a:t>It can be located even in open end classes.</a:t>
            </a:r>
          </a:p>
          <a:p>
            <a:r>
              <a:rPr lang="en-US" sz="2800" b="1" u="sng" dirty="0">
                <a:latin typeface="Times New Roman" pitchFamily="18" charset="0"/>
                <a:cs typeface="Times New Roman" pitchFamily="18" charset="0"/>
              </a:rPr>
              <a:t>De-Merits of Mode:</a:t>
            </a:r>
            <a:endParaRPr lang="en-US" sz="2800" dirty="0">
              <a:latin typeface="Times New Roman" pitchFamily="18" charset="0"/>
              <a:cs typeface="Times New Roman" pitchFamily="18" charset="0"/>
            </a:endParaRPr>
          </a:p>
          <a:p>
            <a:pPr lvl="0"/>
            <a:r>
              <a:rPr lang="en-US" sz="2800" dirty="0">
                <a:latin typeface="Times New Roman" pitchFamily="18" charset="0"/>
                <a:cs typeface="Times New Roman" pitchFamily="18" charset="0"/>
              </a:rPr>
              <a:t>It is an ill-defined average..</a:t>
            </a:r>
          </a:p>
          <a:p>
            <a:pPr lvl="0"/>
            <a:r>
              <a:rPr lang="en-US" sz="2800" dirty="0">
                <a:latin typeface="Times New Roman" pitchFamily="18" charset="0"/>
                <a:cs typeface="Times New Roman" pitchFamily="18" charset="0"/>
              </a:rPr>
              <a:t>It is not based on all the values.</a:t>
            </a:r>
          </a:p>
          <a:p>
            <a:pPr lvl="0"/>
            <a:r>
              <a:rPr lang="en-US" sz="2800" dirty="0">
                <a:latin typeface="Times New Roman" pitchFamily="18" charset="0"/>
                <a:cs typeface="Times New Roman" pitchFamily="18" charset="0"/>
              </a:rPr>
              <a:t>It is not suitable for further algebraic treatments.</a:t>
            </a:r>
          </a:p>
          <a:p>
            <a:pPr lvl="0"/>
            <a:r>
              <a:rPr lang="en-US" sz="2800" dirty="0">
                <a:latin typeface="Times New Roman" pitchFamily="18" charset="0"/>
                <a:cs typeface="Times New Roman" pitchFamily="18" charset="0"/>
              </a:rPr>
              <a:t>It is affected by sampling fluctuations.</a:t>
            </a:r>
          </a:p>
        </p:txBody>
      </p:sp>
    </p:spTree>
    <p:extLst>
      <p:ext uri="{BB962C8B-B14F-4D97-AF65-F5344CB8AC3E}">
        <p14:creationId xmlns:p14="http://schemas.microsoft.com/office/powerpoint/2010/main" val="3861682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641123" y="1514474"/>
            <a:ext cx="5811191" cy="400110"/>
          </a:xfrm>
          <a:prstGeom prst="rect">
            <a:avLst/>
          </a:prstGeom>
        </p:spPr>
        <p:txBody>
          <a:bodyPr wrap="square">
            <a:spAutoFit/>
          </a:bodyPr>
          <a:lstStyle/>
          <a:p>
            <a:r>
              <a:rPr lang="en-US" sz="2000" b="1" dirty="0">
                <a:latin typeface="Times New Roman" pitchFamily="18" charset="0"/>
                <a:cs typeface="Times New Roman" pitchFamily="18" charset="0"/>
              </a:rPr>
              <a:t>Example # 16. </a:t>
            </a:r>
            <a:r>
              <a:rPr lang="en-US" sz="2000" dirty="0">
                <a:latin typeface="Times New Roman" pitchFamily="18" charset="0"/>
                <a:cs typeface="Times New Roman" pitchFamily="18" charset="0"/>
              </a:rPr>
              <a:t>Calculate Mode for the data</a:t>
            </a:r>
          </a:p>
        </p:txBody>
      </p:sp>
      <p:graphicFrame>
        <p:nvGraphicFramePr>
          <p:cNvPr id="3" name="Table 2"/>
          <p:cNvGraphicFramePr>
            <a:graphicFrameLocks noGrp="1"/>
          </p:cNvGraphicFramePr>
          <p:nvPr>
            <p:extLst>
              <p:ext uri="{D42A27DB-BD31-4B8C-83A1-F6EECF244321}">
                <p14:modId xmlns:p14="http://schemas.microsoft.com/office/powerpoint/2010/main" val="2170738744"/>
              </p:ext>
            </p:extLst>
          </p:nvPr>
        </p:nvGraphicFramePr>
        <p:xfrm>
          <a:off x="641122" y="2258520"/>
          <a:ext cx="5454877" cy="2764240"/>
        </p:xfrm>
        <a:graphic>
          <a:graphicData uri="http://schemas.openxmlformats.org/drawingml/2006/table">
            <a:tbl>
              <a:tblPr>
                <a:tableStyleId>{5C22544A-7EE6-4342-B048-85BDC9FD1C3A}</a:tableStyleId>
              </a:tblPr>
              <a:tblGrid>
                <a:gridCol w="1446942">
                  <a:extLst>
                    <a:ext uri="{9D8B030D-6E8A-4147-A177-3AD203B41FA5}">
                      <a16:colId xmlns:a16="http://schemas.microsoft.com/office/drawing/2014/main" val="20000"/>
                    </a:ext>
                  </a:extLst>
                </a:gridCol>
                <a:gridCol w="1872513">
                  <a:extLst>
                    <a:ext uri="{9D8B030D-6E8A-4147-A177-3AD203B41FA5}">
                      <a16:colId xmlns:a16="http://schemas.microsoft.com/office/drawing/2014/main" val="20001"/>
                    </a:ext>
                  </a:extLst>
                </a:gridCol>
                <a:gridCol w="2135422">
                  <a:extLst>
                    <a:ext uri="{9D8B030D-6E8A-4147-A177-3AD203B41FA5}">
                      <a16:colId xmlns:a16="http://schemas.microsoft.com/office/drawing/2014/main" val="20002"/>
                    </a:ext>
                  </a:extLst>
                </a:gridCol>
              </a:tblGrid>
              <a:tr h="345530">
                <a:tc>
                  <a:txBody>
                    <a:bodyPr/>
                    <a:lstStyle/>
                    <a:p>
                      <a:pPr marL="0" marR="0">
                        <a:lnSpc>
                          <a:spcPct val="115000"/>
                        </a:lnSpc>
                        <a:spcBef>
                          <a:spcPts val="450"/>
                        </a:spcBef>
                        <a:spcAft>
                          <a:spcPts val="270"/>
                        </a:spcAft>
                        <a:tabLst>
                          <a:tab pos="-457200" algn="l"/>
                        </a:tabLst>
                      </a:pPr>
                      <a:r>
                        <a:rPr lang="en-US" sz="1200">
                          <a:effectLst/>
                        </a:rPr>
                        <a:t>Weight</a:t>
                      </a:r>
                      <a:endParaRPr lang="en-US" sz="1200">
                        <a:effectLst/>
                        <a:latin typeface="Courier"/>
                        <a:ea typeface="Times New Roman"/>
                        <a:cs typeface="Times New Roman"/>
                      </a:endParaRPr>
                    </a:p>
                  </a:txBody>
                  <a:tcPr marL="76200" marR="76200" marT="0" marB="0"/>
                </a:tc>
                <a:tc>
                  <a:txBody>
                    <a:bodyPr/>
                    <a:lstStyle/>
                    <a:p>
                      <a:pPr marL="0" marR="0" algn="ctr">
                        <a:lnSpc>
                          <a:spcPct val="115000"/>
                        </a:lnSpc>
                        <a:spcBef>
                          <a:spcPts val="450"/>
                        </a:spcBef>
                        <a:spcAft>
                          <a:spcPts val="270"/>
                        </a:spcAft>
                        <a:tabLst>
                          <a:tab pos="-457200" algn="l"/>
                        </a:tabLst>
                      </a:pPr>
                      <a:r>
                        <a:rPr lang="en-US" sz="1200">
                          <a:effectLst/>
                        </a:rPr>
                        <a:t>No of students</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a:effectLst/>
                        </a:rPr>
                        <a:t>Class boundaries</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0"/>
                  </a:ext>
                </a:extLst>
              </a:tr>
              <a:tr h="345530">
                <a:tc>
                  <a:txBody>
                    <a:bodyPr/>
                    <a:lstStyle/>
                    <a:p>
                      <a:pPr marL="0" marR="0">
                        <a:lnSpc>
                          <a:spcPct val="115000"/>
                        </a:lnSpc>
                        <a:spcBef>
                          <a:spcPts val="450"/>
                        </a:spcBef>
                        <a:spcAft>
                          <a:spcPts val="270"/>
                        </a:spcAft>
                        <a:tabLst>
                          <a:tab pos="-457200" algn="l"/>
                        </a:tabLst>
                      </a:pPr>
                      <a:r>
                        <a:rPr lang="en-US" sz="1200">
                          <a:effectLst/>
                        </a:rPr>
                        <a:t>118----126</a:t>
                      </a:r>
                      <a:endParaRPr lang="en-US" sz="1200">
                        <a:effectLst/>
                        <a:latin typeface="Courier"/>
                        <a:ea typeface="Times New Roman"/>
                        <a:cs typeface="Times New Roman"/>
                      </a:endParaRPr>
                    </a:p>
                  </a:txBody>
                  <a:tcPr marL="76200" marR="76200" marT="0" marB="0"/>
                </a:tc>
                <a:tc>
                  <a:txBody>
                    <a:bodyPr/>
                    <a:lstStyle/>
                    <a:p>
                      <a:pPr marL="0" marR="0" algn="ctr">
                        <a:lnSpc>
                          <a:spcPct val="115000"/>
                        </a:lnSpc>
                        <a:spcBef>
                          <a:spcPts val="450"/>
                        </a:spcBef>
                        <a:spcAft>
                          <a:spcPts val="270"/>
                        </a:spcAft>
                        <a:tabLst>
                          <a:tab pos="-457200" algn="l"/>
                        </a:tabLst>
                      </a:pPr>
                      <a:r>
                        <a:rPr lang="en-US" sz="1200">
                          <a:effectLst/>
                        </a:rPr>
                        <a:t>3</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a:effectLst/>
                        </a:rPr>
                        <a:t>117.5----126.5</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1"/>
                  </a:ext>
                </a:extLst>
              </a:tr>
              <a:tr h="345530">
                <a:tc>
                  <a:txBody>
                    <a:bodyPr/>
                    <a:lstStyle/>
                    <a:p>
                      <a:pPr marL="0" marR="0">
                        <a:lnSpc>
                          <a:spcPct val="115000"/>
                        </a:lnSpc>
                        <a:spcBef>
                          <a:spcPts val="450"/>
                        </a:spcBef>
                        <a:spcAft>
                          <a:spcPts val="270"/>
                        </a:spcAft>
                        <a:tabLst>
                          <a:tab pos="-457200" algn="l"/>
                        </a:tabLst>
                      </a:pPr>
                      <a:r>
                        <a:rPr lang="en-US" sz="1200">
                          <a:effectLst/>
                        </a:rPr>
                        <a:t>127----135</a:t>
                      </a:r>
                      <a:endParaRPr lang="en-US" sz="1200">
                        <a:effectLst/>
                        <a:latin typeface="Courier"/>
                        <a:ea typeface="Times New Roman"/>
                        <a:cs typeface="Times New Roman"/>
                      </a:endParaRPr>
                    </a:p>
                  </a:txBody>
                  <a:tcPr marL="76200" marR="76200" marT="0" marB="0"/>
                </a:tc>
                <a:tc>
                  <a:txBody>
                    <a:bodyPr/>
                    <a:lstStyle/>
                    <a:p>
                      <a:pPr marL="0" marR="0" algn="ctr">
                        <a:lnSpc>
                          <a:spcPct val="115000"/>
                        </a:lnSpc>
                        <a:spcBef>
                          <a:spcPts val="450"/>
                        </a:spcBef>
                        <a:spcAft>
                          <a:spcPts val="270"/>
                        </a:spcAft>
                        <a:tabLst>
                          <a:tab pos="-457200" algn="l"/>
                        </a:tabLst>
                      </a:pPr>
                      <a:r>
                        <a:rPr lang="en-US" sz="1200">
                          <a:effectLst/>
                        </a:rPr>
                        <a:t>5</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a:effectLst/>
                        </a:rPr>
                        <a:t>126.5----135.5</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2"/>
                  </a:ext>
                </a:extLst>
              </a:tr>
              <a:tr h="345530">
                <a:tc>
                  <a:txBody>
                    <a:bodyPr/>
                    <a:lstStyle/>
                    <a:p>
                      <a:pPr marL="0" marR="0">
                        <a:lnSpc>
                          <a:spcPct val="115000"/>
                        </a:lnSpc>
                        <a:spcBef>
                          <a:spcPts val="450"/>
                        </a:spcBef>
                        <a:spcAft>
                          <a:spcPts val="270"/>
                        </a:spcAft>
                        <a:tabLst>
                          <a:tab pos="-457200" algn="l"/>
                        </a:tabLst>
                      </a:pPr>
                      <a:r>
                        <a:rPr lang="en-US" sz="1200">
                          <a:effectLst/>
                        </a:rPr>
                        <a:t>136----144</a:t>
                      </a:r>
                      <a:endParaRPr lang="en-US" sz="1200">
                        <a:effectLst/>
                        <a:latin typeface="Courier"/>
                        <a:ea typeface="Times New Roman"/>
                        <a:cs typeface="Times New Roman"/>
                      </a:endParaRPr>
                    </a:p>
                  </a:txBody>
                  <a:tcPr marL="76200" marR="76200" marT="0" marB="0"/>
                </a:tc>
                <a:tc>
                  <a:txBody>
                    <a:bodyPr/>
                    <a:lstStyle/>
                    <a:p>
                      <a:pPr marL="0" marR="0" algn="ctr">
                        <a:lnSpc>
                          <a:spcPct val="115000"/>
                        </a:lnSpc>
                        <a:spcBef>
                          <a:spcPts val="450"/>
                        </a:spcBef>
                        <a:spcAft>
                          <a:spcPts val="270"/>
                        </a:spcAft>
                        <a:tabLst>
                          <a:tab pos="-457200" algn="l"/>
                        </a:tabLst>
                      </a:pPr>
                      <a:r>
                        <a:rPr lang="en-US" sz="1200">
                          <a:effectLst/>
                        </a:rPr>
                        <a:t>9</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a:effectLst/>
                        </a:rPr>
                        <a:t>135.5----144.5</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3"/>
                  </a:ext>
                </a:extLst>
              </a:tr>
              <a:tr h="345530">
                <a:tc>
                  <a:txBody>
                    <a:bodyPr/>
                    <a:lstStyle/>
                    <a:p>
                      <a:pPr marL="0" marR="0">
                        <a:lnSpc>
                          <a:spcPct val="115000"/>
                        </a:lnSpc>
                        <a:spcBef>
                          <a:spcPts val="450"/>
                        </a:spcBef>
                        <a:spcAft>
                          <a:spcPts val="270"/>
                        </a:spcAft>
                        <a:tabLst>
                          <a:tab pos="-457200" algn="l"/>
                        </a:tabLst>
                      </a:pPr>
                      <a:r>
                        <a:rPr lang="en-US" sz="1200" u="sng">
                          <a:effectLst/>
                        </a:rPr>
                        <a:t>145----153</a:t>
                      </a:r>
                      <a:endParaRPr lang="en-US" sz="1200">
                        <a:effectLst/>
                        <a:latin typeface="Courier"/>
                        <a:ea typeface="Times New Roman"/>
                        <a:cs typeface="Times New Roman"/>
                      </a:endParaRPr>
                    </a:p>
                  </a:txBody>
                  <a:tcPr marL="76200" marR="76200" marT="0" marB="0"/>
                </a:tc>
                <a:tc>
                  <a:txBody>
                    <a:bodyPr/>
                    <a:lstStyle/>
                    <a:p>
                      <a:pPr marL="0" marR="0" algn="ctr">
                        <a:lnSpc>
                          <a:spcPct val="115000"/>
                        </a:lnSpc>
                        <a:spcBef>
                          <a:spcPts val="450"/>
                        </a:spcBef>
                        <a:spcAft>
                          <a:spcPts val="270"/>
                        </a:spcAft>
                        <a:tabLst>
                          <a:tab pos="-457200" algn="l"/>
                        </a:tabLst>
                      </a:pPr>
                      <a:r>
                        <a:rPr lang="en-US" sz="1200" u="sng">
                          <a:effectLst/>
                        </a:rPr>
                        <a:t>12</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u="sng">
                          <a:effectLst/>
                        </a:rPr>
                        <a:t>144.5----153.5</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4"/>
                  </a:ext>
                </a:extLst>
              </a:tr>
              <a:tr h="345530">
                <a:tc>
                  <a:txBody>
                    <a:bodyPr/>
                    <a:lstStyle/>
                    <a:p>
                      <a:pPr marL="0" marR="0">
                        <a:lnSpc>
                          <a:spcPct val="115000"/>
                        </a:lnSpc>
                        <a:spcBef>
                          <a:spcPts val="450"/>
                        </a:spcBef>
                        <a:spcAft>
                          <a:spcPts val="270"/>
                        </a:spcAft>
                        <a:tabLst>
                          <a:tab pos="-457200" algn="l"/>
                        </a:tabLst>
                      </a:pPr>
                      <a:r>
                        <a:rPr lang="en-US" sz="1200">
                          <a:effectLst/>
                        </a:rPr>
                        <a:t>154----162</a:t>
                      </a:r>
                      <a:endParaRPr lang="en-US" sz="1200">
                        <a:effectLst/>
                        <a:latin typeface="Courier"/>
                        <a:ea typeface="Times New Roman"/>
                        <a:cs typeface="Times New Roman"/>
                      </a:endParaRPr>
                    </a:p>
                  </a:txBody>
                  <a:tcPr marL="76200" marR="76200" marT="0" marB="0"/>
                </a:tc>
                <a:tc>
                  <a:txBody>
                    <a:bodyPr/>
                    <a:lstStyle/>
                    <a:p>
                      <a:pPr marL="0" marR="0" algn="ctr">
                        <a:lnSpc>
                          <a:spcPct val="115000"/>
                        </a:lnSpc>
                        <a:spcBef>
                          <a:spcPts val="450"/>
                        </a:spcBef>
                        <a:spcAft>
                          <a:spcPts val="270"/>
                        </a:spcAft>
                        <a:tabLst>
                          <a:tab pos="-457200" algn="l"/>
                        </a:tabLst>
                      </a:pPr>
                      <a:r>
                        <a:rPr lang="en-US" sz="1200">
                          <a:effectLst/>
                        </a:rPr>
                        <a:t>5</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a:effectLst/>
                        </a:rPr>
                        <a:t>153.5----162.5</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5"/>
                  </a:ext>
                </a:extLst>
              </a:tr>
              <a:tr h="345530">
                <a:tc>
                  <a:txBody>
                    <a:bodyPr/>
                    <a:lstStyle/>
                    <a:p>
                      <a:pPr marL="0" marR="0">
                        <a:lnSpc>
                          <a:spcPct val="115000"/>
                        </a:lnSpc>
                        <a:spcBef>
                          <a:spcPts val="450"/>
                        </a:spcBef>
                        <a:spcAft>
                          <a:spcPts val="270"/>
                        </a:spcAft>
                        <a:tabLst>
                          <a:tab pos="-457200" algn="l"/>
                        </a:tabLst>
                      </a:pPr>
                      <a:r>
                        <a:rPr lang="en-US" sz="1200">
                          <a:effectLst/>
                        </a:rPr>
                        <a:t>163----171</a:t>
                      </a:r>
                      <a:endParaRPr lang="en-US" sz="1200">
                        <a:effectLst/>
                        <a:latin typeface="Courier"/>
                        <a:ea typeface="Times New Roman"/>
                        <a:cs typeface="Times New Roman"/>
                      </a:endParaRPr>
                    </a:p>
                  </a:txBody>
                  <a:tcPr marL="76200" marR="76200" marT="0" marB="0"/>
                </a:tc>
                <a:tc>
                  <a:txBody>
                    <a:bodyPr/>
                    <a:lstStyle/>
                    <a:p>
                      <a:pPr marL="0" marR="0" algn="ctr">
                        <a:lnSpc>
                          <a:spcPct val="115000"/>
                        </a:lnSpc>
                        <a:spcBef>
                          <a:spcPts val="450"/>
                        </a:spcBef>
                        <a:spcAft>
                          <a:spcPts val="270"/>
                        </a:spcAft>
                        <a:tabLst>
                          <a:tab pos="-457200" algn="l"/>
                        </a:tabLst>
                      </a:pPr>
                      <a:r>
                        <a:rPr lang="en-US" sz="1200">
                          <a:effectLst/>
                        </a:rPr>
                        <a:t>4</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a:effectLst/>
                        </a:rPr>
                        <a:t>162.5----171.5</a:t>
                      </a:r>
                      <a:endParaRPr lang="en-US" sz="1200">
                        <a:effectLst/>
                        <a:latin typeface="Courier"/>
                        <a:ea typeface="Times New Roman"/>
                        <a:cs typeface="Times New Roman"/>
                      </a:endParaRPr>
                    </a:p>
                  </a:txBody>
                  <a:tcPr marL="76200" marR="76200" marT="0" marB="0"/>
                </a:tc>
                <a:extLst>
                  <a:ext uri="{0D108BD9-81ED-4DB2-BD59-A6C34878D82A}">
                    <a16:rowId xmlns:a16="http://schemas.microsoft.com/office/drawing/2014/main" val="10006"/>
                  </a:ext>
                </a:extLst>
              </a:tr>
              <a:tr h="345530">
                <a:tc>
                  <a:txBody>
                    <a:bodyPr/>
                    <a:lstStyle/>
                    <a:p>
                      <a:pPr marL="0" marR="0">
                        <a:lnSpc>
                          <a:spcPct val="115000"/>
                        </a:lnSpc>
                        <a:spcBef>
                          <a:spcPts val="450"/>
                        </a:spcBef>
                        <a:spcAft>
                          <a:spcPts val="270"/>
                        </a:spcAft>
                        <a:tabLst>
                          <a:tab pos="-457200" algn="l"/>
                        </a:tabLst>
                      </a:pPr>
                      <a:r>
                        <a:rPr lang="en-US" sz="1200">
                          <a:effectLst/>
                        </a:rPr>
                        <a:t>172----180</a:t>
                      </a:r>
                      <a:endParaRPr lang="en-US" sz="1200">
                        <a:effectLst/>
                        <a:latin typeface="Courier"/>
                        <a:ea typeface="Times New Roman"/>
                        <a:cs typeface="Times New Roman"/>
                      </a:endParaRPr>
                    </a:p>
                  </a:txBody>
                  <a:tcPr marL="76200" marR="76200" marT="0" marB="0"/>
                </a:tc>
                <a:tc>
                  <a:txBody>
                    <a:bodyPr/>
                    <a:lstStyle/>
                    <a:p>
                      <a:pPr marL="0" marR="0" algn="ctr">
                        <a:lnSpc>
                          <a:spcPct val="115000"/>
                        </a:lnSpc>
                        <a:spcBef>
                          <a:spcPts val="450"/>
                        </a:spcBef>
                        <a:spcAft>
                          <a:spcPts val="270"/>
                        </a:spcAft>
                        <a:tabLst>
                          <a:tab pos="-457200" algn="l"/>
                        </a:tabLst>
                      </a:pPr>
                      <a:r>
                        <a:rPr lang="en-US" sz="1200">
                          <a:effectLst/>
                        </a:rPr>
                        <a:t>2</a:t>
                      </a:r>
                      <a:endParaRPr lang="en-US" sz="1200">
                        <a:effectLst/>
                        <a:latin typeface="Courier"/>
                        <a:ea typeface="Times New Roman"/>
                        <a:cs typeface="Times New Roman"/>
                      </a:endParaRPr>
                    </a:p>
                  </a:txBody>
                  <a:tcPr marL="76200" marR="76200" marT="0" marB="0"/>
                </a:tc>
                <a:tc>
                  <a:txBody>
                    <a:bodyPr/>
                    <a:lstStyle/>
                    <a:p>
                      <a:pPr marL="0" marR="0">
                        <a:lnSpc>
                          <a:spcPct val="115000"/>
                        </a:lnSpc>
                        <a:spcBef>
                          <a:spcPts val="450"/>
                        </a:spcBef>
                        <a:spcAft>
                          <a:spcPts val="270"/>
                        </a:spcAft>
                        <a:tabLst>
                          <a:tab pos="-457200" algn="l"/>
                        </a:tabLst>
                      </a:pPr>
                      <a:r>
                        <a:rPr lang="en-US" sz="1200" dirty="0">
                          <a:effectLst/>
                        </a:rPr>
                        <a:t>171.5----180.5</a:t>
                      </a:r>
                      <a:endParaRPr lang="en-US" sz="1200" dirty="0">
                        <a:effectLst/>
                        <a:latin typeface="Courier"/>
                        <a:ea typeface="Times New Roman"/>
                        <a:cs typeface="Times New Roman"/>
                      </a:endParaRPr>
                    </a:p>
                  </a:txBody>
                  <a:tcPr marL="76200" marR="76200" marT="0" marB="0"/>
                </a:tc>
                <a:extLst>
                  <a:ext uri="{0D108BD9-81ED-4DB2-BD59-A6C34878D82A}">
                    <a16:rowId xmlns:a16="http://schemas.microsoft.com/office/drawing/2014/main" val="10007"/>
                  </a:ext>
                </a:extLst>
              </a:tr>
            </a:tbl>
          </a:graphicData>
        </a:graphic>
      </p:graphicFrame>
      <p:sp>
        <p:nvSpPr>
          <p:cNvPr id="4" name="Rectangle 3"/>
          <p:cNvSpPr/>
          <p:nvPr/>
        </p:nvSpPr>
        <p:spPr>
          <a:xfrm>
            <a:off x="641123" y="5230849"/>
            <a:ext cx="6096000" cy="646331"/>
          </a:xfrm>
          <a:prstGeom prst="rect">
            <a:avLst/>
          </a:prstGeom>
        </p:spPr>
        <p:txBody>
          <a:bodyPr>
            <a:spAutoFit/>
          </a:bodyPr>
          <a:lstStyle/>
          <a:p>
            <a:r>
              <a:rPr lang="en-US" dirty="0"/>
              <a:t>Since heights frequency is 12 </a:t>
            </a:r>
          </a:p>
          <a:p>
            <a:r>
              <a:rPr lang="en-US" dirty="0"/>
              <a:t>So the class containing Mode is     144.5----153.5</a:t>
            </a:r>
          </a:p>
        </p:txBody>
      </p:sp>
    </p:spTree>
    <p:extLst>
      <p:ext uri="{BB962C8B-B14F-4D97-AF65-F5344CB8AC3E}">
        <p14:creationId xmlns:p14="http://schemas.microsoft.com/office/powerpoint/2010/main" val="386168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197" y="1514474"/>
            <a:ext cx="2039974" cy="5144283"/>
          </a:xfrm>
          <a:prstGeom prst="rect">
            <a:avLst/>
          </a:prstGeom>
        </p:spPr>
      </p:pic>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2882566012"/>
              </p:ext>
            </p:extLst>
          </p:nvPr>
        </p:nvGraphicFramePr>
        <p:xfrm>
          <a:off x="465388" y="1115736"/>
          <a:ext cx="10297095" cy="3400022"/>
        </p:xfrm>
        <a:graphic>
          <a:graphicData uri="http://schemas.openxmlformats.org/presentationml/2006/ole">
            <mc:AlternateContent xmlns:mc="http://schemas.openxmlformats.org/markup-compatibility/2006">
              <mc:Choice xmlns:v="urn:schemas-microsoft-com:vml" Requires="v">
                <p:oleObj name="Equation" r:id="rId11" imgW="2908300" imgH="889000" progId="Equation.3">
                  <p:embed/>
                </p:oleObj>
              </mc:Choice>
              <mc:Fallback>
                <p:oleObj name="Equation" r:id="rId11" imgW="2908300" imgH="889000" progId="Equation.3">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388" y="1115736"/>
                        <a:ext cx="10297095" cy="3400022"/>
                      </a:xfrm>
                      <a:prstGeom prst="rect">
                        <a:avLst/>
                      </a:prstGeom>
                      <a:noFill/>
                    </p:spPr>
                  </p:pic>
                </p:oleObj>
              </mc:Fallback>
            </mc:AlternateContent>
          </a:graphicData>
        </a:graphic>
      </p:graphicFrame>
      <p:sp>
        <p:nvSpPr>
          <p:cNvPr id="4" name="Rectangle 3"/>
          <p:cNvSpPr/>
          <p:nvPr/>
        </p:nvSpPr>
        <p:spPr>
          <a:xfrm>
            <a:off x="1091183" y="4825062"/>
            <a:ext cx="9261987" cy="1015663"/>
          </a:xfrm>
          <a:prstGeom prst="rect">
            <a:avLst/>
          </a:prstGeom>
        </p:spPr>
        <p:txBody>
          <a:bodyPr wrap="square">
            <a:spAutoFit/>
          </a:bodyPr>
          <a:lstStyle/>
          <a:p>
            <a:r>
              <a:rPr lang="en-US" b="1" dirty="0">
                <a:latin typeface="Times New Roman" pitchFamily="18" charset="0"/>
                <a:cs typeface="Times New Roman" pitchFamily="18" charset="0"/>
              </a:rPr>
              <a:t>NOTE:- </a:t>
            </a:r>
            <a:r>
              <a:rPr lang="en-US" sz="2000" dirty="0">
                <a:latin typeface="Times New Roman" pitchFamily="18" charset="0"/>
                <a:cs typeface="Times New Roman" pitchFamily="18" charset="0"/>
              </a:rPr>
              <a:t>(i) A data may have more than one mode or no-mode at all</a:t>
            </a:r>
          </a:p>
          <a:p>
            <a:r>
              <a:rPr lang="en-US" sz="2000" dirty="0">
                <a:latin typeface="Times New Roman" pitchFamily="18" charset="0"/>
                <a:cs typeface="Times New Roman" pitchFamily="18" charset="0"/>
              </a:rPr>
              <a:t>(ii) A data with one mode is called  </a:t>
            </a:r>
            <a:r>
              <a:rPr lang="en-US" sz="2000" dirty="0" err="1">
                <a:latin typeface="Times New Roman" pitchFamily="18" charset="0"/>
                <a:cs typeface="Times New Roman" pitchFamily="18" charset="0"/>
              </a:rPr>
              <a:t>Uni</a:t>
            </a:r>
            <a:r>
              <a:rPr lang="en-US" sz="2000" dirty="0">
                <a:latin typeface="Times New Roman" pitchFamily="18" charset="0"/>
                <a:cs typeface="Times New Roman" pitchFamily="18" charset="0"/>
              </a:rPr>
              <a:t>-model, 2 modes bi-model or more than 2 modes multi model data.</a:t>
            </a:r>
          </a:p>
        </p:txBody>
      </p:sp>
    </p:spTree>
    <p:extLst>
      <p:ext uri="{BB962C8B-B14F-4D97-AF65-F5344CB8AC3E}">
        <p14:creationId xmlns:p14="http://schemas.microsoft.com/office/powerpoint/2010/main" val="3861682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197" y="1514474"/>
            <a:ext cx="2039974" cy="5144283"/>
          </a:xfrm>
          <a:prstGeom prst="rect">
            <a:avLst/>
          </a:prstGeom>
        </p:spPr>
      </p:pic>
      <p:sp>
        <p:nvSpPr>
          <p:cNvPr id="3" name="Rectangle 2"/>
          <p:cNvSpPr/>
          <p:nvPr/>
        </p:nvSpPr>
        <p:spPr>
          <a:xfrm>
            <a:off x="579550" y="1363606"/>
            <a:ext cx="8718997" cy="3046988"/>
          </a:xfrm>
          <a:prstGeom prst="rect">
            <a:avLst/>
          </a:prstGeom>
        </p:spPr>
        <p:txBody>
          <a:bodyPr wrap="square">
            <a:spAutoFit/>
          </a:bodyPr>
          <a:lstStyle/>
          <a:p>
            <a:r>
              <a:rPr lang="en-US" sz="2400" b="1" u="sng" dirty="0">
                <a:latin typeface="Times New Roman" pitchFamily="18" charset="0"/>
                <a:cs typeface="Times New Roman" pitchFamily="18" charset="0"/>
              </a:rPr>
              <a:t>Relation between mean, median, mode</a:t>
            </a:r>
            <a:r>
              <a:rPr lang="en-US" sz="2400" u="sng"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Mean = Median = Mode		For symmetrical distribution</a:t>
            </a:r>
          </a:p>
          <a:p>
            <a:r>
              <a:rPr lang="en-US" sz="2400" dirty="0">
                <a:latin typeface="Times New Roman" pitchFamily="18" charset="0"/>
                <a:cs typeface="Times New Roman" pitchFamily="18" charset="0"/>
              </a:rPr>
              <a:t>Mean &gt; Median &gt; Mode                     For positively skewed distribution</a:t>
            </a:r>
          </a:p>
          <a:p>
            <a:r>
              <a:rPr lang="en-US" sz="2400" dirty="0">
                <a:latin typeface="Times New Roman" pitchFamily="18" charset="0"/>
                <a:cs typeface="Times New Roman" pitchFamily="18" charset="0"/>
              </a:rPr>
              <a:t>Mean &lt; Median &lt; Mode                     For negatively skewed distribution</a:t>
            </a:r>
          </a:p>
          <a:p>
            <a:r>
              <a:rPr lang="en-US" sz="2400" dirty="0">
                <a:latin typeface="Times New Roman" pitchFamily="18" charset="0"/>
                <a:cs typeface="Times New Roman" pitchFamily="18" charset="0"/>
              </a:rPr>
              <a:t>For skewed distribution </a:t>
            </a:r>
          </a:p>
          <a:p>
            <a:r>
              <a:rPr lang="en-US" sz="2400" dirty="0">
                <a:latin typeface="Times New Roman" pitchFamily="18" charset="0"/>
                <a:cs typeface="Times New Roman" pitchFamily="18" charset="0"/>
              </a:rPr>
              <a:t>Mode = 3 Median – 2 Mean</a:t>
            </a:r>
          </a:p>
        </p:txBody>
      </p:sp>
    </p:spTree>
    <p:extLst>
      <p:ext uri="{BB962C8B-B14F-4D97-AF65-F5344CB8AC3E}">
        <p14:creationId xmlns:p14="http://schemas.microsoft.com/office/powerpoint/2010/main" val="948880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558</TotalTime>
  <Words>1714</Words>
  <Application>Microsoft Office PowerPoint</Application>
  <PresentationFormat>Widescreen</PresentationFormat>
  <Paragraphs>215</Paragraphs>
  <Slides>20</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7" baseType="lpstr">
      <vt:lpstr>Arial</vt:lpstr>
      <vt:lpstr>Calibri</vt:lpstr>
      <vt:lpstr>Calibri Light</vt:lpstr>
      <vt:lpstr>Courier</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Dev Hamnah</cp:lastModifiedBy>
  <cp:revision>71</cp:revision>
  <dcterms:created xsi:type="dcterms:W3CDTF">2024-06-21T09:49:54Z</dcterms:created>
  <dcterms:modified xsi:type="dcterms:W3CDTF">2025-09-28T07:09:59Z</dcterms:modified>
</cp:coreProperties>
</file>