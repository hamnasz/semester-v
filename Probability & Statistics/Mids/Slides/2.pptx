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846" r:id="rId3"/>
    <p:sldId id="847" r:id="rId4"/>
    <p:sldId id="848" r:id="rId5"/>
    <p:sldId id="849" r:id="rId6"/>
    <p:sldId id="865" r:id="rId7"/>
    <p:sldId id="850" r:id="rId8"/>
    <p:sldId id="864" r:id="rId9"/>
    <p:sldId id="851" r:id="rId10"/>
    <p:sldId id="852" r:id="rId11"/>
    <p:sldId id="853" r:id="rId12"/>
    <p:sldId id="854" r:id="rId13"/>
    <p:sldId id="855" r:id="rId14"/>
    <p:sldId id="866" r:id="rId15"/>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2A2A"/>
    <a:srgbClr val="C000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67" autoAdjust="0"/>
    <p:restoredTop sz="91099" autoAdjust="0"/>
  </p:normalViewPr>
  <p:slideViewPr>
    <p:cSldViewPr snapToGrid="0">
      <p:cViewPr varScale="1">
        <p:scale>
          <a:sx n="64" d="100"/>
          <a:sy n="64" d="100"/>
        </p:scale>
        <p:origin x="684"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F304D-9FBF-4B4D-AB5C-790149BB44A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a16="http://schemas.microsoft.com/office/drawing/2014/main" id="{000C0F5D-325B-4660-8632-EBB9EC084D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a16="http://schemas.microsoft.com/office/drawing/2014/main" id="{3FBC7CD5-CB98-4F1C-8F4E-14A8F9EE1811}"/>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5" name="Footer Placeholder 4">
            <a:extLst>
              <a:ext uri="{FF2B5EF4-FFF2-40B4-BE49-F238E27FC236}">
                <a16:creationId xmlns:a16="http://schemas.microsoft.com/office/drawing/2014/main" id="{9DA69AAB-D032-4740-999C-6FECB3BEC83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F1F2CE2C-3FF8-4ED5-9A0F-6E35B87E8B6F}"/>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1683214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11BF5-D802-48A8-8681-E64C843E4622}"/>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4D563E54-C420-46A7-95A3-D26D99CE95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09E21E6C-72DA-4925-94EE-0D245623B79C}"/>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5" name="Footer Placeholder 4">
            <a:extLst>
              <a:ext uri="{FF2B5EF4-FFF2-40B4-BE49-F238E27FC236}">
                <a16:creationId xmlns:a16="http://schemas.microsoft.com/office/drawing/2014/main" id="{E316D8A9-019D-413B-8A1E-F14D6EE3561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6050099F-8C38-444A-A7F8-21336A623DAA}"/>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1759640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43EB3-C47B-49A1-BB67-347B61A6D7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a16="http://schemas.microsoft.com/office/drawing/2014/main" id="{61CE9B96-3C04-415D-86F4-32630CB36F5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7AA9B9-E771-49B5-9E2D-06EAF24C17E6}"/>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5" name="Footer Placeholder 4">
            <a:extLst>
              <a:ext uri="{FF2B5EF4-FFF2-40B4-BE49-F238E27FC236}">
                <a16:creationId xmlns:a16="http://schemas.microsoft.com/office/drawing/2014/main" id="{5AE7F1A7-FFC1-4BDE-908E-7A849372FAFE}"/>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6BE47FAB-5890-41CE-8DA9-CB5788221706}"/>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4649825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98E66-B67C-4351-89B6-A169553C061C}"/>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a16="http://schemas.microsoft.com/office/drawing/2014/main" id="{5C791AA4-B785-4E02-B612-05E57B25A9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a16="http://schemas.microsoft.com/office/drawing/2014/main" id="{E410E598-0767-477D-B9E8-2BCCF5C5114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a16="http://schemas.microsoft.com/office/drawing/2014/main" id="{B86D8C23-6B26-4B19-BEEB-7AEFC2A18F66}"/>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6" name="Footer Placeholder 5">
            <a:extLst>
              <a:ext uri="{FF2B5EF4-FFF2-40B4-BE49-F238E27FC236}">
                <a16:creationId xmlns:a16="http://schemas.microsoft.com/office/drawing/2014/main" id="{E8CB8FE9-ABD0-4AA5-986C-BC29ECC4F014}"/>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147F8042-F61C-495E-8C35-E7989AA7EE9D}"/>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561973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21205-E47B-4E88-8DFD-1C6071B7AD79}"/>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7C64C0F1-91A6-4158-8855-0C7208370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AB615B-6DBF-4632-94D0-3791085A6C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a16="http://schemas.microsoft.com/office/drawing/2014/main" id="{B7CB3133-8FE9-4883-B870-D642C1DF03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8078B5-E153-4D81-A163-C758FDB897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a16="http://schemas.microsoft.com/office/drawing/2014/main" id="{D5D200C8-3958-4AE2-85B4-16A6511DDDE9}"/>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8" name="Footer Placeholder 7">
            <a:extLst>
              <a:ext uri="{FF2B5EF4-FFF2-40B4-BE49-F238E27FC236}">
                <a16:creationId xmlns:a16="http://schemas.microsoft.com/office/drawing/2014/main" id="{6A253149-4D4C-46D5-8100-4A3D9F41B000}"/>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a16="http://schemas.microsoft.com/office/drawing/2014/main" id="{65B7D50A-B373-419E-9BDA-973DC1118760}"/>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2276628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3C455-2666-47C6-BF3E-44EE0A2900AC}"/>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a16="http://schemas.microsoft.com/office/drawing/2014/main" id="{2BCDB8A3-54C9-4DF0-AF58-847CC781E947}"/>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4" name="Footer Placeholder 3">
            <a:extLst>
              <a:ext uri="{FF2B5EF4-FFF2-40B4-BE49-F238E27FC236}">
                <a16:creationId xmlns:a16="http://schemas.microsoft.com/office/drawing/2014/main" id="{CB3A80F5-1CBF-45BD-A6AD-6BE98C141DE2}"/>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a16="http://schemas.microsoft.com/office/drawing/2014/main" id="{67E03123-314A-4412-8618-E5C45344E1D4}"/>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214327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FC5179-D82F-40FA-BF21-7AA507CE0823}"/>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3" name="Footer Placeholder 2">
            <a:extLst>
              <a:ext uri="{FF2B5EF4-FFF2-40B4-BE49-F238E27FC236}">
                <a16:creationId xmlns:a16="http://schemas.microsoft.com/office/drawing/2014/main" id="{C1CC15DB-F842-49C3-B55B-A16E3884385C}"/>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a16="http://schemas.microsoft.com/office/drawing/2014/main" id="{38FDBBF2-4194-4BEA-AC76-A5704F3BBC05}"/>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3140227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38F8C-D3DE-403C-AF37-746C3367B6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a16="http://schemas.microsoft.com/office/drawing/2014/main" id="{58DF2B9D-4546-43D6-91C9-FFB86CF4EA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BF656608-3C52-495D-A214-A55C36D003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98E0AF-DD29-4C26-82C8-ACF8330BE670}"/>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6" name="Footer Placeholder 5">
            <a:extLst>
              <a:ext uri="{FF2B5EF4-FFF2-40B4-BE49-F238E27FC236}">
                <a16:creationId xmlns:a16="http://schemas.microsoft.com/office/drawing/2014/main" id="{5BC35345-7A18-4D42-9681-50058B9D5D58}"/>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BCB22563-5A9D-4035-99DC-A96787B7BEA2}"/>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21264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83F7-E36A-48E5-8DCA-087E21BBE4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a16="http://schemas.microsoft.com/office/drawing/2014/main" id="{822A8EBF-99DA-4706-BCCE-9EBA54596A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a16="http://schemas.microsoft.com/office/drawing/2014/main" id="{124EF8FC-B1A6-401C-9069-13842D8C8A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A73258-FD4E-43EE-BF6C-3DADDEA90459}"/>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6" name="Footer Placeholder 5">
            <a:extLst>
              <a:ext uri="{FF2B5EF4-FFF2-40B4-BE49-F238E27FC236}">
                <a16:creationId xmlns:a16="http://schemas.microsoft.com/office/drawing/2014/main" id="{170AB588-D788-4246-8BC5-FC3FB748507C}"/>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a16="http://schemas.microsoft.com/office/drawing/2014/main" id="{E7FFFD2F-0AC3-4390-8990-6C3DDE5525F5}"/>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916293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B165-E271-4702-AC6D-63BC723EAB6A}"/>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1555CA41-5CBD-4E65-95AA-B3EFB8BD3B4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E19ACED0-31DD-4C4F-B63A-02250626EB2F}"/>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5" name="Footer Placeholder 4">
            <a:extLst>
              <a:ext uri="{FF2B5EF4-FFF2-40B4-BE49-F238E27FC236}">
                <a16:creationId xmlns:a16="http://schemas.microsoft.com/office/drawing/2014/main" id="{A995553D-FD7D-4432-BC5C-F78462D738A8}"/>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31E46CDF-12B4-4900-A154-E219D22E95BB}"/>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57631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29BF1E-BE8B-4353-B936-AE8071F91CD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a16="http://schemas.microsoft.com/office/drawing/2014/main" id="{DB322873-176A-4EA9-9941-DC9941F4750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DD35E231-43A9-48DA-833A-A8750A6CA7EC}"/>
              </a:ext>
            </a:extLst>
          </p:cNvPr>
          <p:cNvSpPr>
            <a:spLocks noGrp="1"/>
          </p:cNvSpPr>
          <p:nvPr>
            <p:ph type="dt" sz="half" idx="10"/>
          </p:nvPr>
        </p:nvSpPr>
        <p:spPr/>
        <p:txBody>
          <a:bodyPr/>
          <a:lstStyle/>
          <a:p>
            <a:fld id="{3237A82C-AEEE-48DB-A866-3B1CA0AC9D5D}" type="datetimeFigureOut">
              <a:rPr lang="x-none" smtClean="0"/>
              <a:t>28/09/2025</a:t>
            </a:fld>
            <a:endParaRPr lang="x-none"/>
          </a:p>
        </p:txBody>
      </p:sp>
      <p:sp>
        <p:nvSpPr>
          <p:cNvPr id="5" name="Footer Placeholder 4">
            <a:extLst>
              <a:ext uri="{FF2B5EF4-FFF2-40B4-BE49-F238E27FC236}">
                <a16:creationId xmlns:a16="http://schemas.microsoft.com/office/drawing/2014/main" id="{00B07A8C-6932-4260-BAAA-DBE1B12880F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a16="http://schemas.microsoft.com/office/drawing/2014/main" id="{FAFE6F17-3B9F-4C75-98BF-F79F5D018AEB}"/>
              </a:ext>
            </a:extLst>
          </p:cNvPr>
          <p:cNvSpPr>
            <a:spLocks noGrp="1"/>
          </p:cNvSpPr>
          <p:nvPr>
            <p:ph type="sldNum" sz="quarter" idx="12"/>
          </p:nvPr>
        </p:nvSpPr>
        <p:spPr/>
        <p:txBody>
          <a:bodyPr/>
          <a:lstStyle/>
          <a:p>
            <a:fld id="{6EB9F7D7-3C9C-4146-9FA1-B77DEB44278D}" type="slidenum">
              <a:rPr lang="x-none" smtClean="0"/>
              <a:t>‹#›</a:t>
            </a:fld>
            <a:endParaRPr lang="x-none"/>
          </a:p>
        </p:txBody>
      </p:sp>
    </p:spTree>
    <p:extLst>
      <p:ext uri="{BB962C8B-B14F-4D97-AF65-F5344CB8AC3E}">
        <p14:creationId xmlns:p14="http://schemas.microsoft.com/office/powerpoint/2010/main" val="42108414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339B51-54CA-49F5-8966-F46D83C422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a16="http://schemas.microsoft.com/office/drawing/2014/main" id="{2519CFAA-AD75-4697-91AC-85CEC6C6B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a16="http://schemas.microsoft.com/office/drawing/2014/main" id="{54127230-2512-4F28-A281-14854D147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x-none" smtClean="0"/>
              <a:t>28/09/2025</a:t>
            </a:fld>
            <a:endParaRPr lang="x-none"/>
          </a:p>
        </p:txBody>
      </p:sp>
      <p:sp>
        <p:nvSpPr>
          <p:cNvPr id="5" name="Footer Placeholder 4">
            <a:extLst>
              <a:ext uri="{FF2B5EF4-FFF2-40B4-BE49-F238E27FC236}">
                <a16:creationId xmlns:a16="http://schemas.microsoft.com/office/drawing/2014/main" id="{4FD06234-7A7A-4EED-8F6D-3D8EBC2D1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a16="http://schemas.microsoft.com/office/drawing/2014/main" id="{AA549BF4-1286-4C31-9FB5-ED9DDFE1E6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x-none" smtClean="0"/>
              <a:t>‹#›</a:t>
            </a:fld>
            <a:endParaRPr lang="x-none"/>
          </a:p>
        </p:txBody>
      </p:sp>
    </p:spTree>
    <p:extLst>
      <p:ext uri="{BB962C8B-B14F-4D97-AF65-F5344CB8AC3E}">
        <p14:creationId xmlns:p14="http://schemas.microsoft.com/office/powerpoint/2010/main" val="4013388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9" Type="http://schemas.openxmlformats.org/officeDocument/2006/relationships/image" Target="../media/image10.sv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11" Type="http://schemas.openxmlformats.org/officeDocument/2006/relationships/image" Target="../media/image11.emf"/><Relationship Id="rId5" Type="http://schemas.openxmlformats.org/officeDocument/2006/relationships/image" Target="../media/image6.png"/><Relationship Id="rId10" Type="http://schemas.openxmlformats.org/officeDocument/2006/relationships/oleObject" Target="../embeddings/oleObject1.bin"/><Relationship Id="rId4" Type="http://schemas.openxmlformats.org/officeDocument/2006/relationships/image" Target="../media/image5.svg"/><Relationship Id="rId9" Type="http://schemas.openxmlformats.org/officeDocument/2006/relationships/image" Target="../media/image10.sv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11" Type="http://schemas.openxmlformats.org/officeDocument/2006/relationships/image" Target="../media/image12.emf"/><Relationship Id="rId5" Type="http://schemas.openxmlformats.org/officeDocument/2006/relationships/image" Target="../media/image6.png"/><Relationship Id="rId10" Type="http://schemas.openxmlformats.org/officeDocument/2006/relationships/oleObject" Target="../embeddings/oleObject2.bin"/><Relationship Id="rId4" Type="http://schemas.openxmlformats.org/officeDocument/2006/relationships/image" Target="../media/image5.svg"/><Relationship Id="rId9" Type="http://schemas.openxmlformats.org/officeDocument/2006/relationships/image" Target="../media/image10.svg"/></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11" Type="http://schemas.openxmlformats.org/officeDocument/2006/relationships/image" Target="../media/image13.emf"/><Relationship Id="rId5" Type="http://schemas.openxmlformats.org/officeDocument/2006/relationships/image" Target="../media/image6.png"/><Relationship Id="rId10" Type="http://schemas.openxmlformats.org/officeDocument/2006/relationships/oleObject" Target="../embeddings/oleObject3.bin"/><Relationship Id="rId4" Type="http://schemas.openxmlformats.org/officeDocument/2006/relationships/image" Target="../media/image5.svg"/><Relationship Id="rId9" Type="http://schemas.openxmlformats.org/officeDocument/2006/relationships/image" Target="../media/image10.svg"/></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5.emf"/><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oleObject" Target="../embeddings/oleObject5.bin"/><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11" Type="http://schemas.openxmlformats.org/officeDocument/2006/relationships/image" Target="../media/image14.wmf"/><Relationship Id="rId5" Type="http://schemas.openxmlformats.org/officeDocument/2006/relationships/image" Target="../media/image6.png"/><Relationship Id="rId10" Type="http://schemas.openxmlformats.org/officeDocument/2006/relationships/oleObject" Target="../embeddings/oleObject4.bin"/><Relationship Id="rId4" Type="http://schemas.openxmlformats.org/officeDocument/2006/relationships/image" Target="../media/image5.svg"/><Relationship Id="rId9" Type="http://schemas.openxmlformats.org/officeDocument/2006/relationships/image" Target="../media/image10.sv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9" Type="http://schemas.openxmlformats.org/officeDocument/2006/relationships/image" Target="../media/image10.sv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9" Type="http://schemas.openxmlformats.org/officeDocument/2006/relationships/image" Target="../media/image10.sv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9" Type="http://schemas.openxmlformats.org/officeDocument/2006/relationships/image" Target="../media/image10.svg"/></Relationships>
</file>

<file path=ppt/slides/_rels/slide1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6.jpeg"/><Relationship Id="rId4" Type="http://schemas.openxmlformats.org/officeDocument/2006/relationships/image" Target="../media/image5.svg"/><Relationship Id="rId9" Type="http://schemas.openxmlformats.org/officeDocument/2006/relationships/image" Target="../media/image10.svg"/></Relationships>
</file>

<file path=ppt/slides/_rels/slide1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7.jpeg"/><Relationship Id="rId4" Type="http://schemas.openxmlformats.org/officeDocument/2006/relationships/image" Target="../media/image5.svg"/><Relationship Id="rId9" Type="http://schemas.openxmlformats.org/officeDocument/2006/relationships/image" Target="../media/image10.svg"/></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9"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BEF21E1-2D98-4671-AEAF-A201BC9C40D1}"/>
              </a:ext>
            </a:extLst>
          </p:cNvPr>
          <p:cNvSpPr/>
          <p:nvPr/>
        </p:nvSpPr>
        <p:spPr>
          <a:xfrm>
            <a:off x="0" y="90152"/>
            <a:ext cx="12192000" cy="685800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a:extLst>
              <a:ext uri="{FF2B5EF4-FFF2-40B4-BE49-F238E27FC236}">
                <a16:creationId xmlns:a16="http://schemas.microsoft.com/office/drawing/2014/main" id="{5946CD5F-621C-4899-B8C5-417BE3F1ECD0}"/>
              </a:ext>
            </a:extLst>
          </p:cNvPr>
          <p:cNvSpPr>
            <a:spLocks noGrp="1"/>
          </p:cNvSpPr>
          <p:nvPr>
            <p:ph type="ctrTitle"/>
          </p:nvPr>
        </p:nvSpPr>
        <p:spPr>
          <a:xfrm>
            <a:off x="847344" y="2448878"/>
            <a:ext cx="9137904" cy="1153160"/>
          </a:xfrm>
        </p:spPr>
        <p:txBody>
          <a:bodyPr>
            <a:normAutofit fontScale="90000"/>
          </a:bodyPr>
          <a:lstStyle/>
          <a:p>
            <a:r>
              <a:rPr lang="en-GB" b="1" dirty="0">
                <a:solidFill>
                  <a:schemeClr val="bg1"/>
                </a:solidFill>
                <a:latin typeface="Bahnschrift" panose="020B0502040204020203" pitchFamily="34" charset="0"/>
              </a:rPr>
              <a:t>Graphical Representation</a:t>
            </a:r>
            <a:endParaRPr lang="en-GB" dirty="0"/>
          </a:p>
        </p:txBody>
      </p:sp>
      <p:pic>
        <p:nvPicPr>
          <p:cNvPr id="10" name="Graphic 9">
            <a:extLst>
              <a:ext uri="{FF2B5EF4-FFF2-40B4-BE49-F238E27FC236}">
                <a16:creationId xmlns:a16="http://schemas.microsoft.com/office/drawing/2014/main" id="{1C869FE1-C1C4-48A8-AA9E-99CAE025BE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362283" y="0"/>
            <a:ext cx="3611690" cy="3611690"/>
          </a:xfrm>
          <a:prstGeom prst="rect">
            <a:avLst/>
          </a:prstGeom>
        </p:spPr>
      </p:pic>
    </p:spTree>
    <p:extLst>
      <p:ext uri="{BB962C8B-B14F-4D97-AF65-F5344CB8AC3E}">
        <p14:creationId xmlns:p14="http://schemas.microsoft.com/office/powerpoint/2010/main" val="524796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7252" y="1519722"/>
            <a:ext cx="2039974" cy="5144283"/>
          </a:xfrm>
          <a:prstGeom prst="rect">
            <a:avLst/>
          </a:prstGeom>
        </p:spPr>
      </p:pic>
      <p:sp>
        <p:nvSpPr>
          <p:cNvPr id="2" name="Content Placeholder 1"/>
          <p:cNvSpPr>
            <a:spLocks noGrp="1"/>
          </p:cNvSpPr>
          <p:nvPr>
            <p:ph idx="1"/>
          </p:nvPr>
        </p:nvSpPr>
        <p:spPr/>
        <p:txBody>
          <a:bodyPr/>
          <a:lstStyle/>
          <a:p>
            <a:pPr marL="0" indent="0">
              <a:buNone/>
            </a:pPr>
            <a:r>
              <a:rPr lang="en-US" b="1" u="sng" dirty="0"/>
              <a:t>GRAPHICAL REPRESENTATION: </a:t>
            </a:r>
            <a:r>
              <a:rPr lang="en-US" dirty="0"/>
              <a:t>The Visual representation of statistical data in the form of points, lines, areas and other geometrical forms and symbols is known as graphical representation. Such visual representation can be divided in to two groups. </a:t>
            </a:r>
          </a:p>
          <a:p>
            <a:pPr marL="0" indent="0">
              <a:buNone/>
            </a:pPr>
            <a:r>
              <a:rPr lang="en-US" b="1" dirty="0"/>
              <a:t>(i)  Graph       (ii) Diagram</a:t>
            </a:r>
            <a:endParaRPr lang="en-US" dirty="0"/>
          </a:p>
          <a:p>
            <a:pPr marL="0" indent="0">
              <a:buNone/>
            </a:pPr>
            <a:r>
              <a:rPr lang="en-US" dirty="0"/>
              <a:t>The basic difference between a graph and a diagram is that a graph is a representation of data by a continuous curve, usually shown on graph paper while a diagram is any other one, two or three-dimensional form of visual representation.</a:t>
            </a:r>
          </a:p>
          <a:p>
            <a:endParaRPr lang="en-US" dirty="0"/>
          </a:p>
        </p:txBody>
      </p:sp>
    </p:spTree>
    <p:extLst>
      <p:ext uri="{BB962C8B-B14F-4D97-AF65-F5344CB8AC3E}">
        <p14:creationId xmlns:p14="http://schemas.microsoft.com/office/powerpoint/2010/main" val="93269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7252" y="1519722"/>
            <a:ext cx="2039974" cy="5144283"/>
          </a:xfrm>
          <a:prstGeom prst="rect">
            <a:avLst/>
          </a:prstGeom>
        </p:spPr>
      </p:pic>
      <p:sp>
        <p:nvSpPr>
          <p:cNvPr id="2" name="Content Placeholder 1"/>
          <p:cNvSpPr>
            <a:spLocks noGrp="1"/>
          </p:cNvSpPr>
          <p:nvPr>
            <p:ph idx="1"/>
          </p:nvPr>
        </p:nvSpPr>
        <p:spPr/>
        <p:txBody>
          <a:bodyPr>
            <a:normAutofit fontScale="92500" lnSpcReduction="20000"/>
          </a:bodyPr>
          <a:lstStyle/>
          <a:p>
            <a:pPr marL="0" indent="0">
              <a:buNone/>
            </a:pPr>
            <a:r>
              <a:rPr lang="en-US" b="1" u="sng" dirty="0"/>
              <a:t>Diagrams:</a:t>
            </a:r>
            <a:r>
              <a:rPr lang="en-US" b="1" dirty="0"/>
              <a:t> </a:t>
            </a:r>
            <a:r>
              <a:rPr lang="en-US" dirty="0"/>
              <a:t>Diagram is a device used for representing a statistical data in such a way that it provides maximum information’s about the movement of the data. </a:t>
            </a:r>
          </a:p>
          <a:p>
            <a:pPr marL="0" indent="0">
              <a:buNone/>
            </a:pPr>
            <a:r>
              <a:rPr lang="en-US" b="1" u="sng" dirty="0"/>
              <a:t>Advantages of Diagrams:</a:t>
            </a:r>
            <a:endParaRPr lang="en-US" dirty="0"/>
          </a:p>
          <a:p>
            <a:pPr lvl="0"/>
            <a:r>
              <a:rPr lang="en-US" dirty="0"/>
              <a:t>The diagrams are good looking and attractive.</a:t>
            </a:r>
          </a:p>
          <a:p>
            <a:pPr lvl="0"/>
            <a:r>
              <a:rPr lang="en-US" dirty="0"/>
              <a:t>The diagrams leave more effective and long lasting impression on the mind of a reader.</a:t>
            </a:r>
          </a:p>
          <a:p>
            <a:pPr lvl="0"/>
            <a:r>
              <a:rPr lang="en-US" dirty="0"/>
              <a:t>The diagram make it easier to compare two or more things at a time.</a:t>
            </a:r>
          </a:p>
          <a:p>
            <a:pPr marL="0" indent="0">
              <a:buNone/>
            </a:pPr>
            <a:r>
              <a:rPr lang="en-US" b="1" u="sng" dirty="0"/>
              <a:t>Disadvantages of Diagrams:</a:t>
            </a:r>
            <a:endParaRPr lang="en-US" dirty="0"/>
          </a:p>
          <a:p>
            <a:pPr lvl="0"/>
            <a:r>
              <a:rPr lang="en-US" dirty="0"/>
              <a:t>The diagrams are less accurate than tables.</a:t>
            </a:r>
          </a:p>
          <a:p>
            <a:pPr lvl="0"/>
            <a:r>
              <a:rPr lang="en-US" dirty="0"/>
              <a:t>The diagrams have cost money and time and the amount of information conveyed is limited.</a:t>
            </a:r>
          </a:p>
          <a:p>
            <a:pPr marL="0" indent="0">
              <a:buNone/>
            </a:pPr>
            <a:endParaRPr lang="en-US" dirty="0"/>
          </a:p>
        </p:txBody>
      </p:sp>
    </p:spTree>
    <p:extLst>
      <p:ext uri="{BB962C8B-B14F-4D97-AF65-F5344CB8AC3E}">
        <p14:creationId xmlns:p14="http://schemas.microsoft.com/office/powerpoint/2010/main" val="9326957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7252" y="1519722"/>
            <a:ext cx="2039974" cy="5144283"/>
          </a:xfrm>
          <a:prstGeom prst="rect">
            <a:avLst/>
          </a:prstGeom>
        </p:spPr>
      </p:pic>
      <p:sp>
        <p:nvSpPr>
          <p:cNvPr id="2" name="Content Placeholder 1"/>
          <p:cNvSpPr>
            <a:spLocks noGrp="1"/>
          </p:cNvSpPr>
          <p:nvPr>
            <p:ph idx="1"/>
          </p:nvPr>
        </p:nvSpPr>
        <p:spPr/>
        <p:txBody>
          <a:bodyPr/>
          <a:lstStyle/>
          <a:p>
            <a:pPr marL="0" indent="0">
              <a:buNone/>
            </a:pPr>
            <a:r>
              <a:rPr lang="en-US" b="1" u="sng" dirty="0"/>
              <a:t>Types of Diagrams:</a:t>
            </a:r>
            <a:r>
              <a:rPr lang="en-US" b="1" dirty="0"/>
              <a:t> </a:t>
            </a:r>
          </a:p>
          <a:p>
            <a:pPr marL="0" indent="0">
              <a:buNone/>
            </a:pPr>
            <a:r>
              <a:rPr lang="en-US" dirty="0"/>
              <a:t>Different types of diagram or charts commonly used for displaying statistical data are described below:</a:t>
            </a:r>
          </a:p>
          <a:p>
            <a:pPr marL="514350" indent="-514350">
              <a:buAutoNum type="arabicPeriod"/>
            </a:pPr>
            <a:r>
              <a:rPr lang="en-US" b="1" dirty="0"/>
              <a:t>Simple Bar Diagram/Chart  	</a:t>
            </a:r>
          </a:p>
          <a:p>
            <a:pPr marL="514350" indent="-514350">
              <a:buAutoNum type="arabicPeriod"/>
            </a:pPr>
            <a:r>
              <a:rPr lang="en-US" b="1" dirty="0"/>
              <a:t>Multiple Bar Diagram/Chart</a:t>
            </a:r>
            <a:endParaRPr lang="en-US" dirty="0"/>
          </a:p>
          <a:p>
            <a:pPr marL="514350" indent="-514350">
              <a:buAutoNum type="arabicPeriod" startAt="3"/>
            </a:pPr>
            <a:r>
              <a:rPr lang="en-US" b="1" dirty="0"/>
              <a:t>Sub-divided or Component Bar Diagram/Chart</a:t>
            </a:r>
          </a:p>
          <a:p>
            <a:pPr marL="514350" indent="-514350">
              <a:buAutoNum type="arabicPeriod" startAt="3"/>
            </a:pPr>
            <a:r>
              <a:rPr lang="en-US" b="1" dirty="0"/>
              <a:t>Pie      Diagram/Chart</a:t>
            </a:r>
            <a:endParaRPr lang="en-US" dirty="0"/>
          </a:p>
          <a:p>
            <a:pPr marL="0" indent="0">
              <a:buNone/>
            </a:pPr>
            <a:endParaRPr lang="en-US" dirty="0"/>
          </a:p>
        </p:txBody>
      </p:sp>
    </p:spTree>
    <p:extLst>
      <p:ext uri="{BB962C8B-B14F-4D97-AF65-F5344CB8AC3E}">
        <p14:creationId xmlns:p14="http://schemas.microsoft.com/office/powerpoint/2010/main" val="932695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7252" y="1519722"/>
            <a:ext cx="2039974" cy="5144283"/>
          </a:xfrm>
          <a:prstGeom prst="rect">
            <a:avLst/>
          </a:prstGeom>
        </p:spPr>
      </p:pic>
      <p:sp>
        <p:nvSpPr>
          <p:cNvPr id="2" name="Content Placeholder 1"/>
          <p:cNvSpPr>
            <a:spLocks noGrp="1"/>
          </p:cNvSpPr>
          <p:nvPr>
            <p:ph idx="1"/>
          </p:nvPr>
        </p:nvSpPr>
        <p:spPr>
          <a:xfrm>
            <a:off x="297286" y="1233196"/>
            <a:ext cx="5176235" cy="5430809"/>
          </a:xfrm>
        </p:spPr>
        <p:txBody>
          <a:bodyPr>
            <a:normAutofit/>
          </a:bodyPr>
          <a:lstStyle/>
          <a:p>
            <a:pPr marL="0" indent="0">
              <a:buNone/>
            </a:pPr>
            <a:r>
              <a:rPr lang="en-US" b="1" u="sng" dirty="0"/>
              <a:t>Simple bar chart/Diagram:</a:t>
            </a:r>
            <a:r>
              <a:rPr lang="en-US" b="1" dirty="0"/>
              <a:t> </a:t>
            </a:r>
          </a:p>
          <a:p>
            <a:pPr marL="0" indent="0">
              <a:buNone/>
            </a:pPr>
            <a:r>
              <a:rPr lang="en-US" dirty="0"/>
              <a:t>A Simple bar chart consists of horizontal or vertical bars of equal widths and lengths proportional to the magnitudes of the observations. The space separating the bars should not exceed the width of the bar and should not be less than half of its width. The data when do not relate to time should be arranged in ascending or descending order before charting.</a:t>
            </a:r>
          </a:p>
          <a:p>
            <a:pPr marL="0" indent="0">
              <a:buNone/>
            </a:pPr>
            <a:endParaRPr lang="en-US" dirty="0"/>
          </a:p>
        </p:txBody>
      </p:sp>
      <p:graphicFrame>
        <p:nvGraphicFramePr>
          <p:cNvPr id="3" name="Object 2"/>
          <p:cNvGraphicFramePr>
            <a:graphicFrameLocks noChangeAspect="1"/>
          </p:cNvGraphicFramePr>
          <p:nvPr>
            <p:extLst>
              <p:ext uri="{D42A27DB-BD31-4B8C-83A1-F6EECF244321}">
                <p14:modId xmlns:p14="http://schemas.microsoft.com/office/powerpoint/2010/main" val="2899949023"/>
              </p:ext>
            </p:extLst>
          </p:nvPr>
        </p:nvGraphicFramePr>
        <p:xfrm>
          <a:off x="5525037" y="1519722"/>
          <a:ext cx="6504656" cy="4648200"/>
        </p:xfrm>
        <a:graphic>
          <a:graphicData uri="http://schemas.openxmlformats.org/presentationml/2006/ole">
            <mc:AlternateContent xmlns:mc="http://schemas.openxmlformats.org/markup-compatibility/2006">
              <mc:Choice xmlns:v="urn:schemas-microsoft-com:vml" Requires="v">
                <p:oleObj name="Picture" r:id="rId10" imgW="5356800" imgH="4371120" progId="">
                  <p:embed/>
                </p:oleObj>
              </mc:Choice>
              <mc:Fallback>
                <p:oleObj name="Picture" r:id="rId10" imgW="5356800" imgH="4371120" progId="">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25037" y="1519722"/>
                        <a:ext cx="6504656" cy="4648200"/>
                      </a:xfrm>
                      <a:prstGeom prst="rect">
                        <a:avLst/>
                      </a:prstGeom>
                      <a:noFill/>
                      <a:ln w="15875">
                        <a:solidFill>
                          <a:srgbClr val="339966"/>
                        </a:solidFill>
                        <a:miter lim="800000"/>
                        <a:headEnd/>
                        <a:tailEnd/>
                      </a:ln>
                      <a:effectLst/>
                    </p:spPr>
                  </p:pic>
                </p:oleObj>
              </mc:Fallback>
            </mc:AlternateContent>
          </a:graphicData>
        </a:graphic>
      </p:graphicFrame>
    </p:spTree>
    <p:extLst>
      <p:ext uri="{BB962C8B-B14F-4D97-AF65-F5344CB8AC3E}">
        <p14:creationId xmlns:p14="http://schemas.microsoft.com/office/powerpoint/2010/main" val="932695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7252" y="1519722"/>
            <a:ext cx="2039974" cy="5144283"/>
          </a:xfrm>
          <a:prstGeom prst="rect">
            <a:avLst/>
          </a:prstGeom>
        </p:spPr>
      </p:pic>
      <p:sp>
        <p:nvSpPr>
          <p:cNvPr id="2" name="Content Placeholder 1"/>
          <p:cNvSpPr>
            <a:spLocks noGrp="1"/>
          </p:cNvSpPr>
          <p:nvPr>
            <p:ph idx="1"/>
          </p:nvPr>
        </p:nvSpPr>
        <p:spPr>
          <a:xfrm>
            <a:off x="115910" y="1326524"/>
            <a:ext cx="6284890" cy="5531476"/>
          </a:xfrm>
        </p:spPr>
        <p:txBody>
          <a:bodyPr>
            <a:normAutofit lnSpcReduction="10000"/>
          </a:bodyPr>
          <a:lstStyle/>
          <a:p>
            <a:pPr marL="0" indent="0">
              <a:buNone/>
            </a:pPr>
            <a:r>
              <a:rPr lang="en-US" b="1" u="sng" dirty="0"/>
              <a:t>Multiple bar chart/Diagram:</a:t>
            </a:r>
            <a:r>
              <a:rPr lang="en-US" dirty="0"/>
              <a:t> </a:t>
            </a:r>
          </a:p>
          <a:p>
            <a:pPr marL="0" indent="0">
              <a:buNone/>
            </a:pPr>
            <a:r>
              <a:rPr lang="en-US" dirty="0"/>
              <a:t>A Multiple bar chart shows two or more characteristics corresponding to the values of a common variable in the form of grouped bars whose lengths are proportional to the values of the characteristics and each of which is shaded or colored differently for identification. </a:t>
            </a:r>
            <a:r>
              <a:rPr lang="en-US" b="1" dirty="0"/>
              <a:t>OR</a:t>
            </a:r>
            <a:endParaRPr lang="en-US" dirty="0"/>
          </a:p>
          <a:p>
            <a:pPr marL="0" indent="0">
              <a:buNone/>
            </a:pPr>
            <a:r>
              <a:rPr lang="en-US" dirty="0"/>
              <a:t>It is an extension of simple bar chart and is used to represent two or more related sets of data in the form of groups of bars side by side. Multiple bar charts provide more information’s about the same problem.  </a:t>
            </a:r>
          </a:p>
          <a:p>
            <a:pPr marL="0" indent="0">
              <a:buNone/>
            </a:pPr>
            <a:endParaRPr lang="en-US" dirty="0"/>
          </a:p>
        </p:txBody>
      </p:sp>
      <p:graphicFrame>
        <p:nvGraphicFramePr>
          <p:cNvPr id="3" name="Object 2"/>
          <p:cNvGraphicFramePr>
            <a:graphicFrameLocks noChangeAspect="1"/>
          </p:cNvGraphicFramePr>
          <p:nvPr>
            <p:extLst>
              <p:ext uri="{D42A27DB-BD31-4B8C-83A1-F6EECF244321}">
                <p14:modId xmlns:p14="http://schemas.microsoft.com/office/powerpoint/2010/main" val="4084792830"/>
              </p:ext>
            </p:extLst>
          </p:nvPr>
        </p:nvGraphicFramePr>
        <p:xfrm>
          <a:off x="6259132" y="1691563"/>
          <a:ext cx="5932868" cy="4800600"/>
        </p:xfrm>
        <a:graphic>
          <a:graphicData uri="http://schemas.openxmlformats.org/presentationml/2006/ole">
            <mc:AlternateContent xmlns:mc="http://schemas.openxmlformats.org/markup-compatibility/2006">
              <mc:Choice xmlns:v="urn:schemas-microsoft-com:vml" Requires="v">
                <p:oleObj name="Picture" r:id="rId10" imgW="5356800" imgH="4371120" progId="">
                  <p:embed/>
                </p:oleObj>
              </mc:Choice>
              <mc:Fallback>
                <p:oleObj name="Picture" r:id="rId10" imgW="5356800" imgH="4371120" progId="">
                  <p:embed/>
                  <p:pic>
                    <p:nvPicPr>
                      <p:cNvPr id="0"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59132" y="1691563"/>
                        <a:ext cx="5932868" cy="48006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635178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7252" y="1519722"/>
            <a:ext cx="2039974" cy="5144283"/>
          </a:xfrm>
          <a:prstGeom prst="rect">
            <a:avLst/>
          </a:prstGeom>
        </p:spPr>
      </p:pic>
      <p:sp>
        <p:nvSpPr>
          <p:cNvPr id="2" name="Content Placeholder 1"/>
          <p:cNvSpPr>
            <a:spLocks noGrp="1"/>
          </p:cNvSpPr>
          <p:nvPr>
            <p:ph idx="1"/>
          </p:nvPr>
        </p:nvSpPr>
        <p:spPr>
          <a:xfrm>
            <a:off x="90152" y="1519721"/>
            <a:ext cx="5190186" cy="5144283"/>
          </a:xfrm>
        </p:spPr>
        <p:txBody>
          <a:bodyPr>
            <a:normAutofit/>
          </a:bodyPr>
          <a:lstStyle/>
          <a:p>
            <a:pPr marL="0" indent="0">
              <a:buNone/>
            </a:pPr>
            <a:r>
              <a:rPr lang="en-US" b="1" u="sng" dirty="0"/>
              <a:t>Sub-divided/component bar chart/Diagram:</a:t>
            </a:r>
          </a:p>
          <a:p>
            <a:pPr marL="0" indent="0">
              <a:buNone/>
            </a:pPr>
            <a:r>
              <a:rPr lang="en-US" b="1" dirty="0"/>
              <a:t> </a:t>
            </a:r>
            <a:r>
              <a:rPr lang="en-US" dirty="0"/>
              <a:t>In Component bar chart, each bar is divided into two or more sections. The length of the bar represents the total and various sections represent the components of total. </a:t>
            </a:r>
            <a:r>
              <a:rPr lang="en-US" b="1" dirty="0"/>
              <a:t>OR</a:t>
            </a:r>
            <a:endParaRPr lang="en-US" dirty="0"/>
          </a:p>
          <a:p>
            <a:pPr marL="0" indent="0">
              <a:buNone/>
            </a:pPr>
            <a:r>
              <a:rPr lang="en-US" dirty="0"/>
              <a:t>Sub-divided bar chart is obtained by dividing simple bar chart in to different components.</a:t>
            </a:r>
          </a:p>
          <a:p>
            <a:pPr marL="0" indent="0">
              <a:buNone/>
            </a:pP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2011532989"/>
              </p:ext>
            </p:extLst>
          </p:nvPr>
        </p:nvGraphicFramePr>
        <p:xfrm>
          <a:off x="5100033" y="1729663"/>
          <a:ext cx="6947079" cy="4724400"/>
        </p:xfrm>
        <a:graphic>
          <a:graphicData uri="http://schemas.openxmlformats.org/presentationml/2006/ole">
            <mc:AlternateContent xmlns:mc="http://schemas.openxmlformats.org/markup-compatibility/2006">
              <mc:Choice xmlns:v="urn:schemas-microsoft-com:vml" Requires="v">
                <p:oleObj name="Picture" r:id="rId10" imgW="5356800" imgH="4371120" progId="">
                  <p:embed/>
                </p:oleObj>
              </mc:Choice>
              <mc:Fallback>
                <p:oleObj name="Picture" r:id="rId10" imgW="5356800" imgH="4371120" progId="">
                  <p:embed/>
                  <p:pic>
                    <p:nvPicPr>
                      <p:cNvPr id="0" name="Object 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100033" y="1729663"/>
                        <a:ext cx="6947079" cy="47244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932695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7252" y="1519722"/>
            <a:ext cx="2039974" cy="5144283"/>
          </a:xfrm>
          <a:prstGeom prst="rect">
            <a:avLst/>
          </a:prstGeom>
        </p:spPr>
      </p:pic>
      <p:sp>
        <p:nvSpPr>
          <p:cNvPr id="2" name="Content Placeholder 1"/>
          <p:cNvSpPr>
            <a:spLocks noGrp="1"/>
          </p:cNvSpPr>
          <p:nvPr>
            <p:ph idx="1"/>
          </p:nvPr>
        </p:nvSpPr>
        <p:spPr>
          <a:xfrm>
            <a:off x="155619" y="1519722"/>
            <a:ext cx="7108065" cy="4351338"/>
          </a:xfrm>
        </p:spPr>
        <p:txBody>
          <a:bodyPr>
            <a:normAutofit/>
          </a:bodyPr>
          <a:lstStyle/>
          <a:p>
            <a:pPr marL="0" indent="0">
              <a:buNone/>
            </a:pPr>
            <a:r>
              <a:rPr lang="en-US" b="1" u="sng" dirty="0"/>
              <a:t>Pie diagram/Diagram:</a:t>
            </a:r>
            <a:r>
              <a:rPr lang="en-US" dirty="0"/>
              <a:t> A Pie diagram consists of a circle divided into sectors whose areas are proportional to the various parts into which the whole quantity is divided.</a:t>
            </a:r>
            <a:r>
              <a:rPr lang="en-US" b="1" dirty="0"/>
              <a:t> OR</a:t>
            </a:r>
            <a:endParaRPr lang="en-US" dirty="0"/>
          </a:p>
          <a:p>
            <a:pPr marL="0" indent="0">
              <a:buNone/>
            </a:pPr>
            <a:r>
              <a:rPr lang="en-US" dirty="0"/>
              <a:t>A Pie diagram is the division of a circular region into different sectors of any convenient radius. It is constructed by dividing the total. As a circle consists of 360</a:t>
            </a:r>
            <a:r>
              <a:rPr lang="en-US" baseline="30000" dirty="0"/>
              <a:t>o</a:t>
            </a:r>
            <a:r>
              <a:rPr lang="en-US" dirty="0"/>
              <a:t>is divided into different components.</a:t>
            </a:r>
          </a:p>
          <a:p>
            <a:pPr marL="0" indent="0">
              <a:buNone/>
            </a:pPr>
            <a:endParaRPr lang="en-US" dirty="0"/>
          </a:p>
          <a:p>
            <a:pPr marL="0" indent="0">
              <a:buNone/>
            </a:pPr>
            <a:endParaRPr lang="en-US" dirty="0"/>
          </a:p>
          <a:p>
            <a:pPr marL="0" indent="0">
              <a:buNone/>
            </a:pPr>
            <a:endParaRPr lang="en-US" dirty="0"/>
          </a:p>
        </p:txBody>
      </p:sp>
      <p:graphicFrame>
        <p:nvGraphicFramePr>
          <p:cNvPr id="3" name="Object 2"/>
          <p:cNvGraphicFramePr>
            <a:graphicFrameLocks noChangeAspect="1"/>
          </p:cNvGraphicFramePr>
          <p:nvPr>
            <p:extLst>
              <p:ext uri="{D42A27DB-BD31-4B8C-83A1-F6EECF244321}">
                <p14:modId xmlns:p14="http://schemas.microsoft.com/office/powerpoint/2010/main" val="1372509011"/>
              </p:ext>
            </p:extLst>
          </p:nvPr>
        </p:nvGraphicFramePr>
        <p:xfrm>
          <a:off x="806282" y="5366871"/>
          <a:ext cx="5164429" cy="901521"/>
        </p:xfrm>
        <a:graphic>
          <a:graphicData uri="http://schemas.openxmlformats.org/presentationml/2006/ole">
            <mc:AlternateContent xmlns:mc="http://schemas.openxmlformats.org/markup-compatibility/2006">
              <mc:Choice xmlns:v="urn:schemas-microsoft-com:vml" Requires="v">
                <p:oleObj name="Equation" r:id="rId10" imgW="2717640" imgH="431640" progId="Equation.3">
                  <p:embed/>
                </p:oleObj>
              </mc:Choice>
              <mc:Fallback>
                <p:oleObj name="Equation" r:id="rId10" imgW="2717640" imgH="431640" progId="Equation.3">
                  <p:embed/>
                  <p:pic>
                    <p:nvPicPr>
                      <p:cNvPr id="0" name=""/>
                      <p:cNvPicPr/>
                      <p:nvPr/>
                    </p:nvPicPr>
                    <p:blipFill>
                      <a:blip r:embed="rId11"/>
                      <a:stretch>
                        <a:fillRect/>
                      </a:stretch>
                    </p:blipFill>
                    <p:spPr>
                      <a:xfrm>
                        <a:off x="806282" y="5366871"/>
                        <a:ext cx="5164429" cy="901521"/>
                      </a:xfrm>
                      <a:prstGeom prst="rect">
                        <a:avLst/>
                      </a:prstGeom>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3820528995"/>
              </p:ext>
            </p:extLst>
          </p:nvPr>
        </p:nvGraphicFramePr>
        <p:xfrm>
          <a:off x="7225048" y="1707523"/>
          <a:ext cx="4966952" cy="4956481"/>
        </p:xfrm>
        <a:graphic>
          <a:graphicData uri="http://schemas.openxmlformats.org/presentationml/2006/ole">
            <mc:AlternateContent xmlns:mc="http://schemas.openxmlformats.org/markup-compatibility/2006">
              <mc:Choice xmlns:v="urn:schemas-microsoft-com:vml" Requires="v">
                <p:oleObj name="Picture" r:id="rId12" imgW="5356800" imgH="4371120" progId="">
                  <p:embed/>
                </p:oleObj>
              </mc:Choice>
              <mc:Fallback>
                <p:oleObj name="Picture" r:id="rId12" imgW="5356800" imgH="4371120" progId="">
                  <p:embed/>
                  <p:pic>
                    <p:nvPicPr>
                      <p:cNvPr id="0" name="Object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25048" y="1707523"/>
                        <a:ext cx="4966952" cy="4956481"/>
                      </a:xfrm>
                      <a:prstGeom prst="rect">
                        <a:avLst/>
                      </a:prstGeom>
                      <a:solidFill>
                        <a:srgbClr val="99CC00">
                          <a:alpha val="72156"/>
                        </a:srgbClr>
                      </a:solidFill>
                      <a:ln w="25400">
                        <a:solidFill>
                          <a:srgbClr val="339966"/>
                        </a:solidFill>
                        <a:miter lim="800000"/>
                        <a:headEnd/>
                        <a:tailEnd/>
                      </a:ln>
                    </p:spPr>
                  </p:pic>
                </p:oleObj>
              </mc:Fallback>
            </mc:AlternateContent>
          </a:graphicData>
        </a:graphic>
      </p:graphicFrame>
    </p:spTree>
    <p:extLst>
      <p:ext uri="{BB962C8B-B14F-4D97-AF65-F5344CB8AC3E}">
        <p14:creationId xmlns:p14="http://schemas.microsoft.com/office/powerpoint/2010/main" val="1330656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7252" y="1519722"/>
            <a:ext cx="2039974" cy="5144283"/>
          </a:xfrm>
          <a:prstGeom prst="rect">
            <a:avLst/>
          </a:prstGeom>
        </p:spPr>
      </p:pic>
      <p:sp>
        <p:nvSpPr>
          <p:cNvPr id="2" name="Content Placeholder 1"/>
          <p:cNvSpPr>
            <a:spLocks noGrp="1"/>
          </p:cNvSpPr>
          <p:nvPr>
            <p:ph idx="1"/>
          </p:nvPr>
        </p:nvSpPr>
        <p:spPr/>
        <p:txBody>
          <a:bodyPr>
            <a:normAutofit lnSpcReduction="10000"/>
          </a:bodyPr>
          <a:lstStyle/>
          <a:p>
            <a:pPr marL="0" indent="0">
              <a:buNone/>
            </a:pPr>
            <a:r>
              <a:rPr lang="en-US" b="1" u="sng" dirty="0"/>
              <a:t>Graphs:</a:t>
            </a:r>
            <a:r>
              <a:rPr lang="en-US" b="1" dirty="0"/>
              <a:t> </a:t>
            </a:r>
            <a:r>
              <a:rPr lang="en-US" dirty="0"/>
              <a:t>Graph means the drawing of geometrical curves in conformity with the given data. It is a representation of data by a continuous curve. </a:t>
            </a:r>
          </a:p>
          <a:p>
            <a:pPr marL="0" indent="0">
              <a:buNone/>
            </a:pPr>
            <a:r>
              <a:rPr lang="en-US" b="1" u="sng" dirty="0"/>
              <a:t>Advantages of Graphs:</a:t>
            </a:r>
            <a:endParaRPr lang="en-US" dirty="0"/>
          </a:p>
          <a:p>
            <a:pPr lvl="0"/>
            <a:r>
              <a:rPr lang="en-US" dirty="0"/>
              <a:t>Graphs are most effective way to represent data.</a:t>
            </a:r>
          </a:p>
          <a:p>
            <a:pPr lvl="0"/>
            <a:r>
              <a:rPr lang="en-US" dirty="0"/>
              <a:t>Graphs are the most effective way to compare two sets of data at a time.</a:t>
            </a:r>
          </a:p>
          <a:p>
            <a:pPr lvl="0"/>
            <a:r>
              <a:rPr lang="en-US" dirty="0"/>
              <a:t>Graphs are helpful to show the general trend of data.</a:t>
            </a:r>
          </a:p>
          <a:p>
            <a:pPr lvl="0"/>
            <a:r>
              <a:rPr lang="en-US" dirty="0"/>
              <a:t>Graphs are helpful in prediction and forecasting.</a:t>
            </a:r>
          </a:p>
          <a:p>
            <a:pPr lvl="0"/>
            <a:r>
              <a:rPr lang="en-US" dirty="0"/>
              <a:t>Graphs are useful to locate some of the averages.</a:t>
            </a:r>
          </a:p>
          <a:p>
            <a:pPr marL="0" indent="0">
              <a:buNone/>
            </a:pPr>
            <a:endParaRPr lang="en-US" dirty="0"/>
          </a:p>
        </p:txBody>
      </p:sp>
    </p:spTree>
    <p:extLst>
      <p:ext uri="{BB962C8B-B14F-4D97-AF65-F5344CB8AC3E}">
        <p14:creationId xmlns:p14="http://schemas.microsoft.com/office/powerpoint/2010/main" val="932695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7252" y="1519722"/>
            <a:ext cx="2039974" cy="5144283"/>
          </a:xfrm>
          <a:prstGeom prst="rect">
            <a:avLst/>
          </a:prstGeom>
        </p:spPr>
      </p:pic>
      <p:sp>
        <p:nvSpPr>
          <p:cNvPr id="2" name="Content Placeholder 1"/>
          <p:cNvSpPr>
            <a:spLocks noGrp="1"/>
          </p:cNvSpPr>
          <p:nvPr>
            <p:ph idx="1"/>
          </p:nvPr>
        </p:nvSpPr>
        <p:spPr/>
        <p:txBody>
          <a:bodyPr/>
          <a:lstStyle/>
          <a:p>
            <a:pPr marL="0" indent="0">
              <a:buNone/>
            </a:pPr>
            <a:r>
              <a:rPr lang="en-US" b="1" u="sng" dirty="0"/>
              <a:t>Types of graphs:</a:t>
            </a:r>
            <a:r>
              <a:rPr lang="en-US" b="1" dirty="0"/>
              <a:t> </a:t>
            </a:r>
          </a:p>
          <a:p>
            <a:pPr marL="0" indent="0">
              <a:buNone/>
            </a:pPr>
            <a:r>
              <a:rPr lang="en-US" dirty="0"/>
              <a:t>Different types of graphs are commonly used for displaying statistical data are described below:</a:t>
            </a:r>
          </a:p>
          <a:p>
            <a:pPr marL="571500" indent="-571500">
              <a:buAutoNum type="romanLcParenBoth"/>
            </a:pPr>
            <a:r>
              <a:rPr lang="en-US" b="1" dirty="0" err="1"/>
              <a:t>Historigram</a:t>
            </a:r>
            <a:r>
              <a:rPr lang="en-US" b="1" dirty="0"/>
              <a:t>/Graph of time series</a:t>
            </a:r>
          </a:p>
          <a:p>
            <a:pPr marL="571500" indent="-571500">
              <a:buAutoNum type="romanLcParenBoth"/>
            </a:pPr>
            <a:r>
              <a:rPr lang="en-US" b="1" dirty="0"/>
              <a:t>Histogram </a:t>
            </a:r>
            <a:endParaRPr lang="en-US" dirty="0"/>
          </a:p>
          <a:p>
            <a:pPr marL="0" indent="0">
              <a:buNone/>
            </a:pPr>
            <a:r>
              <a:rPr lang="en-US" b="1" dirty="0"/>
              <a:t>(iii) Frequency polygon &amp; Frequency curve</a:t>
            </a:r>
          </a:p>
          <a:p>
            <a:pPr marL="0" indent="0">
              <a:buNone/>
            </a:pPr>
            <a:r>
              <a:rPr lang="en-US" b="1" dirty="0"/>
              <a:t>(iv) Cumulative Frequency polygon or </a:t>
            </a:r>
            <a:r>
              <a:rPr lang="en-US" b="1" dirty="0" err="1"/>
              <a:t>Ogive</a:t>
            </a:r>
            <a:r>
              <a:rPr lang="en-US" b="1" dirty="0"/>
              <a:t> </a:t>
            </a:r>
            <a:endParaRPr lang="en-US" dirty="0"/>
          </a:p>
          <a:p>
            <a:pPr marL="0" indent="0">
              <a:buNone/>
            </a:pPr>
            <a:endParaRPr lang="en-US" dirty="0"/>
          </a:p>
        </p:txBody>
      </p:sp>
    </p:spTree>
    <p:extLst>
      <p:ext uri="{BB962C8B-B14F-4D97-AF65-F5344CB8AC3E}">
        <p14:creationId xmlns:p14="http://schemas.microsoft.com/office/powerpoint/2010/main" val="932695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7252" y="1519722"/>
            <a:ext cx="2039974" cy="5144283"/>
          </a:xfrm>
          <a:prstGeom prst="rect">
            <a:avLst/>
          </a:prstGeom>
        </p:spPr>
      </p:pic>
      <p:sp>
        <p:nvSpPr>
          <p:cNvPr id="3" name="Content Placeholder 2"/>
          <p:cNvSpPr>
            <a:spLocks noGrp="1"/>
          </p:cNvSpPr>
          <p:nvPr>
            <p:ph idx="1"/>
          </p:nvPr>
        </p:nvSpPr>
        <p:spPr/>
        <p:txBody>
          <a:bodyPr>
            <a:normAutofit fontScale="92500" lnSpcReduction="20000"/>
          </a:bodyPr>
          <a:lstStyle/>
          <a:p>
            <a:pPr marL="0" indent="0">
              <a:buNone/>
            </a:pPr>
            <a:r>
              <a:rPr lang="en-US" b="1" u="sng" dirty="0" err="1"/>
              <a:t>Historigram</a:t>
            </a:r>
            <a:r>
              <a:rPr lang="en-US" b="1" u="sng" dirty="0"/>
              <a:t>/Graph of time series:</a:t>
            </a:r>
            <a:r>
              <a:rPr lang="en-US" b="1" dirty="0"/>
              <a:t> </a:t>
            </a:r>
          </a:p>
          <a:p>
            <a:pPr marL="0" indent="0">
              <a:buNone/>
            </a:pPr>
            <a:r>
              <a:rPr lang="en-US" dirty="0"/>
              <a:t>A graph of time series is called </a:t>
            </a:r>
            <a:r>
              <a:rPr lang="en-US" dirty="0" err="1"/>
              <a:t>historigram</a:t>
            </a:r>
            <a:r>
              <a:rPr lang="en-US" dirty="0"/>
              <a:t>. A </a:t>
            </a:r>
            <a:r>
              <a:rPr lang="en-US" dirty="0" err="1"/>
              <a:t>Historigram</a:t>
            </a:r>
            <a:r>
              <a:rPr lang="en-US" dirty="0"/>
              <a:t> is constructed by taking time along X-axis and the value of the variable along Y-axis. Points are plotted and are then connected by straight line segments to get the </a:t>
            </a:r>
            <a:r>
              <a:rPr lang="en-US" dirty="0" err="1"/>
              <a:t>Historigram</a:t>
            </a:r>
            <a:r>
              <a:rPr lang="en-US" dirty="0"/>
              <a:t>.</a:t>
            </a:r>
          </a:p>
          <a:p>
            <a:pPr marL="0" indent="0">
              <a:buNone/>
            </a:pPr>
            <a:r>
              <a:rPr lang="en-US" b="1" u="sng" dirty="0"/>
              <a:t>Histogram:</a:t>
            </a:r>
            <a:r>
              <a:rPr lang="en-US" b="1" dirty="0"/>
              <a:t> </a:t>
            </a:r>
          </a:p>
          <a:p>
            <a:pPr marL="0" indent="0">
              <a:buNone/>
            </a:pPr>
            <a:r>
              <a:rPr lang="en-US" dirty="0"/>
              <a:t>Histogram is the graphical representation of frequency distribution by a set of adjacent rectangles in which area of each rectangle is proportional to the corresponding frequency. In the construction of histogram class boundaries taking along the X-axis and whose height are proportional to the frequencies with respective classes (frequency along Y-axis).But in case of unequal class interval adjusted frequency is used in place of frequency where adjusted frequency is obtained by dividing the frequency to the class interval.</a:t>
            </a:r>
          </a:p>
          <a:p>
            <a:pPr marL="0" indent="0">
              <a:buNone/>
            </a:pPr>
            <a:endParaRPr lang="en-US" dirty="0"/>
          </a:p>
        </p:txBody>
      </p:sp>
    </p:spTree>
    <p:extLst>
      <p:ext uri="{BB962C8B-B14F-4D97-AF65-F5344CB8AC3E}">
        <p14:creationId xmlns:p14="http://schemas.microsoft.com/office/powerpoint/2010/main" val="1880524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7252" y="1519722"/>
            <a:ext cx="2039974" cy="5144283"/>
          </a:xfrm>
          <a:prstGeom prst="rect">
            <a:avLst/>
          </a:prstGeom>
        </p:spPr>
      </p:pic>
      <p:sp>
        <p:nvSpPr>
          <p:cNvPr id="3" name="Content Placeholder 2"/>
          <p:cNvSpPr>
            <a:spLocks noGrp="1"/>
          </p:cNvSpPr>
          <p:nvPr>
            <p:ph idx="1"/>
          </p:nvPr>
        </p:nvSpPr>
        <p:spPr>
          <a:xfrm>
            <a:off x="0" y="1223494"/>
            <a:ext cx="6096000" cy="5440512"/>
          </a:xfrm>
        </p:spPr>
        <p:txBody>
          <a:bodyPr>
            <a:normAutofit/>
          </a:bodyPr>
          <a:lstStyle/>
          <a:p>
            <a:pPr marL="0" indent="0">
              <a:buNone/>
            </a:pPr>
            <a:r>
              <a:rPr lang="en-US" b="1" u="sng" dirty="0"/>
              <a:t>Frequency polygon:</a:t>
            </a:r>
            <a:r>
              <a:rPr lang="en-US" b="1" dirty="0"/>
              <a:t> </a:t>
            </a:r>
          </a:p>
          <a:p>
            <a:pPr marL="0" indent="0">
              <a:buNone/>
            </a:pPr>
            <a:r>
              <a:rPr lang="en-US" dirty="0"/>
              <a:t>A frequency polygon is a line graph of frequency distribution in which the frequencies are plotted against the mid points of the classes. </a:t>
            </a:r>
            <a:r>
              <a:rPr lang="en-US" dirty="0" err="1"/>
              <a:t>Itis</a:t>
            </a:r>
            <a:r>
              <a:rPr lang="en-US" dirty="0"/>
              <a:t> constructed by taking the midpoints along X-axis and class frequency along Y-axis. Points are plotted and are then connected by straight line segments. But to get a polygon</a:t>
            </a:r>
            <a:r>
              <a:rPr lang="en-US" b="1" baseline="30000" dirty="0"/>
              <a:t>*</a:t>
            </a:r>
            <a:r>
              <a:rPr lang="en-US" dirty="0"/>
              <a:t> add extra class midpoint at both ends of the distribution with zero frequency so that the polygon does form a closed figure with the horizontal axis.</a:t>
            </a:r>
          </a:p>
          <a:p>
            <a:pPr marL="0" indent="0">
              <a:buNone/>
            </a:pPr>
            <a:endParaRPr lang="en-US" dirty="0"/>
          </a:p>
        </p:txBody>
      </p:sp>
      <p:pic>
        <p:nvPicPr>
          <p:cNvPr id="19" name="Picture 18" descr="freq_poly.jpg"/>
          <p:cNvPicPr>
            <a:picLocks noChangeAspect="1"/>
          </p:cNvPicPr>
          <p:nvPr/>
        </p:nvPicPr>
        <p:blipFill>
          <a:blip r:embed="rId10"/>
          <a:stretch>
            <a:fillRect/>
          </a:stretch>
        </p:blipFill>
        <p:spPr>
          <a:xfrm>
            <a:off x="5971170" y="1843963"/>
            <a:ext cx="6220830" cy="4495800"/>
          </a:xfrm>
          <a:prstGeom prst="rect">
            <a:avLst/>
          </a:prstGeom>
        </p:spPr>
      </p:pic>
    </p:spTree>
    <p:extLst>
      <p:ext uri="{BB962C8B-B14F-4D97-AF65-F5344CB8AC3E}">
        <p14:creationId xmlns:p14="http://schemas.microsoft.com/office/powerpoint/2010/main" val="10784681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7252" y="1519722"/>
            <a:ext cx="2039974" cy="5144283"/>
          </a:xfrm>
          <a:prstGeom prst="rect">
            <a:avLst/>
          </a:prstGeom>
        </p:spPr>
      </p:pic>
      <p:sp>
        <p:nvSpPr>
          <p:cNvPr id="3" name="Content Placeholder 2"/>
          <p:cNvSpPr>
            <a:spLocks noGrp="1"/>
          </p:cNvSpPr>
          <p:nvPr>
            <p:ph idx="1"/>
          </p:nvPr>
        </p:nvSpPr>
        <p:spPr>
          <a:xfrm>
            <a:off x="1" y="1223492"/>
            <a:ext cx="5911402" cy="5634507"/>
          </a:xfrm>
        </p:spPr>
        <p:txBody>
          <a:bodyPr>
            <a:normAutofit/>
          </a:bodyPr>
          <a:lstStyle/>
          <a:p>
            <a:pPr marL="0" indent="0">
              <a:buNone/>
            </a:pPr>
            <a:r>
              <a:rPr lang="en-US" b="1" u="sng" dirty="0"/>
              <a:t>Cumulative frequency polygon/</a:t>
            </a:r>
            <a:r>
              <a:rPr lang="en-US" b="1" u="sng" dirty="0" err="1"/>
              <a:t>Ogive</a:t>
            </a:r>
            <a:r>
              <a:rPr lang="en-US" b="1" u="sng" dirty="0"/>
              <a:t>:</a:t>
            </a:r>
          </a:p>
          <a:p>
            <a:pPr marL="0" indent="0">
              <a:buNone/>
            </a:pPr>
            <a:r>
              <a:rPr lang="en-US" b="1" dirty="0"/>
              <a:t> </a:t>
            </a:r>
            <a:r>
              <a:rPr lang="en-US" dirty="0"/>
              <a:t>A Cumulative frequency polygon is obtained by plotting the cumulated frequency (along Y-axis) against the upper-class boundaries (along X-axis) and the points are joined by straight line segments. To get a polygon include lower class boundary of the first class with zero frequency and joined the last point with the last upper class boundary.</a:t>
            </a:r>
          </a:p>
          <a:p>
            <a:pPr marL="0" indent="0">
              <a:buNone/>
            </a:pPr>
            <a:endParaRPr lang="en-US" dirty="0"/>
          </a:p>
        </p:txBody>
      </p:sp>
      <p:pic>
        <p:nvPicPr>
          <p:cNvPr id="19" name="Picture 18" descr="cumulative.jpg"/>
          <p:cNvPicPr>
            <a:picLocks noChangeAspect="1"/>
          </p:cNvPicPr>
          <p:nvPr/>
        </p:nvPicPr>
        <p:blipFill>
          <a:blip r:embed="rId10"/>
          <a:stretch>
            <a:fillRect/>
          </a:stretch>
        </p:blipFill>
        <p:spPr>
          <a:xfrm>
            <a:off x="5743977" y="1396713"/>
            <a:ext cx="6448023" cy="5126437"/>
          </a:xfrm>
          <a:prstGeom prst="rect">
            <a:avLst/>
          </a:prstGeom>
        </p:spPr>
      </p:pic>
    </p:spTree>
    <p:extLst>
      <p:ext uri="{BB962C8B-B14F-4D97-AF65-F5344CB8AC3E}">
        <p14:creationId xmlns:p14="http://schemas.microsoft.com/office/powerpoint/2010/main" val="10784681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2CF01162-D0B6-4CEC-B999-30B23E8FE853}"/>
              </a:ext>
            </a:extLst>
          </p:cNvPr>
          <p:cNvGrpSpPr/>
          <p:nvPr/>
        </p:nvGrpSpPr>
        <p:grpSpPr>
          <a:xfrm>
            <a:off x="0" y="0"/>
            <a:ext cx="12749348" cy="1115736"/>
            <a:chOff x="0" y="0"/>
            <a:chExt cx="12749348" cy="1115736"/>
          </a:xfrm>
        </p:grpSpPr>
        <p:sp>
          <p:nvSpPr>
            <p:cNvPr id="12" name="Rectangle 11">
              <a:extLst>
                <a:ext uri="{FF2B5EF4-FFF2-40B4-BE49-F238E27FC236}">
                  <a16:creationId xmlns:a16="http://schemas.microsoft.com/office/drawing/2014/main" id="{DCE332D8-FEE8-4AD2-B9E4-EC25C85A6F47}"/>
                </a:ext>
              </a:extLst>
            </p:cNvPr>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3" name="Picture 12">
              <a:extLst>
                <a:ext uri="{FF2B5EF4-FFF2-40B4-BE49-F238E27FC236}">
                  <a16:creationId xmlns:a16="http://schemas.microsoft.com/office/drawing/2014/main" id="{876FD797-A00B-49D8-A888-67D34967BA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5317"/>
              <a:ext cx="1504919" cy="805101"/>
            </a:xfrm>
            <a:prstGeom prst="rect">
              <a:avLst/>
            </a:prstGeom>
          </p:spPr>
        </p:pic>
        <p:sp>
          <p:nvSpPr>
            <p:cNvPr id="14" name="TextBox 13">
              <a:extLst>
                <a:ext uri="{FF2B5EF4-FFF2-40B4-BE49-F238E27FC236}">
                  <a16:creationId xmlns:a16="http://schemas.microsoft.com/office/drawing/2014/main" id="{6F868DCA-0E35-467D-A281-E7D4A2A332BD}"/>
                </a:ext>
              </a:extLst>
            </p:cNvPr>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5" name="Graphic 14">
              <a:extLst>
                <a:ext uri="{FF2B5EF4-FFF2-40B4-BE49-F238E27FC236}">
                  <a16:creationId xmlns:a16="http://schemas.microsoft.com/office/drawing/2014/main" id="{71F90180-E346-4AF9-B3BC-F4B7007B4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6056" y="403986"/>
              <a:ext cx="261610" cy="261610"/>
            </a:xfrm>
            <a:prstGeom prst="rect">
              <a:avLst/>
            </a:prstGeom>
          </p:spPr>
        </p:pic>
        <p:sp>
          <p:nvSpPr>
            <p:cNvPr id="16" name="TextBox 15">
              <a:extLst>
                <a:ext uri="{FF2B5EF4-FFF2-40B4-BE49-F238E27FC236}">
                  <a16:creationId xmlns:a16="http://schemas.microsoft.com/office/drawing/2014/main" id="{70627AB0-0949-4DC3-9D55-6721F0EAD02C}"/>
                </a:ext>
              </a:extLst>
            </p:cNvPr>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7" name="Graphic 16">
              <a:extLst>
                <a:ext uri="{FF2B5EF4-FFF2-40B4-BE49-F238E27FC236}">
                  <a16:creationId xmlns:a16="http://schemas.microsoft.com/office/drawing/2014/main" id="{A532177C-F5A5-41C6-B8EF-E6DA142B50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591033" y="741997"/>
              <a:ext cx="171450" cy="171450"/>
            </a:xfrm>
            <a:prstGeom prst="rect">
              <a:avLst/>
            </a:prstGeom>
          </p:spPr>
        </p:pic>
        <p:pic>
          <p:nvPicPr>
            <p:cNvPr id="18" name="Picture 17">
              <a:extLst>
                <a:ext uri="{FF2B5EF4-FFF2-40B4-BE49-F238E27FC236}">
                  <a16:creationId xmlns:a16="http://schemas.microsoft.com/office/drawing/2014/main" id="{085A7425-75D1-4518-8891-A639DA0C4AE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a:extLst>
              <a:ext uri="{FF2B5EF4-FFF2-40B4-BE49-F238E27FC236}">
                <a16:creationId xmlns:a16="http://schemas.microsoft.com/office/drawing/2014/main" id="{19B401B7-B613-4C06-A492-7A706824954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847252" y="1519722"/>
            <a:ext cx="2039974" cy="5144283"/>
          </a:xfrm>
          <a:prstGeom prst="rect">
            <a:avLst/>
          </a:prstGeom>
        </p:spPr>
      </p:pic>
      <p:sp>
        <p:nvSpPr>
          <p:cNvPr id="3" name="Content Placeholder 2"/>
          <p:cNvSpPr>
            <a:spLocks noGrp="1"/>
          </p:cNvSpPr>
          <p:nvPr>
            <p:ph idx="1"/>
          </p:nvPr>
        </p:nvSpPr>
        <p:spPr/>
        <p:txBody>
          <a:bodyPr>
            <a:normAutofit/>
          </a:bodyPr>
          <a:lstStyle/>
          <a:p>
            <a:pPr marL="0" indent="0">
              <a:buNone/>
            </a:pPr>
            <a:r>
              <a:rPr lang="en-US" b="1" u="sng" dirty="0"/>
              <a:t>Frequency curve:</a:t>
            </a:r>
          </a:p>
          <a:p>
            <a:pPr marL="0" indent="0">
              <a:buNone/>
            </a:pPr>
            <a:r>
              <a:rPr lang="en-US" b="1" dirty="0"/>
              <a:t> </a:t>
            </a:r>
            <a:r>
              <a:rPr lang="en-US" dirty="0"/>
              <a:t>If the frequency polygon is smoothed out, the resulting graph is called a frequency curve. </a:t>
            </a:r>
            <a:r>
              <a:rPr lang="en-US" b="1" dirty="0"/>
              <a:t>OR</a:t>
            </a:r>
            <a:endParaRPr lang="en-US" dirty="0"/>
          </a:p>
          <a:p>
            <a:pPr marL="0" indent="0">
              <a:buNone/>
            </a:pPr>
            <a:r>
              <a:rPr lang="en-US" dirty="0"/>
              <a:t>A frequency curve is constructed by taking the midpoints along X-axis and class frequency along Y-axis. Points are plotted and are then connected by free hand curve.</a:t>
            </a:r>
          </a:p>
          <a:p>
            <a:pPr marL="0" indent="0">
              <a:buNone/>
            </a:pPr>
            <a:endParaRPr lang="en-US" dirty="0"/>
          </a:p>
        </p:txBody>
      </p:sp>
    </p:spTree>
    <p:extLst>
      <p:ext uri="{BB962C8B-B14F-4D97-AF65-F5344CB8AC3E}">
        <p14:creationId xmlns:p14="http://schemas.microsoft.com/office/powerpoint/2010/main" val="14198670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533</TotalTime>
  <Words>1189</Words>
  <Application>Microsoft Office PowerPoint</Application>
  <PresentationFormat>Widescreen</PresentationFormat>
  <Paragraphs>79</Paragraphs>
  <Slides>14</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14</vt:i4>
      </vt:variant>
    </vt:vector>
  </HeadingPairs>
  <TitlesOfParts>
    <vt:vector size="21" baseType="lpstr">
      <vt:lpstr>Arial</vt:lpstr>
      <vt:lpstr>Bahnschrift</vt:lpstr>
      <vt:lpstr>Calibri</vt:lpstr>
      <vt:lpstr>Calibri Light</vt:lpstr>
      <vt:lpstr>Office Theme</vt:lpstr>
      <vt:lpstr>Picture</vt:lpstr>
      <vt:lpstr>Equation</vt:lpstr>
      <vt:lpstr>Graphical Representation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Dev Hamnah</cp:lastModifiedBy>
  <cp:revision>65</cp:revision>
  <dcterms:created xsi:type="dcterms:W3CDTF">2024-06-21T09:49:54Z</dcterms:created>
  <dcterms:modified xsi:type="dcterms:W3CDTF">2025-09-28T07:07:30Z</dcterms:modified>
</cp:coreProperties>
</file>