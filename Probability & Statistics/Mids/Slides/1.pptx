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8" r:id="rId3"/>
    <p:sldId id="271" r:id="rId4"/>
    <p:sldId id="260" r:id="rId5"/>
    <p:sldId id="829" r:id="rId6"/>
    <p:sldId id="830" r:id="rId7"/>
    <p:sldId id="831" r:id="rId8"/>
    <p:sldId id="832" r:id="rId9"/>
    <p:sldId id="833" r:id="rId10"/>
    <p:sldId id="834" r:id="rId11"/>
    <p:sldId id="835" r:id="rId12"/>
    <p:sldId id="836" r:id="rId13"/>
    <p:sldId id="837" r:id="rId14"/>
    <p:sldId id="838" r:id="rId15"/>
    <p:sldId id="839" r:id="rId16"/>
    <p:sldId id="840" r:id="rId17"/>
    <p:sldId id="841" r:id="rId18"/>
    <p:sldId id="842" r:id="rId19"/>
    <p:sldId id="843" r:id="rId20"/>
    <p:sldId id="844" r:id="rId21"/>
    <p:sldId id="845" r:id="rId2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1099" autoAdjust="0"/>
  </p:normalViewPr>
  <p:slideViewPr>
    <p:cSldViewPr snapToGrid="0">
      <p:cViewPr varScale="1">
        <p:scale>
          <a:sx n="64" d="100"/>
          <a:sy n="64" d="100"/>
        </p:scale>
        <p:origin x="6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28/09/2025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12" Type="http://schemas.openxmlformats.org/officeDocument/2006/relationships/image" Target="../media/image15.w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4.wmf"/><Relationship Id="rId5" Type="http://schemas.openxmlformats.org/officeDocument/2006/relationships/image" Target="../media/image7.svg"/><Relationship Id="rId10" Type="http://schemas.openxmlformats.org/officeDocument/2006/relationships/image" Target="../media/image13.wmf"/><Relationship Id="rId4" Type="http://schemas.openxmlformats.org/officeDocument/2006/relationships/image" Target="../media/image6.png"/><Relationship Id="rId9" Type="http://schemas.openxmlformats.org/officeDocument/2006/relationships/image" Target="../media/image10.sv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7.wmf"/><Relationship Id="rId5" Type="http://schemas.openxmlformats.org/officeDocument/2006/relationships/image" Target="../media/image7.svg"/><Relationship Id="rId10" Type="http://schemas.openxmlformats.org/officeDocument/2006/relationships/image" Target="../media/image16.wmf"/><Relationship Id="rId4" Type="http://schemas.openxmlformats.org/officeDocument/2006/relationships/image" Target="../media/image6.png"/><Relationship Id="rId9" Type="http://schemas.openxmlformats.org/officeDocument/2006/relationships/image" Target="../media/image10.sv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4" y="2448878"/>
            <a:ext cx="9137904" cy="1153160"/>
          </a:xfrm>
        </p:spPr>
        <p:txBody>
          <a:bodyPr>
            <a:normAutofit fontScale="90000"/>
          </a:bodyPr>
          <a:lstStyle/>
          <a:p>
            <a:r>
              <a:rPr lang="en-GB" b="1" dirty="0">
                <a:solidFill>
                  <a:schemeClr val="bg1"/>
                </a:solidFill>
                <a:latin typeface="Bahnschrift" panose="020B0502040204020203" pitchFamily="34" charset="0"/>
              </a:rPr>
              <a:t>Probability &amp; Statistics</a:t>
            </a:r>
            <a:br>
              <a:rPr lang="en-GB" b="1" dirty="0">
                <a:solidFill>
                  <a:schemeClr val="bg1"/>
                </a:solidFill>
                <a:latin typeface="Bahnschrift" panose="020B0502040204020203" pitchFamily="34" charset="0"/>
              </a:rPr>
            </a:br>
            <a:endParaRPr lang="en-GB" dirty="0"/>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2223083"/>
            <a:ext cx="9961228" cy="3878379"/>
          </a:xfrm>
        </p:spPr>
        <p:txBody>
          <a:bodyPr/>
          <a:lstStyle/>
          <a:p>
            <a:pPr marL="0" indent="0" algn="ctr">
              <a:buNone/>
            </a:pPr>
            <a:r>
              <a:rPr lang="en-GB" sz="4000" b="1" dirty="0">
                <a:latin typeface="Arial" charset="0"/>
                <a:ea typeface="Arial" charset="0"/>
                <a:cs typeface="Arial" charset="0"/>
              </a:rPr>
              <a:t>Topic</a:t>
            </a:r>
            <a:r>
              <a:rPr lang="en-GB" sz="3600" b="1" dirty="0">
                <a:latin typeface="Arial" charset="0"/>
                <a:ea typeface="Arial" charset="0"/>
                <a:cs typeface="Arial" charset="0"/>
              </a:rPr>
              <a:t>:</a:t>
            </a:r>
          </a:p>
          <a:p>
            <a:pPr marL="0" indent="0" algn="ctr">
              <a:buNone/>
            </a:pPr>
            <a:r>
              <a:rPr lang="en-GB" sz="3600" b="1" dirty="0">
                <a:latin typeface="Arial" charset="0"/>
                <a:ea typeface="Arial" charset="0"/>
                <a:cs typeface="Arial" charset="0"/>
              </a:rPr>
              <a:t>Introduction to Statistics</a:t>
            </a:r>
          </a:p>
          <a:p>
            <a:pPr marL="0" indent="0">
              <a:buNone/>
            </a:pPr>
            <a:endParaRPr lang="en-GB" b="1" dirty="0">
              <a:latin typeface="Arial" charset="0"/>
              <a:ea typeface="Arial" charset="0"/>
              <a:cs typeface="Arial"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1A8BD5-0E3D-443C-A553-0AB696F0ABD5}"/>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3837" b="18112"/>
          <a:stretch/>
        </p:blipFill>
        <p:spPr>
          <a:xfrm>
            <a:off x="0" y="-219456"/>
            <a:ext cx="12192000" cy="7077456"/>
          </a:xfrm>
          <a:prstGeom prst="rect">
            <a:avLst/>
          </a:prstGeom>
        </p:spPr>
      </p:pic>
    </p:spTree>
    <p:extLst>
      <p:ext uri="{BB962C8B-B14F-4D97-AF65-F5344CB8AC3E}">
        <p14:creationId xmlns:p14="http://schemas.microsoft.com/office/powerpoint/2010/main" val="192704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4" name="Rectangle 3"/>
          <p:cNvSpPr/>
          <p:nvPr/>
        </p:nvSpPr>
        <p:spPr>
          <a:xfrm>
            <a:off x="325120" y="1380251"/>
            <a:ext cx="10993120" cy="5170646"/>
          </a:xfrm>
          <a:prstGeom prst="rect">
            <a:avLst/>
          </a:prstGeom>
        </p:spPr>
        <p:txBody>
          <a:bodyPr wrap="square">
            <a:spAutoFit/>
          </a:bodyPr>
          <a:lstStyle/>
          <a:p>
            <a:pPr algn="just">
              <a:lnSpc>
                <a:spcPct val="150000"/>
              </a:lnSpc>
              <a:tabLst>
                <a:tab pos="3611880" algn="ctr"/>
              </a:tabLst>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What is Statistics? </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R. A. Fisher (Ronald Aylmer Fisher) (17 February 1890 – 29 July 1962) was a British statistician. R. A. Fisher defined Statistics as a branch of applied mathematics that specializes in data. </a:t>
            </a:r>
          </a:p>
          <a:p>
            <a:pPr algn="just">
              <a:lnSpc>
                <a:spcPct val="150000"/>
              </a:lnSpc>
              <a:tabLst>
                <a:tab pos="3611880" algn="ctr"/>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People view statistics in many ways. Generally, it is a subject that deals with percentages, charts, graphs, averages, and tables. Some people think that statistics is a subject consisting of rules, methods, and techniques for collecting and presenting a large amount of numerical information, while other people think that it is a subject of making inferences about the population based on sample information.</a:t>
            </a:r>
          </a:p>
        </p:txBody>
      </p:sp>
    </p:spTree>
    <p:extLst>
      <p:ext uri="{BB962C8B-B14F-4D97-AF65-F5344CB8AC3E}">
        <p14:creationId xmlns:p14="http://schemas.microsoft.com/office/powerpoint/2010/main" val="26743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54000" y="1305342"/>
            <a:ext cx="11257280" cy="4708981"/>
          </a:xfrm>
          <a:prstGeom prst="rect">
            <a:avLst/>
          </a:prstGeom>
        </p:spPr>
        <p:txBody>
          <a:bodyPr wrap="square">
            <a:spAutoFit/>
          </a:bodyPr>
          <a:lstStyle/>
          <a:p>
            <a:pPr algn="just">
              <a:lnSpc>
                <a:spcPct val="150000"/>
              </a:lnSpc>
              <a:tabLst>
                <a:tab pos="-457200" algn="l"/>
              </a:tabLst>
            </a:pPr>
            <a:r>
              <a:rPr lang="en-US" sz="2800" b="1" u="sng" dirty="0">
                <a:latin typeface="Times New Roman" panose="02020603050405020304" pitchFamily="18" charset="0"/>
                <a:ea typeface="Times New Roman" panose="02020603050405020304" pitchFamily="18" charset="0"/>
                <a:cs typeface="Times New Roman" panose="02020603050405020304" pitchFamily="18" charset="0"/>
              </a:rPr>
              <a:t>Definition of Statistics:</a:t>
            </a: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Statistics is defined as</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a scientific technique used in the collection, presentation, analysis, and interpretation of numerical data, and drawing inferences from these data.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Meaning of statistics:</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50000"/>
              </a:lnSpc>
              <a:tabLst>
                <a:tab pos="-457200" algn="l"/>
              </a:tabLst>
            </a:pP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The word statistics in a plural sense means the numerical observations collected for some definite purpose in any field of study. In a singular sense, it means a body of methods used in the collection, presentation, analysis, and interpretation of data. It is also used as the plural of statistic which means any numerical measure from a sample.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746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74320" y="1328305"/>
            <a:ext cx="11917680" cy="5355312"/>
          </a:xfrm>
          <a:prstGeom prst="rect">
            <a:avLst/>
          </a:prstGeom>
        </p:spPr>
        <p:txBody>
          <a:bodyPr wrap="square">
            <a:spAutoFit/>
          </a:bodyPr>
          <a:lstStyle/>
          <a:p>
            <a:pPr algn="just">
              <a:lnSpc>
                <a:spcPct val="150000"/>
              </a:lnSpc>
              <a:tabLst>
                <a:tab pos="3611880" algn="ctr"/>
              </a:tabLst>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Why Study Statistics?</a:t>
            </a:r>
            <a:endParaRPr lang="en-US" sz="2800" dirty="0">
              <a:latin typeface="Courier"/>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Statistics is required for many programs. Why is statistics required in so many majors?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The first reason is that numerical information is everywhere. Look in the newspapers, news magazines, business magazines, or general interest magazines, or sports magazines, and you will be bombarded with numerical information.</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A second reason for taking a statistics course is that statistical techniques are used to make decisions that affect our daily lives. That is, they affect our personal welfare.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A third reason for taking a statistics course is that the knowledge of statistical methods will help you understand how decisions are made and give you a better understanding of how they affect you.</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No matter what line of work you select, you will find yourself faced with decisions where an understanding of data analysis is helpful.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559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426720" y="1258717"/>
            <a:ext cx="8950960" cy="461665"/>
          </a:xfrm>
          <a:prstGeom prst="rect">
            <a:avLst/>
          </a:prstGeom>
        </p:spPr>
        <p:txBody>
          <a:bodyPr wrap="square">
            <a:spAutoFit/>
          </a:bodyPr>
          <a:lstStyle/>
          <a:p>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To make an informed decision, you will need to be able to:</a:t>
            </a:r>
            <a:endParaRPr lang="en-US" sz="2400" dirty="0"/>
          </a:p>
        </p:txBody>
      </p:sp>
      <p:sp>
        <p:nvSpPr>
          <p:cNvPr id="4" name="Rectangle 3"/>
          <p:cNvSpPr/>
          <p:nvPr/>
        </p:nvSpPr>
        <p:spPr>
          <a:xfrm>
            <a:off x="259998" y="1791678"/>
            <a:ext cx="11932002" cy="4734951"/>
          </a:xfrm>
          <a:prstGeom prst="rect">
            <a:avLst/>
          </a:prstGeom>
        </p:spPr>
        <p:txBody>
          <a:bodyPr wrap="square">
            <a:spAutoFit/>
          </a:bodyPr>
          <a:lstStyle/>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Determine whether the existing information is adequate or additional information is required.</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Gather additional information, if it is needed, in such a way that it does not provide misleading results.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Summarize the information in a useful and informative manner.</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Analyze the available information.</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Draw conclusions and make inferences while assessing the risk of an incorrect conclusion.</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In summary, there are at least three reasons for studying statistics: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Data are everywhere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Statistical techniques are used to make many decisions that affect our lives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tabLst>
                <a:tab pos="457200" algn="l"/>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No matter what your career, you will make professional decisions that involve data. An understanding of statistical methods will help you make these decisions more effectively</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114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38760" y="1328305"/>
            <a:ext cx="11714480" cy="4893647"/>
          </a:xfrm>
          <a:prstGeom prst="rect">
            <a:avLst/>
          </a:prstGeom>
        </p:spPr>
        <p:txBody>
          <a:bodyPr wrap="square">
            <a:spAutoFit/>
          </a:bodyPr>
          <a:lstStyle/>
          <a:p>
            <a:pPr algn="just">
              <a:lnSpc>
                <a:spcPct val="150000"/>
              </a:lnSpc>
              <a:tabLst>
                <a:tab pos="3611880" algn="ctr"/>
              </a:tabLst>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Scope/ Importance of Statistics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Statistics plays an important role in almost every field of human life.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Insurance Companies: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Insurance companies use statistical analysis to set rates for home, automobile, life, and health insurance. Tables are available that summarize the probability that a 25-year-old woman will survive the next year. Based on these probabilities, life insurance premiums can be established.</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Environment: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The Environmental Protection Agency is interested in the water quality at a certain city. They periodically take water samples to establish the level of contamination and maintain the level of quality.</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Medical Field: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Medical researchers study the cure rates for diseases using different drugs and different forms of treatment. For example, what is the effect of treating a certain type of knee injury surgically or with physical therapy? If you take an aspirin each day, does that reduce your risk of a heart attack?</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796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71197" y="1380251"/>
            <a:ext cx="11684000" cy="4208140"/>
          </a:xfrm>
          <a:prstGeom prst="rect">
            <a:avLst/>
          </a:prstGeom>
        </p:spPr>
        <p:txBody>
          <a:bodyPr wrap="square">
            <a:spAutoFit/>
          </a:bodyPr>
          <a:lstStyle/>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Administration:</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 Statistics plays an important role in the field of administration. A modern administrator depends upon statistical data. The preparation of a budget is impossible without a statistical record.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Banking: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Statistical methods are helpful to bankers. They can estimate the amount of money that is required to fulfill the demands of depositors during various days of the week.</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Agriculture: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Statistical methods help to study the comparison of various varieties of seeds or fertilizers.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Business&amp; Economics: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Statistical tools can be applied in the study of economic problems and business activity. A businessman depends upon statistical data for studying the needs and desires of consumer according to their tastes.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3611880" algn="ctr"/>
              </a:tabLst>
            </a:pP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                 Moreover, statistics plays a vital role in all sciences like Physics, Chemistry, Biology, Psychology, Sociology, Zoology and Botany.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02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03200" y="1312185"/>
            <a:ext cx="10820400" cy="2622898"/>
          </a:xfrm>
          <a:prstGeom prst="rect">
            <a:avLst/>
          </a:prstGeom>
        </p:spPr>
        <p:txBody>
          <a:bodyPr wrap="square">
            <a:spAutoFit/>
          </a:bodyPr>
          <a:lstStyle/>
          <a:p>
            <a:pPr algn="just">
              <a:lnSpc>
                <a:spcPct val="150000"/>
              </a:lnSpc>
              <a:tabLst>
                <a:tab pos="-457200" algn="l"/>
              </a:tabLst>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Functions of statistics: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There are four main functions of statistics are</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1.  Collection of Data	2. Presentation of Data       3.   Analysis of Data      4.  Interpretation of Results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ectangle 3"/>
          <p:cNvSpPr/>
          <p:nvPr/>
        </p:nvSpPr>
        <p:spPr>
          <a:xfrm>
            <a:off x="203200" y="3935083"/>
            <a:ext cx="10820400" cy="2622898"/>
          </a:xfrm>
          <a:prstGeom prst="rect">
            <a:avLst/>
          </a:prstGeom>
        </p:spPr>
        <p:txBody>
          <a:bodyPr wrap="square">
            <a:spAutoFit/>
          </a:bodyPr>
          <a:lstStyle/>
          <a:p>
            <a:pPr>
              <a:lnSpc>
                <a:spcPct val="150000"/>
              </a:lnSpc>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Branches of statistics: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Statistics can be divided into following branches:  </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1. Theoretical Statistics   2. Descriptive Statistics    </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3. Inferential Statistics 4. Applied Statistics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317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84480" y="1097593"/>
            <a:ext cx="11582400" cy="5031314"/>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Theoretical Statistics: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It covers the development of statistical distributions, experimental designs, sampling designs, etc.</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Descriptive Statistics: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It is a branch of statistics that refers to the methods and principles of collecting information and presenting such information in the form of tables and graphs.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Inferential Statistics: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It is a branch of statistics that deals with procedures of drawing inferences about the population based on the sample information obtained from a sample.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Applied Statistics: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It is a branch of statistics which is mainly covers, population, census, national income, production, business statistics, industrial statistics, quality control, biostatistics, etc.</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213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172720" y="1169597"/>
            <a:ext cx="11612880" cy="5585312"/>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Population: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 population is an aggregate of individuals, objects, or material about a population for which some sort of information is required.  </a:t>
            </a: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OR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The whole form in which a sample is drawn is known as population. </a:t>
            </a: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OR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The aggregate of objects with which we are concerned is called population. e.g. Height of students in the Statistics department is a population. The number of observations in the population is denoted by “N” and is called population size.</a:t>
            </a:r>
            <a:endParaRPr lang="en-US" sz="2400" dirty="0">
              <a:latin typeface="Courier"/>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Finite Population:</a:t>
            </a: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 population is Finite if its individuals can be counted. For example, the population of Universities in </a:t>
            </a:r>
            <a:r>
              <a:rPr lang="en-US" sz="2400" spc="-15" dirty="0" err="1">
                <a:latin typeface="Times New Roman" panose="02020603050405020304" pitchFamily="18" charset="0"/>
                <a:ea typeface="Times New Roman" panose="02020603050405020304" pitchFamily="18" charset="0"/>
                <a:cs typeface="Times New Roman" panose="02020603050405020304" pitchFamily="18" charset="0"/>
              </a:rPr>
              <a:t>Vehari</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latin typeface="Courier"/>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Infinite Population:</a:t>
            </a: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 population is infinite if its individuals cannot be counted. For example, the population of stars in the sky.</a:t>
            </a:r>
            <a:endParaRPr lang="en-US" sz="2400" dirty="0">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3463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558800" y="2136339"/>
            <a:ext cx="10535920" cy="3970318"/>
          </a:xfrm>
          <a:prstGeom prst="rect">
            <a:avLst/>
          </a:prstGeom>
        </p:spPr>
        <p:txBody>
          <a:bodyPr wrap="square">
            <a:spAutoFit/>
          </a:bodyPr>
          <a:lstStyle/>
          <a:p>
            <a:pPr algn="just">
              <a:lnSpc>
                <a:spcPct val="150000"/>
              </a:lnSpc>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Sample:</a:t>
            </a: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50000"/>
              </a:lnSpc>
            </a:pP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A representative part of the population is known as a sample. </a:t>
            </a:r>
            <a:r>
              <a:rPr lang="en-US" sz="2800" b="1" spc="-15" dirty="0">
                <a:latin typeface="Times New Roman" panose="02020603050405020304" pitchFamily="18" charset="0"/>
                <a:ea typeface="Times New Roman" panose="02020603050405020304" pitchFamily="18" charset="0"/>
                <a:cs typeface="Times New Roman" panose="02020603050405020304" pitchFamily="18" charset="0"/>
              </a:rPr>
              <a:t>OR </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Any subset of a population is called a sample. The number of observations in a sample is denoted by “n” and is called sample size. </a:t>
            </a:r>
            <a:r>
              <a:rPr lang="en-US" sz="2800" spc="-15" dirty="0" err="1">
                <a:latin typeface="Times New Roman" panose="02020603050405020304" pitchFamily="18" charset="0"/>
                <a:ea typeface="Times New Roman" panose="02020603050405020304" pitchFamily="18" charset="0"/>
                <a:cs typeface="Times New Roman" panose="02020603050405020304" pitchFamily="18" charset="0"/>
              </a:rPr>
              <a:t>e.g</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The heights of five students in the statistics department were selected from all students in the statistics department.</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652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7" name="Rectangle 26"/>
          <p:cNvSpPr/>
          <p:nvPr/>
        </p:nvSpPr>
        <p:spPr>
          <a:xfrm>
            <a:off x="1436306" y="1380250"/>
            <a:ext cx="10085134" cy="2677656"/>
          </a:xfrm>
          <a:prstGeom prst="rect">
            <a:avLst/>
          </a:prstGeom>
        </p:spPr>
        <p:txBody>
          <a:bodyPr wrap="square">
            <a:spAutoFit/>
          </a:bodyPr>
          <a:lstStyle/>
          <a:p>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Parameter: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Any numerical value describing a characteristic of a population is called a parameter. It is usually denoted by Greek small letters. For Example, the population mean </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and Population standard deviation.</a:t>
            </a:r>
            <a:endParaRPr lang="en-US" sz="2400" dirty="0">
              <a:latin typeface="Times New Roman" panose="02020603050405020304" pitchFamily="18" charset="0"/>
              <a:cs typeface="Times New Roman" panose="02020603050405020304" pitchFamily="18" charset="0"/>
            </a:endParaRPr>
          </a:p>
          <a:p>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 Statistic:</a:t>
            </a: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Any numerical value describing a characteristic of a sample is called a statistic. It is usually denoted by Latin letters. For example, the sample mean </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and sample standard deviation 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70" name="Picture 69"/>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36300" y="2256228"/>
            <a:ext cx="386080" cy="325120"/>
          </a:xfrm>
          <a:prstGeom prst="rect">
            <a:avLst/>
          </a:prstGeom>
          <a:noFill/>
          <a:ln>
            <a:noFill/>
          </a:ln>
        </p:spPr>
      </p:pic>
      <p:pic>
        <p:nvPicPr>
          <p:cNvPr id="73" name="Picture 72"/>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316260" y="2042160"/>
            <a:ext cx="320040" cy="239078"/>
          </a:xfrm>
          <a:prstGeom prst="rect">
            <a:avLst/>
          </a:prstGeom>
          <a:noFill/>
          <a:ln>
            <a:noFill/>
          </a:ln>
        </p:spPr>
      </p:pic>
      <p:pic>
        <p:nvPicPr>
          <p:cNvPr id="76" name="Picture 75"/>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770130" y="2892545"/>
            <a:ext cx="253048" cy="338773"/>
          </a:xfrm>
          <a:prstGeom prst="rect">
            <a:avLst/>
          </a:prstGeom>
          <a:noFill/>
          <a:ln>
            <a:noFill/>
          </a:ln>
        </p:spPr>
      </p:pic>
      <p:sp>
        <p:nvSpPr>
          <p:cNvPr id="85" name="Rectangle 84"/>
          <p:cNvSpPr/>
          <p:nvPr/>
        </p:nvSpPr>
        <p:spPr>
          <a:xfrm>
            <a:off x="375920" y="3595626"/>
            <a:ext cx="11829686" cy="1153329"/>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Ratio:</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A ratio is a fraction. The ratio of the number ‘A’ to the number ‘B’ is obtained by dividing A by B and is written as       Ratio = A/B</a:t>
            </a:r>
            <a:endParaRPr lang="en-US" sz="2400" dirty="0">
              <a:latin typeface="Courier"/>
              <a:ea typeface="Times New Roman" panose="02020603050405020304" pitchFamily="18" charset="0"/>
              <a:cs typeface="Times New Roman" panose="02020603050405020304" pitchFamily="18" charset="0"/>
            </a:endParaRPr>
          </a:p>
        </p:txBody>
      </p:sp>
      <p:sp>
        <p:nvSpPr>
          <p:cNvPr id="1075" name="Rectangle 1074"/>
          <p:cNvSpPr/>
          <p:nvPr/>
        </p:nvSpPr>
        <p:spPr>
          <a:xfrm>
            <a:off x="344650" y="4783470"/>
            <a:ext cx="11694950" cy="1707327"/>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Proportion: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Proportion is a special type of ratio, it is the ratio of the part to the total population. For example, 500 total students 200 males and 300 females students then the proportion of male students is         P = 200/500</a:t>
            </a:r>
            <a:endParaRPr lang="en-US" sz="2400" dirty="0">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853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5" name="Rectangle 4"/>
          <p:cNvSpPr/>
          <p:nvPr/>
        </p:nvSpPr>
        <p:spPr>
          <a:xfrm>
            <a:off x="355600" y="1380251"/>
            <a:ext cx="11399520" cy="830997"/>
          </a:xfrm>
          <a:prstGeom prst="rect">
            <a:avLst/>
          </a:prstGeom>
        </p:spPr>
        <p:txBody>
          <a:bodyPr wrap="square">
            <a:spAutoFit/>
          </a:bodyPr>
          <a:lstStyle/>
          <a:p>
            <a:r>
              <a:rPr lang="en-US" sz="2400" b="1" u="sng" spc="-15" dirty="0">
                <a:latin typeface="Times New Roman" panose="02020603050405020304" pitchFamily="18" charset="0"/>
                <a:ea typeface="Times New Roman" panose="02020603050405020304" pitchFamily="18" charset="0"/>
              </a:rPr>
              <a:t>Constant:</a:t>
            </a:r>
            <a:r>
              <a:rPr lang="en-US" sz="2400" spc="-15" dirty="0">
                <a:latin typeface="Times New Roman" panose="02020603050405020304" pitchFamily="18" charset="0"/>
                <a:ea typeface="Times New Roman" panose="02020603050405020304" pitchFamily="18" charset="0"/>
              </a:rPr>
              <a:t> A quantity that can assume only one value is called constant. For example,</a:t>
            </a:r>
          </a:p>
          <a:p>
            <a:r>
              <a:rPr lang="en-US" sz="2400" spc="-15" dirty="0">
                <a:latin typeface="Times New Roman" panose="02020603050405020304" pitchFamily="18" charset="0"/>
                <a:ea typeface="Times New Roman" panose="02020603050405020304" pitchFamily="18" charset="0"/>
              </a:rPr>
              <a:t> </a:t>
            </a:r>
            <a:endParaRPr lang="en-US" sz="2400" dirty="0"/>
          </a:p>
        </p:txBody>
      </p:sp>
      <p:pic>
        <p:nvPicPr>
          <p:cNvPr id="20" name="Picture 19"/>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40560" y="1873983"/>
            <a:ext cx="2164080" cy="471488"/>
          </a:xfrm>
          <a:prstGeom prst="rect">
            <a:avLst/>
          </a:prstGeom>
          <a:noFill/>
          <a:ln>
            <a:noFill/>
          </a:ln>
        </p:spPr>
      </p:pic>
      <p:pic>
        <p:nvPicPr>
          <p:cNvPr id="22" name="Picture 2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75490" y="1873983"/>
            <a:ext cx="2722030" cy="337265"/>
          </a:xfrm>
          <a:prstGeom prst="rect">
            <a:avLst/>
          </a:prstGeom>
          <a:noFill/>
          <a:ln>
            <a:noFill/>
          </a:ln>
        </p:spPr>
      </p:pic>
      <p:sp>
        <p:nvSpPr>
          <p:cNvPr id="7" name="Rectangle 6"/>
          <p:cNvSpPr/>
          <p:nvPr/>
        </p:nvSpPr>
        <p:spPr>
          <a:xfrm>
            <a:off x="355600" y="2967335"/>
            <a:ext cx="8788400" cy="1384995"/>
          </a:xfrm>
          <a:prstGeom prst="rect">
            <a:avLst/>
          </a:prstGeom>
        </p:spPr>
        <p:txBody>
          <a:bodyPr wrap="square">
            <a:spAutoFit/>
          </a:bodyPr>
          <a:lstStyle/>
          <a:p>
            <a:pPr algn="just">
              <a:lnSpc>
                <a:spcPct val="150000"/>
              </a:lnSpc>
              <a:tabLst>
                <a:tab pos="-457200" algn="l"/>
              </a:tabLst>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Observation:</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 The numerical recording of information is called observation/datum</a:t>
            </a:r>
            <a:r>
              <a:rPr lang="en-US" spc="-15" dirty="0">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723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3" name="Rectangle 2"/>
          <p:cNvSpPr/>
          <p:nvPr/>
        </p:nvSpPr>
        <p:spPr>
          <a:xfrm>
            <a:off x="284480" y="1250502"/>
            <a:ext cx="11176000" cy="5031314"/>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Variable: </a:t>
            </a:r>
          </a:p>
          <a:p>
            <a:pPr algn="just">
              <a:lnSpc>
                <a:spcPct val="150000"/>
              </a:lnSpc>
            </a:pP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 measurable quantity that changes from one individual to another individuals called a variable. For example, the Speed of the car and the height of students.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Types of Variable: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1.    Quantitative variable                         2.      Qualitative Variable/Attributes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Quantitative variable: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The variables which can be numerically measured are called quantitative variables. For example, the Heights of students and the speed of cars.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Types of Quantitative variable: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1.   Discrete variable                                2.  Continuous variable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181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314960" y="1269041"/>
            <a:ext cx="10678160" cy="5031314"/>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Discrete variable: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A variable that can assume only some specific values or the values in whole numbers within a given range is called a discrete variable. For example, No. of children in a family, No. of chairs in a classroom.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Continuous variable:</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A variable that can assume all possible values or the values in fractions within a given range is called a continuous variable. For example, the speed of cars and, the heights of students.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Qualitative variable/Attributes:</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A variable that cannot be numerically measured, but only its presence or absence can be described is called a qualitative variable or attribute. For example, Sex, Religion, Eye </a:t>
            </a:r>
            <a:r>
              <a:rPr lang="en-US" sz="2400" spc="-15" dirty="0" err="1">
                <a:latin typeface="Times New Roman" panose="02020603050405020304" pitchFamily="18" charset="0"/>
                <a:ea typeface="Times New Roman" panose="02020603050405020304" pitchFamily="18" charset="0"/>
                <a:cs typeface="Times New Roman" panose="02020603050405020304" pitchFamily="18" charset="0"/>
              </a:rPr>
              <a:t>Colorr</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and Beauty.</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88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386080" y="1305342"/>
            <a:ext cx="10891520" cy="5208221"/>
          </a:xfrm>
          <a:prstGeom prst="rect">
            <a:avLst/>
          </a:prstGeom>
        </p:spPr>
        <p:txBody>
          <a:bodyPr wrap="square">
            <a:spAutoFit/>
          </a:bodyPr>
          <a:lstStyle/>
          <a:p>
            <a:pPr algn="just">
              <a:lnSpc>
                <a:spcPct val="150000"/>
              </a:lnSpc>
              <a:tabLst>
                <a:tab pos="-457200" algn="l"/>
              </a:tabLst>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Data:</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  The set of observations is called data.</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Statistical Data:</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 A sequence of observations, made on a set of objects included in the sample drawn from a population is called statistical data. These observations may be obtained either by counting or by measurement.</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Ungrouped data/Raw data: </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Data that have not been condensed in the form of frequency distribution are called ungrouped/Raw data.</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800" b="1" u="sng" spc="-15" dirty="0">
                <a:latin typeface="Times New Roman" panose="02020603050405020304" pitchFamily="18" charset="0"/>
                <a:ea typeface="Times New Roman" panose="02020603050405020304" pitchFamily="18" charset="0"/>
                <a:cs typeface="Times New Roman" panose="02020603050405020304" pitchFamily="18" charset="0"/>
              </a:rPr>
              <a:t>Grouped data: </a:t>
            </a:r>
            <a:r>
              <a:rPr lang="en-US" sz="2800" spc="-15" dirty="0">
                <a:latin typeface="Times New Roman" panose="02020603050405020304" pitchFamily="18" charset="0"/>
                <a:ea typeface="Times New Roman" panose="02020603050405020304" pitchFamily="18" charset="0"/>
                <a:cs typeface="Times New Roman" panose="02020603050405020304" pitchFamily="18" charset="0"/>
              </a:rPr>
              <a:t>The data that have been condensed in the form of frequency distribution are called grouped data.</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124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345440" y="1513091"/>
            <a:ext cx="11206480" cy="4524315"/>
          </a:xfrm>
          <a:prstGeom prst="rect">
            <a:avLst/>
          </a:prstGeom>
        </p:spPr>
        <p:txBody>
          <a:bodyPr wrap="square">
            <a:spAutoFit/>
          </a:bodyPr>
          <a:lstStyle/>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Primary data: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Data obtained from the original or direct source and have not undergone any sort of statistical treatment are called Primary data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Secondary data: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Data that have undergone any sort of statistical treatment at least once are called Secondary data.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tabLst>
                <a:tab pos="-457200" algn="l"/>
              </a:tabLst>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Collection of primary data: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buAutoNum type="arabicPeriod"/>
              <a:tabLst>
                <a:tab pos="-457200" algn="l"/>
              </a:tabLst>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Direct personal investigation     2.   Through Investigators </a:t>
            </a:r>
          </a:p>
          <a:p>
            <a:pPr marL="457200" indent="-457200" algn="just">
              <a:lnSpc>
                <a:spcPct val="150000"/>
              </a:lnSpc>
              <a:buAutoNum type="arabicPeriod" startAt="3"/>
              <a:tabLst>
                <a:tab pos="-457200" algn="l"/>
              </a:tabLst>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Through questionnaires.           4.   Through local sources                </a:t>
            </a:r>
          </a:p>
          <a:p>
            <a:pPr algn="just">
              <a:lnSpc>
                <a:spcPct val="150000"/>
              </a:lnSpc>
              <a:tabLst>
                <a:tab pos="-457200" algn="l"/>
              </a:tabLst>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5.     Through telephone and Internet.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7496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218440" y="1312185"/>
            <a:ext cx="11755120" cy="5131469"/>
          </a:xfrm>
          <a:prstGeom prst="rect">
            <a:avLst/>
          </a:prstGeom>
        </p:spPr>
        <p:txBody>
          <a:bodyPr wrap="square">
            <a:spAutoFit/>
          </a:bodyPr>
          <a:lstStyle/>
          <a:p>
            <a:pPr algn="just">
              <a:lnSpc>
                <a:spcPct val="150000"/>
              </a:lnSpc>
              <a:tabLst>
                <a:tab pos="-457200" algn="l"/>
              </a:tabLst>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Direct personal investigation:</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 In this method, the researcher collects the data personally. Such type of data is considered more accurate and complete, but it is possible only for small-scale surveys.</a:t>
            </a:r>
            <a:endParaRPr lang="en-US" sz="2000" dirty="0">
              <a:latin typeface="Courier"/>
              <a:ea typeface="Times New Roman" panose="02020603050405020304" pitchFamily="18" charset="0"/>
              <a:cs typeface="Times New Roman" panose="02020603050405020304" pitchFamily="18" charset="0"/>
            </a:endParaRPr>
          </a:p>
          <a:p>
            <a:pPr algn="just">
              <a:lnSpc>
                <a:spcPct val="150000"/>
              </a:lnSpc>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Through Investigators:</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 In this method, trained investigators are employed to collect the data they fill in the questionnaire form after asking for the required information. </a:t>
            </a:r>
            <a:endParaRPr lang="en-US" sz="2000" dirty="0">
              <a:latin typeface="Courier"/>
              <a:ea typeface="Times New Roman" panose="02020603050405020304" pitchFamily="18" charset="0"/>
              <a:cs typeface="Times New Roman" panose="02020603050405020304" pitchFamily="18" charset="0"/>
            </a:endParaRPr>
          </a:p>
          <a:p>
            <a:pPr algn="just">
              <a:lnSpc>
                <a:spcPct val="150000"/>
              </a:lnSpc>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Through questionnaires:</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 In this method, the required information is obtained by sending the questionnaire form to the selected individuals by mail that fill in the questionnaire and return it to the investigator. This method is cheap and the non-response rate is very high. </a:t>
            </a:r>
            <a:endParaRPr lang="en-US" sz="2000" dirty="0">
              <a:latin typeface="Courier"/>
              <a:ea typeface="Times New Roman" panose="02020603050405020304" pitchFamily="18" charset="0"/>
              <a:cs typeface="Times New Roman" panose="02020603050405020304" pitchFamily="18" charset="0"/>
            </a:endParaRPr>
          </a:p>
          <a:p>
            <a:pPr algn="just">
              <a:lnSpc>
                <a:spcPct val="150000"/>
              </a:lnSpc>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Through local sources: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In this method, the required information is obtained from the local representatives or agents. This method is quick but gives only rough estimates.</a:t>
            </a:r>
            <a:endParaRPr lang="en-US" sz="2000" dirty="0">
              <a:latin typeface="Courier"/>
              <a:ea typeface="Times New Roman" panose="02020603050405020304" pitchFamily="18" charset="0"/>
              <a:cs typeface="Times New Roman" panose="02020603050405020304" pitchFamily="18" charset="0"/>
            </a:endParaRPr>
          </a:p>
          <a:p>
            <a:pPr algn="just">
              <a:lnSpc>
                <a:spcPct val="150000"/>
              </a:lnSpc>
            </a:pPr>
            <a:r>
              <a:rPr lang="en-US" sz="2000" b="1" u="sng" spc="-15" dirty="0">
                <a:latin typeface="Times New Roman" panose="02020603050405020304" pitchFamily="18" charset="0"/>
                <a:ea typeface="Times New Roman" panose="02020603050405020304" pitchFamily="18" charset="0"/>
                <a:cs typeface="Times New Roman" panose="02020603050405020304" pitchFamily="18" charset="0"/>
              </a:rPr>
              <a:t>Through telephone and Internet: </a:t>
            </a:r>
            <a:r>
              <a:rPr lang="en-US" sz="2000" spc="-15" dirty="0">
                <a:latin typeface="Times New Roman" panose="02020603050405020304" pitchFamily="18" charset="0"/>
                <a:ea typeface="Times New Roman" panose="02020603050405020304" pitchFamily="18" charset="0"/>
                <a:cs typeface="Times New Roman" panose="02020603050405020304" pitchFamily="18" charset="0"/>
              </a:rPr>
              <a:t>In this method, the required information is obtained by contacting the individuals on the telephone or Internet. This method is quick and gives accurate estimates. </a:t>
            </a:r>
            <a:endParaRPr lang="en-US" sz="2000" dirty="0">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131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TextBox 14">
              <a:extLst>
                <a:ext uri="{FF2B5EF4-FFF2-40B4-BE49-F238E27FC236}">
                  <a16:creationId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6" name="Graphic 15">
              <a:extLst>
                <a:ext uri="{FF2B5EF4-FFF2-40B4-BE49-F238E27FC236}">
                  <a16:creationId xmlns:a16="http://schemas.microsoft.com/office/drawing/2014/main" id="{ABF06EB7-5284-4699-8F45-3C74960363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8" name="Graphic 17">
              <a:extLst>
                <a:ext uri="{FF2B5EF4-FFF2-40B4-BE49-F238E27FC236}">
                  <a16:creationId xmlns:a16="http://schemas.microsoft.com/office/drawing/2014/main" id="{10EB8B8D-6004-4AED-A244-C4DC6F8DA6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a16="http://schemas.microsoft.com/office/drawing/2014/main" id="{B90D907E-CA01-4229-92EF-9ABBCFBA1E6C}"/>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a16="http://schemas.microsoft.com/office/drawing/2014/main" id="{3CE084BF-DF82-4A63-A9CB-4F517A8FDE95}"/>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a16="http://schemas.microsoft.com/office/drawing/2014/main" id="{066FF2A6-21EC-4DCA-B8DA-6528DF9934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447040" y="1305342"/>
            <a:ext cx="11074400" cy="4477316"/>
          </a:xfrm>
          <a:prstGeom prst="rect">
            <a:avLst/>
          </a:prstGeom>
        </p:spPr>
        <p:txBody>
          <a:bodyPr wrap="square">
            <a:spAutoFit/>
          </a:bodyPr>
          <a:lstStyle/>
          <a:p>
            <a:pPr algn="just">
              <a:lnSpc>
                <a:spcPct val="150000"/>
              </a:lnSpc>
              <a:tabLst>
                <a:tab pos="-457200" algn="l"/>
              </a:tabLst>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Collection of Secondary data: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buAutoNum type="arabicPeriod"/>
              <a:tabLst>
                <a:tab pos="-457200" algn="l"/>
              </a:tabLst>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Government organization 2.   Semi-Government organizations       </a:t>
            </a:r>
          </a:p>
          <a:p>
            <a:pPr algn="just">
              <a:lnSpc>
                <a:spcPct val="150000"/>
              </a:lnSpc>
              <a:tabLst>
                <a:tab pos="-457200" algn="l"/>
              </a:tabLst>
            </a:pPr>
            <a:r>
              <a:rPr lang="en-US" sz="2400" b="1" spc="-15" dirty="0">
                <a:latin typeface="Times New Roman" panose="02020603050405020304" pitchFamily="18" charset="0"/>
                <a:ea typeface="Times New Roman" panose="02020603050405020304" pitchFamily="18" charset="0"/>
                <a:cs typeface="Times New Roman" panose="02020603050405020304" pitchFamily="18" charset="0"/>
              </a:rPr>
              <a:t>3.   Newspapers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Government organizations:</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Secondary data may be obtained from the Federal Bureau of Statistics, Ministries of Food, Education Department, Health Department, etc.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Semi-government organizations:</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 Municipal committees, district councils, commercial and financial institutions, banks, etc.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u="sng" spc="-15" dirty="0">
                <a:latin typeface="Times New Roman" panose="02020603050405020304" pitchFamily="18" charset="0"/>
                <a:ea typeface="Times New Roman" panose="02020603050405020304" pitchFamily="18" charset="0"/>
                <a:cs typeface="Times New Roman" panose="02020603050405020304" pitchFamily="18" charset="0"/>
              </a:rPr>
              <a:t>Newspapers: </a:t>
            </a:r>
            <a:r>
              <a:rPr lang="en-US" sz="2400" spc="-15" dirty="0">
                <a:latin typeface="Times New Roman" panose="02020603050405020304" pitchFamily="18" charset="0"/>
                <a:ea typeface="Times New Roman" panose="02020603050405020304" pitchFamily="18" charset="0"/>
                <a:cs typeface="Times New Roman" panose="02020603050405020304" pitchFamily="18" charset="0"/>
              </a:rPr>
              <a:t>Secondary data may be obtained from newspapers.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75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2301</Words>
  <Application>Microsoft Office PowerPoint</Application>
  <PresentationFormat>Widescreen</PresentationFormat>
  <Paragraphs>129</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Bahnschrift</vt:lpstr>
      <vt:lpstr>Calibri</vt:lpstr>
      <vt:lpstr>Calibri Light</vt:lpstr>
      <vt:lpstr>Courier</vt:lpstr>
      <vt:lpstr>Times New Roman</vt:lpstr>
      <vt:lpstr>Wingdings</vt:lpstr>
      <vt:lpstr>Office Theme</vt:lpstr>
      <vt:lpstr>Probability &amp; Statistics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Dev Hamnah</cp:lastModifiedBy>
  <cp:revision>59</cp:revision>
  <dcterms:created xsi:type="dcterms:W3CDTF">2024-06-21T09:49:54Z</dcterms:created>
  <dcterms:modified xsi:type="dcterms:W3CDTF">2025-09-28T07:06:25Z</dcterms:modified>
</cp:coreProperties>
</file>