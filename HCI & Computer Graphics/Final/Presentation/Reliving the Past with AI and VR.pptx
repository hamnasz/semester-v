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embeddedFontLst>
    <p:embeddedFont>
      <p:font typeface="Lato"/>
      <p:regular r:id="rId19"/>
      <p:bold r:id="rId20"/>
      <p:italic r:id="rId21"/>
      <p:boldItalic r:id="rId22"/>
    </p:embeddedFont>
    <p:embeddedFont>
      <p:font typeface="Cinzel"/>
      <p:regular r:id="rId23"/>
      <p:bold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6.xml"/><Relationship Id="rId22" Type="http://schemas.openxmlformats.org/officeDocument/2006/relationships/font" Target="fonts/Lato-boldItalic.fntdata"/><Relationship Id="rId10" Type="http://schemas.openxmlformats.org/officeDocument/2006/relationships/slide" Target="slides/slide5.xml"/><Relationship Id="rId21" Type="http://schemas.openxmlformats.org/officeDocument/2006/relationships/font" Target="fonts/Lato-italic.fntdata"/><Relationship Id="rId13" Type="http://schemas.openxmlformats.org/officeDocument/2006/relationships/slide" Target="slides/slide8.xml"/><Relationship Id="rId24" Type="http://schemas.openxmlformats.org/officeDocument/2006/relationships/font" Target="fonts/Cinzel-bold.fntdata"/><Relationship Id="rId12" Type="http://schemas.openxmlformats.org/officeDocument/2006/relationships/slide" Target="slides/slide7.xml"/><Relationship Id="rId23" Type="http://schemas.openxmlformats.org/officeDocument/2006/relationships/font" Target="fonts/Cinzel-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Lato-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14.png"/><Relationship Id="rId6" Type="http://schemas.openxmlformats.org/officeDocument/2006/relationships/image" Target="../media/image2.png"/><Relationship Id="rId7" Type="http://schemas.openxmlformats.org/officeDocument/2006/relationships/image" Target="../media/image3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image" Target="../media/image1.png"/><Relationship Id="rId5" Type="http://schemas.openxmlformats.org/officeDocument/2006/relationships/image" Target="../media/image10.png"/><Relationship Id="rId6" Type="http://schemas.openxmlformats.org/officeDocument/2006/relationships/image" Target="../media/image7.png"/><Relationship Id="rId7" Type="http://schemas.openxmlformats.org/officeDocument/2006/relationships/image" Target="../media/image34.png"/><Relationship Id="rId8"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5.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21.png"/><Relationship Id="rId9" Type="http://schemas.openxmlformats.org/officeDocument/2006/relationships/image" Target="../media/image24.png"/><Relationship Id="rId5" Type="http://schemas.openxmlformats.org/officeDocument/2006/relationships/image" Target="../media/image16.png"/><Relationship Id="rId6" Type="http://schemas.openxmlformats.org/officeDocument/2006/relationships/image" Target="../media/image31.png"/><Relationship Id="rId7" Type="http://schemas.openxmlformats.org/officeDocument/2006/relationships/image" Target="../media/image19.png"/><Relationship Id="rId8"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27.png"/><Relationship Id="rId5" Type="http://schemas.openxmlformats.org/officeDocument/2006/relationships/image" Target="../media/image25.png"/><Relationship Id="rId6"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9.png"/><Relationship Id="rId4" Type="http://schemas.openxmlformats.org/officeDocument/2006/relationships/image" Target="../media/image26.png"/><Relationship Id="rId9" Type="http://schemas.openxmlformats.org/officeDocument/2006/relationships/image" Target="../media/image33.png"/><Relationship Id="rId5" Type="http://schemas.openxmlformats.org/officeDocument/2006/relationships/image" Target="../media/image28.png"/><Relationship Id="rId6" Type="http://schemas.openxmlformats.org/officeDocument/2006/relationships/image" Target="../media/image30.png"/><Relationship Id="rId7" Type="http://schemas.openxmlformats.org/officeDocument/2006/relationships/image" Target="../media/image32.png"/><Relationship Id="rId8"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2460545" y="1399282"/>
            <a:ext cx="7270908" cy="1638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800020"/>
                </a:solidFill>
                <a:latin typeface="Cinzel"/>
                <a:ea typeface="Cinzel"/>
                <a:cs typeface="Cinzel"/>
                <a:sym typeface="Cinzel"/>
              </a:rPr>
              <a:t>RELIVING THE PAST</a:t>
            </a:r>
            <a:br>
              <a:rPr b="0" i="0" lang="en-US" sz="1800" u="none" cap="none" strike="noStrike">
                <a:solidFill>
                  <a:schemeClr val="dk1"/>
                </a:solidFill>
                <a:latin typeface="Calibri"/>
                <a:ea typeface="Calibri"/>
                <a:cs typeface="Calibri"/>
                <a:sym typeface="Calibri"/>
              </a:rPr>
            </a:br>
            <a:r>
              <a:rPr b="1" i="0" lang="en-US" sz="4800" u="none" cap="none" strike="noStrike">
                <a:solidFill>
                  <a:srgbClr val="800020"/>
                </a:solidFill>
                <a:latin typeface="Cinzel"/>
                <a:ea typeface="Cinzel"/>
                <a:cs typeface="Cinzel"/>
                <a:sym typeface="Cinzel"/>
              </a:rPr>
              <a:t> WITH AI AND VR</a:t>
            </a:r>
            <a:endParaRPr/>
          </a:p>
        </p:txBody>
      </p:sp>
      <p:sp>
        <p:nvSpPr>
          <p:cNvPr id="86" name="Google Shape;86;p13"/>
          <p:cNvSpPr txBox="1"/>
          <p:nvPr/>
        </p:nvSpPr>
        <p:spPr>
          <a:xfrm>
            <a:off x="2633662" y="3228082"/>
            <a:ext cx="6924675"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555555"/>
                </a:solidFill>
                <a:latin typeface="Lato"/>
                <a:ea typeface="Lato"/>
                <a:cs typeface="Lato"/>
                <a:sym typeface="Lato"/>
              </a:rPr>
              <a:t>A Synergistic Pipeline for Text-to-Geometry Historical Reconstruction</a:t>
            </a:r>
            <a:endParaRPr/>
          </a:p>
        </p:txBody>
      </p:sp>
      <p:sp>
        <p:nvSpPr>
          <p:cNvPr id="87" name="Google Shape;87;p13"/>
          <p:cNvSpPr txBox="1"/>
          <p:nvPr/>
        </p:nvSpPr>
        <p:spPr>
          <a:xfrm>
            <a:off x="2633662" y="3974752"/>
            <a:ext cx="2212925"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200" u="none" cap="none" strike="noStrike">
                <a:solidFill>
                  <a:srgbClr val="2C3E50"/>
                </a:solidFill>
                <a:latin typeface="Lato"/>
                <a:ea typeface="Lato"/>
                <a:cs typeface="Lato"/>
                <a:sym typeface="Lato"/>
              </a:rPr>
              <a:t>Tayyab Imran</a:t>
            </a:r>
            <a:endParaRPr/>
          </a:p>
        </p:txBody>
      </p:sp>
      <p:sp>
        <p:nvSpPr>
          <p:cNvPr id="88" name="Google Shape;88;p13"/>
          <p:cNvSpPr txBox="1"/>
          <p:nvPr/>
        </p:nvSpPr>
        <p:spPr>
          <a:xfrm>
            <a:off x="3288208" y="4237583"/>
            <a:ext cx="903833"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050" u="none" cap="none" strike="noStrike">
                <a:solidFill>
                  <a:srgbClr val="777777"/>
                </a:solidFill>
                <a:latin typeface="Times New Roman"/>
                <a:ea typeface="Times New Roman"/>
                <a:cs typeface="Times New Roman"/>
                <a:sym typeface="Times New Roman"/>
              </a:rPr>
              <a:t>2023-BS-AI-019</a:t>
            </a:r>
            <a:endParaRPr/>
          </a:p>
        </p:txBody>
      </p:sp>
      <p:sp>
        <p:nvSpPr>
          <p:cNvPr id="89" name="Google Shape;89;p13"/>
          <p:cNvSpPr txBox="1"/>
          <p:nvPr/>
        </p:nvSpPr>
        <p:spPr>
          <a:xfrm>
            <a:off x="4989462" y="3974752"/>
            <a:ext cx="2212925"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200" u="none" cap="none" strike="noStrike">
                <a:solidFill>
                  <a:srgbClr val="2C3E50"/>
                </a:solidFill>
                <a:latin typeface="Lato"/>
                <a:ea typeface="Lato"/>
                <a:cs typeface="Lato"/>
                <a:sym typeface="Lato"/>
              </a:rPr>
              <a:t>Hamna Imran</a:t>
            </a:r>
            <a:endParaRPr/>
          </a:p>
        </p:txBody>
      </p:sp>
      <p:sp>
        <p:nvSpPr>
          <p:cNvPr id="90" name="Google Shape;90;p13"/>
          <p:cNvSpPr txBox="1"/>
          <p:nvPr/>
        </p:nvSpPr>
        <p:spPr>
          <a:xfrm>
            <a:off x="5644008" y="4237583"/>
            <a:ext cx="903833"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050" u="none" cap="none" strike="noStrike">
                <a:solidFill>
                  <a:srgbClr val="777777"/>
                </a:solidFill>
                <a:latin typeface="Times New Roman"/>
                <a:ea typeface="Times New Roman"/>
                <a:cs typeface="Times New Roman"/>
                <a:sym typeface="Times New Roman"/>
              </a:rPr>
              <a:t>2023-BS-AI-017</a:t>
            </a:r>
            <a:endParaRPr/>
          </a:p>
        </p:txBody>
      </p:sp>
      <p:sp>
        <p:nvSpPr>
          <p:cNvPr id="91" name="Google Shape;91;p13"/>
          <p:cNvSpPr txBox="1"/>
          <p:nvPr/>
        </p:nvSpPr>
        <p:spPr>
          <a:xfrm>
            <a:off x="7345263" y="3974752"/>
            <a:ext cx="2212925"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200" u="none" cap="none" strike="noStrike">
                <a:solidFill>
                  <a:srgbClr val="2C3E50"/>
                </a:solidFill>
                <a:latin typeface="Lato"/>
                <a:ea typeface="Lato"/>
                <a:cs typeface="Lato"/>
                <a:sym typeface="Lato"/>
              </a:rPr>
              <a:t>Abdul Haseeb Arif</a:t>
            </a:r>
            <a:endParaRPr/>
          </a:p>
        </p:txBody>
      </p:sp>
      <p:sp>
        <p:nvSpPr>
          <p:cNvPr id="92" name="Google Shape;92;p13"/>
          <p:cNvSpPr txBox="1"/>
          <p:nvPr/>
        </p:nvSpPr>
        <p:spPr>
          <a:xfrm>
            <a:off x="7999809" y="4237583"/>
            <a:ext cx="903833"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050" u="none" cap="none" strike="noStrike">
                <a:solidFill>
                  <a:srgbClr val="777777"/>
                </a:solidFill>
                <a:latin typeface="Times New Roman"/>
                <a:ea typeface="Times New Roman"/>
                <a:cs typeface="Times New Roman"/>
                <a:sym typeface="Times New Roman"/>
              </a:rPr>
              <a:t>2023-BS-AI-033</a:t>
            </a:r>
            <a:endParaRPr/>
          </a:p>
        </p:txBody>
      </p:sp>
      <p:sp>
        <p:nvSpPr>
          <p:cNvPr id="93" name="Google Shape;93;p13"/>
          <p:cNvSpPr txBox="1"/>
          <p:nvPr/>
        </p:nvSpPr>
        <p:spPr>
          <a:xfrm>
            <a:off x="2633662" y="4532858"/>
            <a:ext cx="2212925"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200" u="none" cap="none" strike="noStrike">
                <a:solidFill>
                  <a:srgbClr val="2C3E50"/>
                </a:solidFill>
                <a:latin typeface="Lato"/>
                <a:ea typeface="Lato"/>
                <a:cs typeface="Lato"/>
                <a:sym typeface="Lato"/>
              </a:rPr>
              <a:t>Zain Sattar</a:t>
            </a:r>
            <a:endParaRPr/>
          </a:p>
        </p:txBody>
      </p:sp>
      <p:sp>
        <p:nvSpPr>
          <p:cNvPr id="94" name="Google Shape;94;p13"/>
          <p:cNvSpPr txBox="1"/>
          <p:nvPr/>
        </p:nvSpPr>
        <p:spPr>
          <a:xfrm>
            <a:off x="3288208" y="4795688"/>
            <a:ext cx="903833"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050" u="none" cap="none" strike="noStrike">
                <a:solidFill>
                  <a:srgbClr val="777777"/>
                </a:solidFill>
                <a:latin typeface="Times New Roman"/>
                <a:ea typeface="Times New Roman"/>
                <a:cs typeface="Times New Roman"/>
                <a:sym typeface="Times New Roman"/>
              </a:rPr>
              <a:t>2023-BS-AI-052</a:t>
            </a:r>
            <a:endParaRPr/>
          </a:p>
        </p:txBody>
      </p:sp>
      <p:sp>
        <p:nvSpPr>
          <p:cNvPr id="95" name="Google Shape;95;p13"/>
          <p:cNvSpPr txBox="1"/>
          <p:nvPr/>
        </p:nvSpPr>
        <p:spPr>
          <a:xfrm>
            <a:off x="4989462" y="4532858"/>
            <a:ext cx="2212925"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200" u="none" cap="none" strike="noStrike">
                <a:solidFill>
                  <a:srgbClr val="2C3E50"/>
                </a:solidFill>
                <a:latin typeface="Lato"/>
                <a:ea typeface="Lato"/>
                <a:cs typeface="Lato"/>
                <a:sym typeface="Lato"/>
              </a:rPr>
              <a:t>Ahmad Mustafa</a:t>
            </a:r>
            <a:endParaRPr/>
          </a:p>
        </p:txBody>
      </p:sp>
      <p:sp>
        <p:nvSpPr>
          <p:cNvPr id="96" name="Google Shape;96;p13"/>
          <p:cNvSpPr txBox="1"/>
          <p:nvPr/>
        </p:nvSpPr>
        <p:spPr>
          <a:xfrm>
            <a:off x="5644008" y="4795688"/>
            <a:ext cx="903833"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050" u="none" cap="none" strike="noStrike">
                <a:solidFill>
                  <a:srgbClr val="777777"/>
                </a:solidFill>
                <a:latin typeface="Times New Roman"/>
                <a:ea typeface="Times New Roman"/>
                <a:cs typeface="Times New Roman"/>
                <a:sym typeface="Times New Roman"/>
              </a:rPr>
              <a:t>2023-BS-AI-016</a:t>
            </a:r>
            <a:endParaRPr/>
          </a:p>
        </p:txBody>
      </p:sp>
      <p:sp>
        <p:nvSpPr>
          <p:cNvPr id="97" name="Google Shape;97;p13"/>
          <p:cNvSpPr txBox="1"/>
          <p:nvPr/>
        </p:nvSpPr>
        <p:spPr>
          <a:xfrm>
            <a:off x="7345263" y="4532858"/>
            <a:ext cx="2212925"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200" u="none" cap="none" strike="noStrike">
                <a:solidFill>
                  <a:srgbClr val="2C3E50"/>
                </a:solidFill>
                <a:latin typeface="Lato"/>
                <a:ea typeface="Lato"/>
                <a:cs typeface="Lato"/>
                <a:sym typeface="Lato"/>
              </a:rPr>
              <a:t>Javed Mehmood</a:t>
            </a:r>
            <a:endParaRPr/>
          </a:p>
        </p:txBody>
      </p:sp>
      <p:sp>
        <p:nvSpPr>
          <p:cNvPr id="98" name="Google Shape;98;p13"/>
          <p:cNvSpPr txBox="1"/>
          <p:nvPr/>
        </p:nvSpPr>
        <p:spPr>
          <a:xfrm>
            <a:off x="7999809" y="4795688"/>
            <a:ext cx="903833"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050" u="none" cap="none" strike="noStrike">
                <a:solidFill>
                  <a:srgbClr val="777777"/>
                </a:solidFill>
                <a:latin typeface="Times New Roman"/>
                <a:ea typeface="Times New Roman"/>
                <a:cs typeface="Times New Roman"/>
                <a:sym typeface="Times New Roman"/>
              </a:rPr>
              <a:t>2023-BS-AI-029</a:t>
            </a:r>
            <a:endParaRPr/>
          </a:p>
        </p:txBody>
      </p:sp>
      <p:sp>
        <p:nvSpPr>
          <p:cNvPr id="99" name="Google Shape;99;p13"/>
          <p:cNvSpPr txBox="1"/>
          <p:nvPr/>
        </p:nvSpPr>
        <p:spPr>
          <a:xfrm>
            <a:off x="2633662" y="5043338"/>
            <a:ext cx="6924675"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200" u="none" cap="none" strike="noStrike">
                <a:solidFill>
                  <a:srgbClr val="2C3E50"/>
                </a:solidFill>
                <a:latin typeface="Lato"/>
                <a:ea typeface="Lato"/>
                <a:cs typeface="Lato"/>
                <a:sym typeface="Lato"/>
              </a:rPr>
              <a:t>Zubair Niazi</a:t>
            </a:r>
            <a:endParaRPr/>
          </a:p>
        </p:txBody>
      </p:sp>
      <p:sp>
        <p:nvSpPr>
          <p:cNvPr id="100" name="Google Shape;100;p13"/>
          <p:cNvSpPr txBox="1"/>
          <p:nvPr/>
        </p:nvSpPr>
        <p:spPr>
          <a:xfrm>
            <a:off x="5644008" y="5306169"/>
            <a:ext cx="903833"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050" u="none" cap="none" strike="noStrike">
                <a:solidFill>
                  <a:srgbClr val="777777"/>
                </a:solidFill>
                <a:latin typeface="Times New Roman"/>
                <a:ea typeface="Times New Roman"/>
                <a:cs typeface="Times New Roman"/>
                <a:sym typeface="Times New Roman"/>
              </a:rPr>
              <a:t>2023-BS-AI-006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2"/>
        </a:solidFill>
      </p:bgPr>
    </p:bg>
    <p:spTree>
      <p:nvGrpSpPr>
        <p:cNvPr id="104" name="Shape 104"/>
        <p:cNvGrpSpPr/>
        <p:nvPr/>
      </p:nvGrpSpPr>
      <p:grpSpPr>
        <a:xfrm>
          <a:off x="0" y="0"/>
          <a:ext cx="0" cy="0"/>
          <a:chOff x="0" y="0"/>
          <a:chExt cx="0" cy="0"/>
        </a:xfrm>
      </p:grpSpPr>
      <p:pic>
        <p:nvPicPr>
          <p:cNvPr descr="image.png" id="105" name="Google Shape;105;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6" name="Google Shape;106;p14"/>
          <p:cNvSpPr txBox="1"/>
          <p:nvPr/>
        </p:nvSpPr>
        <p:spPr>
          <a:xfrm>
            <a:off x="305276" y="2874615"/>
            <a:ext cx="11581447" cy="72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800020"/>
                </a:solidFill>
                <a:latin typeface="Cinzel"/>
                <a:ea typeface="Cinzel"/>
                <a:cs typeface="Cinzel"/>
                <a:sym typeface="Cinzel"/>
              </a:rPr>
              <a:t>The Reconstruction Challenge</a:t>
            </a:r>
            <a:endParaRPr/>
          </a:p>
        </p:txBody>
      </p:sp>
      <p:sp>
        <p:nvSpPr>
          <p:cNvPr id="107" name="Google Shape;107;p14"/>
          <p:cNvSpPr txBox="1"/>
          <p:nvPr/>
        </p:nvSpPr>
        <p:spPr>
          <a:xfrm>
            <a:off x="581025" y="3789015"/>
            <a:ext cx="11029950"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555555"/>
                </a:solidFill>
                <a:latin typeface="Lato"/>
                <a:ea typeface="Lato"/>
                <a:cs typeface="Lato"/>
                <a:sym typeface="Lato"/>
              </a:rPr>
              <a:t>Bridging the gap between fragmented ruins and digital heritage.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2"/>
        </a:solidFill>
      </p:bgPr>
    </p:bg>
    <p:spTree>
      <p:nvGrpSpPr>
        <p:cNvPr id="111" name="Shape 111"/>
        <p:cNvGrpSpPr/>
        <p:nvPr/>
      </p:nvGrpSpPr>
      <p:grpSpPr>
        <a:xfrm>
          <a:off x="0" y="0"/>
          <a:ext cx="0" cy="0"/>
          <a:chOff x="0" y="0"/>
          <a:chExt cx="0" cy="0"/>
        </a:xfrm>
      </p:grpSpPr>
      <p:pic>
        <p:nvPicPr>
          <p:cNvPr descr="image.png" id="112" name="Google Shape;112;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3" name="Google Shape;113;p15"/>
          <p:cNvPicPr preferRelativeResize="0"/>
          <p:nvPr/>
        </p:nvPicPr>
        <p:blipFill rotWithShape="1">
          <a:blip r:embed="rId4">
            <a:alphaModFix/>
          </a:blip>
          <a:srcRect b="0" l="0" r="0" t="0"/>
          <a:stretch/>
        </p:blipFill>
        <p:spPr>
          <a:xfrm>
            <a:off x="581025" y="2386012"/>
            <a:ext cx="5324475" cy="3181350"/>
          </a:xfrm>
          <a:prstGeom prst="rect">
            <a:avLst/>
          </a:prstGeom>
          <a:noFill/>
          <a:ln>
            <a:noFill/>
          </a:ln>
        </p:spPr>
      </p:pic>
      <p:pic>
        <p:nvPicPr>
          <p:cNvPr descr="image.png" id="114" name="Google Shape;114;p15"/>
          <p:cNvPicPr preferRelativeResize="0"/>
          <p:nvPr/>
        </p:nvPicPr>
        <p:blipFill rotWithShape="1">
          <a:blip r:embed="rId5">
            <a:alphaModFix/>
          </a:blip>
          <a:srcRect b="0" l="0" r="0" t="0"/>
          <a:stretch/>
        </p:blipFill>
        <p:spPr>
          <a:xfrm>
            <a:off x="6286500" y="2386012"/>
            <a:ext cx="5324475" cy="3181350"/>
          </a:xfrm>
          <a:prstGeom prst="rect">
            <a:avLst/>
          </a:prstGeom>
          <a:noFill/>
          <a:ln>
            <a:noFill/>
          </a:ln>
        </p:spPr>
      </p:pic>
      <p:sp>
        <p:nvSpPr>
          <p:cNvPr id="115" name="Google Shape;115;p15"/>
          <p:cNvSpPr txBox="1"/>
          <p:nvPr/>
        </p:nvSpPr>
        <p:spPr>
          <a:xfrm>
            <a:off x="971550" y="2776537"/>
            <a:ext cx="4770596" cy="352425"/>
          </a:xfrm>
          <a:prstGeom prst="rect">
            <a:avLst/>
          </a:prstGeom>
          <a:noFill/>
          <a:ln>
            <a:noFill/>
          </a:ln>
        </p:spPr>
        <p:txBody>
          <a:bodyPr anchorCtr="0" anchor="t" bIns="0" lIns="266700" spcFirstLastPara="1" rIns="0" wrap="square" tIns="0">
            <a:spAutoFit/>
          </a:bodyPr>
          <a:lstStyle/>
          <a:p>
            <a:pPr indent="0" lvl="0" marL="0" marR="0" rtl="0" algn="l">
              <a:spcBef>
                <a:spcPts val="0"/>
              </a:spcBef>
              <a:spcAft>
                <a:spcPts val="0"/>
              </a:spcAft>
              <a:buNone/>
            </a:pPr>
            <a:r>
              <a:rPr b="1" i="0" lang="en-US" sz="2100" u="none" cap="none" strike="noStrike">
                <a:solidFill>
                  <a:srgbClr val="2C3E50"/>
                </a:solidFill>
                <a:latin typeface="Cinzel"/>
                <a:ea typeface="Cinzel"/>
                <a:cs typeface="Cinzel"/>
                <a:sym typeface="Cinzel"/>
              </a:rPr>
              <a:t>Photogrammetry</a:t>
            </a:r>
            <a:endParaRPr/>
          </a:p>
        </p:txBody>
      </p:sp>
      <p:sp>
        <p:nvSpPr>
          <p:cNvPr id="116" name="Google Shape;116;p15"/>
          <p:cNvSpPr txBox="1"/>
          <p:nvPr/>
        </p:nvSpPr>
        <p:spPr>
          <a:xfrm>
            <a:off x="971550" y="3462337"/>
            <a:ext cx="454342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A4A4A"/>
                </a:solidFill>
                <a:latin typeface="Lato"/>
                <a:ea typeface="Lato"/>
                <a:cs typeface="Lato"/>
                <a:sym typeface="Lato"/>
              </a:rPr>
              <a:t>Excellent for scanning existing ruins with high fidelity. However, it acts as a "fog" of data—unable to reconstruct missing elements like collapsed roofs or eroded columns. It captures </a:t>
            </a:r>
            <a:r>
              <a:rPr b="0" i="1" lang="en-US" sz="1500" u="none" cap="none" strike="noStrike">
                <a:solidFill>
                  <a:srgbClr val="4A4A4A"/>
                </a:solidFill>
                <a:latin typeface="Lato"/>
                <a:ea typeface="Lato"/>
                <a:cs typeface="Lato"/>
                <a:sym typeface="Lato"/>
              </a:rPr>
              <a:t>what is</a:t>
            </a:r>
            <a:r>
              <a:rPr b="0" i="0" lang="en-US" sz="1500" u="none" cap="none" strike="noStrike">
                <a:solidFill>
                  <a:srgbClr val="4A4A4A"/>
                </a:solidFill>
                <a:latin typeface="Lato"/>
                <a:ea typeface="Lato"/>
                <a:cs typeface="Lato"/>
                <a:sym typeface="Lato"/>
              </a:rPr>
              <a:t>, not </a:t>
            </a:r>
            <a:r>
              <a:rPr b="0" i="1" lang="en-US" sz="1500" u="none" cap="none" strike="noStrike">
                <a:solidFill>
                  <a:srgbClr val="4A4A4A"/>
                </a:solidFill>
                <a:latin typeface="Lato"/>
                <a:ea typeface="Lato"/>
                <a:cs typeface="Lato"/>
                <a:sym typeface="Lato"/>
              </a:rPr>
              <a:t>what was</a:t>
            </a:r>
            <a:r>
              <a:rPr b="0" i="0" lang="en-US" sz="1500" u="none" cap="none" strike="noStrike">
                <a:solidFill>
                  <a:srgbClr val="4A4A4A"/>
                </a:solidFill>
                <a:latin typeface="Lato"/>
                <a:ea typeface="Lato"/>
                <a:cs typeface="Lato"/>
                <a:sym typeface="Lato"/>
              </a:rPr>
              <a:t>.</a:t>
            </a:r>
            <a:endParaRPr/>
          </a:p>
        </p:txBody>
      </p:sp>
      <p:sp>
        <p:nvSpPr>
          <p:cNvPr id="117" name="Google Shape;117;p15"/>
          <p:cNvSpPr txBox="1"/>
          <p:nvPr/>
        </p:nvSpPr>
        <p:spPr>
          <a:xfrm>
            <a:off x="6677025" y="2776537"/>
            <a:ext cx="4770596" cy="352425"/>
          </a:xfrm>
          <a:prstGeom prst="rect">
            <a:avLst/>
          </a:prstGeom>
          <a:noFill/>
          <a:ln>
            <a:noFill/>
          </a:ln>
        </p:spPr>
        <p:txBody>
          <a:bodyPr anchorCtr="0" anchor="t" bIns="0" lIns="304800" spcFirstLastPara="1" rIns="0" wrap="square" tIns="0">
            <a:spAutoFit/>
          </a:bodyPr>
          <a:lstStyle/>
          <a:p>
            <a:pPr indent="0" lvl="0" marL="0" marR="0" rtl="0" algn="l">
              <a:spcBef>
                <a:spcPts val="0"/>
              </a:spcBef>
              <a:spcAft>
                <a:spcPts val="0"/>
              </a:spcAft>
              <a:buNone/>
            </a:pPr>
            <a:r>
              <a:rPr b="1" i="0" lang="en-US" sz="2100" u="none" cap="none" strike="noStrike">
                <a:solidFill>
                  <a:srgbClr val="2C3E50"/>
                </a:solidFill>
                <a:latin typeface="Cinzel"/>
                <a:ea typeface="Cinzel"/>
                <a:cs typeface="Cinzel"/>
                <a:sym typeface="Cinzel"/>
              </a:rPr>
              <a:t>Generative AI</a:t>
            </a:r>
            <a:endParaRPr/>
          </a:p>
        </p:txBody>
      </p:sp>
      <p:sp>
        <p:nvSpPr>
          <p:cNvPr id="118" name="Google Shape;118;p15"/>
          <p:cNvSpPr txBox="1"/>
          <p:nvPr/>
        </p:nvSpPr>
        <p:spPr>
          <a:xfrm>
            <a:off x="6677025" y="3462337"/>
            <a:ext cx="4543425"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A4A4A"/>
                </a:solidFill>
                <a:latin typeface="Lato"/>
                <a:ea typeface="Lato"/>
                <a:cs typeface="Lato"/>
                <a:sym typeface="Lato"/>
              </a:rPr>
              <a:t>Tools like text-to-image generators can "imagine" missing parts but suffer from "hallucinations." They frequently ignore physics and architectural rules, creating wobbly columns or inventing non-existent windows.</a:t>
            </a:r>
            <a:endParaRPr/>
          </a:p>
        </p:txBody>
      </p:sp>
      <p:pic>
        <p:nvPicPr>
          <p:cNvPr descr="image.png" id="119" name="Google Shape;119;p15"/>
          <p:cNvPicPr preferRelativeResize="0"/>
          <p:nvPr/>
        </p:nvPicPr>
        <p:blipFill rotWithShape="1">
          <a:blip r:embed="rId6">
            <a:alphaModFix/>
          </a:blip>
          <a:srcRect b="0" l="0" r="0" t="0"/>
          <a:stretch/>
        </p:blipFill>
        <p:spPr>
          <a:xfrm>
            <a:off x="971550" y="2805112"/>
            <a:ext cx="266700" cy="266700"/>
          </a:xfrm>
          <a:prstGeom prst="rect">
            <a:avLst/>
          </a:prstGeom>
          <a:noFill/>
          <a:ln>
            <a:noFill/>
          </a:ln>
        </p:spPr>
      </p:pic>
      <p:pic>
        <p:nvPicPr>
          <p:cNvPr descr="image.png" id="120" name="Google Shape;120;p15"/>
          <p:cNvPicPr preferRelativeResize="0"/>
          <p:nvPr/>
        </p:nvPicPr>
        <p:blipFill rotWithShape="1">
          <a:blip r:embed="rId7">
            <a:alphaModFix/>
          </a:blip>
          <a:srcRect b="0" l="0" r="0" t="0"/>
          <a:stretch/>
        </p:blipFill>
        <p:spPr>
          <a:xfrm>
            <a:off x="6677025" y="2805112"/>
            <a:ext cx="304800" cy="266700"/>
          </a:xfrm>
          <a:prstGeom prst="rect">
            <a:avLst/>
          </a:prstGeom>
          <a:noFill/>
          <a:ln>
            <a:noFill/>
          </a:ln>
        </p:spPr>
      </p:pic>
      <p:sp>
        <p:nvSpPr>
          <p:cNvPr id="121" name="Google Shape;121;p15"/>
          <p:cNvSpPr txBox="1"/>
          <p:nvPr/>
        </p:nvSpPr>
        <p:spPr>
          <a:xfrm>
            <a:off x="581025" y="581025"/>
            <a:ext cx="11581447"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800020"/>
                </a:solidFill>
                <a:latin typeface="Cinzel"/>
                <a:ea typeface="Cinzel"/>
                <a:cs typeface="Cinzel"/>
                <a:sym typeface="Cinzel"/>
              </a:rPr>
              <a:t>Current Approaches &amp; Limitations</a:t>
            </a:r>
            <a:endParaRPr/>
          </a:p>
        </p:txBody>
      </p:sp>
      <p:sp>
        <p:nvSpPr>
          <p:cNvPr id="122" name="Google Shape;122;p15"/>
          <p:cNvSpPr/>
          <p:nvPr/>
        </p:nvSpPr>
        <p:spPr>
          <a:xfrm>
            <a:off x="581025" y="1266825"/>
            <a:ext cx="11029950" cy="28575"/>
          </a:xfrm>
          <a:prstGeom prst="rect">
            <a:avLst/>
          </a:prstGeom>
          <a:solidFill>
            <a:srgbClr val="C5A0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2"/>
        </a:solidFill>
      </p:bgPr>
    </p:bg>
    <p:spTree>
      <p:nvGrpSpPr>
        <p:cNvPr id="126" name="Shape 126"/>
        <p:cNvGrpSpPr/>
        <p:nvPr/>
      </p:nvGrpSpPr>
      <p:grpSpPr>
        <a:xfrm>
          <a:off x="0" y="0"/>
          <a:ext cx="0" cy="0"/>
          <a:chOff x="0" y="0"/>
          <a:chExt cx="0" cy="0"/>
        </a:xfrm>
      </p:grpSpPr>
      <p:pic>
        <p:nvPicPr>
          <p:cNvPr descr="image.png" id="127" name="Google Shape;127;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8" name="Google Shape;128;p16"/>
          <p:cNvPicPr preferRelativeResize="0"/>
          <p:nvPr/>
        </p:nvPicPr>
        <p:blipFill rotWithShape="1">
          <a:blip r:embed="rId4">
            <a:alphaModFix/>
          </a:blip>
          <a:srcRect b="0" l="0" r="0" t="0"/>
          <a:stretch/>
        </p:blipFill>
        <p:spPr>
          <a:xfrm>
            <a:off x="581025" y="2000250"/>
            <a:ext cx="3486150" cy="3952875"/>
          </a:xfrm>
          <a:prstGeom prst="rect">
            <a:avLst/>
          </a:prstGeom>
          <a:noFill/>
          <a:ln>
            <a:noFill/>
          </a:ln>
        </p:spPr>
      </p:pic>
      <p:pic>
        <p:nvPicPr>
          <p:cNvPr descr="image.png" id="129" name="Google Shape;129;p16"/>
          <p:cNvPicPr preferRelativeResize="0"/>
          <p:nvPr/>
        </p:nvPicPr>
        <p:blipFill rotWithShape="1">
          <a:blip r:embed="rId5">
            <a:alphaModFix/>
          </a:blip>
          <a:srcRect b="0" l="0" r="0" t="0"/>
          <a:stretch/>
        </p:blipFill>
        <p:spPr>
          <a:xfrm>
            <a:off x="4352925" y="2000250"/>
            <a:ext cx="3486150" cy="3952875"/>
          </a:xfrm>
          <a:prstGeom prst="rect">
            <a:avLst/>
          </a:prstGeom>
          <a:noFill/>
          <a:ln>
            <a:noFill/>
          </a:ln>
        </p:spPr>
      </p:pic>
      <p:pic>
        <p:nvPicPr>
          <p:cNvPr descr="image.png" id="130" name="Google Shape;130;p16"/>
          <p:cNvPicPr preferRelativeResize="0"/>
          <p:nvPr/>
        </p:nvPicPr>
        <p:blipFill rotWithShape="1">
          <a:blip r:embed="rId6">
            <a:alphaModFix/>
          </a:blip>
          <a:srcRect b="0" l="0" r="0" t="0"/>
          <a:stretch/>
        </p:blipFill>
        <p:spPr>
          <a:xfrm>
            <a:off x="8124825" y="2000250"/>
            <a:ext cx="3486150" cy="3952875"/>
          </a:xfrm>
          <a:prstGeom prst="rect">
            <a:avLst/>
          </a:prstGeom>
          <a:noFill/>
          <a:ln>
            <a:noFill/>
          </a:ln>
        </p:spPr>
      </p:pic>
      <p:sp>
        <p:nvSpPr>
          <p:cNvPr id="131" name="Google Shape;131;p16"/>
          <p:cNvSpPr txBox="1"/>
          <p:nvPr/>
        </p:nvSpPr>
        <p:spPr>
          <a:xfrm>
            <a:off x="803910" y="3048000"/>
            <a:ext cx="3040380" cy="3524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2C3E50"/>
                </a:solidFill>
                <a:latin typeface="Cinzel"/>
                <a:ea typeface="Cinzel"/>
                <a:cs typeface="Cinzel"/>
                <a:sym typeface="Cinzel"/>
              </a:rPr>
              <a:t>Text Analysis (NLP)</a:t>
            </a:r>
            <a:endParaRPr/>
          </a:p>
        </p:txBody>
      </p:sp>
      <p:sp>
        <p:nvSpPr>
          <p:cNvPr id="132" name="Google Shape;132;p16"/>
          <p:cNvSpPr txBox="1"/>
          <p:nvPr/>
        </p:nvSpPr>
        <p:spPr>
          <a:xfrm>
            <a:off x="876300" y="3590925"/>
            <a:ext cx="2895600" cy="15240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A4A4A"/>
                </a:solidFill>
                <a:latin typeface="Lato"/>
                <a:ea typeface="Lato"/>
                <a:cs typeface="Lato"/>
                <a:sym typeface="Lato"/>
              </a:rPr>
              <a:t>AI extracts rigorous architectural facts (height, material, style) from historical texts like Vitruvius, converting vague descriptions into structured data.</a:t>
            </a:r>
            <a:endParaRPr/>
          </a:p>
        </p:txBody>
      </p:sp>
      <p:sp>
        <p:nvSpPr>
          <p:cNvPr id="133" name="Google Shape;133;p16"/>
          <p:cNvSpPr txBox="1"/>
          <p:nvPr/>
        </p:nvSpPr>
        <p:spPr>
          <a:xfrm>
            <a:off x="4575810" y="3048000"/>
            <a:ext cx="3040380" cy="704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2C3E50"/>
                </a:solidFill>
                <a:latin typeface="Cinzel"/>
                <a:ea typeface="Cinzel"/>
                <a:cs typeface="Cinzel"/>
                <a:sym typeface="Cinzel"/>
              </a:rPr>
              <a:t>Rule-Based Modeling</a:t>
            </a:r>
            <a:endParaRPr/>
          </a:p>
        </p:txBody>
      </p:sp>
      <p:sp>
        <p:nvSpPr>
          <p:cNvPr id="134" name="Google Shape;134;p16"/>
          <p:cNvSpPr txBox="1"/>
          <p:nvPr/>
        </p:nvSpPr>
        <p:spPr>
          <a:xfrm>
            <a:off x="4648200" y="3943350"/>
            <a:ext cx="2895600" cy="15240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A4A4A"/>
                </a:solidFill>
                <a:latin typeface="Lato"/>
                <a:ea typeface="Lato"/>
                <a:cs typeface="Lato"/>
                <a:sym typeface="Lato"/>
              </a:rPr>
              <a:t>A procedural engine converts data into precise 3D geometry. Instead of guessing, it builds using "architectural Lego blocks" defined by history.</a:t>
            </a:r>
            <a:endParaRPr/>
          </a:p>
        </p:txBody>
      </p:sp>
      <p:sp>
        <p:nvSpPr>
          <p:cNvPr id="135" name="Google Shape;135;p16"/>
          <p:cNvSpPr txBox="1"/>
          <p:nvPr/>
        </p:nvSpPr>
        <p:spPr>
          <a:xfrm>
            <a:off x="8347710" y="3048000"/>
            <a:ext cx="3040380" cy="3524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2C3E50"/>
                </a:solidFill>
                <a:latin typeface="Cinzel"/>
                <a:ea typeface="Cinzel"/>
                <a:cs typeface="Cinzel"/>
                <a:sym typeface="Cinzel"/>
              </a:rPr>
              <a:t>Hybrid Rendering</a:t>
            </a:r>
            <a:endParaRPr/>
          </a:p>
        </p:txBody>
      </p:sp>
      <p:sp>
        <p:nvSpPr>
          <p:cNvPr id="136" name="Google Shape;136;p16"/>
          <p:cNvSpPr txBox="1"/>
          <p:nvPr/>
        </p:nvSpPr>
        <p:spPr>
          <a:xfrm>
            <a:off x="8420100" y="3590925"/>
            <a:ext cx="2895600" cy="15240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A4A4A"/>
                </a:solidFill>
                <a:latin typeface="Lato"/>
                <a:ea typeface="Lato"/>
                <a:cs typeface="Lato"/>
                <a:sym typeface="Lato"/>
              </a:rPr>
              <a:t>Seamlessly blending solid, AI-generated reconstructions with NeRF scans of the real ruins, matched perfectly via Inverse Rendering.</a:t>
            </a:r>
            <a:endParaRPr/>
          </a:p>
        </p:txBody>
      </p:sp>
      <p:pic>
        <p:nvPicPr>
          <p:cNvPr descr="image.png" id="137" name="Google Shape;137;p16"/>
          <p:cNvPicPr preferRelativeResize="0"/>
          <p:nvPr/>
        </p:nvPicPr>
        <p:blipFill rotWithShape="1">
          <a:blip r:embed="rId7">
            <a:alphaModFix/>
          </a:blip>
          <a:srcRect b="0" l="0" r="0" t="0"/>
          <a:stretch/>
        </p:blipFill>
        <p:spPr>
          <a:xfrm>
            <a:off x="2066925" y="2352675"/>
            <a:ext cx="514350" cy="457200"/>
          </a:xfrm>
          <a:prstGeom prst="rect">
            <a:avLst/>
          </a:prstGeom>
          <a:noFill/>
          <a:ln>
            <a:noFill/>
          </a:ln>
        </p:spPr>
      </p:pic>
      <p:pic>
        <p:nvPicPr>
          <p:cNvPr descr="image.png" id="138" name="Google Shape;138;p16"/>
          <p:cNvPicPr preferRelativeResize="0"/>
          <p:nvPr/>
        </p:nvPicPr>
        <p:blipFill rotWithShape="1">
          <a:blip r:embed="rId8">
            <a:alphaModFix/>
          </a:blip>
          <a:srcRect b="0" l="0" r="0" t="0"/>
          <a:stretch/>
        </p:blipFill>
        <p:spPr>
          <a:xfrm>
            <a:off x="5838825" y="2352675"/>
            <a:ext cx="514350" cy="457200"/>
          </a:xfrm>
          <a:prstGeom prst="rect">
            <a:avLst/>
          </a:prstGeom>
          <a:noFill/>
          <a:ln>
            <a:noFill/>
          </a:ln>
        </p:spPr>
      </p:pic>
      <p:pic>
        <p:nvPicPr>
          <p:cNvPr descr="image.png" id="139" name="Google Shape;139;p16"/>
          <p:cNvPicPr preferRelativeResize="0"/>
          <p:nvPr/>
        </p:nvPicPr>
        <p:blipFill rotWithShape="1">
          <a:blip r:embed="rId9">
            <a:alphaModFix/>
          </a:blip>
          <a:srcRect b="0" l="0" r="0" t="0"/>
          <a:stretch/>
        </p:blipFill>
        <p:spPr>
          <a:xfrm>
            <a:off x="9610725" y="2352675"/>
            <a:ext cx="514350" cy="457200"/>
          </a:xfrm>
          <a:prstGeom prst="rect">
            <a:avLst/>
          </a:prstGeom>
          <a:noFill/>
          <a:ln>
            <a:noFill/>
          </a:ln>
        </p:spPr>
      </p:pic>
      <p:sp>
        <p:nvSpPr>
          <p:cNvPr id="140" name="Google Shape;140;p16"/>
          <p:cNvSpPr txBox="1"/>
          <p:nvPr/>
        </p:nvSpPr>
        <p:spPr>
          <a:xfrm>
            <a:off x="581025" y="581025"/>
            <a:ext cx="11581447"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800020"/>
                </a:solidFill>
                <a:latin typeface="Cinzel"/>
                <a:ea typeface="Cinzel"/>
                <a:cs typeface="Cinzel"/>
                <a:sym typeface="Cinzel"/>
              </a:rPr>
              <a:t>Our Synergistic Pipeline</a:t>
            </a:r>
            <a:endParaRPr/>
          </a:p>
        </p:txBody>
      </p:sp>
      <p:sp>
        <p:nvSpPr>
          <p:cNvPr id="141" name="Google Shape;141;p16"/>
          <p:cNvSpPr/>
          <p:nvPr/>
        </p:nvSpPr>
        <p:spPr>
          <a:xfrm>
            <a:off x="581025" y="1266825"/>
            <a:ext cx="11029950" cy="28575"/>
          </a:xfrm>
          <a:prstGeom prst="rect">
            <a:avLst/>
          </a:prstGeom>
          <a:solidFill>
            <a:srgbClr val="C5A0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2"/>
        </a:solidFill>
      </p:bgPr>
    </p:bg>
    <p:spTree>
      <p:nvGrpSpPr>
        <p:cNvPr id="145" name="Shape 145"/>
        <p:cNvGrpSpPr/>
        <p:nvPr/>
      </p:nvGrpSpPr>
      <p:grpSpPr>
        <a:xfrm>
          <a:off x="0" y="0"/>
          <a:ext cx="0" cy="0"/>
          <a:chOff x="0" y="0"/>
          <a:chExt cx="0" cy="0"/>
        </a:xfrm>
      </p:grpSpPr>
      <p:pic>
        <p:nvPicPr>
          <p:cNvPr descr="image.png" id="146" name="Google Shape;146;p17"/>
          <p:cNvPicPr preferRelativeResize="0"/>
          <p:nvPr/>
        </p:nvPicPr>
        <p:blipFill rotWithShape="1">
          <a:blip r:embed="rId3">
            <a:alphaModFix/>
          </a:blip>
          <a:srcRect b="0" l="0" r="0" t="0"/>
          <a:stretch/>
        </p:blipFill>
        <p:spPr>
          <a:xfrm>
            <a:off x="771525" y="5191125"/>
            <a:ext cx="4562475" cy="770632"/>
          </a:xfrm>
          <a:prstGeom prst="rect">
            <a:avLst/>
          </a:prstGeom>
          <a:noFill/>
          <a:ln>
            <a:noFill/>
          </a:ln>
        </p:spPr>
      </p:pic>
      <p:sp>
        <p:nvSpPr>
          <p:cNvPr id="147" name="Google Shape;147;p17"/>
          <p:cNvSpPr txBox="1"/>
          <p:nvPr/>
        </p:nvSpPr>
        <p:spPr>
          <a:xfrm>
            <a:off x="771525" y="771525"/>
            <a:ext cx="4790598" cy="11144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800020"/>
                </a:solidFill>
                <a:latin typeface="Cinzel"/>
                <a:ea typeface="Cinzel"/>
                <a:cs typeface="Cinzel"/>
                <a:sym typeface="Cinzel"/>
              </a:rPr>
              <a:t>The NeRF Foundation</a:t>
            </a:r>
            <a:endParaRPr/>
          </a:p>
        </p:txBody>
      </p:sp>
      <p:sp>
        <p:nvSpPr>
          <p:cNvPr id="148" name="Google Shape;148;p17"/>
          <p:cNvSpPr/>
          <p:nvPr/>
        </p:nvSpPr>
        <p:spPr>
          <a:xfrm>
            <a:off x="771525" y="2000250"/>
            <a:ext cx="4562475" cy="28575"/>
          </a:xfrm>
          <a:prstGeom prst="rect">
            <a:avLst/>
          </a:prstGeom>
          <a:solidFill>
            <a:srgbClr val="C5A0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 name="Google Shape;149;p17"/>
          <p:cNvSpPr txBox="1"/>
          <p:nvPr/>
        </p:nvSpPr>
        <p:spPr>
          <a:xfrm>
            <a:off x="771525" y="2600325"/>
            <a:ext cx="456247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A4A4A"/>
                </a:solidFill>
                <a:latin typeface="Lato"/>
                <a:ea typeface="Lato"/>
                <a:cs typeface="Lato"/>
                <a:sym typeface="Lato"/>
              </a:rPr>
              <a:t>We utilize Neural Radiance Fields (NeRF) to capture the complex, "fog-like" reality of archaeological sites. Unlike standard 3D meshes, NeRFs handle complex lighting and geometry with photorealistic accuracy.</a:t>
            </a:r>
            <a:endParaRPr/>
          </a:p>
        </p:txBody>
      </p:sp>
      <p:sp>
        <p:nvSpPr>
          <p:cNvPr id="150" name="Google Shape;150;p17"/>
          <p:cNvSpPr txBox="1"/>
          <p:nvPr/>
        </p:nvSpPr>
        <p:spPr>
          <a:xfrm>
            <a:off x="771525" y="4200525"/>
            <a:ext cx="45624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A4A4A"/>
                </a:solidFill>
                <a:latin typeface="Lato"/>
                <a:ea typeface="Lato"/>
                <a:cs typeface="Lato"/>
                <a:sym typeface="Lato"/>
              </a:rPr>
              <a:t>This volumetric data serves as the "Canvas" onto which our rule-based AI paints the missing "Solid" history.</a:t>
            </a:r>
            <a:endParaRPr/>
          </a:p>
        </p:txBody>
      </p:sp>
      <p:sp>
        <p:nvSpPr>
          <p:cNvPr id="151" name="Google Shape;151;p17"/>
          <p:cNvSpPr txBox="1"/>
          <p:nvPr/>
        </p:nvSpPr>
        <p:spPr>
          <a:xfrm>
            <a:off x="771525" y="6057007"/>
            <a:ext cx="4562475"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666666"/>
                </a:solidFill>
                <a:latin typeface="Lato"/>
                <a:ea typeface="Lato"/>
                <a:cs typeface="Lato"/>
                <a:sym typeface="Lato"/>
              </a:rPr>
              <a:t>*Standard NeRF volumetric rendering equation</a:t>
            </a:r>
            <a:endParaRPr/>
          </a:p>
        </p:txBody>
      </p:sp>
      <p:pic>
        <p:nvPicPr>
          <p:cNvPr descr="image.png" id="152" name="Google Shape;152;p17"/>
          <p:cNvPicPr preferRelativeResize="0"/>
          <p:nvPr/>
        </p:nvPicPr>
        <p:blipFill rotWithShape="1">
          <a:blip r:embed="rId4">
            <a:alphaModFix/>
          </a:blip>
          <a:srcRect b="0" l="0" r="0" t="0"/>
          <a:stretch/>
        </p:blipFill>
        <p:spPr>
          <a:xfrm>
            <a:off x="6096000" y="9525"/>
            <a:ext cx="6086475" cy="6858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2"/>
        </a:solidFill>
      </p:bgPr>
    </p:bg>
    <p:spTree>
      <p:nvGrpSpPr>
        <p:cNvPr id="156" name="Shape 156"/>
        <p:cNvGrpSpPr/>
        <p:nvPr/>
      </p:nvGrpSpPr>
      <p:grpSpPr>
        <a:xfrm>
          <a:off x="0" y="0"/>
          <a:ext cx="0" cy="0"/>
          <a:chOff x="0" y="0"/>
          <a:chExt cx="0" cy="0"/>
        </a:xfrm>
      </p:grpSpPr>
      <p:pic>
        <p:nvPicPr>
          <p:cNvPr descr="image.png" id="157" name="Google Shape;157;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8" name="Google Shape;158;p18"/>
          <p:cNvPicPr preferRelativeResize="0"/>
          <p:nvPr/>
        </p:nvPicPr>
        <p:blipFill rotWithShape="1">
          <a:blip r:embed="rId4">
            <a:alphaModFix/>
          </a:blip>
          <a:srcRect b="0" l="0" r="0" t="0"/>
          <a:stretch/>
        </p:blipFill>
        <p:spPr>
          <a:xfrm>
            <a:off x="6334125" y="2071687"/>
            <a:ext cx="5276850" cy="3810000"/>
          </a:xfrm>
          <a:prstGeom prst="rect">
            <a:avLst/>
          </a:prstGeom>
          <a:noFill/>
          <a:ln>
            <a:noFill/>
          </a:ln>
        </p:spPr>
      </p:pic>
      <p:sp>
        <p:nvSpPr>
          <p:cNvPr id="159" name="Google Shape;159;p18"/>
          <p:cNvSpPr txBox="1"/>
          <p:nvPr/>
        </p:nvSpPr>
        <p:spPr>
          <a:xfrm>
            <a:off x="581025" y="2528887"/>
            <a:ext cx="52768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A4A4A"/>
                </a:solidFill>
                <a:latin typeface="Lato"/>
                <a:ea typeface="Lato"/>
                <a:cs typeface="Lato"/>
                <a:sym typeface="Lato"/>
              </a:rPr>
              <a:t>Instead of allowing AI to "be creative," we force it to be an architect.</a:t>
            </a:r>
            <a:endParaRPr/>
          </a:p>
        </p:txBody>
      </p:sp>
      <p:pic>
        <p:nvPicPr>
          <p:cNvPr descr="image.png" id="160" name="Google Shape;160;p18"/>
          <p:cNvPicPr preferRelativeResize="0"/>
          <p:nvPr/>
        </p:nvPicPr>
        <p:blipFill rotWithShape="1">
          <a:blip r:embed="rId5">
            <a:alphaModFix/>
          </a:blip>
          <a:srcRect b="0" l="0" r="0" t="0"/>
          <a:stretch/>
        </p:blipFill>
        <p:spPr>
          <a:xfrm>
            <a:off x="6372225" y="2109787"/>
            <a:ext cx="5200650" cy="3733800"/>
          </a:xfrm>
          <a:prstGeom prst="rect">
            <a:avLst/>
          </a:prstGeom>
          <a:noFill/>
          <a:ln>
            <a:noFill/>
          </a:ln>
        </p:spPr>
      </p:pic>
      <p:sp>
        <p:nvSpPr>
          <p:cNvPr id="161" name="Google Shape;161;p18"/>
          <p:cNvSpPr txBox="1"/>
          <p:nvPr/>
        </p:nvSpPr>
        <p:spPr>
          <a:xfrm>
            <a:off x="847725" y="3328987"/>
            <a:ext cx="1143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4A4A4A"/>
                </a:solidFill>
                <a:latin typeface="Lato"/>
                <a:ea typeface="Lato"/>
                <a:cs typeface="Lato"/>
                <a:sym typeface="Lato"/>
              </a:rPr>
              <a:t>•</a:t>
            </a:r>
            <a:endParaRPr/>
          </a:p>
        </p:txBody>
      </p:sp>
      <p:sp>
        <p:nvSpPr>
          <p:cNvPr id="162" name="Google Shape;162;p18"/>
          <p:cNvSpPr txBox="1"/>
          <p:nvPr/>
        </p:nvSpPr>
        <p:spPr>
          <a:xfrm>
            <a:off x="962025" y="3328987"/>
            <a:ext cx="4895850" cy="304800"/>
          </a:xfrm>
          <a:prstGeom prst="rect">
            <a:avLst/>
          </a:prstGeom>
          <a:noFill/>
          <a:ln>
            <a:noFill/>
          </a:ln>
        </p:spPr>
        <p:txBody>
          <a:bodyPr anchorCtr="0" anchor="t" bIns="0" lIns="11430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4A4A4A"/>
                </a:solidFill>
                <a:latin typeface="Lato"/>
                <a:ea typeface="Lato"/>
                <a:cs typeface="Lato"/>
                <a:sym typeface="Lato"/>
              </a:rPr>
              <a:t>Input:</a:t>
            </a:r>
            <a:r>
              <a:rPr b="0" i="0" lang="en-US" sz="1500" u="none" cap="none" strike="noStrike">
                <a:solidFill>
                  <a:srgbClr val="4A4A4A"/>
                </a:solidFill>
                <a:latin typeface="Lato"/>
                <a:ea typeface="Lato"/>
                <a:cs typeface="Lato"/>
                <a:sym typeface="Lato"/>
              </a:rPr>
              <a:t> "Corinthian Column, 12.5m height, Granite."</a:t>
            </a:r>
            <a:endParaRPr/>
          </a:p>
        </p:txBody>
      </p:sp>
      <p:sp>
        <p:nvSpPr>
          <p:cNvPr id="163" name="Google Shape;163;p18"/>
          <p:cNvSpPr txBox="1"/>
          <p:nvPr/>
        </p:nvSpPr>
        <p:spPr>
          <a:xfrm>
            <a:off x="847725" y="3633787"/>
            <a:ext cx="1143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4A4A4A"/>
                </a:solidFill>
                <a:latin typeface="Lato"/>
                <a:ea typeface="Lato"/>
                <a:cs typeface="Lato"/>
                <a:sym typeface="Lato"/>
              </a:rPr>
              <a:t>•</a:t>
            </a:r>
            <a:endParaRPr/>
          </a:p>
        </p:txBody>
      </p:sp>
      <p:sp>
        <p:nvSpPr>
          <p:cNvPr id="164" name="Google Shape;164;p18"/>
          <p:cNvSpPr txBox="1"/>
          <p:nvPr/>
        </p:nvSpPr>
        <p:spPr>
          <a:xfrm>
            <a:off x="962025" y="3633787"/>
            <a:ext cx="4895850" cy="914400"/>
          </a:xfrm>
          <a:prstGeom prst="rect">
            <a:avLst/>
          </a:prstGeom>
          <a:noFill/>
          <a:ln>
            <a:noFill/>
          </a:ln>
        </p:spPr>
        <p:txBody>
          <a:bodyPr anchorCtr="0" anchor="t" bIns="0" lIns="11430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4A4A4A"/>
                </a:solidFill>
                <a:latin typeface="Lato"/>
                <a:ea typeface="Lato"/>
                <a:cs typeface="Lato"/>
                <a:sym typeface="Lato"/>
              </a:rPr>
              <a:t>Process:</a:t>
            </a:r>
            <a:r>
              <a:rPr b="0" i="0" lang="en-US" sz="1500" u="none" cap="none" strike="noStrike">
                <a:solidFill>
                  <a:srgbClr val="4A4A4A"/>
                </a:solidFill>
                <a:latin typeface="Lato"/>
                <a:ea typeface="Lato"/>
                <a:cs typeface="Lato"/>
                <a:sym typeface="Lato"/>
              </a:rPr>
              <a:t> The system retrieves the specific mathematical rules for a Corinthian capital and extrudes the shaft to exact specifications.</a:t>
            </a:r>
            <a:endParaRPr/>
          </a:p>
        </p:txBody>
      </p:sp>
      <p:sp>
        <p:nvSpPr>
          <p:cNvPr id="165" name="Google Shape;165;p18"/>
          <p:cNvSpPr txBox="1"/>
          <p:nvPr/>
        </p:nvSpPr>
        <p:spPr>
          <a:xfrm>
            <a:off x="847725" y="4548187"/>
            <a:ext cx="1143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4A4A4A"/>
                </a:solidFill>
                <a:latin typeface="Lato"/>
                <a:ea typeface="Lato"/>
                <a:cs typeface="Lato"/>
                <a:sym typeface="Lato"/>
              </a:rPr>
              <a:t>•</a:t>
            </a:r>
            <a:endParaRPr/>
          </a:p>
        </p:txBody>
      </p:sp>
      <p:sp>
        <p:nvSpPr>
          <p:cNvPr id="166" name="Google Shape;166;p18"/>
          <p:cNvSpPr txBox="1"/>
          <p:nvPr/>
        </p:nvSpPr>
        <p:spPr>
          <a:xfrm>
            <a:off x="962025" y="4548187"/>
            <a:ext cx="4895850" cy="914400"/>
          </a:xfrm>
          <a:prstGeom prst="rect">
            <a:avLst/>
          </a:prstGeom>
          <a:noFill/>
          <a:ln>
            <a:noFill/>
          </a:ln>
        </p:spPr>
        <p:txBody>
          <a:bodyPr anchorCtr="0" anchor="t" bIns="0" lIns="11430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4A4A4A"/>
                </a:solidFill>
                <a:latin typeface="Lato"/>
                <a:ea typeface="Lato"/>
                <a:cs typeface="Lato"/>
                <a:sym typeface="Lato"/>
              </a:rPr>
              <a:t>Outcome:</a:t>
            </a:r>
            <a:r>
              <a:rPr b="0" i="0" lang="en-US" sz="1500" u="none" cap="none" strike="noStrike">
                <a:solidFill>
                  <a:srgbClr val="4A4A4A"/>
                </a:solidFill>
                <a:latin typeface="Lato"/>
                <a:ea typeface="Lato"/>
                <a:cs typeface="Lato"/>
                <a:sym typeface="Lato"/>
              </a:rPr>
              <a:t> Mathematically perfect geometry that respects physics and historical accuracy, unlike wobbly generative meshes.</a:t>
            </a:r>
            <a:endParaRPr/>
          </a:p>
        </p:txBody>
      </p:sp>
      <p:sp>
        <p:nvSpPr>
          <p:cNvPr id="167" name="Google Shape;167;p18"/>
          <p:cNvSpPr txBox="1"/>
          <p:nvPr/>
        </p:nvSpPr>
        <p:spPr>
          <a:xfrm>
            <a:off x="581025" y="581025"/>
            <a:ext cx="11581447"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800020"/>
                </a:solidFill>
                <a:latin typeface="Cinzel"/>
                <a:ea typeface="Cinzel"/>
                <a:cs typeface="Cinzel"/>
                <a:sym typeface="Cinzel"/>
              </a:rPr>
              <a:t>Logic-Driven Reconstruction</a:t>
            </a:r>
            <a:endParaRPr/>
          </a:p>
        </p:txBody>
      </p:sp>
      <p:sp>
        <p:nvSpPr>
          <p:cNvPr id="168" name="Google Shape;168;p18"/>
          <p:cNvSpPr/>
          <p:nvPr/>
        </p:nvSpPr>
        <p:spPr>
          <a:xfrm>
            <a:off x="581025" y="1266825"/>
            <a:ext cx="11029950" cy="28575"/>
          </a:xfrm>
          <a:prstGeom prst="rect">
            <a:avLst/>
          </a:prstGeom>
          <a:solidFill>
            <a:srgbClr val="C5A0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2"/>
        </a:solidFill>
      </p:bgPr>
    </p:bg>
    <p:spTree>
      <p:nvGrpSpPr>
        <p:cNvPr id="172" name="Shape 172"/>
        <p:cNvGrpSpPr/>
        <p:nvPr/>
      </p:nvGrpSpPr>
      <p:grpSpPr>
        <a:xfrm>
          <a:off x="0" y="0"/>
          <a:ext cx="0" cy="0"/>
          <a:chOff x="0" y="0"/>
          <a:chExt cx="0" cy="0"/>
        </a:xfrm>
      </p:grpSpPr>
      <p:pic>
        <p:nvPicPr>
          <p:cNvPr descr="image.png" id="173" name="Google Shape;173;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4" name="Google Shape;174;p19"/>
          <p:cNvPicPr preferRelativeResize="0"/>
          <p:nvPr/>
        </p:nvPicPr>
        <p:blipFill rotWithShape="1">
          <a:blip r:embed="rId4">
            <a:alphaModFix/>
          </a:blip>
          <a:srcRect b="0" l="0" r="0" t="0"/>
          <a:stretch/>
        </p:blipFill>
        <p:spPr>
          <a:xfrm>
            <a:off x="581025" y="2295525"/>
            <a:ext cx="11029950" cy="2266950"/>
          </a:xfrm>
          <a:prstGeom prst="rect">
            <a:avLst/>
          </a:prstGeom>
          <a:noFill/>
          <a:ln>
            <a:noFill/>
          </a:ln>
        </p:spPr>
      </p:pic>
      <p:sp>
        <p:nvSpPr>
          <p:cNvPr id="175" name="Google Shape;175;p19"/>
          <p:cNvSpPr txBox="1"/>
          <p:nvPr/>
        </p:nvSpPr>
        <p:spPr>
          <a:xfrm>
            <a:off x="815340" y="2781300"/>
            <a:ext cx="10561320" cy="30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FFFFFF"/>
                </a:solidFill>
                <a:latin typeface="Cinzel"/>
                <a:ea typeface="Cinzel"/>
                <a:cs typeface="Cinzel"/>
                <a:sym typeface="Cinzel"/>
              </a:rPr>
              <a:t>Immersive "AI Multiverse"</a:t>
            </a:r>
            <a:endParaRPr/>
          </a:p>
        </p:txBody>
      </p:sp>
      <p:sp>
        <p:nvSpPr>
          <p:cNvPr id="176" name="Google Shape;176;p19"/>
          <p:cNvSpPr txBox="1"/>
          <p:nvPr/>
        </p:nvSpPr>
        <p:spPr>
          <a:xfrm>
            <a:off x="1066800" y="3276600"/>
            <a:ext cx="10058400" cy="60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F0F0F0"/>
                </a:solidFill>
                <a:latin typeface="Lato"/>
                <a:ea typeface="Lato"/>
                <a:cs typeface="Lato"/>
                <a:sym typeface="Lato"/>
              </a:rPr>
              <a:t>Moving beyond static screens to full VR immersion. Users can step into the past, toggle between the "Ruined" state and the "Reconstructed" state, and visualize different historical possibilities with scientific confidence.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2"/>
        </a:solidFill>
      </p:bgPr>
    </p:bg>
    <p:spTree>
      <p:nvGrpSpPr>
        <p:cNvPr id="180" name="Shape 180"/>
        <p:cNvGrpSpPr/>
        <p:nvPr/>
      </p:nvGrpSpPr>
      <p:grpSpPr>
        <a:xfrm>
          <a:off x="0" y="0"/>
          <a:ext cx="0" cy="0"/>
          <a:chOff x="0" y="0"/>
          <a:chExt cx="0" cy="0"/>
        </a:xfrm>
      </p:grpSpPr>
      <p:pic>
        <p:nvPicPr>
          <p:cNvPr descr="image.png" id="181" name="Google Shape;181;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2" name="Google Shape;182;p20"/>
          <p:cNvPicPr preferRelativeResize="0"/>
          <p:nvPr/>
        </p:nvPicPr>
        <p:blipFill rotWithShape="1">
          <a:blip r:embed="rId4">
            <a:alphaModFix/>
          </a:blip>
          <a:srcRect b="0" l="0" r="0" t="0"/>
          <a:stretch/>
        </p:blipFill>
        <p:spPr>
          <a:xfrm>
            <a:off x="581025" y="2986087"/>
            <a:ext cx="3486150" cy="2381250"/>
          </a:xfrm>
          <a:prstGeom prst="rect">
            <a:avLst/>
          </a:prstGeom>
          <a:noFill/>
          <a:ln>
            <a:noFill/>
          </a:ln>
        </p:spPr>
      </p:pic>
      <p:pic>
        <p:nvPicPr>
          <p:cNvPr descr="image.png" id="183" name="Google Shape;183;p20"/>
          <p:cNvPicPr preferRelativeResize="0"/>
          <p:nvPr/>
        </p:nvPicPr>
        <p:blipFill rotWithShape="1">
          <a:blip r:embed="rId5">
            <a:alphaModFix/>
          </a:blip>
          <a:srcRect b="0" l="0" r="0" t="0"/>
          <a:stretch/>
        </p:blipFill>
        <p:spPr>
          <a:xfrm>
            <a:off x="4352925" y="2986087"/>
            <a:ext cx="3486150" cy="2381250"/>
          </a:xfrm>
          <a:prstGeom prst="rect">
            <a:avLst/>
          </a:prstGeom>
          <a:noFill/>
          <a:ln>
            <a:noFill/>
          </a:ln>
        </p:spPr>
      </p:pic>
      <p:pic>
        <p:nvPicPr>
          <p:cNvPr descr="image.png" id="184" name="Google Shape;184;p20"/>
          <p:cNvPicPr preferRelativeResize="0"/>
          <p:nvPr/>
        </p:nvPicPr>
        <p:blipFill rotWithShape="1">
          <a:blip r:embed="rId6">
            <a:alphaModFix/>
          </a:blip>
          <a:srcRect b="0" l="0" r="0" t="0"/>
          <a:stretch/>
        </p:blipFill>
        <p:spPr>
          <a:xfrm>
            <a:off x="8124825" y="2986087"/>
            <a:ext cx="3486150" cy="2381250"/>
          </a:xfrm>
          <a:prstGeom prst="rect">
            <a:avLst/>
          </a:prstGeom>
          <a:noFill/>
          <a:ln>
            <a:noFill/>
          </a:ln>
        </p:spPr>
      </p:pic>
      <p:sp>
        <p:nvSpPr>
          <p:cNvPr id="185" name="Google Shape;185;p20"/>
          <p:cNvSpPr txBox="1"/>
          <p:nvPr/>
        </p:nvSpPr>
        <p:spPr>
          <a:xfrm>
            <a:off x="581025" y="2090737"/>
            <a:ext cx="7620000" cy="60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A4A4A"/>
                </a:solidFill>
                <a:latin typeface="Lato"/>
                <a:ea typeface="Lato"/>
                <a:cs typeface="Lato"/>
                <a:sym typeface="Lato"/>
              </a:rPr>
              <a:t>To validate accuracy, we digitally destroyed 40% of the Temple of Hephaestus model and tasked our AI with rebuilding it using only text descriptions.</a:t>
            </a:r>
            <a:endParaRPr/>
          </a:p>
        </p:txBody>
      </p:sp>
      <p:sp>
        <p:nvSpPr>
          <p:cNvPr id="186" name="Google Shape;186;p20"/>
          <p:cNvSpPr txBox="1"/>
          <p:nvPr/>
        </p:nvSpPr>
        <p:spPr>
          <a:xfrm>
            <a:off x="581025" y="5557837"/>
            <a:ext cx="3486150"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A4A4A"/>
                </a:solidFill>
                <a:latin typeface="Lato"/>
                <a:ea typeface="Lato"/>
                <a:cs typeface="Lato"/>
                <a:sym typeface="Lato"/>
              </a:rPr>
              <a:t>Original Model</a:t>
            </a:r>
            <a:endParaRPr/>
          </a:p>
        </p:txBody>
      </p:sp>
      <p:sp>
        <p:nvSpPr>
          <p:cNvPr id="187" name="Google Shape;187;p20"/>
          <p:cNvSpPr txBox="1"/>
          <p:nvPr/>
        </p:nvSpPr>
        <p:spPr>
          <a:xfrm>
            <a:off x="4352925" y="5557837"/>
            <a:ext cx="3486150"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A4A4A"/>
                </a:solidFill>
                <a:latin typeface="Lato"/>
                <a:ea typeface="Lato"/>
                <a:cs typeface="Lato"/>
                <a:sym typeface="Lato"/>
              </a:rPr>
              <a:t>AI Reconstruction</a:t>
            </a:r>
            <a:endParaRPr/>
          </a:p>
        </p:txBody>
      </p:sp>
      <p:sp>
        <p:nvSpPr>
          <p:cNvPr id="188" name="Google Shape;188;p20"/>
          <p:cNvSpPr txBox="1"/>
          <p:nvPr/>
        </p:nvSpPr>
        <p:spPr>
          <a:xfrm>
            <a:off x="8124825" y="5557837"/>
            <a:ext cx="3486150"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A4A4A"/>
                </a:solidFill>
                <a:latin typeface="Lato"/>
                <a:ea typeface="Lato"/>
                <a:cs typeface="Lato"/>
                <a:sym typeface="Lato"/>
              </a:rPr>
              <a:t>Truth Heatmap</a:t>
            </a:r>
            <a:endParaRPr/>
          </a:p>
        </p:txBody>
      </p:sp>
      <p:pic>
        <p:nvPicPr>
          <p:cNvPr descr="image.png" id="189" name="Google Shape;189;p20"/>
          <p:cNvPicPr preferRelativeResize="0"/>
          <p:nvPr/>
        </p:nvPicPr>
        <p:blipFill rotWithShape="1">
          <a:blip r:embed="rId7">
            <a:alphaModFix/>
          </a:blip>
          <a:srcRect b="0" l="0" r="0" t="0"/>
          <a:stretch/>
        </p:blipFill>
        <p:spPr>
          <a:xfrm>
            <a:off x="619125" y="3024187"/>
            <a:ext cx="3409950" cy="2305050"/>
          </a:xfrm>
          <a:prstGeom prst="rect">
            <a:avLst/>
          </a:prstGeom>
          <a:noFill/>
          <a:ln>
            <a:noFill/>
          </a:ln>
        </p:spPr>
      </p:pic>
      <p:pic>
        <p:nvPicPr>
          <p:cNvPr descr="image.png" id="190" name="Google Shape;190;p20"/>
          <p:cNvPicPr preferRelativeResize="0"/>
          <p:nvPr/>
        </p:nvPicPr>
        <p:blipFill rotWithShape="1">
          <a:blip r:embed="rId8">
            <a:alphaModFix/>
          </a:blip>
          <a:srcRect b="0" l="0" r="0" t="0"/>
          <a:stretch/>
        </p:blipFill>
        <p:spPr>
          <a:xfrm>
            <a:off x="4391025" y="3024187"/>
            <a:ext cx="3409950" cy="2305050"/>
          </a:xfrm>
          <a:prstGeom prst="rect">
            <a:avLst/>
          </a:prstGeom>
          <a:noFill/>
          <a:ln>
            <a:noFill/>
          </a:ln>
        </p:spPr>
      </p:pic>
      <p:pic>
        <p:nvPicPr>
          <p:cNvPr descr="image.png" id="191" name="Google Shape;191;p20"/>
          <p:cNvPicPr preferRelativeResize="0"/>
          <p:nvPr/>
        </p:nvPicPr>
        <p:blipFill rotWithShape="1">
          <a:blip r:embed="rId9">
            <a:alphaModFix/>
          </a:blip>
          <a:srcRect b="0" l="0" r="0" t="0"/>
          <a:stretch/>
        </p:blipFill>
        <p:spPr>
          <a:xfrm>
            <a:off x="8162925" y="3024187"/>
            <a:ext cx="3409950" cy="2305050"/>
          </a:xfrm>
          <a:prstGeom prst="rect">
            <a:avLst/>
          </a:prstGeom>
          <a:noFill/>
          <a:ln>
            <a:noFill/>
          </a:ln>
        </p:spPr>
      </p:pic>
      <p:sp>
        <p:nvSpPr>
          <p:cNvPr id="192" name="Google Shape;192;p20"/>
          <p:cNvSpPr txBox="1"/>
          <p:nvPr/>
        </p:nvSpPr>
        <p:spPr>
          <a:xfrm>
            <a:off x="581025" y="581025"/>
            <a:ext cx="11581447"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800020"/>
                </a:solidFill>
                <a:latin typeface="Cinzel"/>
                <a:ea typeface="Cinzel"/>
                <a:cs typeface="Cinzel"/>
                <a:sym typeface="Cinzel"/>
              </a:rPr>
              <a:t>Validation: The "Destruction Test"</a:t>
            </a:r>
            <a:endParaRPr/>
          </a:p>
        </p:txBody>
      </p:sp>
      <p:sp>
        <p:nvSpPr>
          <p:cNvPr id="193" name="Google Shape;193;p20"/>
          <p:cNvSpPr/>
          <p:nvPr/>
        </p:nvSpPr>
        <p:spPr>
          <a:xfrm>
            <a:off x="581025" y="1266825"/>
            <a:ext cx="11029950" cy="28575"/>
          </a:xfrm>
          <a:prstGeom prst="rect">
            <a:avLst/>
          </a:prstGeom>
          <a:solidFill>
            <a:srgbClr val="C5A0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2"/>
        </a:solidFill>
      </p:bgPr>
    </p:bg>
    <p:spTree>
      <p:nvGrpSpPr>
        <p:cNvPr id="197" name="Shape 197"/>
        <p:cNvGrpSpPr/>
        <p:nvPr/>
      </p:nvGrpSpPr>
      <p:grpSpPr>
        <a:xfrm>
          <a:off x="0" y="0"/>
          <a:ext cx="0" cy="0"/>
          <a:chOff x="0" y="0"/>
          <a:chExt cx="0" cy="0"/>
        </a:xfrm>
      </p:grpSpPr>
      <p:pic>
        <p:nvPicPr>
          <p:cNvPr descr="image.png" id="198" name="Google Shape;198;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9" name="Google Shape;199;p21"/>
          <p:cNvPicPr preferRelativeResize="0"/>
          <p:nvPr/>
        </p:nvPicPr>
        <p:blipFill rotWithShape="1">
          <a:blip r:embed="rId4">
            <a:alphaModFix/>
          </a:blip>
          <a:srcRect b="0" l="0" r="0" t="0"/>
          <a:stretch/>
        </p:blipFill>
        <p:spPr>
          <a:xfrm>
            <a:off x="581025" y="1676400"/>
            <a:ext cx="11029950" cy="4600575"/>
          </a:xfrm>
          <a:prstGeom prst="rect">
            <a:avLst/>
          </a:prstGeom>
          <a:noFill/>
          <a:ln>
            <a:noFill/>
          </a:ln>
        </p:spPr>
      </p:pic>
      <p:sp>
        <p:nvSpPr>
          <p:cNvPr id="200" name="Google Shape;200;p21"/>
          <p:cNvSpPr txBox="1"/>
          <p:nvPr/>
        </p:nvSpPr>
        <p:spPr>
          <a:xfrm>
            <a:off x="581025" y="4171950"/>
            <a:ext cx="11029950" cy="60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1" lang="en-US" sz="1500" u="none" cap="none" strike="noStrike">
                <a:solidFill>
                  <a:srgbClr val="4A4A4A"/>
                </a:solidFill>
                <a:latin typeface="Lato"/>
                <a:ea typeface="Lato"/>
                <a:cs typeface="Lato"/>
                <a:sym typeface="Lato"/>
              </a:rPr>
              <a:t>Our logic-driven approach resulted in a 10x reduction in geometric error compared to standard creative AI models. The AI correctly identified building materials and sizes 92% of the time.</a:t>
            </a:r>
            <a:endParaRPr/>
          </a:p>
        </p:txBody>
      </p:sp>
      <p:sp>
        <p:nvSpPr>
          <p:cNvPr id="201" name="Google Shape;201;p21"/>
          <p:cNvSpPr txBox="1"/>
          <p:nvPr/>
        </p:nvSpPr>
        <p:spPr>
          <a:xfrm>
            <a:off x="581025" y="581025"/>
            <a:ext cx="11581447"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800020"/>
                </a:solidFill>
                <a:latin typeface="Cinzel"/>
                <a:ea typeface="Cinzel"/>
                <a:cs typeface="Cinzel"/>
                <a:sym typeface="Cinzel"/>
              </a:rPr>
              <a:t>Performance: Accuracy &amp; Precision</a:t>
            </a:r>
            <a:endParaRPr/>
          </a:p>
        </p:txBody>
      </p:sp>
      <p:sp>
        <p:nvSpPr>
          <p:cNvPr id="202" name="Google Shape;202;p21"/>
          <p:cNvSpPr/>
          <p:nvPr/>
        </p:nvSpPr>
        <p:spPr>
          <a:xfrm>
            <a:off x="581025" y="1266825"/>
            <a:ext cx="11029950" cy="28575"/>
          </a:xfrm>
          <a:prstGeom prst="rect">
            <a:avLst/>
          </a:prstGeom>
          <a:solidFill>
            <a:srgbClr val="C5A0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2"/>
        </a:solidFill>
      </p:bgPr>
    </p:bg>
    <p:spTree>
      <p:nvGrpSpPr>
        <p:cNvPr id="206" name="Shape 206"/>
        <p:cNvGrpSpPr/>
        <p:nvPr/>
      </p:nvGrpSpPr>
      <p:grpSpPr>
        <a:xfrm>
          <a:off x="0" y="0"/>
          <a:ext cx="0" cy="0"/>
          <a:chOff x="0" y="0"/>
          <a:chExt cx="0" cy="0"/>
        </a:xfrm>
      </p:grpSpPr>
      <p:pic>
        <p:nvPicPr>
          <p:cNvPr descr="image.png" id="207" name="Google Shape;207;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08" name="Google Shape;208;p22"/>
          <p:cNvSpPr txBox="1"/>
          <p:nvPr/>
        </p:nvSpPr>
        <p:spPr>
          <a:xfrm>
            <a:off x="581025" y="3296691"/>
            <a:ext cx="8823870" cy="479970"/>
          </a:xfrm>
          <a:prstGeom prst="rect">
            <a:avLst/>
          </a:prstGeom>
          <a:noFill/>
          <a:ln>
            <a:noFill/>
          </a:ln>
        </p:spPr>
        <p:txBody>
          <a:bodyPr anchorCtr="0" anchor="t" bIns="0" lIns="0" spcFirstLastPara="1" rIns="0" wrap="square" tIns="0">
            <a:spAutoFit/>
          </a:bodyPr>
          <a:lstStyle/>
          <a:p>
            <a:pPr indent="0" lvl="0" marL="0" marR="0" rtl="0" algn="ctr">
              <a:lnSpc>
                <a:spcPct val="139962"/>
              </a:lnSpc>
              <a:spcBef>
                <a:spcPts val="0"/>
              </a:spcBef>
              <a:spcAft>
                <a:spcPts val="0"/>
              </a:spcAft>
              <a:buNone/>
            </a:pPr>
            <a:r>
              <a:rPr b="0" i="0" lang="en-US" sz="2700" u="none" cap="none" strike="noStrike">
                <a:solidFill>
                  <a:srgbClr val="2C3E50"/>
                </a:solidFill>
                <a:latin typeface="Cinzel"/>
                <a:ea typeface="Cinzel"/>
                <a:cs typeface="Cinzel"/>
                <a:sym typeface="Cinzel"/>
              </a:rPr>
              <a:t>Moving digital heritage from "Art" to "Science."</a:t>
            </a:r>
            <a:endParaRPr/>
          </a:p>
        </p:txBody>
      </p:sp>
      <p:sp>
        <p:nvSpPr>
          <p:cNvPr id="209" name="Google Shape;209;p22"/>
          <p:cNvSpPr txBox="1"/>
          <p:nvPr/>
        </p:nvSpPr>
        <p:spPr>
          <a:xfrm>
            <a:off x="581025" y="4157662"/>
            <a:ext cx="8823870" cy="67032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4A4A4A"/>
                </a:solidFill>
                <a:latin typeface="Lato"/>
                <a:ea typeface="Lato"/>
                <a:cs typeface="Lato"/>
                <a:sym typeface="Lato"/>
              </a:rPr>
              <a:t>By enforcing strict architectural rules, we prevent AI hallucinations, allowing users to visit scientifically accurate "Digital Twins" of lost civilizations.</a:t>
            </a:r>
            <a:endParaRPr/>
          </a:p>
        </p:txBody>
      </p:sp>
      <p:sp>
        <p:nvSpPr>
          <p:cNvPr id="210" name="Google Shape;210;p22"/>
          <p:cNvSpPr txBox="1"/>
          <p:nvPr/>
        </p:nvSpPr>
        <p:spPr>
          <a:xfrm>
            <a:off x="200025" y="2725191"/>
            <a:ext cx="361950" cy="15430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9000" u="none" cap="none" strike="noStrike">
                <a:solidFill>
                  <a:srgbClr val="C5A059"/>
                </a:solidFill>
                <a:latin typeface="Cinzel"/>
                <a:ea typeface="Cinzel"/>
                <a:cs typeface="Cinzel"/>
                <a:sym typeface="Cinzel"/>
              </a:rPr>
              <a:t>"</a:t>
            </a:r>
            <a:endParaRPr/>
          </a:p>
        </p:txBody>
      </p:sp>
      <p:sp>
        <p:nvSpPr>
          <p:cNvPr id="211" name="Google Shape;211;p22"/>
          <p:cNvSpPr txBox="1"/>
          <p:nvPr/>
        </p:nvSpPr>
        <p:spPr>
          <a:xfrm>
            <a:off x="581025" y="581025"/>
            <a:ext cx="11581447"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800020"/>
                </a:solidFill>
                <a:latin typeface="Cinzel"/>
                <a:ea typeface="Cinzel"/>
                <a:cs typeface="Cinzel"/>
                <a:sym typeface="Cinzel"/>
              </a:rPr>
              <a:t>Significance of the Study</a:t>
            </a:r>
            <a:endParaRPr/>
          </a:p>
        </p:txBody>
      </p:sp>
      <p:sp>
        <p:nvSpPr>
          <p:cNvPr id="212" name="Google Shape;212;p22"/>
          <p:cNvSpPr/>
          <p:nvPr/>
        </p:nvSpPr>
        <p:spPr>
          <a:xfrm>
            <a:off x="581025" y="1266825"/>
            <a:ext cx="11029950" cy="28575"/>
          </a:xfrm>
          <a:prstGeom prst="rect">
            <a:avLst/>
          </a:prstGeom>
          <a:solidFill>
            <a:srgbClr val="C5A0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2"/>
        </a:solidFill>
      </p:bgPr>
    </p:bg>
    <p:spTree>
      <p:nvGrpSpPr>
        <p:cNvPr id="216" name="Shape 216"/>
        <p:cNvGrpSpPr/>
        <p:nvPr/>
      </p:nvGrpSpPr>
      <p:grpSpPr>
        <a:xfrm>
          <a:off x="0" y="0"/>
          <a:ext cx="0" cy="0"/>
          <a:chOff x="0" y="0"/>
          <a:chExt cx="0" cy="0"/>
        </a:xfrm>
      </p:grpSpPr>
      <p:pic>
        <p:nvPicPr>
          <p:cNvPr descr="image.png" id="217" name="Google Shape;217;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18" name="Google Shape;218;p23"/>
          <p:cNvPicPr preferRelativeResize="0"/>
          <p:nvPr/>
        </p:nvPicPr>
        <p:blipFill rotWithShape="1">
          <a:blip r:embed="rId4">
            <a:alphaModFix/>
          </a:blip>
          <a:srcRect b="0" l="0" r="0" t="0"/>
          <a:stretch/>
        </p:blipFill>
        <p:spPr>
          <a:xfrm>
            <a:off x="581025" y="3152775"/>
            <a:ext cx="3308895" cy="2028825"/>
          </a:xfrm>
          <a:prstGeom prst="rect">
            <a:avLst/>
          </a:prstGeom>
          <a:noFill/>
          <a:ln>
            <a:noFill/>
          </a:ln>
        </p:spPr>
      </p:pic>
      <p:pic>
        <p:nvPicPr>
          <p:cNvPr descr="image.png" id="219" name="Google Shape;219;p23"/>
          <p:cNvPicPr preferRelativeResize="0"/>
          <p:nvPr/>
        </p:nvPicPr>
        <p:blipFill rotWithShape="1">
          <a:blip r:embed="rId5">
            <a:alphaModFix/>
          </a:blip>
          <a:srcRect b="0" l="0" r="0" t="0"/>
          <a:stretch/>
        </p:blipFill>
        <p:spPr>
          <a:xfrm>
            <a:off x="4441477" y="3152775"/>
            <a:ext cx="3308895" cy="2028825"/>
          </a:xfrm>
          <a:prstGeom prst="rect">
            <a:avLst/>
          </a:prstGeom>
          <a:noFill/>
          <a:ln>
            <a:noFill/>
          </a:ln>
        </p:spPr>
      </p:pic>
      <p:pic>
        <p:nvPicPr>
          <p:cNvPr descr="image.png" id="220" name="Google Shape;220;p23"/>
          <p:cNvPicPr preferRelativeResize="0"/>
          <p:nvPr/>
        </p:nvPicPr>
        <p:blipFill rotWithShape="1">
          <a:blip r:embed="rId6">
            <a:alphaModFix/>
          </a:blip>
          <a:srcRect b="0" l="0" r="0" t="0"/>
          <a:stretch/>
        </p:blipFill>
        <p:spPr>
          <a:xfrm>
            <a:off x="8301930" y="3152775"/>
            <a:ext cx="3308895" cy="2028825"/>
          </a:xfrm>
          <a:prstGeom prst="rect">
            <a:avLst/>
          </a:prstGeom>
          <a:noFill/>
          <a:ln>
            <a:noFill/>
          </a:ln>
        </p:spPr>
      </p:pic>
      <p:sp>
        <p:nvSpPr>
          <p:cNvPr id="221" name="Google Shape;221;p23"/>
          <p:cNvSpPr/>
          <p:nvPr/>
        </p:nvSpPr>
        <p:spPr>
          <a:xfrm>
            <a:off x="581025" y="4167187"/>
            <a:ext cx="11029950" cy="38100"/>
          </a:xfrm>
          <a:prstGeom prst="roundRect">
            <a:avLst>
              <a:gd fmla="val 16667" name="adj"/>
            </a:avLst>
          </a:prstGeom>
          <a:solidFill>
            <a:srgbClr val="E5E5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23"/>
          <p:cNvSpPr txBox="1"/>
          <p:nvPr/>
        </p:nvSpPr>
        <p:spPr>
          <a:xfrm>
            <a:off x="598315" y="3152775"/>
            <a:ext cx="3274315"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800020"/>
                </a:solidFill>
                <a:latin typeface="Cinzel"/>
                <a:ea typeface="Cinzel"/>
                <a:cs typeface="Cinzel"/>
                <a:sym typeface="Cinzel"/>
              </a:rPr>
              <a:t>Phase 1: Mobile</a:t>
            </a:r>
            <a:endParaRPr/>
          </a:p>
        </p:txBody>
      </p:sp>
      <p:sp>
        <p:nvSpPr>
          <p:cNvPr id="223" name="Google Shape;223;p23"/>
          <p:cNvSpPr txBox="1"/>
          <p:nvPr/>
        </p:nvSpPr>
        <p:spPr>
          <a:xfrm>
            <a:off x="676275" y="3619500"/>
            <a:ext cx="3118395" cy="914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A4A4A"/>
                </a:solidFill>
                <a:latin typeface="Lato"/>
                <a:ea typeface="Lato"/>
                <a:cs typeface="Lato"/>
                <a:sym typeface="Lato"/>
              </a:rPr>
              <a:t>Porting the pipeline to mobile devices using "3D Gaussian Splatting" for faster rendering.</a:t>
            </a:r>
            <a:endParaRPr/>
          </a:p>
        </p:txBody>
      </p:sp>
      <p:sp>
        <p:nvSpPr>
          <p:cNvPr id="224" name="Google Shape;224;p23"/>
          <p:cNvSpPr txBox="1"/>
          <p:nvPr/>
        </p:nvSpPr>
        <p:spPr>
          <a:xfrm>
            <a:off x="4458767" y="3152775"/>
            <a:ext cx="3274315"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800020"/>
                </a:solidFill>
                <a:latin typeface="Cinzel"/>
                <a:ea typeface="Cinzel"/>
                <a:cs typeface="Cinzel"/>
                <a:sym typeface="Cinzel"/>
              </a:rPr>
              <a:t>Phase 2: Expansion</a:t>
            </a:r>
            <a:endParaRPr/>
          </a:p>
        </p:txBody>
      </p:sp>
      <p:sp>
        <p:nvSpPr>
          <p:cNvPr id="225" name="Google Shape;225;p23"/>
          <p:cNvSpPr txBox="1"/>
          <p:nvPr/>
        </p:nvSpPr>
        <p:spPr>
          <a:xfrm>
            <a:off x="4536727" y="3619500"/>
            <a:ext cx="3118395" cy="914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A4A4A"/>
                </a:solidFill>
                <a:latin typeface="Lato"/>
                <a:ea typeface="Lato"/>
                <a:cs typeface="Lato"/>
                <a:sym typeface="Lato"/>
              </a:rPr>
              <a:t>Incorporating new architectural styles beyond Greco-Roman, such as Gothic and Islamic designs.</a:t>
            </a:r>
            <a:endParaRPr/>
          </a:p>
        </p:txBody>
      </p:sp>
      <p:sp>
        <p:nvSpPr>
          <p:cNvPr id="226" name="Google Shape;226;p23"/>
          <p:cNvSpPr txBox="1"/>
          <p:nvPr/>
        </p:nvSpPr>
        <p:spPr>
          <a:xfrm>
            <a:off x="8319220" y="3152775"/>
            <a:ext cx="3274315"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800020"/>
                </a:solidFill>
                <a:latin typeface="Cinzel"/>
                <a:ea typeface="Cinzel"/>
                <a:cs typeface="Cinzel"/>
                <a:sym typeface="Cinzel"/>
              </a:rPr>
              <a:t>Phase 3: Real-time</a:t>
            </a:r>
            <a:endParaRPr/>
          </a:p>
        </p:txBody>
      </p:sp>
      <p:sp>
        <p:nvSpPr>
          <p:cNvPr id="227" name="Google Shape;227;p23"/>
          <p:cNvSpPr txBox="1"/>
          <p:nvPr/>
        </p:nvSpPr>
        <p:spPr>
          <a:xfrm>
            <a:off x="8397180" y="3619500"/>
            <a:ext cx="3118395" cy="914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A4A4A"/>
                </a:solidFill>
                <a:latin typeface="Lato"/>
                <a:ea typeface="Lato"/>
                <a:cs typeface="Lato"/>
                <a:sym typeface="Lato"/>
              </a:rPr>
              <a:t>Enabling real-time, on-site AR reconstruction for tourists at active archaeological sites.</a:t>
            </a:r>
            <a:endParaRPr/>
          </a:p>
        </p:txBody>
      </p:sp>
      <p:sp>
        <p:nvSpPr>
          <p:cNvPr id="228" name="Google Shape;228;p23"/>
          <p:cNvSpPr txBox="1"/>
          <p:nvPr/>
        </p:nvSpPr>
        <p:spPr>
          <a:xfrm>
            <a:off x="581025" y="581025"/>
            <a:ext cx="11581447"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800020"/>
                </a:solidFill>
                <a:latin typeface="Cinzel"/>
                <a:ea typeface="Cinzel"/>
                <a:cs typeface="Cinzel"/>
                <a:sym typeface="Cinzel"/>
              </a:rPr>
              <a:t>Future Roadmap</a:t>
            </a:r>
            <a:endParaRPr/>
          </a:p>
        </p:txBody>
      </p:sp>
      <p:sp>
        <p:nvSpPr>
          <p:cNvPr id="229" name="Google Shape;229;p23"/>
          <p:cNvSpPr/>
          <p:nvPr/>
        </p:nvSpPr>
        <p:spPr>
          <a:xfrm>
            <a:off x="581025" y="1266825"/>
            <a:ext cx="11029950" cy="28575"/>
          </a:xfrm>
          <a:prstGeom prst="rect">
            <a:avLst/>
          </a:prstGeom>
          <a:solidFill>
            <a:srgbClr val="C5A0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0" name="Google Shape;230;p23"/>
          <p:cNvSpPr/>
          <p:nvPr/>
        </p:nvSpPr>
        <p:spPr>
          <a:xfrm>
            <a:off x="2140222" y="5372100"/>
            <a:ext cx="190500" cy="190500"/>
          </a:xfrm>
          <a:prstGeom prst="roundRect">
            <a:avLst>
              <a:gd fmla="val 50000" name="adj"/>
            </a:avLst>
          </a:prstGeom>
          <a:solidFill>
            <a:srgbClr val="800020"/>
          </a:solidFill>
          <a:ln cap="flat" cmpd="sng" w="381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1" name="Google Shape;231;p23"/>
          <p:cNvSpPr/>
          <p:nvPr/>
        </p:nvSpPr>
        <p:spPr>
          <a:xfrm>
            <a:off x="6000675" y="5372100"/>
            <a:ext cx="190500" cy="190500"/>
          </a:xfrm>
          <a:prstGeom prst="roundRect">
            <a:avLst>
              <a:gd fmla="val 50000" name="adj"/>
            </a:avLst>
          </a:prstGeom>
          <a:solidFill>
            <a:srgbClr val="800020"/>
          </a:solidFill>
          <a:ln cap="flat" cmpd="sng" w="381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2" name="Google Shape;232;p23"/>
          <p:cNvSpPr/>
          <p:nvPr/>
        </p:nvSpPr>
        <p:spPr>
          <a:xfrm>
            <a:off x="9861128" y="5372100"/>
            <a:ext cx="190500" cy="190500"/>
          </a:xfrm>
          <a:prstGeom prst="roundRect">
            <a:avLst>
              <a:gd fmla="val 50000" name="adj"/>
            </a:avLst>
          </a:prstGeom>
          <a:solidFill>
            <a:srgbClr val="800020"/>
          </a:solidFill>
          <a:ln cap="flat" cmpd="sng" w="381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2"/>
        </a:solidFill>
      </p:bgPr>
    </p:bg>
    <p:spTree>
      <p:nvGrpSpPr>
        <p:cNvPr id="236" name="Shape 236"/>
        <p:cNvGrpSpPr/>
        <p:nvPr/>
      </p:nvGrpSpPr>
      <p:grpSpPr>
        <a:xfrm>
          <a:off x="0" y="0"/>
          <a:ext cx="0" cy="0"/>
          <a:chOff x="0" y="0"/>
          <a:chExt cx="0" cy="0"/>
        </a:xfrm>
      </p:grpSpPr>
      <p:pic>
        <p:nvPicPr>
          <p:cNvPr descr="image.png" id="237" name="Google Shape;237;p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8" name="Google Shape;238;p24"/>
          <p:cNvSpPr txBox="1"/>
          <p:nvPr/>
        </p:nvSpPr>
        <p:spPr>
          <a:xfrm>
            <a:off x="305276" y="2407890"/>
            <a:ext cx="11581447" cy="1028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000" u="none" cap="none" strike="noStrike">
                <a:solidFill>
                  <a:srgbClr val="800020"/>
                </a:solidFill>
                <a:latin typeface="Cinzel"/>
                <a:ea typeface="Cinzel"/>
                <a:cs typeface="Cinzel"/>
                <a:sym typeface="Cinzel"/>
              </a:rPr>
              <a:t>Questions?</a:t>
            </a:r>
            <a:endParaRPr/>
          </a:p>
        </p:txBody>
      </p:sp>
      <p:sp>
        <p:nvSpPr>
          <p:cNvPr id="239" name="Google Shape;239;p24"/>
          <p:cNvSpPr txBox="1"/>
          <p:nvPr/>
        </p:nvSpPr>
        <p:spPr>
          <a:xfrm>
            <a:off x="581025" y="3855690"/>
            <a:ext cx="11029950"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4A4A4A"/>
                </a:solidFill>
                <a:latin typeface="Lato"/>
                <a:ea typeface="Lato"/>
                <a:cs typeface="Lato"/>
                <a:sym typeface="Lato"/>
              </a:rPr>
              <a:t>Thank you for your attention.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2"/>
        </a:solidFill>
      </p:bgPr>
    </p:bg>
    <p:spTree>
      <p:nvGrpSpPr>
        <p:cNvPr id="243" name="Shape 243"/>
        <p:cNvGrpSpPr/>
        <p:nvPr/>
      </p:nvGrpSpPr>
      <p:grpSpPr>
        <a:xfrm>
          <a:off x="0" y="0"/>
          <a:ext cx="0" cy="0"/>
          <a:chOff x="0" y="0"/>
          <a:chExt cx="0" cy="0"/>
        </a:xfrm>
      </p:grpSpPr>
      <p:pic>
        <p:nvPicPr>
          <p:cNvPr descr="image.png" id="244" name="Google Shape;244;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5" name="Google Shape;245;p25"/>
          <p:cNvSpPr/>
          <p:nvPr/>
        </p:nvSpPr>
        <p:spPr>
          <a:xfrm>
            <a:off x="581025" y="2303412"/>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6" name="Google Shape;246;p25"/>
          <p:cNvSpPr/>
          <p:nvPr/>
        </p:nvSpPr>
        <p:spPr>
          <a:xfrm>
            <a:off x="581025" y="3286273"/>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7" name="Google Shape;247;p25"/>
          <p:cNvSpPr/>
          <p:nvPr/>
        </p:nvSpPr>
        <p:spPr>
          <a:xfrm>
            <a:off x="581025" y="4071044"/>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8" name="Google Shape;248;p25"/>
          <p:cNvSpPr/>
          <p:nvPr/>
        </p:nvSpPr>
        <p:spPr>
          <a:xfrm>
            <a:off x="581025" y="4855815"/>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9" name="Google Shape;249;p25"/>
          <p:cNvSpPr/>
          <p:nvPr/>
        </p:nvSpPr>
        <p:spPr>
          <a:xfrm>
            <a:off x="581025" y="5640585"/>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50" name="Google Shape;250;p25"/>
          <p:cNvPicPr preferRelativeResize="0"/>
          <p:nvPr/>
        </p:nvPicPr>
        <p:blipFill rotWithShape="1">
          <a:blip r:embed="rId4">
            <a:alphaModFix/>
          </a:blip>
          <a:srcRect b="0" l="0" r="0" t="0"/>
          <a:stretch/>
        </p:blipFill>
        <p:spPr>
          <a:xfrm>
            <a:off x="581025" y="1677590"/>
            <a:ext cx="857250" cy="476250"/>
          </a:xfrm>
          <a:prstGeom prst="rect">
            <a:avLst/>
          </a:prstGeom>
          <a:noFill/>
          <a:ln>
            <a:noFill/>
          </a:ln>
        </p:spPr>
      </p:pic>
      <p:sp>
        <p:nvSpPr>
          <p:cNvPr id="251" name="Google Shape;251;p25"/>
          <p:cNvSpPr txBox="1"/>
          <p:nvPr/>
        </p:nvSpPr>
        <p:spPr>
          <a:xfrm>
            <a:off x="1676400" y="1671042"/>
            <a:ext cx="993457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4A4A4A"/>
                </a:solidFill>
                <a:latin typeface="Lato"/>
                <a:ea typeface="Lato"/>
                <a:cs typeface="Lato"/>
                <a:sym typeface="Lato"/>
              </a:rPr>
              <a:t>https://pub.mdpi-res.com/remotesensing/remotesensing-16-01341/article_deploy/html/images/remotesensing-16-01341-ag.png?1712981818</a:t>
            </a:r>
            <a:endParaRPr/>
          </a:p>
        </p:txBody>
      </p:sp>
      <p:sp>
        <p:nvSpPr>
          <p:cNvPr id="252" name="Google Shape;252;p25"/>
          <p:cNvSpPr txBox="1"/>
          <p:nvPr/>
        </p:nvSpPr>
        <p:spPr>
          <a:xfrm>
            <a:off x="1676400" y="1916757"/>
            <a:ext cx="9934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4A4A4A"/>
                </a:solidFill>
                <a:latin typeface="Lato"/>
                <a:ea typeface="Lato"/>
                <a:cs typeface="Lato"/>
                <a:sym typeface="Lato"/>
              </a:rPr>
              <a:t>Source: </a:t>
            </a:r>
            <a:r>
              <a:rPr b="0" i="0" lang="en-US" sz="1200" u="none" cap="none" strike="noStrike">
                <a:solidFill>
                  <a:srgbClr val="4F46E5"/>
                </a:solidFill>
                <a:latin typeface="Lato"/>
                <a:ea typeface="Lato"/>
                <a:cs typeface="Lato"/>
                <a:sym typeface="Lato"/>
              </a:rPr>
              <a:t>www.mdpi.com</a:t>
            </a:r>
            <a:endParaRPr/>
          </a:p>
        </p:txBody>
      </p:sp>
      <p:pic>
        <p:nvPicPr>
          <p:cNvPr descr="image.png" id="253" name="Google Shape;253;p25"/>
          <p:cNvPicPr preferRelativeResize="0"/>
          <p:nvPr/>
        </p:nvPicPr>
        <p:blipFill rotWithShape="1">
          <a:blip r:embed="rId5">
            <a:alphaModFix/>
          </a:blip>
          <a:srcRect b="0" l="0" r="0" t="0"/>
          <a:stretch/>
        </p:blipFill>
        <p:spPr>
          <a:xfrm>
            <a:off x="581025" y="2561480"/>
            <a:ext cx="857250" cy="476250"/>
          </a:xfrm>
          <a:prstGeom prst="rect">
            <a:avLst/>
          </a:prstGeom>
          <a:noFill/>
          <a:ln>
            <a:noFill/>
          </a:ln>
        </p:spPr>
      </p:pic>
      <p:sp>
        <p:nvSpPr>
          <p:cNvPr id="254" name="Google Shape;254;p25"/>
          <p:cNvSpPr txBox="1"/>
          <p:nvPr/>
        </p:nvSpPr>
        <p:spPr>
          <a:xfrm>
            <a:off x="1676400" y="2455812"/>
            <a:ext cx="9934575"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4A4A4A"/>
                </a:solidFill>
                <a:latin typeface="Lato"/>
                <a:ea typeface="Lato"/>
                <a:cs typeface="Lato"/>
                <a:sym typeface="Lato"/>
              </a:rPr>
              <a:t>https://img.pikbest.com/wp/202348/featured-door-white-background-3d-rendering-of-front-with-classic-arch-featuring-corinthian-column-and-triangular-tympanum_9775216.jpg!w700wp</a:t>
            </a:r>
            <a:endParaRPr/>
          </a:p>
        </p:txBody>
      </p:sp>
      <p:sp>
        <p:nvSpPr>
          <p:cNvPr id="255" name="Google Shape;255;p25"/>
          <p:cNvSpPr txBox="1"/>
          <p:nvPr/>
        </p:nvSpPr>
        <p:spPr>
          <a:xfrm>
            <a:off x="1676400" y="2899618"/>
            <a:ext cx="9934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4A4A4A"/>
                </a:solidFill>
                <a:latin typeface="Lato"/>
                <a:ea typeface="Lato"/>
                <a:cs typeface="Lato"/>
                <a:sym typeface="Lato"/>
              </a:rPr>
              <a:t>Source: </a:t>
            </a:r>
            <a:r>
              <a:rPr b="0" i="0" lang="en-US" sz="1200" u="none" cap="none" strike="noStrike">
                <a:solidFill>
                  <a:srgbClr val="4F46E5"/>
                </a:solidFill>
                <a:latin typeface="Lato"/>
                <a:ea typeface="Lato"/>
                <a:cs typeface="Lato"/>
                <a:sym typeface="Lato"/>
              </a:rPr>
              <a:t>pikbest.com</a:t>
            </a:r>
            <a:endParaRPr/>
          </a:p>
        </p:txBody>
      </p:sp>
      <p:pic>
        <p:nvPicPr>
          <p:cNvPr descr="image.png" id="256" name="Google Shape;256;p25"/>
          <p:cNvPicPr preferRelativeResize="0"/>
          <p:nvPr/>
        </p:nvPicPr>
        <p:blipFill rotWithShape="1">
          <a:blip r:embed="rId6">
            <a:alphaModFix/>
          </a:blip>
          <a:srcRect b="0" l="0" r="0" t="0"/>
          <a:stretch/>
        </p:blipFill>
        <p:spPr>
          <a:xfrm>
            <a:off x="581025" y="3445222"/>
            <a:ext cx="857250" cy="476250"/>
          </a:xfrm>
          <a:prstGeom prst="rect">
            <a:avLst/>
          </a:prstGeom>
          <a:noFill/>
          <a:ln>
            <a:noFill/>
          </a:ln>
        </p:spPr>
      </p:pic>
      <p:sp>
        <p:nvSpPr>
          <p:cNvPr id="257" name="Google Shape;257;p25"/>
          <p:cNvSpPr txBox="1"/>
          <p:nvPr/>
        </p:nvSpPr>
        <p:spPr>
          <a:xfrm>
            <a:off x="1676400" y="3438673"/>
            <a:ext cx="993457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4A4A4A"/>
                </a:solidFill>
                <a:latin typeface="Lato"/>
                <a:ea typeface="Lato"/>
                <a:cs typeface="Lato"/>
                <a:sym typeface="Lato"/>
              </a:rPr>
              <a:t>https://media.sketchfab.com/models/1ad677148a6b490bb48c1c1a9275b3d3/thumbnails/67e5ead8cb484033b5aba99673dfe585/81f64d24020b4c53b44281ae9a6c4f0a.jpeg</a:t>
            </a:r>
            <a:endParaRPr/>
          </a:p>
        </p:txBody>
      </p:sp>
      <p:sp>
        <p:nvSpPr>
          <p:cNvPr id="258" name="Google Shape;258;p25"/>
          <p:cNvSpPr txBox="1"/>
          <p:nvPr/>
        </p:nvSpPr>
        <p:spPr>
          <a:xfrm>
            <a:off x="1676400" y="3684389"/>
            <a:ext cx="9934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4A4A4A"/>
                </a:solidFill>
                <a:latin typeface="Lato"/>
                <a:ea typeface="Lato"/>
                <a:cs typeface="Lato"/>
                <a:sym typeface="Lato"/>
              </a:rPr>
              <a:t>Source: </a:t>
            </a:r>
            <a:r>
              <a:rPr b="0" i="0" lang="en-US" sz="1200" u="none" cap="none" strike="noStrike">
                <a:solidFill>
                  <a:srgbClr val="4F46E5"/>
                </a:solidFill>
                <a:latin typeface="Lato"/>
                <a:ea typeface="Lato"/>
                <a:cs typeface="Lato"/>
                <a:sym typeface="Lato"/>
              </a:rPr>
              <a:t>sketchfab.com</a:t>
            </a:r>
            <a:endParaRPr/>
          </a:p>
        </p:txBody>
      </p:sp>
      <p:pic>
        <p:nvPicPr>
          <p:cNvPr descr="image.png" id="259" name="Google Shape;259;p25"/>
          <p:cNvPicPr preferRelativeResize="0"/>
          <p:nvPr/>
        </p:nvPicPr>
        <p:blipFill rotWithShape="1">
          <a:blip r:embed="rId7">
            <a:alphaModFix/>
          </a:blip>
          <a:srcRect b="0" l="0" r="0" t="0"/>
          <a:stretch/>
        </p:blipFill>
        <p:spPr>
          <a:xfrm>
            <a:off x="581025" y="4229992"/>
            <a:ext cx="857250" cy="476250"/>
          </a:xfrm>
          <a:prstGeom prst="rect">
            <a:avLst/>
          </a:prstGeom>
          <a:noFill/>
          <a:ln>
            <a:noFill/>
          </a:ln>
        </p:spPr>
      </p:pic>
      <p:sp>
        <p:nvSpPr>
          <p:cNvPr id="260" name="Google Shape;260;p25"/>
          <p:cNvSpPr txBox="1"/>
          <p:nvPr/>
        </p:nvSpPr>
        <p:spPr>
          <a:xfrm>
            <a:off x="1676400" y="4223444"/>
            <a:ext cx="993457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4A4A4A"/>
                </a:solidFill>
                <a:latin typeface="Lato"/>
                <a:ea typeface="Lato"/>
                <a:cs typeface="Lato"/>
                <a:sym typeface="Lato"/>
              </a:rPr>
              <a:t>https://i.redd.it/8vu1qrr3l7nz.jpg</a:t>
            </a:r>
            <a:endParaRPr/>
          </a:p>
        </p:txBody>
      </p:sp>
      <p:sp>
        <p:nvSpPr>
          <p:cNvPr id="261" name="Google Shape;261;p25"/>
          <p:cNvSpPr txBox="1"/>
          <p:nvPr/>
        </p:nvSpPr>
        <p:spPr>
          <a:xfrm>
            <a:off x="1676400" y="4469159"/>
            <a:ext cx="9934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4A4A4A"/>
                </a:solidFill>
                <a:latin typeface="Lato"/>
                <a:ea typeface="Lato"/>
                <a:cs typeface="Lato"/>
                <a:sym typeface="Lato"/>
              </a:rPr>
              <a:t>Source: </a:t>
            </a:r>
            <a:r>
              <a:rPr b="0" i="0" lang="en-US" sz="1200" u="none" cap="none" strike="noStrike">
                <a:solidFill>
                  <a:srgbClr val="4F46E5"/>
                </a:solidFill>
                <a:latin typeface="Lato"/>
                <a:ea typeface="Lato"/>
                <a:cs typeface="Lato"/>
                <a:sym typeface="Lato"/>
              </a:rPr>
              <a:t>www.reddit.com</a:t>
            </a:r>
            <a:endParaRPr/>
          </a:p>
        </p:txBody>
      </p:sp>
      <p:pic>
        <p:nvPicPr>
          <p:cNvPr descr="image.png" id="262" name="Google Shape;262;p25"/>
          <p:cNvPicPr preferRelativeResize="0"/>
          <p:nvPr/>
        </p:nvPicPr>
        <p:blipFill rotWithShape="1">
          <a:blip r:embed="rId8">
            <a:alphaModFix/>
          </a:blip>
          <a:srcRect b="0" l="0" r="0" t="0"/>
          <a:stretch/>
        </p:blipFill>
        <p:spPr>
          <a:xfrm>
            <a:off x="581025" y="5014763"/>
            <a:ext cx="857250" cy="476250"/>
          </a:xfrm>
          <a:prstGeom prst="rect">
            <a:avLst/>
          </a:prstGeom>
          <a:noFill/>
          <a:ln>
            <a:noFill/>
          </a:ln>
        </p:spPr>
      </p:pic>
      <p:sp>
        <p:nvSpPr>
          <p:cNvPr id="263" name="Google Shape;263;p25"/>
          <p:cNvSpPr txBox="1"/>
          <p:nvPr/>
        </p:nvSpPr>
        <p:spPr>
          <a:xfrm>
            <a:off x="1676400" y="5008215"/>
            <a:ext cx="993457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4A4A4A"/>
                </a:solidFill>
                <a:latin typeface="Lato"/>
                <a:ea typeface="Lato"/>
                <a:cs typeface="Lato"/>
                <a:sym typeface="Lato"/>
              </a:rPr>
              <a:t>https://developer.doc.autodesk.com/bPlouYTd/A360-hyperion-develop-4/_images/volumetric-vs-planar-heatmaps.png</a:t>
            </a:r>
            <a:endParaRPr/>
          </a:p>
        </p:txBody>
      </p:sp>
      <p:sp>
        <p:nvSpPr>
          <p:cNvPr id="264" name="Google Shape;264;p25"/>
          <p:cNvSpPr txBox="1"/>
          <p:nvPr/>
        </p:nvSpPr>
        <p:spPr>
          <a:xfrm>
            <a:off x="1676400" y="5253930"/>
            <a:ext cx="9934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4A4A4A"/>
                </a:solidFill>
                <a:latin typeface="Lato"/>
                <a:ea typeface="Lato"/>
                <a:cs typeface="Lato"/>
                <a:sym typeface="Lato"/>
              </a:rPr>
              <a:t>Source: </a:t>
            </a:r>
            <a:r>
              <a:rPr b="0" i="0" lang="en-US" sz="1200" u="none" cap="none" strike="noStrike">
                <a:solidFill>
                  <a:srgbClr val="4F46E5"/>
                </a:solidFill>
                <a:latin typeface="Lato"/>
                <a:ea typeface="Lato"/>
                <a:cs typeface="Lato"/>
                <a:sym typeface="Lato"/>
              </a:rPr>
              <a:t>aps.autodesk.com</a:t>
            </a:r>
            <a:endParaRPr/>
          </a:p>
        </p:txBody>
      </p:sp>
      <p:pic>
        <p:nvPicPr>
          <p:cNvPr descr="image.png" id="265" name="Google Shape;265;p25"/>
          <p:cNvPicPr preferRelativeResize="0"/>
          <p:nvPr/>
        </p:nvPicPr>
        <p:blipFill rotWithShape="1">
          <a:blip r:embed="rId9">
            <a:alphaModFix/>
          </a:blip>
          <a:srcRect b="0" l="0" r="0" t="0"/>
          <a:stretch/>
        </p:blipFill>
        <p:spPr>
          <a:xfrm>
            <a:off x="581025" y="5799534"/>
            <a:ext cx="857250" cy="476250"/>
          </a:xfrm>
          <a:prstGeom prst="rect">
            <a:avLst/>
          </a:prstGeom>
          <a:noFill/>
          <a:ln>
            <a:noFill/>
          </a:ln>
        </p:spPr>
      </p:pic>
      <p:sp>
        <p:nvSpPr>
          <p:cNvPr id="266" name="Google Shape;266;p25"/>
          <p:cNvSpPr txBox="1"/>
          <p:nvPr/>
        </p:nvSpPr>
        <p:spPr>
          <a:xfrm>
            <a:off x="1676400" y="5792985"/>
            <a:ext cx="993457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4A4A4A"/>
                </a:solidFill>
                <a:latin typeface="Lato"/>
                <a:ea typeface="Lato"/>
                <a:cs typeface="Lato"/>
                <a:sym typeface="Lato"/>
              </a:rPr>
              <a:t>https://michigan.it.umich.edu/news/wp-content/uploads/2017/12/Oplontis-Oculus-Rift-e1512574756132.jpg</a:t>
            </a:r>
            <a:endParaRPr/>
          </a:p>
        </p:txBody>
      </p:sp>
      <p:sp>
        <p:nvSpPr>
          <p:cNvPr id="267" name="Google Shape;267;p25"/>
          <p:cNvSpPr txBox="1"/>
          <p:nvPr/>
        </p:nvSpPr>
        <p:spPr>
          <a:xfrm>
            <a:off x="1676400" y="6038701"/>
            <a:ext cx="9934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4A4A4A"/>
                </a:solidFill>
                <a:latin typeface="Lato"/>
                <a:ea typeface="Lato"/>
                <a:cs typeface="Lato"/>
                <a:sym typeface="Lato"/>
              </a:rPr>
              <a:t>Source: </a:t>
            </a:r>
            <a:r>
              <a:rPr b="0" i="0" lang="en-US" sz="1200" u="none" cap="none" strike="noStrike">
                <a:solidFill>
                  <a:srgbClr val="4F46E5"/>
                </a:solidFill>
                <a:latin typeface="Lato"/>
                <a:ea typeface="Lato"/>
                <a:cs typeface="Lato"/>
                <a:sym typeface="Lato"/>
              </a:rPr>
              <a:t>michigan.it.umich.edu</a:t>
            </a:r>
            <a:endParaRPr/>
          </a:p>
        </p:txBody>
      </p:sp>
      <p:sp>
        <p:nvSpPr>
          <p:cNvPr id="268" name="Google Shape;268;p25"/>
          <p:cNvSpPr txBox="1"/>
          <p:nvPr/>
        </p:nvSpPr>
        <p:spPr>
          <a:xfrm>
            <a:off x="581025" y="432792"/>
            <a:ext cx="11581447"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800020"/>
                </a:solidFill>
                <a:latin typeface="Cinzel"/>
                <a:ea typeface="Cinzel"/>
                <a:cs typeface="Cinzel"/>
                <a:sym typeface="Cinzel"/>
              </a:rPr>
              <a:t>Image Sources</a:t>
            </a:r>
            <a:endParaRPr/>
          </a:p>
        </p:txBody>
      </p:sp>
      <p:sp>
        <p:nvSpPr>
          <p:cNvPr id="269" name="Google Shape;269;p25"/>
          <p:cNvSpPr/>
          <p:nvPr/>
        </p:nvSpPr>
        <p:spPr>
          <a:xfrm>
            <a:off x="581025" y="1118592"/>
            <a:ext cx="11029950" cy="28575"/>
          </a:xfrm>
          <a:prstGeom prst="rect">
            <a:avLst/>
          </a:prstGeom>
          <a:solidFill>
            <a:srgbClr val="C5A0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