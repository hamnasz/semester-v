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  <p:sldMasterId id="2147483696" r:id="rId4"/>
  </p:sldMasterIdLst>
  <p:notesMasterIdLst>
    <p:notesMasterId r:id="rId15"/>
  </p:notesMasterIdLst>
  <p:sldIdLst>
    <p:sldId id="273" r:id="rId5"/>
    <p:sldId id="302" r:id="rId6"/>
    <p:sldId id="257" r:id="rId7"/>
    <p:sldId id="303" r:id="rId8"/>
    <p:sldId id="304" r:id="rId9"/>
    <p:sldId id="312" r:id="rId10"/>
    <p:sldId id="320" r:id="rId11"/>
    <p:sldId id="323" r:id="rId12"/>
    <p:sldId id="321" r:id="rId13"/>
    <p:sldId id="322" r:id="rId1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438" autoAdjust="0"/>
  </p:normalViewPr>
  <p:slideViewPr>
    <p:cSldViewPr snapToGrid="0">
      <p:cViewPr varScale="1">
        <p:scale>
          <a:sx n="77" d="100"/>
          <a:sy n="77" d="100"/>
        </p:scale>
        <p:origin x="54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056C-9295-4614-95BD-8AAB9A5181D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268B0-555D-49A7-B078-7311B453B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268B0-555D-49A7-B078-7311B453B6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1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540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84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5517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4592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6532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9493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4780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4695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449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4714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3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16/10/2025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E7CCD-3A02-4509-B7B4-8C0570EC23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FA2B5-8850-421C-93F1-22A6BEB072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1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37" y="2635037"/>
            <a:ext cx="12023725" cy="22713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  <a:t>Lecture #6</a:t>
            </a: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endParaRPr lang="en-US" altLang="ko-KR" sz="4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819400"/>
            <a:ext cx="85344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Circle Drawing Techniques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1532100" y="0"/>
            <a:ext cx="9592725" cy="1115736"/>
            <a:chOff x="0" y="0"/>
            <a:chExt cx="12324746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>
                <a:solidFill>
                  <a:prstClr val="white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prstClr val="white"/>
                  </a:solidFill>
                </a:rPr>
                <a:t>unioffaisalabad</a:t>
              </a:r>
              <a:endParaRPr lang="x-none" sz="1100" dirty="0">
                <a:solidFill>
                  <a:prstClr val="white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prstClr val="white"/>
                  </a:solidFill>
                </a:rPr>
                <a:t>w</a:t>
              </a:r>
              <a:r>
                <a:rPr lang="en-US" dirty="0">
                  <a:solidFill>
                    <a:prstClr val="white"/>
                  </a:solidFill>
                </a:rPr>
                <a:t>w</a:t>
              </a:r>
              <a:r>
                <a:rPr lang="x-none" dirty="0">
                  <a:solidFill>
                    <a:prstClr val="white"/>
                  </a:solidFill>
                </a:rPr>
                <a:t>w.</a:t>
              </a:r>
              <a:r>
                <a:rPr lang="en-US" dirty="0">
                  <a:solidFill>
                    <a:prstClr val="white"/>
                  </a:solidFill>
                </a:rPr>
                <a:t>t</a:t>
              </a:r>
              <a:r>
                <a:rPr lang="x-none" dirty="0">
                  <a:solidFill>
                    <a:prstClr val="white"/>
                  </a:solidFill>
                </a:rPr>
                <a:t>u</a:t>
              </a:r>
              <a:r>
                <a:rPr lang="en-US" dirty="0">
                  <a:solidFill>
                    <a:prstClr val="white"/>
                  </a:solidFill>
                </a:rPr>
                <a:t>f</a:t>
              </a:r>
              <a:r>
                <a:rPr lang="x-none" dirty="0">
                  <a:solidFill>
                    <a:prstClr val="white"/>
                  </a:solidFill>
                </a:rPr>
                <a:t>.</a:t>
              </a:r>
              <a:r>
                <a:rPr lang="en-US" dirty="0">
                  <a:solidFill>
                    <a:prstClr val="white"/>
                  </a:solidFill>
                </a:rPr>
                <a:t>e</a:t>
              </a:r>
              <a:r>
                <a:rPr lang="x-none" dirty="0">
                  <a:solidFill>
                    <a:prstClr val="white"/>
                  </a:solidFill>
                </a:rPr>
                <a:t>d</a:t>
              </a:r>
              <a:r>
                <a:rPr lang="en-US" dirty="0">
                  <a:solidFill>
                    <a:prstClr val="white"/>
                  </a:solidFill>
                </a:rPr>
                <a:t>u</a:t>
              </a:r>
              <a:r>
                <a:rPr lang="x-none" dirty="0">
                  <a:solidFill>
                    <a:prstClr val="white"/>
                  </a:solidFill>
                </a:rPr>
                <a:t>.</a:t>
              </a:r>
              <a:r>
                <a:rPr lang="en-US" dirty="0">
                  <a:solidFill>
                    <a:prstClr val="white"/>
                  </a:solidFill>
                </a:rPr>
                <a:t>p</a:t>
              </a:r>
              <a:r>
                <a:rPr lang="x-none" dirty="0">
                  <a:solidFill>
                    <a:prstClr val="white"/>
                  </a:solidFill>
                </a:rPr>
                <a:t>k</a:t>
              </a: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596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Circle Drawing Techniques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Polar Coordinate Circle Drawing Algorithm</a:t>
            </a:r>
          </a:p>
          <a:p>
            <a:pPr algn="just"/>
            <a:r>
              <a:rPr lang="en-US" dirty="0"/>
              <a:t>Midpoint Circle Algorithm</a:t>
            </a:r>
          </a:p>
          <a:p>
            <a:pPr algn="just"/>
            <a:endParaRPr lang="en-US" dirty="0"/>
          </a:p>
          <a:p>
            <a:pPr algn="just"/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is Circle?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408920" cy="435133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Circle is a collection of points but all points have equal distance to a specific point is called center.</a:t>
            </a:r>
          </a:p>
          <a:p>
            <a:pPr algn="just"/>
            <a:r>
              <a:rPr lang="en-US" dirty="0"/>
              <a:t>Distance between center and points is Radius.</a:t>
            </a:r>
          </a:p>
          <a:p>
            <a:pPr algn="just"/>
            <a:r>
              <a:rPr lang="en-US" dirty="0"/>
              <a:t>Length of point is circumference</a:t>
            </a:r>
          </a:p>
          <a:p>
            <a:pPr algn="just"/>
            <a:r>
              <a:rPr lang="en-US" dirty="0"/>
              <a:t>Coordinates of center and radius</a:t>
            </a:r>
          </a:p>
        </p:txBody>
      </p:sp>
    </p:spTree>
    <p:extLst>
      <p:ext uri="{BB962C8B-B14F-4D97-AF65-F5344CB8AC3E}">
        <p14:creationId xmlns:p14="http://schemas.microsoft.com/office/powerpoint/2010/main" val="246069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577744" cy="3724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Drawing algorithm will find the location of points at circumferences and draw.</a:t>
            </a:r>
          </a:p>
          <a:p>
            <a:r>
              <a:rPr lang="en-US" dirty="0"/>
              <a:t>Popular Circle Drawing Algorithm</a:t>
            </a:r>
          </a:p>
          <a:p>
            <a:r>
              <a:rPr lang="en-US" dirty="0"/>
              <a:t>Cartesian coordinates Algorithm</a:t>
            </a:r>
          </a:p>
          <a:p>
            <a:r>
              <a:rPr lang="en-US" dirty="0"/>
              <a:t>Polar coordinates Algorithm</a:t>
            </a:r>
          </a:p>
          <a:p>
            <a:r>
              <a:rPr lang="en-US" dirty="0"/>
              <a:t>Mid–point Algorithm</a:t>
            </a:r>
          </a:p>
          <a:p>
            <a:r>
              <a:rPr lang="en-US" dirty="0"/>
              <a:t>There are many others but in this subject we only see the above mention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250918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577744" cy="3724783"/>
          </a:xfrm>
        </p:spPr>
        <p:txBody>
          <a:bodyPr>
            <a:normAutofit/>
          </a:bodyPr>
          <a:lstStyle/>
          <a:p>
            <a:r>
              <a:rPr lang="en-US" dirty="0"/>
              <a:t>Basic circle equation</a:t>
            </a:r>
          </a:p>
          <a:p>
            <a:pPr lvl="0"/>
            <a:r>
              <a:rPr lang="en-US" dirty="0"/>
              <a:t>[(x-x</a:t>
            </a:r>
            <a:r>
              <a:rPr lang="en-US" baseline="-25000" dirty="0"/>
              <a:t>c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+(y-</a:t>
            </a:r>
            <a:r>
              <a:rPr lang="en-US" dirty="0" err="1"/>
              <a:t>y</a:t>
            </a:r>
            <a:r>
              <a:rPr lang="en-US" baseline="-25000" dirty="0" err="1"/>
              <a:t>c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=R</a:t>
            </a:r>
            <a:r>
              <a:rPr lang="en-US" baseline="30000" dirty="0"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</a:rPr>
              <a:t>2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</a:rPr>
              <a:t>]</a:t>
            </a:r>
            <a:endParaRPr lang="en-US" dirty="0"/>
          </a:p>
          <a:p>
            <a:r>
              <a:rPr lang="en-US" dirty="0"/>
              <a:t>X is boundary point</a:t>
            </a:r>
          </a:p>
          <a:p>
            <a:r>
              <a:rPr lang="en-US" dirty="0"/>
              <a:t>Xc is center point</a:t>
            </a:r>
          </a:p>
          <a:p>
            <a:r>
              <a:rPr lang="en-US" dirty="0"/>
              <a:t>Two points will draw in each iteration.</a:t>
            </a:r>
          </a:p>
        </p:txBody>
      </p:sp>
    </p:spTree>
    <p:extLst>
      <p:ext uri="{BB962C8B-B14F-4D97-AF65-F5344CB8AC3E}">
        <p14:creationId xmlns:p14="http://schemas.microsoft.com/office/powerpoint/2010/main" val="68026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46887"/>
            <a:ext cx="10577744" cy="4203522"/>
          </a:xfrm>
        </p:spPr>
        <p:txBody>
          <a:bodyPr>
            <a:normAutofit lnSpcReduction="10000"/>
          </a:bodyPr>
          <a:lstStyle/>
          <a:p>
            <a:pPr marL="0" indent="0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800" b="1" i="0" u="none" strike="noStrike" dirty="0" err="1">
                <a:effectLst/>
                <a:latin typeface="Arial" panose="020B0604020202020204" pitchFamily="34" charset="0"/>
              </a:rPr>
              <a:t>Bresenham</a:t>
            </a:r>
            <a:r>
              <a:rPr lang="en-US" sz="1800" b="1" i="0" u="none" strike="noStrike" dirty="0">
                <a:effectLst/>
                <a:latin typeface="Arial" panose="020B0604020202020204" pitchFamily="34" charset="0"/>
              </a:rPr>
              <a:t> Circle Drawing Algorithm</a:t>
            </a:r>
            <a:endParaRPr lang="en-US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Arial" panose="020B0604020202020204" pitchFamily="34" charset="0"/>
              </a:rPr>
              <a:t>Step 1:</a:t>
            </a:r>
            <a:br>
              <a:rPr lang="en-US" sz="2400" b="1" i="0" u="none" strike="noStrike" dirty="0"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Input center point </a:t>
            </a:r>
            <a:r>
              <a:rPr lang="en-US" sz="2400" b="0" i="0" u="none" strike="noStrike" dirty="0">
                <a:effectLst/>
                <a:latin typeface="Roboto Mono"/>
              </a:rPr>
              <a:t>(xc, </a:t>
            </a:r>
            <a:r>
              <a:rPr lang="en-US" sz="2400" b="0" i="0" u="none" strike="noStrike" dirty="0" err="1">
                <a:effectLst/>
                <a:latin typeface="Roboto Mono"/>
              </a:rPr>
              <a:t>yc</a:t>
            </a:r>
            <a:r>
              <a:rPr lang="en-US" sz="2400" b="0" i="0" u="none" strike="noStrike" dirty="0">
                <a:effectLst/>
                <a:latin typeface="Roboto Mono"/>
              </a:rPr>
              <a:t>)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 and radius </a:t>
            </a:r>
            <a:r>
              <a:rPr lang="en-US" sz="2400" b="0" i="0" u="none" strike="noStrike" dirty="0">
                <a:effectLst/>
                <a:latin typeface="Roboto Mono"/>
              </a:rPr>
              <a:t>r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en-US" sz="24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Arial" panose="020B0604020202020204" pitchFamily="34" charset="0"/>
              </a:rPr>
              <a:t>Step 2:</a:t>
            </a:r>
            <a:br>
              <a:rPr lang="en-US" sz="2400" b="1" i="0" u="none" strike="noStrike" dirty="0"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Initialize starting point as </a:t>
            </a:r>
            <a:r>
              <a:rPr lang="en-US" sz="2400" b="0" i="0" u="none" strike="noStrike" dirty="0">
                <a:effectLst/>
                <a:latin typeface="Roboto Mono"/>
              </a:rPr>
              <a:t>x = 0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 and </a:t>
            </a:r>
            <a:r>
              <a:rPr lang="en-US" sz="2400" b="0" i="0" u="none" strike="noStrike" dirty="0">
                <a:effectLst/>
                <a:latin typeface="Roboto Mono"/>
              </a:rPr>
              <a:t>y = r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en-US" sz="24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Arial" panose="020B0604020202020204" pitchFamily="34" charset="0"/>
              </a:rPr>
              <a:t>Step 3:</a:t>
            </a:r>
            <a:br>
              <a:rPr lang="en-US" sz="2400" b="1" i="0" u="none" strike="noStrike" dirty="0"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Calculate the initial decision parameter:</a:t>
            </a:r>
            <a:br>
              <a:rPr lang="en-US" sz="24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effectLst/>
                <a:latin typeface="Roboto Mono"/>
              </a:rPr>
              <a:t>p = 3 - 2r</a:t>
            </a:r>
            <a:endParaRPr lang="en-US" sz="2400" b="0" dirty="0">
              <a:effectLst/>
            </a:endParaRPr>
          </a:p>
          <a:p>
            <a:pPr marL="0" indent="0"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4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4769" y="1336431"/>
            <a:ext cx="10771175" cy="5396141"/>
          </a:xfrm>
        </p:spPr>
        <p:txBody>
          <a:bodyPr>
            <a:normAutofit fontScale="47500" lnSpcReduction="20000"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3400" b="1" i="0" u="none" strike="noStrike" dirty="0">
                <a:effectLst/>
                <a:latin typeface="Arial" panose="020B0604020202020204" pitchFamily="34" charset="0"/>
              </a:rPr>
              <a:t>Step 4:</a:t>
            </a:r>
            <a:br>
              <a:rPr lang="en-US" sz="3400" b="1" i="0" u="none" strike="noStrike" dirty="0">
                <a:effectLst/>
                <a:latin typeface="Arial" panose="020B0604020202020204" pitchFamily="34" charset="0"/>
              </a:rPr>
            </a:b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Repeat the following steps while </a:t>
            </a:r>
            <a:r>
              <a:rPr lang="en-US" sz="3400" b="0" i="0" u="none" strike="noStrike" dirty="0">
                <a:effectLst/>
                <a:latin typeface="Roboto Mono"/>
              </a:rPr>
              <a:t>(x ≤ y)</a:t>
            </a: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:</a:t>
            </a:r>
            <a:endParaRPr lang="en-US" sz="3400" b="0" dirty="0">
              <a:effectLst/>
            </a:endParaRPr>
          </a:p>
          <a:p>
            <a:pPr marL="0" indent="0" rtl="0" fontAlgn="base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Plot all 8 symmetric points around the center:</a:t>
            </a:r>
            <a:br>
              <a:rPr lang="en-US" sz="34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+ x,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+ y)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- x,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+ y)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+ x,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- y)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- x,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- y)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+ y,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+ x)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- y,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+ x)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+ y,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- x)</a:t>
            </a:r>
            <a:br>
              <a:rPr lang="en-US" sz="5100" b="1" i="0" u="none" strike="noStrike" dirty="0">
                <a:effectLst/>
                <a:latin typeface="Roboto Mono"/>
              </a:rPr>
            </a:br>
            <a:r>
              <a:rPr lang="en-US" sz="5100" b="1" i="0" u="none" strike="noStrike" dirty="0">
                <a:effectLst/>
                <a:latin typeface="Roboto Mono"/>
              </a:rPr>
              <a:t>(xc - y, </a:t>
            </a:r>
            <a:r>
              <a:rPr lang="en-US" sz="5100" b="1" i="0" u="none" strike="noStrike" dirty="0" err="1">
                <a:effectLst/>
                <a:latin typeface="Roboto Mono"/>
              </a:rPr>
              <a:t>yc</a:t>
            </a:r>
            <a:r>
              <a:rPr lang="en-US" sz="5100" b="1" i="0" u="none" strike="noStrike" dirty="0">
                <a:effectLst/>
                <a:latin typeface="Roboto Mono"/>
              </a:rPr>
              <a:t> - x)</a:t>
            </a:r>
            <a:br>
              <a:rPr lang="en-US" sz="5100" b="1" i="0" u="none" strike="noStrike" dirty="0">
                <a:effectLst/>
                <a:latin typeface="Roboto Mono"/>
              </a:rPr>
            </a:br>
            <a:br>
              <a:rPr lang="en-US" sz="3400" b="0" i="0" u="none" strike="noStrike" dirty="0">
                <a:effectLst/>
                <a:latin typeface="Roboto Mono"/>
              </a:rPr>
            </a:br>
            <a:endParaRPr lang="en-US" sz="34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If </a:t>
            </a:r>
            <a:r>
              <a:rPr lang="en-US" sz="3400" b="0" i="0" u="none" strike="noStrike" dirty="0">
                <a:effectLst/>
                <a:latin typeface="Roboto Mono"/>
              </a:rPr>
              <a:t>(p &lt; 0)</a:t>
            </a:r>
            <a:br>
              <a:rPr lang="en-US" sz="3400" b="0" i="0" u="none" strike="noStrike" dirty="0">
                <a:effectLst/>
                <a:latin typeface="Roboto Mono"/>
              </a:rPr>
            </a:b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then update </a:t>
            </a:r>
            <a:r>
              <a:rPr lang="en-US" sz="3400" b="0" i="0" u="none" strike="noStrike" dirty="0">
                <a:effectLst/>
                <a:latin typeface="Roboto Mono"/>
              </a:rPr>
              <a:t>p = p + 4x + 6</a:t>
            </a:r>
            <a:br>
              <a:rPr lang="en-US" sz="3400" b="0" i="0" u="none" strike="noStrike" dirty="0">
                <a:effectLst/>
                <a:latin typeface="Roboto Mono"/>
              </a:rPr>
            </a:br>
            <a:br>
              <a:rPr lang="en-US" sz="3400" b="0" i="0" u="none" strike="noStrike" dirty="0">
                <a:effectLst/>
                <a:latin typeface="Roboto Mono"/>
              </a:rPr>
            </a:br>
            <a:endParaRPr lang="en-US" sz="34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Else</a:t>
            </a:r>
            <a:br>
              <a:rPr lang="en-US" sz="34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update </a:t>
            </a:r>
            <a:r>
              <a:rPr lang="en-US" sz="3400" b="0" i="0" u="none" strike="noStrike" dirty="0">
                <a:effectLst/>
                <a:latin typeface="Roboto Mono"/>
              </a:rPr>
              <a:t>p = p + 4(x - y) + 10</a:t>
            </a:r>
            <a:br>
              <a:rPr lang="en-US" sz="3400" b="0" i="0" u="none" strike="noStrike" dirty="0">
                <a:effectLst/>
                <a:latin typeface="Roboto Mono"/>
              </a:rPr>
            </a:b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and </a:t>
            </a:r>
            <a:r>
              <a:rPr lang="en-US" sz="3400" b="0" i="0" u="none" strike="noStrike" dirty="0">
                <a:effectLst/>
                <a:latin typeface="Roboto Mono"/>
              </a:rPr>
              <a:t>y = y - 1</a:t>
            </a:r>
            <a:br>
              <a:rPr lang="en-US" sz="3400" b="0" i="0" u="none" strike="noStrike" dirty="0">
                <a:effectLst/>
                <a:latin typeface="Roboto Mono"/>
              </a:rPr>
            </a:br>
            <a:endParaRPr lang="en-US" sz="34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Increment </a:t>
            </a:r>
            <a:r>
              <a:rPr lang="en-US" sz="3400" b="0" i="0" u="none" strike="noStrike" dirty="0">
                <a:effectLst/>
                <a:latin typeface="Roboto Mono"/>
              </a:rPr>
              <a:t>x = x + 1</a:t>
            </a:r>
            <a:br>
              <a:rPr lang="en-US" sz="3400" b="0" i="0" u="none" strike="noStrike" dirty="0">
                <a:effectLst/>
                <a:latin typeface="Roboto Mono"/>
              </a:rPr>
            </a:br>
            <a:r>
              <a:rPr lang="en-US" sz="3400" b="1" i="0" u="none" strike="noStrike" dirty="0">
                <a:effectLst/>
                <a:latin typeface="Arial" panose="020B0604020202020204" pitchFamily="34" charset="0"/>
              </a:rPr>
              <a:t>Step 5:</a:t>
            </a:r>
            <a:br>
              <a:rPr lang="en-US" sz="3400" b="1" i="0" u="none" strike="noStrike" dirty="0">
                <a:effectLst/>
                <a:latin typeface="Arial" panose="020B0604020202020204" pitchFamily="34" charset="0"/>
              </a:rPr>
            </a:br>
            <a:r>
              <a:rPr lang="en-US" sz="3400" b="0" i="0" u="none" strike="noStrike" dirty="0">
                <a:effectLst/>
                <a:latin typeface="Arial" panose="020B0604020202020204" pitchFamily="34" charset="0"/>
              </a:rPr>
              <a:t>Stop when </a:t>
            </a:r>
            <a:r>
              <a:rPr lang="en-US" sz="3400" b="0" i="0" u="none" strike="noStrike" dirty="0">
                <a:effectLst/>
                <a:latin typeface="Roboto Mono"/>
              </a:rPr>
              <a:t>(x &gt; y)</a:t>
            </a:r>
            <a:endParaRPr lang="en-US" sz="3400" b="0" dirty="0">
              <a:effectLst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99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1AAF6-43E9-49F3-AED5-F27C10A9F41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8" t="28560" r="6984" b="26657"/>
          <a:stretch/>
        </p:blipFill>
        <p:spPr>
          <a:xfrm>
            <a:off x="-1" y="2891552"/>
            <a:ext cx="7860973" cy="24712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8336C-83A5-41A2-942F-91AF5F06FF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310" y="1922547"/>
            <a:ext cx="4404610" cy="42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577744" cy="372478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63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378</Words>
  <Application>Microsoft Office PowerPoint</Application>
  <PresentationFormat>Widescreen</PresentationFormat>
  <Paragraphs>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Roboto Mono</vt:lpstr>
      <vt:lpstr>Office Theme</vt:lpstr>
      <vt:lpstr>Lecture 6</vt:lpstr>
      <vt:lpstr>1_Office Theme</vt:lpstr>
      <vt:lpstr>2_Office Theme</vt:lpstr>
      <vt:lpstr>Lecture #6  </vt:lpstr>
      <vt:lpstr>Circle Drawing Techniques</vt:lpstr>
      <vt:lpstr>Circle Drawing Techniques</vt:lpstr>
      <vt:lpstr>What is Circle?</vt:lpstr>
      <vt:lpstr>Cont.</vt:lpstr>
      <vt:lpstr>Cont.</vt:lpstr>
      <vt:lpstr>Cont.</vt:lpstr>
      <vt:lpstr>Cont.</vt:lpstr>
      <vt:lpstr>Cont.</vt:lpstr>
      <vt:lpstr>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Hassan</cp:lastModifiedBy>
  <cp:revision>199</cp:revision>
  <dcterms:created xsi:type="dcterms:W3CDTF">2024-06-21T09:49:00Z</dcterms:created>
  <dcterms:modified xsi:type="dcterms:W3CDTF">2025-10-16T06:18:34Z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