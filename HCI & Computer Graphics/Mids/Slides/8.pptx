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 id="2147483696" r:id="rId4"/>
  </p:sldMasterIdLst>
  <p:notesMasterIdLst>
    <p:notesMasterId r:id="rId13"/>
  </p:notesMasterIdLst>
  <p:sldIdLst>
    <p:sldId id="273" r:id="rId5"/>
    <p:sldId id="302" r:id="rId6"/>
    <p:sldId id="257" r:id="rId7"/>
    <p:sldId id="303" r:id="rId8"/>
    <p:sldId id="304" r:id="rId9"/>
    <p:sldId id="312" r:id="rId10"/>
    <p:sldId id="313" r:id="rId11"/>
    <p:sldId id="314" r:id="rId12"/>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21" autoAdjust="0"/>
    <p:restoredTop sz="94438" autoAdjust="0"/>
  </p:normalViewPr>
  <p:slideViewPr>
    <p:cSldViewPr snapToGrid="0">
      <p:cViewPr varScale="1">
        <p:scale>
          <a:sx n="84" d="100"/>
          <a:sy n="84" d="100"/>
        </p:scale>
        <p:origin x="523"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D0056C-9295-4614-95BD-8AAB9A5181D8}" type="datetimeFigureOut">
              <a:rPr lang="en-US" smtClean="0"/>
              <a:t>10/7/2025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A268B0-555D-49A7-B078-7311B453B63C}" type="slidenum">
              <a:rPr lang="en-US" smtClean="0"/>
              <a:t>‹#›</a:t>
            </a:fld>
            <a:endParaRPr lang="en-US"/>
          </a:p>
        </p:txBody>
      </p:sp>
    </p:spTree>
    <p:extLst>
      <p:ext uri="{BB962C8B-B14F-4D97-AF65-F5344CB8AC3E}">
        <p14:creationId xmlns:p14="http://schemas.microsoft.com/office/powerpoint/2010/main" val="2314630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A268B0-555D-49A7-B078-7311B453B63C}" type="slidenum">
              <a:rPr lang="en-US" smtClean="0"/>
              <a:t>3</a:t>
            </a:fld>
            <a:endParaRPr lang="en-US"/>
          </a:p>
        </p:txBody>
      </p:sp>
    </p:spTree>
    <p:extLst>
      <p:ext uri="{BB962C8B-B14F-4D97-AF65-F5344CB8AC3E}">
        <p14:creationId xmlns:p14="http://schemas.microsoft.com/office/powerpoint/2010/main" val="1618117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07/10/2025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07/10/2025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07/10/2025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07/10/2025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07/10/2025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07/10/2025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07/10/2025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07/10/2025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07/10/2025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07/10/2025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07/10/2025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145401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7084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525517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244592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746532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709493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094780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144695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264498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644714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1530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07/10/2025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07/10/2025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a16="http://schemas.microsoft.com/office/drawing/2014/main" xmlns=""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xmlns=""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a16="http://schemas.microsoft.com/office/drawing/2014/main" xmlns=""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a16="http://schemas.microsoft.com/office/drawing/2014/main" xmlns=""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xmlns="" id="{75FFEA7F-8809-458D-BE80-99F7CFB965CA}"/>
                </a:ext>
              </a:extLst>
            </p:cNvPr>
            <p:cNvPicPr>
              <a:picLocks noChangeAspect="1"/>
            </p:cNvPicPr>
            <p:nvPr userDrawn="1"/>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a16="http://schemas.microsoft.com/office/drawing/2014/main" xmlns=""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xmlns="" id="{ACED766F-A0E3-4D45-8A6E-86CCFAFA5D96}"/>
                </a:ext>
              </a:extLst>
            </p:cNvPr>
            <p:cNvPicPr>
              <a:picLocks noChangeAspect="1"/>
            </p:cNvPicPr>
            <p:nvPr userDrawn="1"/>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xmlns=""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07/10/2025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EE7CCD-3A02-4509-B7B4-8C0570EC2342}" type="datetimeFigureOut">
              <a:rPr lang="en-US" smtClean="0">
                <a:solidFill>
                  <a:prstClr val="black">
                    <a:tint val="75000"/>
                  </a:prstClr>
                </a:solidFill>
              </a:rPr>
              <a:pPr/>
              <a:t>10/7/2025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FA2B5-8850-421C-93F1-22A6BEB0726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133195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sp>
        <p:nvSpPr>
          <p:cNvPr id="2" name="Title 1"/>
          <p:cNvSpPr>
            <a:spLocks noGrp="1"/>
          </p:cNvSpPr>
          <p:nvPr>
            <p:ph type="ctrTitle"/>
          </p:nvPr>
        </p:nvSpPr>
        <p:spPr>
          <a:xfrm>
            <a:off x="84137" y="2635037"/>
            <a:ext cx="12023725" cy="2271395"/>
          </a:xfrm>
        </p:spPr>
        <p:txBody>
          <a:bodyPr>
            <a:noAutofit/>
          </a:bodyPr>
          <a:lstStyle/>
          <a:p>
            <a:pPr>
              <a:lnSpc>
                <a:spcPct val="100000"/>
              </a:lnSpc>
              <a:defRPr/>
            </a:pPr>
            <a:r>
              <a:rPr lang="en-US" altLang="ko-KR" sz="4000" b="1">
                <a:solidFill>
                  <a:schemeClr val="accent4"/>
                </a:solidFill>
                <a:cs typeface="Arial" pitchFamily="34" charset="0"/>
              </a:rPr>
              <a:t>Lecture </a:t>
            </a:r>
            <a:r>
              <a:rPr lang="en-US" altLang="ko-KR" sz="4000" b="1" smtClean="0">
                <a:solidFill>
                  <a:schemeClr val="accent4"/>
                </a:solidFill>
                <a:cs typeface="Arial" pitchFamily="34" charset="0"/>
              </a:rPr>
              <a:t>#8</a:t>
            </a:r>
            <a:r>
              <a:rPr lang="en-US" altLang="ko-KR" sz="4000" b="1" dirty="0">
                <a:solidFill>
                  <a:schemeClr val="accent4"/>
                </a:solidFill>
                <a:cs typeface="Arial" pitchFamily="34" charset="0"/>
              </a:rPr>
              <a:t/>
            </a:r>
            <a:br>
              <a:rPr lang="en-US" altLang="ko-KR" sz="4000" b="1" dirty="0">
                <a:solidFill>
                  <a:schemeClr val="accent4"/>
                </a:solidFill>
                <a:cs typeface="Arial" pitchFamily="34" charset="0"/>
              </a:rPr>
            </a:br>
            <a:r>
              <a:rPr lang="en-US" altLang="ko-KR" sz="4000" b="1" dirty="0">
                <a:solidFill>
                  <a:schemeClr val="accent4"/>
                </a:solidFill>
                <a:cs typeface="Arial" pitchFamily="34" charset="0"/>
              </a:rPr>
              <a:t/>
            </a:r>
            <a:br>
              <a:rPr lang="en-US" altLang="ko-KR" sz="4000" b="1" dirty="0">
                <a:solidFill>
                  <a:schemeClr val="accent4"/>
                </a:solidFill>
                <a:cs typeface="Arial" pitchFamily="34" charset="0"/>
              </a:rPr>
            </a:br>
            <a:endParaRPr lang="en-US" altLang="ko-KR" sz="4000" b="1" dirty="0">
              <a:solidFill>
                <a:schemeClr val="accent4"/>
              </a:solidFill>
              <a:cs typeface="Arial" pitchFamily="34" charset="0"/>
            </a:endParaRP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819400"/>
            <a:ext cx="8534400" cy="1143000"/>
          </a:xfrm>
        </p:spPr>
        <p:txBody>
          <a:bodyPr>
            <a:normAutofit fontScale="90000"/>
          </a:bodyPr>
          <a:lstStyle/>
          <a:p>
            <a:r>
              <a:rPr lang="en-US" b="1" dirty="0"/>
              <a:t>Boundary fill and Flood fill Algorithm</a:t>
            </a:r>
            <a:br>
              <a:rPr lang="en-US" b="1" dirty="0"/>
            </a:br>
            <a:endParaRPr lang="en-US" b="1" dirty="0"/>
          </a:p>
        </p:txBody>
      </p:sp>
      <p:grpSp>
        <p:nvGrpSpPr>
          <p:cNvPr id="4" name="Group 3">
            <a:extLst>
              <a:ext uri="{FF2B5EF4-FFF2-40B4-BE49-F238E27FC236}">
                <a16:creationId xmlns:a16="http://schemas.microsoft.com/office/drawing/2014/main" xmlns="" id="{BAEFE420-0C07-4D1B-9094-F2C452FF1011}"/>
              </a:ext>
            </a:extLst>
          </p:cNvPr>
          <p:cNvGrpSpPr/>
          <p:nvPr/>
        </p:nvGrpSpPr>
        <p:grpSpPr>
          <a:xfrm>
            <a:off x="1532100" y="0"/>
            <a:ext cx="9592725" cy="1115736"/>
            <a:chOff x="0" y="0"/>
            <a:chExt cx="12324746" cy="1115736"/>
          </a:xfrm>
        </p:grpSpPr>
        <p:sp>
          <p:nvSpPr>
            <p:cNvPr id="5" name="Rectangle 4">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solidFill>
                  <a:prstClr val="white"/>
                </a:solidFill>
              </a:endParaRPr>
            </a:p>
          </p:txBody>
        </p:sp>
        <p:pic>
          <p:nvPicPr>
            <p:cNvPr id="6" name="Picture 5">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10">
              <a:extLst>
                <a:ext uri="{FF2B5EF4-FFF2-40B4-BE49-F238E27FC236}">
                  <a16:creationId xmlns:a16="http://schemas.microsoft.com/office/drawing/2014/main" xmlns="" id="{650112A7-3B60-423A-8682-3EC1CCAA7ABE}"/>
                </a:ext>
              </a:extLst>
            </p:cNvPr>
            <p:cNvSpPr txBox="1"/>
            <p:nvPr/>
          </p:nvSpPr>
          <p:spPr>
            <a:xfrm>
              <a:off x="10212027" y="677208"/>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prstClr val="white"/>
                  </a:solidFill>
                </a:rPr>
                <a:t>unioffaisalabad</a:t>
              </a:r>
              <a:endParaRPr lang="x-none" sz="1100" dirty="0">
                <a:solidFill>
                  <a:prstClr val="white"/>
                </a:solidFill>
              </a:endParaRPr>
            </a:p>
          </p:txBody>
        </p:sp>
        <p:pic>
          <p:nvPicPr>
            <p:cNvPr id="8" name="Graphic 11">
              <a:extLst>
                <a:ext uri="{FF2B5EF4-FFF2-40B4-BE49-F238E27FC236}">
                  <a16:creationId xmlns:a16="http://schemas.microsoft.com/office/drawing/2014/main" xmlns="" id="{75FFEA7F-8809-458D-BE80-99F7CFB965CA}"/>
                </a:ext>
              </a:extLst>
            </p:cNvPr>
            <p:cNvPicPr>
              <a:picLocks noChangeAspect="1"/>
            </p:cNvPicPr>
            <p:nvPr/>
          </p:nvPicPr>
          <p:blipFill>
            <a:blip/>
            <a:stretch>
              <a:fillRect/>
            </a:stretch>
          </p:blipFill>
          <p:spPr>
            <a:xfrm>
              <a:off x="9551489" y="350125"/>
              <a:ext cx="261610" cy="261610"/>
            </a:xfrm>
            <a:prstGeom prst="rect">
              <a:avLst/>
            </a:prstGeom>
          </p:spPr>
        </p:pic>
        <p:sp>
          <p:nvSpPr>
            <p:cNvPr id="9" name="TextBox 12">
              <a:extLst>
                <a:ext uri="{FF2B5EF4-FFF2-40B4-BE49-F238E27FC236}">
                  <a16:creationId xmlns:a16="http://schemas.microsoft.com/office/drawing/2014/main" xmlns="" id="{B3F075CD-8CB0-4BD0-B756-BA559BF9DF2D}"/>
                </a:ext>
              </a:extLst>
            </p:cNvPr>
            <p:cNvSpPr txBox="1"/>
            <p:nvPr/>
          </p:nvSpPr>
          <p:spPr>
            <a:xfrm>
              <a:off x="9718342" y="242403"/>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prstClr val="white"/>
                  </a:solidFill>
                </a:rPr>
                <a:t>w</a:t>
              </a:r>
              <a:r>
                <a:rPr lang="en-US" dirty="0">
                  <a:solidFill>
                    <a:prstClr val="white"/>
                  </a:solidFill>
                </a:rPr>
                <a:t>w</a:t>
              </a:r>
              <a:r>
                <a:rPr lang="x-none" dirty="0">
                  <a:solidFill>
                    <a:prstClr val="white"/>
                  </a:solidFill>
                </a:rPr>
                <a:t>w.</a:t>
              </a:r>
              <a:r>
                <a:rPr lang="en-US" dirty="0">
                  <a:solidFill>
                    <a:prstClr val="white"/>
                  </a:solidFill>
                </a:rPr>
                <a:t>t</a:t>
              </a:r>
              <a:r>
                <a:rPr lang="x-none" dirty="0">
                  <a:solidFill>
                    <a:prstClr val="white"/>
                  </a:solidFill>
                </a:rPr>
                <a:t>u</a:t>
              </a:r>
              <a:r>
                <a:rPr lang="en-US" dirty="0">
                  <a:solidFill>
                    <a:prstClr val="white"/>
                  </a:solidFill>
                </a:rPr>
                <a:t>f</a:t>
              </a:r>
              <a:r>
                <a:rPr lang="x-none" dirty="0">
                  <a:solidFill>
                    <a:prstClr val="white"/>
                  </a:solidFill>
                </a:rPr>
                <a:t>.</a:t>
              </a:r>
              <a:r>
                <a:rPr lang="en-US" dirty="0">
                  <a:solidFill>
                    <a:prstClr val="white"/>
                  </a:solidFill>
                </a:rPr>
                <a:t>e</a:t>
              </a:r>
              <a:r>
                <a:rPr lang="x-none" dirty="0">
                  <a:solidFill>
                    <a:prstClr val="white"/>
                  </a:solidFill>
                </a:rPr>
                <a:t>d</a:t>
              </a:r>
              <a:r>
                <a:rPr lang="en-US" dirty="0">
                  <a:solidFill>
                    <a:prstClr val="white"/>
                  </a:solidFill>
                </a:rPr>
                <a:t>u</a:t>
              </a:r>
              <a:r>
                <a:rPr lang="x-none" dirty="0">
                  <a:solidFill>
                    <a:prstClr val="white"/>
                  </a:solidFill>
                </a:rPr>
                <a:t>.</a:t>
              </a:r>
              <a:r>
                <a:rPr lang="en-US" dirty="0">
                  <a:solidFill>
                    <a:prstClr val="white"/>
                  </a:solidFill>
                </a:rPr>
                <a:t>p</a:t>
              </a:r>
              <a:r>
                <a:rPr lang="x-none" dirty="0">
                  <a:solidFill>
                    <a:prstClr val="white"/>
                  </a:solidFill>
                </a:rPr>
                <a:t>k</a:t>
              </a:r>
            </a:p>
          </p:txBody>
        </p:sp>
        <p:pic>
          <p:nvPicPr>
            <p:cNvPr id="10" name="Graphic 13">
              <a:extLst>
                <a:ext uri="{FF2B5EF4-FFF2-40B4-BE49-F238E27FC236}">
                  <a16:creationId xmlns:a16="http://schemas.microsoft.com/office/drawing/2014/main" xmlns="" id="{ACED766F-A0E3-4D45-8A6E-86CCFAFA5D96}"/>
                </a:ext>
              </a:extLst>
            </p:cNvPr>
            <p:cNvPicPr>
              <a:picLocks noChangeAspect="1"/>
            </p:cNvPicPr>
            <p:nvPr/>
          </p:nvPicPr>
          <p:blipFill>
            <a:blip/>
            <a:stretch>
              <a:fillRect/>
            </a:stretch>
          </p:blipFill>
          <p:spPr>
            <a:xfrm>
              <a:off x="10109986" y="703941"/>
              <a:ext cx="171450" cy="171450"/>
            </a:xfrm>
            <a:prstGeom prst="rect">
              <a:avLst/>
            </a:prstGeom>
          </p:spPr>
        </p:pic>
        <p:pic>
          <p:nvPicPr>
            <p:cNvPr id="11" name="Picture 10">
              <a:extLst>
                <a:ext uri="{FF2B5EF4-FFF2-40B4-BE49-F238E27FC236}">
                  <a16:creationId xmlns:a16="http://schemas.microsoft.com/office/drawing/2014/main" xmlns="" id="{F83660F3-45D1-4CA0-BE2A-E7E6C1B794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15926" y="703941"/>
              <a:ext cx="171452" cy="171451"/>
            </a:xfrm>
            <a:prstGeom prst="rect">
              <a:avLst/>
            </a:prstGeom>
          </p:spPr>
        </p:pic>
      </p:grpSp>
    </p:spTree>
    <p:extLst>
      <p:ext uri="{BB962C8B-B14F-4D97-AF65-F5344CB8AC3E}">
        <p14:creationId xmlns:p14="http://schemas.microsoft.com/office/powerpoint/2010/main" val="2845960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344" y="125428"/>
            <a:ext cx="10515600" cy="1325563"/>
          </a:xfrm>
        </p:spPr>
        <p:txBody>
          <a:bodyPr/>
          <a:lstStyle/>
          <a:p>
            <a:pPr algn="ctr"/>
            <a:r>
              <a:rPr lang="en-US" b="1" dirty="0">
                <a:solidFill>
                  <a:schemeClr val="bg1"/>
                </a:solidFill>
              </a:rPr>
              <a:t>Boundary-fill Algorithm</a:t>
            </a:r>
            <a:br>
              <a:rPr lang="en-US" b="1" dirty="0">
                <a:solidFill>
                  <a:schemeClr val="bg1"/>
                </a:solidFill>
              </a:rPr>
            </a:br>
            <a:endParaRPr lang="en-US" b="1" dirty="0">
              <a:solidFill>
                <a:schemeClr val="bg1"/>
              </a:solidFill>
            </a:endParaRPr>
          </a:p>
        </p:txBody>
      </p:sp>
      <p:sp>
        <p:nvSpPr>
          <p:cNvPr id="3" name="Content Placeholder 2"/>
          <p:cNvSpPr>
            <a:spLocks noGrp="1"/>
          </p:cNvSpPr>
          <p:nvPr>
            <p:ph sz="quarter" idx="1"/>
          </p:nvPr>
        </p:nvSpPr>
        <p:spPr/>
        <p:txBody>
          <a:bodyPr>
            <a:normAutofit/>
          </a:bodyPr>
          <a:lstStyle/>
          <a:p>
            <a:r>
              <a:rPr lang="en-US" dirty="0"/>
              <a:t>This is an area filling algorithm. This is used where we have to do an interactive painting in computer graphics, where interior points are easily selected. </a:t>
            </a:r>
          </a:p>
          <a:p>
            <a:r>
              <a:rPr lang="en-US" dirty="0"/>
              <a:t>If we have a specified boundary in a single color, then the fill algorithm proceeds pixel by pixel until the boundary color is encountered. This method is called the </a:t>
            </a:r>
            <a:r>
              <a:rPr lang="en-US" b="1" dirty="0"/>
              <a:t>boundary-fill algorithm</a:t>
            </a:r>
            <a:r>
              <a:rPr lang="en-US"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344" y="125428"/>
            <a:ext cx="10515600" cy="1325563"/>
          </a:xfrm>
        </p:spPr>
        <p:txBody>
          <a:bodyPr/>
          <a:lstStyle/>
          <a:p>
            <a:pPr algn="ctr"/>
            <a:r>
              <a:rPr lang="en-US" b="1" dirty="0">
                <a:solidFill>
                  <a:schemeClr val="bg1"/>
                </a:solidFill>
              </a:rPr>
              <a:t>Two method</a:t>
            </a:r>
          </a:p>
        </p:txBody>
      </p:sp>
      <p:sp>
        <p:nvSpPr>
          <p:cNvPr id="3" name="Content Placeholder 2"/>
          <p:cNvSpPr>
            <a:spLocks noGrp="1"/>
          </p:cNvSpPr>
          <p:nvPr>
            <p:ph sz="quarter" idx="1"/>
          </p:nvPr>
        </p:nvSpPr>
        <p:spPr>
          <a:xfrm>
            <a:off x="838200" y="1825625"/>
            <a:ext cx="10408920" cy="4351339"/>
          </a:xfrm>
        </p:spPr>
        <p:txBody>
          <a:bodyPr>
            <a:normAutofit/>
          </a:bodyPr>
          <a:lstStyle/>
          <a:p>
            <a:r>
              <a:rPr lang="en-US" b="1" dirty="0"/>
              <a:t>4-connected:</a:t>
            </a:r>
            <a:r>
              <a:rPr lang="en-US" dirty="0"/>
              <a:t/>
            </a:r>
            <a:br>
              <a:rPr lang="en-US" dirty="0"/>
            </a:br>
            <a:r>
              <a:rPr lang="en-US" dirty="0"/>
              <a:t>In this firstly there is a selection of the interior pixel which is inside the boundary then in reference to that pixel, the adjacent pixel will be filled up that is top-bottom and left-right.</a:t>
            </a:r>
          </a:p>
          <a:p>
            <a:r>
              <a:rPr lang="en-US" b="1" dirty="0"/>
              <a:t>8-connected:</a:t>
            </a:r>
            <a:r>
              <a:rPr lang="en-US" dirty="0"/>
              <a:t/>
            </a:r>
            <a:br>
              <a:rPr lang="en-US" dirty="0"/>
            </a:br>
            <a:r>
              <a:rPr lang="en-US" dirty="0"/>
              <a:t>This is the best way of filling the color correctly in the interior of the area defined. This is used to fill in more complex figures. In this four diagonal pixel are also included with a reference interior pixel (including top-bottom and left right pixels).</a:t>
            </a:r>
          </a:p>
        </p:txBody>
      </p:sp>
    </p:spTree>
    <p:extLst>
      <p:ext uri="{BB962C8B-B14F-4D97-AF65-F5344CB8AC3E}">
        <p14:creationId xmlns:p14="http://schemas.microsoft.com/office/powerpoint/2010/main" val="2460694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344" y="125428"/>
            <a:ext cx="10515600" cy="1325563"/>
          </a:xfrm>
        </p:spPr>
        <p:txBody>
          <a:bodyPr/>
          <a:lstStyle/>
          <a:p>
            <a:pPr algn="ctr"/>
            <a:r>
              <a:rPr lang="en-US" b="1" dirty="0">
                <a:solidFill>
                  <a:schemeClr val="bg1"/>
                </a:solidFill>
              </a:rPr>
              <a:t>Problem with boundary fill</a:t>
            </a:r>
            <a:br>
              <a:rPr lang="en-US" b="1" dirty="0">
                <a:solidFill>
                  <a:schemeClr val="bg1"/>
                </a:solidFill>
              </a:rPr>
            </a:br>
            <a:endParaRPr lang="en-US" b="1" dirty="0">
              <a:solidFill>
                <a:schemeClr val="bg1"/>
              </a:solidFill>
            </a:endParaRPr>
          </a:p>
        </p:txBody>
      </p:sp>
      <p:sp>
        <p:nvSpPr>
          <p:cNvPr id="3" name="Content Placeholder 2"/>
          <p:cNvSpPr>
            <a:spLocks noGrp="1"/>
          </p:cNvSpPr>
          <p:nvPr>
            <p:ph sz="quarter" idx="1"/>
          </p:nvPr>
        </p:nvSpPr>
        <p:spPr>
          <a:xfrm>
            <a:off x="838200" y="1825625"/>
            <a:ext cx="10577744" cy="3724783"/>
          </a:xfrm>
        </p:spPr>
        <p:txBody>
          <a:bodyPr>
            <a:normAutofit/>
          </a:bodyPr>
          <a:lstStyle/>
          <a:p>
            <a:r>
              <a:rPr lang="en-US" dirty="0"/>
              <a:t>It may not fill regions correctly, if same interior pixels are also displayed in fill color.</a:t>
            </a:r>
          </a:p>
          <a:p>
            <a:r>
              <a:rPr lang="en-US" dirty="0"/>
              <a:t>In 4-connected there is a problem. Sometimes it does not fill the corner pixel as it checks only the adjacent position of the given pixel.</a:t>
            </a:r>
          </a:p>
          <a:p>
            <a:pPr>
              <a:buNone/>
            </a:pPr>
            <a:endParaRPr lang="en-US" dirty="0"/>
          </a:p>
        </p:txBody>
      </p:sp>
    </p:spTree>
    <p:extLst>
      <p:ext uri="{BB962C8B-B14F-4D97-AF65-F5344CB8AC3E}">
        <p14:creationId xmlns:p14="http://schemas.microsoft.com/office/powerpoint/2010/main" val="2509180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5361" y="134305"/>
            <a:ext cx="10515600" cy="1325563"/>
          </a:xfrm>
        </p:spPr>
        <p:txBody>
          <a:bodyPr>
            <a:normAutofit/>
          </a:bodyPr>
          <a:lstStyle/>
          <a:p>
            <a:r>
              <a:rPr lang="en-US" sz="3600" b="1" dirty="0">
                <a:solidFill>
                  <a:schemeClr val="bg1"/>
                </a:solidFill>
              </a:rPr>
              <a:t>Algorithm for boundary fill (4-connected)</a:t>
            </a:r>
            <a:br>
              <a:rPr lang="en-US" sz="3600" b="1" dirty="0">
                <a:solidFill>
                  <a:schemeClr val="bg1"/>
                </a:solidFill>
              </a:rPr>
            </a:br>
            <a:endParaRPr lang="en-US" sz="3600" b="1" dirty="0">
              <a:solidFill>
                <a:schemeClr val="bg1"/>
              </a:solidFill>
            </a:endParaRPr>
          </a:p>
        </p:txBody>
      </p:sp>
      <p:sp>
        <p:nvSpPr>
          <p:cNvPr id="3" name="Content Placeholder 2"/>
          <p:cNvSpPr>
            <a:spLocks noGrp="1"/>
          </p:cNvSpPr>
          <p:nvPr>
            <p:ph sz="quarter" idx="1"/>
          </p:nvPr>
        </p:nvSpPr>
        <p:spPr>
          <a:xfrm>
            <a:off x="838200" y="1825625"/>
            <a:ext cx="10577744" cy="3724783"/>
          </a:xfrm>
        </p:spPr>
        <p:txBody>
          <a:bodyPr>
            <a:normAutofit fontScale="70000" lnSpcReduction="20000"/>
          </a:bodyPr>
          <a:lstStyle/>
          <a:p>
            <a:pPr algn="just"/>
            <a:r>
              <a:rPr lang="en-US" b="1" dirty="0"/>
              <a:t>Boundary fill (x, y, fill, boundary)</a:t>
            </a:r>
            <a:endParaRPr lang="en-US" dirty="0"/>
          </a:p>
          <a:p>
            <a:pPr algn="just">
              <a:buNone/>
            </a:pPr>
            <a:r>
              <a:rPr lang="en-US" b="1" dirty="0"/>
              <a:t>Step1:</a:t>
            </a:r>
            <a:r>
              <a:rPr lang="en-US" dirty="0"/>
              <a:t> Initialize boundary of the region, and variable fill with color. </a:t>
            </a:r>
          </a:p>
          <a:p>
            <a:pPr algn="just">
              <a:buNone/>
            </a:pPr>
            <a:r>
              <a:rPr lang="en-US" b="1" dirty="0"/>
              <a:t>Step2:</a:t>
            </a:r>
            <a:r>
              <a:rPr lang="en-US" dirty="0"/>
              <a:t> Let the interior pixel(</a:t>
            </a:r>
            <a:r>
              <a:rPr lang="en-US" dirty="0" err="1"/>
              <a:t>x,y</a:t>
            </a:r>
            <a:r>
              <a:rPr lang="en-US" dirty="0"/>
              <a:t>) (Now take an integer called current and </a:t>
            </a:r>
          </a:p>
          <a:p>
            <a:pPr algn="just">
              <a:buNone/>
            </a:pPr>
            <a:r>
              <a:rPr lang="en-US" dirty="0"/>
              <a:t>assign it to (</a:t>
            </a:r>
            <a:r>
              <a:rPr lang="en-US" dirty="0" err="1"/>
              <a:t>x,y</a:t>
            </a:r>
            <a:r>
              <a:rPr lang="en-US" dirty="0"/>
              <a:t>)) current= </a:t>
            </a:r>
            <a:r>
              <a:rPr lang="en-US" dirty="0" err="1"/>
              <a:t>getpixel</a:t>
            </a:r>
            <a:r>
              <a:rPr lang="en-US" dirty="0"/>
              <a:t>(</a:t>
            </a:r>
            <a:r>
              <a:rPr lang="en-US" dirty="0" err="1"/>
              <a:t>x,y</a:t>
            </a:r>
            <a:r>
              <a:rPr lang="en-US" dirty="0"/>
              <a:t>) </a:t>
            </a:r>
          </a:p>
          <a:p>
            <a:pPr algn="just">
              <a:buNone/>
            </a:pPr>
            <a:r>
              <a:rPr lang="en-US" b="1" dirty="0"/>
              <a:t>Step3: </a:t>
            </a:r>
            <a:r>
              <a:rPr lang="en-US" dirty="0"/>
              <a:t>If current is not equal to boundary and current is not </a:t>
            </a:r>
          </a:p>
          <a:p>
            <a:pPr algn="just">
              <a:buNone/>
            </a:pPr>
            <a:r>
              <a:rPr lang="en-US" dirty="0"/>
              <a:t>equal to fill then set pixel (x, y, fill) </a:t>
            </a:r>
          </a:p>
          <a:p>
            <a:pPr algn="just">
              <a:buNone/>
            </a:pPr>
            <a:r>
              <a:rPr lang="en-US" dirty="0"/>
              <a:t>	boundary fill 4(x+1,y,fill,boundary)</a:t>
            </a:r>
          </a:p>
          <a:p>
            <a:pPr algn="just">
              <a:buNone/>
            </a:pPr>
            <a:r>
              <a:rPr lang="en-US" dirty="0"/>
              <a:t>	boundary fill 4(x-1,y,fill,boundary) </a:t>
            </a:r>
          </a:p>
          <a:p>
            <a:pPr algn="just">
              <a:buNone/>
            </a:pPr>
            <a:r>
              <a:rPr lang="en-US" dirty="0"/>
              <a:t>    boundary fill 4(x,y+1,fill,boundary)</a:t>
            </a:r>
          </a:p>
          <a:p>
            <a:pPr algn="just">
              <a:buNone/>
            </a:pPr>
            <a:r>
              <a:rPr lang="en-US" dirty="0"/>
              <a:t>    boundary fill 4(x,y-1,fill,boundary)</a:t>
            </a:r>
          </a:p>
          <a:p>
            <a:pPr algn="just">
              <a:buNone/>
            </a:pPr>
            <a:r>
              <a:rPr lang="en-US" b="1" dirty="0"/>
              <a:t> Step 4) End.</a:t>
            </a:r>
          </a:p>
        </p:txBody>
      </p:sp>
    </p:spTree>
    <p:extLst>
      <p:ext uri="{BB962C8B-B14F-4D97-AF65-F5344CB8AC3E}">
        <p14:creationId xmlns:p14="http://schemas.microsoft.com/office/powerpoint/2010/main" val="68026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272" y="0"/>
            <a:ext cx="10515600" cy="1325563"/>
          </a:xfrm>
        </p:spPr>
        <p:txBody>
          <a:bodyPr/>
          <a:lstStyle/>
          <a:p>
            <a:pPr algn="ctr"/>
            <a:r>
              <a:rPr lang="en-US" b="1" dirty="0">
                <a:solidFill>
                  <a:schemeClr val="bg1"/>
                </a:solidFill>
              </a:rPr>
              <a:t>Flood-fill Algorithm</a:t>
            </a:r>
          </a:p>
        </p:txBody>
      </p:sp>
      <p:sp>
        <p:nvSpPr>
          <p:cNvPr id="3" name="Content Placeholder 2"/>
          <p:cNvSpPr>
            <a:spLocks noGrp="1"/>
          </p:cNvSpPr>
          <p:nvPr>
            <p:ph sz="quarter" idx="1"/>
          </p:nvPr>
        </p:nvSpPr>
        <p:spPr>
          <a:xfrm>
            <a:off x="838200" y="1825625"/>
            <a:ext cx="10577744" cy="4675759"/>
          </a:xfrm>
        </p:spPr>
        <p:txBody>
          <a:bodyPr>
            <a:noAutofit/>
          </a:bodyPr>
          <a:lstStyle/>
          <a:p>
            <a:pPr algn="just"/>
            <a:r>
              <a:rPr lang="en-US" sz="1800" dirty="0"/>
              <a:t>By this algorithm, we can recolor an area that is not defined within a single color boundary. In this, we can paint such areas by replacing a color instead of searching for a boundary color value. </a:t>
            </a:r>
          </a:p>
          <a:p>
            <a:pPr algn="just"/>
            <a:r>
              <a:rPr lang="en-US" sz="1800" dirty="0"/>
              <a:t>This whole approach is termed as flood fill algorithm. </a:t>
            </a:r>
          </a:p>
          <a:p>
            <a:pPr algn="just"/>
            <a:r>
              <a:rPr lang="en-US" sz="1800" dirty="0"/>
              <a:t>This procedure can also be used to reduce the storage requirement of the stack by filling pixel spans.</a:t>
            </a:r>
          </a:p>
        </p:txBody>
      </p:sp>
    </p:spTree>
    <p:extLst>
      <p:ext uri="{BB962C8B-B14F-4D97-AF65-F5344CB8AC3E}">
        <p14:creationId xmlns:p14="http://schemas.microsoft.com/office/powerpoint/2010/main" val="4266204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820"/>
            <a:ext cx="10515600" cy="1325563"/>
          </a:xfrm>
        </p:spPr>
        <p:txBody>
          <a:bodyPr/>
          <a:lstStyle/>
          <a:p>
            <a:pPr algn="ctr"/>
            <a:r>
              <a:rPr lang="en-US" b="1" dirty="0">
                <a:solidFill>
                  <a:schemeClr val="bg1"/>
                </a:solidFill>
              </a:rPr>
              <a:t>Algorithm for Flood Fill</a:t>
            </a:r>
            <a:br>
              <a:rPr lang="en-US" b="1" dirty="0">
                <a:solidFill>
                  <a:schemeClr val="bg1"/>
                </a:solidFill>
              </a:rPr>
            </a:br>
            <a:endParaRPr lang="en-US" b="1" dirty="0">
              <a:solidFill>
                <a:schemeClr val="bg1"/>
              </a:solidFill>
            </a:endParaRPr>
          </a:p>
        </p:txBody>
      </p:sp>
      <p:sp>
        <p:nvSpPr>
          <p:cNvPr id="3" name="Content Placeholder 2"/>
          <p:cNvSpPr>
            <a:spLocks noGrp="1"/>
          </p:cNvSpPr>
          <p:nvPr>
            <p:ph sz="quarter" idx="1"/>
          </p:nvPr>
        </p:nvSpPr>
        <p:spPr>
          <a:xfrm>
            <a:off x="838200" y="1825625"/>
            <a:ext cx="10577744" cy="4675759"/>
          </a:xfrm>
        </p:spPr>
        <p:txBody>
          <a:bodyPr>
            <a:noAutofit/>
          </a:bodyPr>
          <a:lstStyle/>
          <a:p>
            <a:pPr>
              <a:buNone/>
            </a:pPr>
            <a:r>
              <a:rPr lang="en-US" sz="1800" b="1" dirty="0"/>
              <a:t>Step1:</a:t>
            </a:r>
            <a:r>
              <a:rPr lang="en-US" sz="1800" dirty="0"/>
              <a:t>Floodfill4 (x, y, new color)</a:t>
            </a:r>
          </a:p>
          <a:p>
            <a:pPr>
              <a:buNone/>
            </a:pPr>
            <a:r>
              <a:rPr lang="en-US" sz="1800" dirty="0"/>
              <a:t>Current= </a:t>
            </a:r>
            <a:r>
              <a:rPr lang="en-US" sz="1800" dirty="0" err="1"/>
              <a:t>Getpixel</a:t>
            </a:r>
            <a:r>
              <a:rPr lang="en-US" sz="1800" dirty="0"/>
              <a:t> (x, y)</a:t>
            </a:r>
          </a:p>
          <a:p>
            <a:pPr>
              <a:buNone/>
            </a:pPr>
            <a:r>
              <a:rPr lang="en-US" sz="1800" b="1" dirty="0"/>
              <a:t>Step2:</a:t>
            </a:r>
            <a:r>
              <a:rPr lang="en-US" sz="1800" dirty="0"/>
              <a:t>If (current!=</a:t>
            </a:r>
            <a:r>
              <a:rPr lang="en-US" sz="1800" dirty="0" err="1"/>
              <a:t>newcolor</a:t>
            </a:r>
            <a:r>
              <a:rPr lang="en-US" sz="1800" dirty="0"/>
              <a:t>)</a:t>
            </a:r>
          </a:p>
          <a:p>
            <a:pPr>
              <a:buNone/>
            </a:pPr>
            <a:r>
              <a:rPr lang="en-US" sz="1800" dirty="0"/>
              <a:t>           </a:t>
            </a:r>
            <a:r>
              <a:rPr lang="en-US" sz="1800" dirty="0" err="1"/>
              <a:t>Putpixel</a:t>
            </a:r>
            <a:r>
              <a:rPr lang="en-US" sz="1800" dirty="0"/>
              <a:t> (x ,y, </a:t>
            </a:r>
            <a:r>
              <a:rPr lang="en-US" sz="1800" dirty="0" err="1"/>
              <a:t>Newcolor</a:t>
            </a:r>
            <a:r>
              <a:rPr lang="en-US" sz="1800" dirty="0"/>
              <a:t>)</a:t>
            </a:r>
          </a:p>
          <a:p>
            <a:pPr>
              <a:buNone/>
            </a:pPr>
            <a:r>
              <a:rPr lang="en-US" sz="1800" dirty="0"/>
              <a:t> Floodfill4 (x+1, y, new color)</a:t>
            </a:r>
          </a:p>
          <a:p>
            <a:pPr>
              <a:buNone/>
            </a:pPr>
            <a:r>
              <a:rPr lang="en-US" sz="1800" dirty="0"/>
              <a:t> Floodfill4 (x-1, y, </a:t>
            </a:r>
            <a:r>
              <a:rPr lang="en-US" sz="1800" dirty="0" err="1"/>
              <a:t>newcolor</a:t>
            </a:r>
            <a:r>
              <a:rPr lang="en-US" sz="1800" dirty="0"/>
              <a:t>)</a:t>
            </a:r>
          </a:p>
          <a:p>
            <a:pPr>
              <a:buNone/>
            </a:pPr>
            <a:r>
              <a:rPr lang="en-US" sz="1800" dirty="0"/>
              <a:t> Floodfill4 (x, y+1, </a:t>
            </a:r>
            <a:r>
              <a:rPr lang="en-US" sz="1800" dirty="0" err="1"/>
              <a:t>Newcolor</a:t>
            </a:r>
            <a:r>
              <a:rPr lang="en-US" sz="1800" dirty="0"/>
              <a:t>) </a:t>
            </a:r>
          </a:p>
          <a:p>
            <a:pPr>
              <a:buNone/>
            </a:pPr>
            <a:r>
              <a:rPr lang="en-US" sz="1800" dirty="0"/>
              <a:t> Floodfill4 (x, y-1, </a:t>
            </a:r>
            <a:r>
              <a:rPr lang="en-US" sz="1800" dirty="0" err="1"/>
              <a:t>Newcolor</a:t>
            </a:r>
            <a:r>
              <a:rPr lang="en-US" sz="1800" dirty="0"/>
              <a:t>)</a:t>
            </a:r>
          </a:p>
          <a:p>
            <a:pPr>
              <a:buNone/>
            </a:pPr>
            <a:r>
              <a:rPr lang="en-US" sz="1800" b="1" dirty="0"/>
              <a:t> Step 3: </a:t>
            </a:r>
            <a:r>
              <a:rPr lang="en-US" sz="1800" dirty="0"/>
              <a:t>end.</a:t>
            </a:r>
          </a:p>
        </p:txBody>
      </p:sp>
    </p:spTree>
    <p:extLst>
      <p:ext uri="{BB962C8B-B14F-4D97-AF65-F5344CB8AC3E}">
        <p14:creationId xmlns:p14="http://schemas.microsoft.com/office/powerpoint/2010/main" val="528265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1014</TotalTime>
  <Words>372</Words>
  <Application>Microsoft Office PowerPoint</Application>
  <PresentationFormat>Widescreen</PresentationFormat>
  <Paragraphs>40</Paragraphs>
  <Slides>8</Slides>
  <Notes>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8</vt:i4>
      </vt:variant>
    </vt:vector>
  </HeadingPairs>
  <TitlesOfParts>
    <vt:vector size="16" baseType="lpstr">
      <vt:lpstr>맑은 고딕</vt:lpstr>
      <vt:lpstr>Arial</vt:lpstr>
      <vt:lpstr>Calibri</vt:lpstr>
      <vt:lpstr>Calibri Light</vt:lpstr>
      <vt:lpstr>Office Theme</vt:lpstr>
      <vt:lpstr>Lecture 6</vt:lpstr>
      <vt:lpstr>1_Office Theme</vt:lpstr>
      <vt:lpstr>2_Office Theme</vt:lpstr>
      <vt:lpstr>Lecture #8  </vt:lpstr>
      <vt:lpstr>Boundary fill and Flood fill Algorithm </vt:lpstr>
      <vt:lpstr>Boundary-fill Algorithm </vt:lpstr>
      <vt:lpstr>Two method</vt:lpstr>
      <vt:lpstr>Problem with boundary fill </vt:lpstr>
      <vt:lpstr>Algorithm for boundary fill (4-connected) </vt:lpstr>
      <vt:lpstr>Flood-fill Algorithm</vt:lpstr>
      <vt:lpstr>Algorithm for Flood Fill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Microsoft account</cp:lastModifiedBy>
  <cp:revision>210</cp:revision>
  <dcterms:created xsi:type="dcterms:W3CDTF">2024-06-21T09:49:00Z</dcterms:created>
  <dcterms:modified xsi:type="dcterms:W3CDTF">2025-10-07T06:30:50Z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