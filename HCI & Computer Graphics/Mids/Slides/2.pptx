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 id="2147483684" r:id="rId3"/>
  </p:sldMasterIdLst>
  <p:notesMasterIdLst>
    <p:notesMasterId r:id="rId21"/>
  </p:notesMasterIdLst>
  <p:sldIdLst>
    <p:sldId id="273" r:id="rId4"/>
    <p:sldId id="943" r:id="rId5"/>
    <p:sldId id="944" r:id="rId6"/>
    <p:sldId id="269" r:id="rId7"/>
    <p:sldId id="270" r:id="rId8"/>
    <p:sldId id="271" r:id="rId9"/>
    <p:sldId id="272" r:id="rId10"/>
    <p:sldId id="945" r:id="rId11"/>
    <p:sldId id="946" r:id="rId12"/>
    <p:sldId id="947" r:id="rId13"/>
    <p:sldId id="262" r:id="rId14"/>
    <p:sldId id="263" r:id="rId15"/>
    <p:sldId id="268" r:id="rId16"/>
    <p:sldId id="264" r:id="rId17"/>
    <p:sldId id="265" r:id="rId18"/>
    <p:sldId id="266" r:id="rId19"/>
    <p:sldId id="267" r:id="rId20"/>
  </p:sldIdLst>
  <p:sldSz cx="12192000" cy="6858000"/>
  <p:notesSz cx="6858000" cy="9144000"/>
  <p:defaultText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9" autoAdjust="0"/>
    <p:restoredTop sz="94438" autoAdjust="0"/>
  </p:normalViewPr>
  <p:slideViewPr>
    <p:cSldViewPr snapToGrid="0">
      <p:cViewPr varScale="1">
        <p:scale>
          <a:sx n="108" d="100"/>
          <a:sy n="108" d="100"/>
        </p:scale>
        <p:origin x="966"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D0056C-9295-4614-95BD-8AAB9A5181D8}" type="datetimeFigureOut">
              <a:rPr lang="en-US" smtClean="0"/>
              <a:t>9/3/2025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A268B0-555D-49A7-B078-7311B453B63C}" type="slidenum">
              <a:rPr lang="en-US" smtClean="0"/>
              <a:t>‹#›</a:t>
            </a:fld>
            <a:endParaRPr lang="en-US"/>
          </a:p>
        </p:txBody>
      </p:sp>
    </p:spTree>
    <p:extLst>
      <p:ext uri="{BB962C8B-B14F-4D97-AF65-F5344CB8AC3E}">
        <p14:creationId xmlns:p14="http://schemas.microsoft.com/office/powerpoint/2010/main" val="2314630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9/3/2025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9/3/2025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9/3/2025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9/3/2025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9/3/2025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9/3/2025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83471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15652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56261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9/3/2025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678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9/3/2025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50870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9/3/2025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12735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9/3/2025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856373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9/3/2025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7433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9/3/2025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477156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32222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95477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72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6326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527605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9/3/2025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8830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9/3/2025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76943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9/3/2025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4188601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9/3/2025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9472795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9/3/2025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26497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9/3/2025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2410426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069766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8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5.svg"/><Relationship Id="rId2" Type="http://schemas.openxmlformats.org/officeDocument/2006/relationships/slideLayout" Target="../slideLayouts/slideLayout13.xml"/><Relationship Id="rId16"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9/3/2025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9/3/2025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grpSp>
        <p:nvGrpSpPr>
          <p:cNvPr id="7" name="Group 6">
            <a:extLst>
              <a:ext uri="{FF2B5EF4-FFF2-40B4-BE49-F238E27FC236}">
                <a16:creationId xmlns:a16="http://schemas.microsoft.com/office/drawing/2014/main" id="{BAEFE420-0C07-4D1B-9094-F2C452FF1011}"/>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6FBB4837-678E-4FCE-A1B7-2AE1B9432890}"/>
                </a:ext>
              </a:extLst>
            </p:cNvPr>
            <p:cNvSpPr/>
            <p:nvPr userDrawn="1"/>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9" name="Picture 8">
              <a:extLst>
                <a:ext uri="{FF2B5EF4-FFF2-40B4-BE49-F238E27FC236}">
                  <a16:creationId xmlns:a16="http://schemas.microsoft.com/office/drawing/2014/main" id="{D279BBF0-3F01-4944-AF8F-73A34B5B9CE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10">
              <a:extLst>
                <a:ext uri="{FF2B5EF4-FFF2-40B4-BE49-F238E27FC236}">
                  <a16:creationId xmlns:a16="http://schemas.microsoft.com/office/drawing/2014/main" id="{650112A7-3B60-423A-8682-3EC1CCAA7ABE}"/>
                </a:ext>
              </a:extLst>
            </p:cNvPr>
            <p:cNvSpPr txBox="1"/>
            <p:nvPr userDrawn="1"/>
          </p:nvSpPr>
          <p:spPr>
            <a:xfrm>
              <a:off x="10719753" y="696917"/>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11" name="Graphic 11">
              <a:extLst>
                <a:ext uri="{FF2B5EF4-FFF2-40B4-BE49-F238E27FC236}">
                  <a16:creationId xmlns:a16="http://schemas.microsoft.com/office/drawing/2014/main" id="{75FFEA7F-8809-458D-BE80-99F7CFB965CA}"/>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12" name="TextBox 12">
              <a:extLst>
                <a:ext uri="{FF2B5EF4-FFF2-40B4-BE49-F238E27FC236}">
                  <a16:creationId xmlns:a16="http://schemas.microsoft.com/office/drawing/2014/main" id="{B3F075CD-8CB0-4BD0-B756-BA559BF9DF2D}"/>
                </a:ext>
              </a:extLst>
            </p:cNvPr>
            <p:cNvSpPr txBox="1"/>
            <p:nvPr userDrawn="1"/>
          </p:nvSpPr>
          <p:spPr>
            <a:xfrm>
              <a:off x="10142944" y="350125"/>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3" name="Graphic 13">
              <a:extLst>
                <a:ext uri="{FF2B5EF4-FFF2-40B4-BE49-F238E27FC236}">
                  <a16:creationId xmlns:a16="http://schemas.microsoft.com/office/drawing/2014/main" id="{ACED766F-A0E3-4D45-8A6E-86CCFAFA5D96}"/>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F83660F3-45D1-4CA0-BE2A-E7E6C1B794A4}"/>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424094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9/3/2025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21057689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175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en-GB" dirty="0"/>
          </a:p>
        </p:txBody>
      </p:sp>
      <p:sp>
        <p:nvSpPr>
          <p:cNvPr id="2" name="Title 1"/>
          <p:cNvSpPr>
            <a:spLocks noGrp="1"/>
          </p:cNvSpPr>
          <p:nvPr>
            <p:ph type="ctrTitle"/>
          </p:nvPr>
        </p:nvSpPr>
        <p:spPr>
          <a:xfrm>
            <a:off x="84137" y="2635037"/>
            <a:ext cx="12023725" cy="2271395"/>
          </a:xfrm>
        </p:spPr>
        <p:txBody>
          <a:bodyPr>
            <a:noAutofit/>
          </a:bodyPr>
          <a:lstStyle/>
          <a:p>
            <a:pPr>
              <a:lnSpc>
                <a:spcPct val="100000"/>
              </a:lnSpc>
              <a:defRPr/>
            </a:pPr>
            <a:r>
              <a:rPr lang="en-US" altLang="ko-KR" sz="4000" b="1" dirty="0">
                <a:solidFill>
                  <a:schemeClr val="bg1"/>
                </a:solidFill>
                <a:cs typeface="Arial" pitchFamily="34" charset="0"/>
              </a:rPr>
              <a:t>Lecture #2</a:t>
            </a:r>
            <a:br>
              <a:rPr lang="en-US" altLang="ko-KR" sz="4000" b="1" dirty="0">
                <a:solidFill>
                  <a:schemeClr val="accent4"/>
                </a:solidFill>
                <a:cs typeface="Arial" pitchFamily="34" charset="0"/>
              </a:rPr>
            </a:br>
            <a:r>
              <a:rPr lang="en-US" sz="3600" b="1" dirty="0">
                <a:solidFill>
                  <a:schemeClr val="bg1"/>
                </a:solidFill>
                <a:effectLst/>
                <a:latin typeface="Calibri" panose="020F0502020204030204" pitchFamily="34" charset="0"/>
                <a:ea typeface="Times New Roman" panose="02020603050405020304" pitchFamily="18" charset="0"/>
              </a:rPr>
              <a:t>Video Display Devices </a:t>
            </a:r>
            <a:br>
              <a:rPr lang="en-US" altLang="ko-KR" sz="4000" b="1" dirty="0">
                <a:solidFill>
                  <a:schemeClr val="accent4"/>
                </a:solidFill>
                <a:cs typeface="Arial" pitchFamily="34" charset="0"/>
              </a:rPr>
            </a:br>
            <a:br>
              <a:rPr lang="en-US" altLang="ko-KR" sz="4000" b="1" dirty="0">
                <a:solidFill>
                  <a:schemeClr val="accent4"/>
                </a:solidFill>
                <a:cs typeface="Arial" pitchFamily="34" charset="0"/>
              </a:rPr>
            </a:br>
            <a:endParaRPr lang="en-US" altLang="ko-KR" sz="4000" b="1" dirty="0">
              <a:solidFill>
                <a:schemeClr val="accent4"/>
              </a:solidFill>
              <a:cs typeface="Arial" pitchFamily="34" charset="0"/>
            </a:endParaRPr>
          </a:p>
        </p:txBody>
      </p:sp>
      <p:pic>
        <p:nvPicPr>
          <p:cNvPr id="10" name="Graphic 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62283" y="0"/>
            <a:ext cx="3611691" cy="3611691"/>
          </a:xfrm>
          <a:prstGeom prst="rect">
            <a:avLst/>
          </a:prstGeom>
        </p:spPr>
      </p:pic>
      <p:pic>
        <p:nvPicPr>
          <p:cNvPr id="1026" name="Picture 2" descr="C:\Users\Administrator\Downloads\Screenshot__117_-removebg-preview.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63" y="393485"/>
            <a:ext cx="3067051" cy="16192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0939"/>
            <a:ext cx="10515600" cy="1325563"/>
          </a:xfrm>
        </p:spPr>
        <p:txBody>
          <a:bodyPr>
            <a:normAutofit/>
          </a:bodyPr>
          <a:lstStyle/>
          <a:p>
            <a:pPr algn="ctr"/>
            <a:r>
              <a:rPr lang="en-US" b="1" dirty="0">
                <a:solidFill>
                  <a:schemeClr val="bg1"/>
                </a:solidFill>
              </a:rPr>
              <a:t>Random Scan (Vector Scan)</a:t>
            </a:r>
            <a:endParaRPr lang="en-US" dirty="0">
              <a:solidFill>
                <a:schemeClr val="bg1"/>
              </a:solidFill>
            </a:endParaRPr>
          </a:p>
        </p:txBody>
      </p:sp>
      <p:sp>
        <p:nvSpPr>
          <p:cNvPr id="3" name="Content Placeholder 2"/>
          <p:cNvSpPr>
            <a:spLocks noGrp="1"/>
          </p:cNvSpPr>
          <p:nvPr>
            <p:ph sz="quarter" idx="1"/>
          </p:nvPr>
        </p:nvSpPr>
        <p:spPr/>
        <p:txBody>
          <a:bodyPr/>
          <a:lstStyle/>
          <a:p>
            <a:pPr algn="just"/>
            <a:r>
              <a:rPr lang="en-US" dirty="0"/>
              <a:t>In this technique, the electron beam is directed only to the part of the screen where the picture is to be drawn rather than scanning from left to right and top to bottom as in raster scan. </a:t>
            </a:r>
          </a:p>
          <a:p>
            <a:pPr algn="just"/>
            <a:r>
              <a:rPr lang="en-US" dirty="0"/>
              <a:t>It is also called </a:t>
            </a:r>
            <a:r>
              <a:rPr lang="en-US" b="1" dirty="0"/>
              <a:t>vector display, stroke-writing display,</a:t>
            </a:r>
            <a:r>
              <a:rPr lang="en-US" dirty="0"/>
              <a:t> or </a:t>
            </a:r>
            <a:r>
              <a:rPr lang="en-US" b="1" dirty="0"/>
              <a:t>calligraphic display</a:t>
            </a:r>
            <a:r>
              <a:rPr lang="en-US" dirty="0"/>
              <a:t>.</a:t>
            </a:r>
          </a:p>
          <a:p>
            <a:pPr algn="just"/>
            <a:endParaRPr lang="en-US" dirty="0"/>
          </a:p>
          <a:p>
            <a:pPr algn="just"/>
            <a:endParaRPr lang="en-US" dirty="0"/>
          </a:p>
        </p:txBody>
      </p:sp>
      <p:pic>
        <p:nvPicPr>
          <p:cNvPr id="4" name="Picture 3" descr="C:\Users\sadaf.sattar\Desktop\image_2019-09-13 06_38_51.948913+00_00">
            <a:extLst>
              <a:ext uri="{FF2B5EF4-FFF2-40B4-BE49-F238E27FC236}">
                <a16:creationId xmlns:a16="http://schemas.microsoft.com/office/drawing/2014/main" id="{B9EA6359-590A-43DB-AA99-6A37E5F9924D}"/>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4191432" y="3583052"/>
            <a:ext cx="3809136" cy="29330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6550"/>
            <a:ext cx="10515600" cy="1325563"/>
          </a:xfrm>
        </p:spPr>
        <p:txBody>
          <a:bodyPr/>
          <a:lstStyle/>
          <a:p>
            <a:pPr algn="ctr"/>
            <a:r>
              <a:rPr lang="en-US" b="1" dirty="0">
                <a:solidFill>
                  <a:schemeClr val="bg1"/>
                </a:solidFill>
              </a:rPr>
              <a:t>Working of Random Scan</a:t>
            </a:r>
          </a:p>
        </p:txBody>
      </p:sp>
      <p:sp>
        <p:nvSpPr>
          <p:cNvPr id="3" name="Content Placeholder 2"/>
          <p:cNvSpPr>
            <a:spLocks noGrp="1"/>
          </p:cNvSpPr>
          <p:nvPr>
            <p:ph sz="quarter" idx="1"/>
          </p:nvPr>
        </p:nvSpPr>
        <p:spPr/>
        <p:txBody>
          <a:bodyPr>
            <a:normAutofit/>
          </a:bodyPr>
          <a:lstStyle/>
          <a:p>
            <a:pPr algn="just"/>
            <a:r>
              <a:rPr lang="en-US" dirty="0"/>
              <a:t>To display a specified picture, the system cycles through the set of commands in the display file, drawing each component line in turn. </a:t>
            </a:r>
          </a:p>
          <a:p>
            <a:pPr algn="just"/>
            <a:r>
              <a:rPr lang="en-US" dirty="0"/>
              <a:t>After all the line-drawing commands are processed, the system cycles back to the first line command in the list.</a:t>
            </a:r>
          </a:p>
          <a:p>
            <a:pPr algn="just"/>
            <a:r>
              <a:rPr lang="en-US" dirty="0"/>
              <a:t>Random-scan displays are designed to draw all the component lines of a picture 30 to 60 times each second.</a:t>
            </a:r>
          </a:p>
          <a:p>
            <a:pPr algn="just"/>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8694"/>
            <a:ext cx="10515600" cy="1325563"/>
          </a:xfrm>
        </p:spPr>
        <p:txBody>
          <a:bodyPr/>
          <a:lstStyle/>
          <a:p>
            <a:pPr algn="ctr"/>
            <a:r>
              <a:rPr lang="en-US" b="1" dirty="0">
                <a:solidFill>
                  <a:schemeClr val="bg1"/>
                </a:solidFill>
              </a:rPr>
              <a:t>Raster Scan</a:t>
            </a:r>
          </a:p>
        </p:txBody>
      </p:sp>
      <p:sp>
        <p:nvSpPr>
          <p:cNvPr id="3" name="Content Placeholder 2"/>
          <p:cNvSpPr>
            <a:spLocks noGrp="1"/>
          </p:cNvSpPr>
          <p:nvPr>
            <p:ph idx="1"/>
          </p:nvPr>
        </p:nvSpPr>
        <p:spPr>
          <a:xfrm>
            <a:off x="1981200" y="1219200"/>
            <a:ext cx="8229600" cy="2971800"/>
          </a:xfrm>
        </p:spPr>
        <p:txBody>
          <a:bodyPr/>
          <a:lstStyle/>
          <a:p>
            <a:pPr algn="just">
              <a:buFont typeface="Wingdings" pitchFamily="2" charset="2"/>
              <a:buChar char="Ø"/>
            </a:pPr>
            <a:r>
              <a:rPr lang="en-US" dirty="0">
                <a:latin typeface="Times New Roman" pitchFamily="18" charset="0"/>
                <a:cs typeface="Times New Roman" pitchFamily="18" charset="0"/>
              </a:rPr>
              <a:t>In a raster scan system:</a:t>
            </a:r>
          </a:p>
          <a:p>
            <a:pPr algn="just">
              <a:buFont typeface="Wingdings" pitchFamily="2" charset="2"/>
              <a:buChar char="Ø"/>
            </a:pPr>
            <a:r>
              <a:rPr lang="en-US" dirty="0">
                <a:latin typeface="Times New Roman" pitchFamily="18" charset="0"/>
                <a:cs typeface="Times New Roman" pitchFamily="18" charset="0"/>
              </a:rPr>
              <a:t>The electron beam is swept across the screen,   one row at a time from top to bottom. </a:t>
            </a:r>
          </a:p>
          <a:p>
            <a:pPr algn="just">
              <a:buFont typeface="Wingdings" pitchFamily="2" charset="2"/>
              <a:buChar char="Ø"/>
            </a:pPr>
            <a:r>
              <a:rPr lang="en-US" dirty="0">
                <a:latin typeface="Times New Roman" pitchFamily="18" charset="0"/>
                <a:cs typeface="Times New Roman" pitchFamily="18" charset="0"/>
              </a:rPr>
              <a:t>As the electron beam moves across each row, the beam intensity is turned on and off to create a pattern of illuminated spots.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061"/>
            <a:ext cx="10515600" cy="1325563"/>
          </a:xfrm>
        </p:spPr>
        <p:txBody>
          <a:bodyPr/>
          <a:lstStyle/>
          <a:p>
            <a:pPr algn="ctr"/>
            <a:r>
              <a:rPr lang="en-US" b="1" dirty="0">
                <a:solidFill>
                  <a:schemeClr val="bg1"/>
                </a:solidFill>
              </a:rPr>
              <a:t>Cont.</a:t>
            </a:r>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Picture definition is stored in memory area called the </a:t>
            </a:r>
            <a:r>
              <a:rPr lang="en-US" b="1" dirty="0">
                <a:latin typeface="Times New Roman" pitchFamily="18" charset="0"/>
                <a:cs typeface="Times New Roman" pitchFamily="18" charset="0"/>
              </a:rPr>
              <a:t>Refresh Buffer</a:t>
            </a:r>
            <a:r>
              <a:rPr lang="en-US" dirty="0">
                <a:latin typeface="Times New Roman" pitchFamily="18" charset="0"/>
                <a:cs typeface="Times New Roman" pitchFamily="18" charset="0"/>
              </a:rPr>
              <a:t> or </a:t>
            </a:r>
            <a:r>
              <a:rPr lang="en-US" b="1" dirty="0">
                <a:latin typeface="Times New Roman" pitchFamily="18" charset="0"/>
                <a:cs typeface="Times New Roman" pitchFamily="18" charset="0"/>
              </a:rPr>
              <a:t>Frame Buffer</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This memory area holds the set of intensity values for all the screen points.</a:t>
            </a:r>
          </a:p>
          <a:p>
            <a:r>
              <a:rPr lang="en-US" dirty="0">
                <a:latin typeface="Times New Roman" pitchFamily="18" charset="0"/>
                <a:cs typeface="Times New Roman" pitchFamily="18" charset="0"/>
              </a:rPr>
              <a:t>Stored intensity values are then retrieved from the refresh buffer and “painted” on the screen one row (scan line) at a time as shown in the following illustration.</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b="1" dirty="0">
                <a:solidFill>
                  <a:schemeClr val="bg1"/>
                </a:solidFill>
              </a:rPr>
              <a:t>Cont…</a:t>
            </a:r>
          </a:p>
        </p:txBody>
      </p:sp>
      <p:pic>
        <p:nvPicPr>
          <p:cNvPr id="4" name="Picture 2"/>
          <p:cNvPicPr>
            <a:picLocks noGrp="1" noChangeAspect="1" noChangeArrowheads="1"/>
          </p:cNvPicPr>
          <p:nvPr>
            <p:ph idx="1"/>
          </p:nvPr>
        </p:nvPicPr>
        <p:blipFill>
          <a:blip r:embed="rId2" cstate="print"/>
          <a:stretch>
            <a:fillRect/>
          </a:stretch>
        </p:blipFill>
        <p:spPr bwMode="auto">
          <a:xfrm>
            <a:off x="3290888" y="2329657"/>
            <a:ext cx="5610225" cy="334327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3184"/>
            <a:ext cx="10515600" cy="1325563"/>
          </a:xfrm>
        </p:spPr>
        <p:txBody>
          <a:bodyPr/>
          <a:lstStyle/>
          <a:p>
            <a:pPr algn="ctr"/>
            <a:r>
              <a:rPr lang="en-US" b="1" dirty="0">
                <a:solidFill>
                  <a:schemeClr val="bg1"/>
                </a:solidFill>
              </a:rPr>
              <a:t>Cont….</a:t>
            </a:r>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Each screen point is referred to as a </a:t>
            </a:r>
            <a:r>
              <a:rPr lang="en-US" b="1" dirty="0">
                <a:latin typeface="Times New Roman" pitchFamily="18" charset="0"/>
                <a:cs typeface="Times New Roman" pitchFamily="18" charset="0"/>
              </a:rPr>
              <a:t>pixel (picture element)</a:t>
            </a:r>
            <a:r>
              <a:rPr lang="en-US" dirty="0">
                <a:latin typeface="Times New Roman" pitchFamily="18" charset="0"/>
                <a:cs typeface="Times New Roman" pitchFamily="18" charset="0"/>
              </a:rPr>
              <a:t> or </a:t>
            </a:r>
            <a:r>
              <a:rPr lang="en-US" b="1" dirty="0" err="1">
                <a:latin typeface="Times New Roman" pitchFamily="18" charset="0"/>
                <a:cs typeface="Times New Roman" pitchFamily="18" charset="0"/>
              </a:rPr>
              <a:t>pel</a:t>
            </a:r>
            <a:r>
              <a:rPr lang="en-US" dirty="0">
                <a:latin typeface="Times New Roman" pitchFamily="18" charset="0"/>
                <a:cs typeface="Times New Roman" pitchFamily="18" charset="0"/>
              </a:rPr>
              <a:t>. At the end of each scan line, the electron beam returns to the left side of the screen to begin displaying the next scan line.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9218"/>
            <a:ext cx="10515600" cy="1325563"/>
          </a:xfrm>
        </p:spPr>
        <p:txBody>
          <a:bodyPr>
            <a:normAutofit/>
          </a:bodyPr>
          <a:lstStyle/>
          <a:p>
            <a:pPr algn="ctr"/>
            <a:r>
              <a:rPr lang="en-US" b="1" dirty="0">
                <a:solidFill>
                  <a:schemeClr val="bg1"/>
                </a:solidFill>
              </a:rPr>
              <a:t>Flat panel display</a:t>
            </a:r>
            <a:endParaRPr lang="en-US" dirty="0">
              <a:solidFill>
                <a:schemeClr val="bg1"/>
              </a:solidFill>
            </a:endParaRPr>
          </a:p>
        </p:txBody>
      </p:sp>
      <p:sp>
        <p:nvSpPr>
          <p:cNvPr id="3" name="Content Placeholder 2"/>
          <p:cNvSpPr>
            <a:spLocks noGrp="1"/>
          </p:cNvSpPr>
          <p:nvPr>
            <p:ph sz="quarter" idx="1"/>
          </p:nvPr>
        </p:nvSpPr>
        <p:spPr/>
        <p:txBody>
          <a:bodyPr/>
          <a:lstStyle/>
          <a:p>
            <a:pPr algn="just"/>
            <a:r>
              <a:rPr lang="en-US" b="1" dirty="0"/>
              <a:t>Flat panel displays</a:t>
            </a:r>
            <a:r>
              <a:rPr lang="en-US" dirty="0"/>
              <a:t> encompass a growing number of electronic visual display technologies. They are far lighter and thinner than traditional sets and video displays that use cathode ray tubes (CRTs), and are usually less than 10 centimeters (3.9 in) thick. </a:t>
            </a:r>
          </a:p>
          <a:p>
            <a:pPr algn="just"/>
            <a:endParaRPr lang="en-US" dirty="0"/>
          </a:p>
        </p:txBody>
      </p:sp>
      <p:pic>
        <p:nvPicPr>
          <p:cNvPr id="25602" name="Picture 2" descr="Image result for flat panel"/>
          <p:cNvPicPr>
            <a:picLocks noChangeAspect="1" noChangeArrowheads="1"/>
          </p:cNvPicPr>
          <p:nvPr/>
        </p:nvPicPr>
        <p:blipFill>
          <a:blip r:embed="rId2" cstate="print"/>
          <a:srcRect/>
          <a:stretch>
            <a:fillRect/>
          </a:stretch>
        </p:blipFill>
        <p:spPr bwMode="auto">
          <a:xfrm>
            <a:off x="7162800" y="3505200"/>
            <a:ext cx="2590800" cy="25908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72"/>
            <a:ext cx="10515600" cy="1325563"/>
          </a:xfrm>
        </p:spPr>
        <p:txBody>
          <a:bodyPr/>
          <a:lstStyle/>
          <a:p>
            <a:pPr algn="ctr"/>
            <a:r>
              <a:rPr lang="en-US" b="1" dirty="0">
                <a:solidFill>
                  <a:schemeClr val="bg1"/>
                </a:solidFill>
              </a:rPr>
              <a:t>FPD</a:t>
            </a:r>
          </a:p>
        </p:txBody>
      </p:sp>
      <p:sp>
        <p:nvSpPr>
          <p:cNvPr id="3" name="Content Placeholder 2"/>
          <p:cNvSpPr>
            <a:spLocks noGrp="1"/>
          </p:cNvSpPr>
          <p:nvPr>
            <p:ph sz="quarter" idx="1"/>
          </p:nvPr>
        </p:nvSpPr>
        <p:spPr/>
        <p:txBody>
          <a:bodyPr/>
          <a:lstStyle/>
          <a:p>
            <a:pPr algn="just"/>
            <a:r>
              <a:rPr lang="en-US" dirty="0"/>
              <a:t>FPDs emit less radiation, produce less screen flicker and consume less power. </a:t>
            </a:r>
          </a:p>
          <a:p>
            <a:pPr algn="just"/>
            <a:r>
              <a:rPr lang="en-US" dirty="0"/>
              <a:t>They also take up less space, allowing for a more comfortable work environment.</a:t>
            </a:r>
            <a:endParaRPr lang="en-US" sz="2400" dirty="0"/>
          </a:p>
          <a:p>
            <a:pPr algn="just"/>
            <a:r>
              <a:rPr lang="en-US" b="1" dirty="0"/>
              <a:t>Emissive</a:t>
            </a:r>
            <a:r>
              <a:rPr lang="en-US" dirty="0"/>
              <a:t> (Converts Electronic Energy into light) </a:t>
            </a:r>
            <a:endParaRPr lang="en-US" sz="2400" dirty="0"/>
          </a:p>
          <a:p>
            <a:pPr lvl="1" algn="just"/>
            <a:r>
              <a:rPr lang="en-US" dirty="0"/>
              <a:t>Plasma Panel Display</a:t>
            </a:r>
            <a:endParaRPr lang="en-US" sz="2000" dirty="0"/>
          </a:p>
          <a:p>
            <a:pPr lvl="1" algn="just"/>
            <a:r>
              <a:rPr lang="en-US" dirty="0"/>
              <a:t>Light Emitting Diodes (LED) </a:t>
            </a:r>
            <a:endParaRPr lang="en-US" sz="2000" dirty="0"/>
          </a:p>
          <a:p>
            <a:pPr algn="just"/>
            <a:r>
              <a:rPr lang="en-US" b="1" dirty="0"/>
              <a:t>Non Emissive </a:t>
            </a:r>
            <a:r>
              <a:rPr lang="en-US" dirty="0"/>
              <a:t>(Use External Sources) </a:t>
            </a:r>
            <a:endParaRPr lang="en-US" sz="2400" dirty="0"/>
          </a:p>
          <a:p>
            <a:pPr lvl="1" algn="just"/>
            <a:r>
              <a:rPr lang="en-US" sz="2500" dirty="0"/>
              <a:t>Liquid Crystal Display</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8694"/>
            <a:ext cx="10515600" cy="1325563"/>
          </a:xfrm>
        </p:spPr>
        <p:txBody>
          <a:bodyPr>
            <a:normAutofit/>
          </a:bodyPr>
          <a:lstStyle/>
          <a:p>
            <a:pPr algn="ctr"/>
            <a:r>
              <a:rPr lang="en-US" b="1" dirty="0">
                <a:solidFill>
                  <a:schemeClr val="bg1"/>
                </a:solidFill>
              </a:rPr>
              <a:t>Plasma Panel Display</a:t>
            </a:r>
            <a:endParaRPr lang="en-US" dirty="0">
              <a:solidFill>
                <a:schemeClr val="bg1"/>
              </a:solidFill>
            </a:endParaRPr>
          </a:p>
        </p:txBody>
      </p:sp>
      <p:sp>
        <p:nvSpPr>
          <p:cNvPr id="3" name="Content Placeholder 2"/>
          <p:cNvSpPr>
            <a:spLocks noGrp="1"/>
          </p:cNvSpPr>
          <p:nvPr>
            <p:ph sz="quarter" idx="1"/>
          </p:nvPr>
        </p:nvSpPr>
        <p:spPr/>
        <p:txBody>
          <a:bodyPr>
            <a:normAutofit/>
          </a:bodyPr>
          <a:lstStyle/>
          <a:p>
            <a:pPr algn="just"/>
            <a:r>
              <a:rPr lang="en-US" dirty="0"/>
              <a:t>A type of flat-panel display that works by sandwiching a neon/xenon gas mixture between two sealed glass plates with parallel electrodes deposited on their surfaces. </a:t>
            </a:r>
          </a:p>
          <a:p>
            <a:pPr algn="just"/>
            <a:r>
              <a:rPr lang="en-US" dirty="0"/>
              <a:t>The plates are sealed so that the electrodes form right angles, creating pixels. </a:t>
            </a:r>
          </a:p>
          <a:p>
            <a:pPr algn="just"/>
            <a:r>
              <a:rPr lang="en-US" dirty="0"/>
              <a:t>When a voltage pulse passes between two electrodes, the gas breaks down and produces weakly ionized plasma, which emits UV radiation. </a:t>
            </a:r>
          </a:p>
          <a:p>
            <a:pPr algn="just"/>
            <a:r>
              <a:rPr lang="en-US" dirty="0"/>
              <a:t>The UV radiation activates color phosphors and visible light is emitted from each pixel.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205"/>
            <a:ext cx="10515600" cy="1325563"/>
          </a:xfrm>
        </p:spPr>
        <p:txBody>
          <a:bodyPr/>
          <a:lstStyle/>
          <a:p>
            <a:pPr algn="ctr"/>
            <a:r>
              <a:rPr lang="en-US" b="1" dirty="0">
                <a:solidFill>
                  <a:schemeClr val="bg1"/>
                </a:solidFill>
              </a:rPr>
              <a:t>Liquid Crystal Display</a:t>
            </a:r>
          </a:p>
        </p:txBody>
      </p:sp>
      <p:sp>
        <p:nvSpPr>
          <p:cNvPr id="3" name="Content Placeholder 2"/>
          <p:cNvSpPr>
            <a:spLocks noGrp="1"/>
          </p:cNvSpPr>
          <p:nvPr>
            <p:ph sz="quarter" idx="1"/>
          </p:nvPr>
        </p:nvSpPr>
        <p:spPr/>
        <p:txBody>
          <a:bodyPr/>
          <a:lstStyle/>
          <a:p>
            <a:pPr algn="just"/>
            <a:r>
              <a:rPr lang="en-US" dirty="0"/>
              <a:t>A liquid crystal display (LCD) monitor is a computer monitor or display that uses LCD technology to show clear images, and is found mostly in laptop computers and flat panel monitors. </a:t>
            </a:r>
          </a:p>
          <a:p>
            <a:pPr algn="just"/>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306"/>
            <a:ext cx="10515600" cy="1325563"/>
          </a:xfrm>
        </p:spPr>
        <p:txBody>
          <a:bodyPr>
            <a:normAutofit/>
          </a:bodyPr>
          <a:lstStyle/>
          <a:p>
            <a:pPr algn="ctr"/>
            <a:r>
              <a:rPr lang="en-US" b="1" dirty="0">
                <a:solidFill>
                  <a:schemeClr val="bg1"/>
                </a:solidFill>
              </a:rPr>
              <a:t>How LCD works?</a:t>
            </a:r>
          </a:p>
        </p:txBody>
      </p:sp>
      <p:sp>
        <p:nvSpPr>
          <p:cNvPr id="3" name="Content Placeholder 2"/>
          <p:cNvSpPr>
            <a:spLocks noGrp="1"/>
          </p:cNvSpPr>
          <p:nvPr>
            <p:ph sz="quarter" idx="1"/>
          </p:nvPr>
        </p:nvSpPr>
        <p:spPr/>
        <p:txBody>
          <a:bodyPr>
            <a:normAutofit lnSpcReduction="10000"/>
          </a:bodyPr>
          <a:lstStyle/>
          <a:p>
            <a:pPr algn="just"/>
            <a:r>
              <a:rPr lang="en-US" dirty="0"/>
              <a:t>An LCD monitor is essentially composed of 3 parts:</a:t>
            </a:r>
          </a:p>
          <a:p>
            <a:pPr algn="just"/>
            <a:r>
              <a:rPr lang="en-US" dirty="0"/>
              <a:t>A white backlight. This provides the light for the monitor, since the other components only serve as filters.</a:t>
            </a:r>
          </a:p>
          <a:p>
            <a:pPr algn="just"/>
            <a:r>
              <a:rPr lang="en-US" dirty="0"/>
              <a:t>A layer of liquid crystal cells. These cells are composed of:</a:t>
            </a:r>
          </a:p>
          <a:p>
            <a:pPr lvl="1" algn="just"/>
            <a:r>
              <a:rPr lang="en-US" dirty="0"/>
              <a:t>Two polarizing layers, one on either side with perpendicular orientations. Without the liquid crystal, perpendicular polarizing layers block all light.</a:t>
            </a:r>
          </a:p>
          <a:p>
            <a:pPr lvl="1" algn="just"/>
            <a:r>
              <a:rPr lang="en-US" dirty="0"/>
              <a:t>Transparent electrodes, to turn the liquid crystal on or off to varying degrees.</a:t>
            </a:r>
          </a:p>
          <a:p>
            <a:pPr lvl="1" algn="just"/>
            <a:r>
              <a:rPr lang="en-US" dirty="0"/>
              <a:t>Liquid crystals, which block light to varying degrees based on the voltage of the electrodes, when combined with the polarizing layers.</a:t>
            </a:r>
          </a:p>
          <a:p>
            <a:pPr algn="just"/>
            <a:r>
              <a:rPr lang="en-US" dirty="0"/>
              <a:t>Red, blue and green color filters placed on top of each cell (sub-pixel), so that different colors can be produced.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6300" y="196449"/>
            <a:ext cx="10515600" cy="1325563"/>
          </a:xfrm>
        </p:spPr>
        <p:txBody>
          <a:bodyPr/>
          <a:lstStyle/>
          <a:p>
            <a:pPr algn="ctr"/>
            <a:r>
              <a:rPr lang="en-US" dirty="0">
                <a:solidFill>
                  <a:schemeClr val="bg1"/>
                </a:solidFill>
              </a:rPr>
              <a:t>Liquid Crystal</a:t>
            </a:r>
          </a:p>
        </p:txBody>
      </p:sp>
      <p:pic>
        <p:nvPicPr>
          <p:cNvPr id="37890" name="Picture 2" descr="Related image"/>
          <p:cNvPicPr>
            <a:picLocks noChangeAspect="1" noChangeArrowheads="1"/>
          </p:cNvPicPr>
          <p:nvPr/>
        </p:nvPicPr>
        <p:blipFill>
          <a:blip r:embed="rId2" cstate="print"/>
          <a:srcRect/>
          <a:stretch>
            <a:fillRect/>
          </a:stretch>
        </p:blipFill>
        <p:spPr bwMode="auto">
          <a:xfrm>
            <a:off x="2667000" y="1522012"/>
            <a:ext cx="6934200" cy="5103746"/>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AutoShape 2" descr="https://qph.ec.quoracdn.net/main-qimg-3275891a4341211768d4d2c081ac7de3.webp"/>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4" name="AutoShape 4" descr="https://qph.ec.quoracdn.net/main-qimg-3275891a4341211768d4d2c081ac7de3.webp"/>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https://qph.ec.quoracdn.net/main-qimg-3275891a4341211768d4d2c081ac7de3"/>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5847" name="Picture 7"/>
          <p:cNvPicPr>
            <a:picLocks noChangeAspect="1" noChangeArrowheads="1"/>
          </p:cNvPicPr>
          <p:nvPr/>
        </p:nvPicPr>
        <p:blipFill>
          <a:blip r:embed="rId2" cstate="print"/>
          <a:srcRect/>
          <a:stretch>
            <a:fillRect/>
          </a:stretch>
        </p:blipFill>
        <p:spPr bwMode="auto">
          <a:xfrm>
            <a:off x="2831975" y="1115604"/>
            <a:ext cx="7738369" cy="5848448"/>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orking of lcd"/>
          <p:cNvPicPr>
            <a:picLocks noChangeAspect="1" noChangeArrowheads="1"/>
          </p:cNvPicPr>
          <p:nvPr/>
        </p:nvPicPr>
        <p:blipFill>
          <a:blip r:embed="rId2" cstate="print"/>
          <a:srcRect/>
          <a:stretch>
            <a:fillRect/>
          </a:stretch>
        </p:blipFill>
        <p:spPr bwMode="auto">
          <a:xfrm>
            <a:off x="2929630" y="1055686"/>
            <a:ext cx="7738369" cy="5811838"/>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061"/>
            <a:ext cx="10515600" cy="1325563"/>
          </a:xfrm>
        </p:spPr>
        <p:txBody>
          <a:bodyPr/>
          <a:lstStyle/>
          <a:p>
            <a:pPr algn="ctr"/>
            <a:r>
              <a:rPr lang="en-US" b="1" dirty="0">
                <a:solidFill>
                  <a:schemeClr val="bg1"/>
                </a:solidFill>
              </a:rPr>
              <a:t>Light Emitting Diodes</a:t>
            </a:r>
          </a:p>
        </p:txBody>
      </p:sp>
      <p:sp>
        <p:nvSpPr>
          <p:cNvPr id="3" name="Content Placeholder 2"/>
          <p:cNvSpPr>
            <a:spLocks noGrp="1"/>
          </p:cNvSpPr>
          <p:nvPr>
            <p:ph sz="quarter" idx="1"/>
          </p:nvPr>
        </p:nvSpPr>
        <p:spPr/>
        <p:txBody>
          <a:bodyPr>
            <a:normAutofit fontScale="92500" lnSpcReduction="10000"/>
          </a:bodyPr>
          <a:lstStyle/>
          <a:p>
            <a:pPr algn="just"/>
            <a:r>
              <a:rPr lang="en-US" dirty="0"/>
              <a:t>An LED display panel can be either a small display or part of a larger display. </a:t>
            </a:r>
          </a:p>
          <a:p>
            <a:pPr algn="just"/>
            <a:r>
              <a:rPr lang="en-US" dirty="0"/>
              <a:t>LED diodes are used in order to make up an LED display. </a:t>
            </a:r>
          </a:p>
          <a:p>
            <a:pPr algn="just"/>
            <a:r>
              <a:rPr lang="en-US" dirty="0"/>
              <a:t>LED displays are also used in billboards and store signs. </a:t>
            </a:r>
          </a:p>
          <a:p>
            <a:pPr algn="just"/>
            <a:r>
              <a:rPr lang="en-US" dirty="0"/>
              <a:t>An LED panel consists of several LEDs, whereas an LED display consists of several LED panels. </a:t>
            </a:r>
          </a:p>
          <a:p>
            <a:pPr algn="just"/>
            <a:r>
              <a:rPr lang="en-US" dirty="0"/>
              <a:t>LEDs used in order to make up LED displays offer several advantages in comparison to other light emitting sources. </a:t>
            </a:r>
          </a:p>
          <a:p>
            <a:pPr algn="just"/>
            <a:r>
              <a:rPr lang="en-US" dirty="0"/>
              <a:t>A light emitting diode is made up of a semiconductor chip which is surrounded by a transparent plastic case. </a:t>
            </a:r>
          </a:p>
          <a:p>
            <a:pPr algn="just"/>
            <a:r>
              <a:rPr lang="en-US" dirty="0"/>
              <a:t>The plastic case allows the light to pass through it.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2237"/>
            <a:ext cx="10515600" cy="1325563"/>
          </a:xfrm>
        </p:spPr>
        <p:txBody>
          <a:bodyPr/>
          <a:lstStyle/>
          <a:p>
            <a:pPr algn="ctr"/>
            <a:r>
              <a:rPr lang="en-US" b="1" dirty="0">
                <a:solidFill>
                  <a:schemeClr val="bg1"/>
                </a:solidFill>
              </a:rPr>
              <a:t>LED</a:t>
            </a:r>
          </a:p>
        </p:txBody>
      </p:sp>
      <p:pic>
        <p:nvPicPr>
          <p:cNvPr id="1026" name="Picture 2" descr="Image result for light emitting diode display"/>
          <p:cNvPicPr>
            <a:picLocks noChangeAspect="1" noChangeArrowheads="1"/>
          </p:cNvPicPr>
          <p:nvPr/>
        </p:nvPicPr>
        <p:blipFill>
          <a:blip r:embed="rId2" cstate="print"/>
          <a:srcRect r="444" b="7210"/>
          <a:stretch>
            <a:fillRect/>
          </a:stretch>
        </p:blipFill>
        <p:spPr bwMode="auto">
          <a:xfrm>
            <a:off x="6400800" y="4038600"/>
            <a:ext cx="4267200" cy="2819400"/>
          </a:xfrm>
          <a:prstGeom prst="rect">
            <a:avLst/>
          </a:prstGeom>
          <a:noFill/>
        </p:spPr>
      </p:pic>
      <p:pic>
        <p:nvPicPr>
          <p:cNvPr id="1028" name="Picture 4" descr="Related image"/>
          <p:cNvPicPr>
            <a:picLocks noChangeAspect="1" noChangeArrowheads="1"/>
          </p:cNvPicPr>
          <p:nvPr/>
        </p:nvPicPr>
        <p:blipFill>
          <a:blip r:embed="rId3" cstate="print"/>
          <a:srcRect/>
          <a:stretch>
            <a:fillRect/>
          </a:stretch>
        </p:blipFill>
        <p:spPr bwMode="auto">
          <a:xfrm>
            <a:off x="1828800" y="1447800"/>
            <a:ext cx="4495800" cy="3367512"/>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cture 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713</TotalTime>
  <Words>783</Words>
  <Application>Microsoft Office PowerPoint</Application>
  <PresentationFormat>Widescreen</PresentationFormat>
  <Paragraphs>54</Paragraphs>
  <Slides>17</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17</vt:i4>
      </vt:variant>
    </vt:vector>
  </HeadingPairs>
  <TitlesOfParts>
    <vt:vector size="25" baseType="lpstr">
      <vt:lpstr>Arial</vt:lpstr>
      <vt:lpstr>Calibri</vt:lpstr>
      <vt:lpstr>Calibri Light</vt:lpstr>
      <vt:lpstr>Times New Roman</vt:lpstr>
      <vt:lpstr>Wingdings</vt:lpstr>
      <vt:lpstr>Office Theme</vt:lpstr>
      <vt:lpstr>Lecture 6</vt:lpstr>
      <vt:lpstr>1_Office Theme</vt:lpstr>
      <vt:lpstr>Lecture #2 Video Display Devices   </vt:lpstr>
      <vt:lpstr>Random Scan (Vector Scan)</vt:lpstr>
      <vt:lpstr>Working of Random Scan</vt:lpstr>
      <vt:lpstr>Raster Scan</vt:lpstr>
      <vt:lpstr>Cont.</vt:lpstr>
      <vt:lpstr>Cont…</vt:lpstr>
      <vt:lpstr>Cont….</vt:lpstr>
      <vt:lpstr>Flat panel display</vt:lpstr>
      <vt:lpstr>FPD</vt:lpstr>
      <vt:lpstr>Plasma Panel Display</vt:lpstr>
      <vt:lpstr>Liquid Crystal Display</vt:lpstr>
      <vt:lpstr>How LCD works?</vt:lpstr>
      <vt:lpstr>Liquid Crystal</vt:lpstr>
      <vt:lpstr>PowerPoint Presentation</vt:lpstr>
      <vt:lpstr>PowerPoint Presentation</vt:lpstr>
      <vt:lpstr>Light Emitting Diodes</vt:lpstr>
      <vt:lpstr>LED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Saima Kanwal</cp:lastModifiedBy>
  <cp:revision>169</cp:revision>
  <dcterms:created xsi:type="dcterms:W3CDTF">2024-06-21T09:49:00Z</dcterms:created>
  <dcterms:modified xsi:type="dcterms:W3CDTF">2025-09-03T07:35:51Z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D61AE8DE3F6049F98ADA58C240837B38_12</vt:lpwstr>
  </property>
  <property fmtid="{D5CDD505-2E9C-101B-9397-08002B2CF9AE}" pid="3" name="KSOProductBuildVer">
    <vt:lpwstr>1033-12.2.0.13472</vt:lpwstr>
  </property>
</Properties>
</file>