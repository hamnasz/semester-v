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33" Type="http://schemas.openxmlformats.org/officeDocument/2006/relationships/font" Target="fonts/RobotoMono-bold.fntdata"/><Relationship Id="rId10" Type="http://schemas.openxmlformats.org/officeDocument/2006/relationships/slide" Target="slides/slide3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6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518c9cc8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8518c9cc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8518c9cc8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518c9cc83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8518c9cc8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518c9cc83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518c9cc8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8518c9cc8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8518c9cc83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518c9cc83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8518c9cc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8518c9cc83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518c9cc83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8518c9cc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8518c9cc83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518c9cc83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8518c9cc8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</a:t>
            </a:r>
            <a:r>
              <a:rPr b="1" lang="en-US"/>
              <a:t>current position = start</a:t>
            </a:r>
            <a:br>
              <a:rPr lang="en-US"/>
            </a:br>
            <a:r>
              <a:rPr lang="en-US"/>
              <a:t>Set </a:t>
            </a:r>
            <a:r>
              <a:rPr b="1" lang="en-US"/>
              <a:t>step = increment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how close the </a:t>
            </a:r>
            <a:r>
              <a:rPr b="1" lang="en-US"/>
              <a:t>current position</a:t>
            </a:r>
            <a:r>
              <a:rPr lang="en-US"/>
              <a:t> is to the </a:t>
            </a:r>
            <a:r>
              <a:rPr b="1" lang="en-US"/>
              <a:t>end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difference is smaller than the required </a:t>
            </a:r>
            <a:r>
              <a:rPr b="1" lang="en-US"/>
              <a:t>accuracy</a:t>
            </a:r>
            <a:r>
              <a:rPr lang="en-US"/>
              <a:t>, </a:t>
            </a:r>
            <a:r>
              <a:rPr b="1" lang="en-US"/>
              <a:t>stop</a:t>
            </a:r>
            <a:r>
              <a:rPr lang="en-US"/>
              <a:t> (we’re done).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&lt; end</a:t>
            </a:r>
            <a:r>
              <a:rPr lang="en-US"/>
              <a:t>, go to Step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</a:t>
            </a:r>
            <a:r>
              <a:rPr b="1" lang="en-US"/>
              <a:t>current position &gt; end</a:t>
            </a:r>
            <a:r>
              <a:rPr lang="en-US"/>
              <a:t>, go to Step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smaller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Increase </a:t>
            </a:r>
            <a:r>
              <a:rPr b="1" lang="en-US"/>
              <a:t>current position = current position +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position is greater than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Decrease </a:t>
            </a:r>
            <a:r>
              <a:rPr b="1" lang="en-US"/>
              <a:t>current position = current position -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back to Step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8518c9cc83_0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518c9cc83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8518c9cc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8518c9cc83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518c9cc83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8518c9cc8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8518c9cc83_0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518c9cc83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8518c9cc8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8518c9cc83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2" y="1956596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4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2" name="Google Shape;182;p2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9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30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30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9" name="Google Shape;219;p33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20" name="Google Shape;220;p3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/>
          <p:nvPr>
            <p:ph idx="2" type="pic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27" name="Google Shape;227;p3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3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 rot="5400000">
            <a:off x="7133432" y="1956596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 rot="5400000">
            <a:off x="1799431" y="-596104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5" name="Google Shape;165;p25"/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66" name="Google Shape;166;p2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7" name="Google Shape;167;p2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5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5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71" name="Google Shape;17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7"/>
          <p:cNvSpPr txBox="1"/>
          <p:nvPr>
            <p:ph type="ctrTitle"/>
          </p:nvPr>
        </p:nvSpPr>
        <p:spPr>
          <a:xfrm>
            <a:off x="84137" y="2635037"/>
            <a:ext cx="12023725" cy="22713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accent4"/>
                </a:solidFill>
              </a:rPr>
              <a:t>Lecture #4</a:t>
            </a:r>
            <a:br>
              <a:rPr b="1" lang="en-US" sz="4000">
                <a:solidFill>
                  <a:schemeClr val="accent4"/>
                </a:solidFill>
              </a:rPr>
            </a:br>
            <a:br>
              <a:rPr b="1" lang="en-US" sz="4000">
                <a:solidFill>
                  <a:schemeClr val="accent4"/>
                </a:solidFill>
              </a:rPr>
            </a:br>
            <a:endParaRPr b="1" sz="4000">
              <a:solidFill>
                <a:schemeClr val="accent4"/>
              </a:solidFill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2283" y="0"/>
            <a:ext cx="3611691" cy="361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istrator\Downloads\Screenshot__117_-removebg-preview.png" id="249" name="Google Shape;2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063" y="393485"/>
            <a:ext cx="3067051" cy="161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1905000" y="2819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Line Drawing Techniques</a:t>
            </a:r>
            <a:endParaRPr/>
          </a:p>
        </p:txBody>
      </p:sp>
      <p:grpSp>
        <p:nvGrpSpPr>
          <p:cNvPr id="255" name="Google Shape;255;p38"/>
          <p:cNvGrpSpPr/>
          <p:nvPr/>
        </p:nvGrpSpPr>
        <p:grpSpPr>
          <a:xfrm>
            <a:off x="1532100" y="0"/>
            <a:ext cx="9592725" cy="1115736"/>
            <a:chOff x="0" y="0"/>
            <a:chExt cx="12324746" cy="1115736"/>
          </a:xfrm>
        </p:grpSpPr>
        <p:sp>
          <p:nvSpPr>
            <p:cNvPr id="256" name="Google Shape;256;p38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7" name="Google Shape;25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38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9" name="Google Shape;259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51489" y="350125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8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261" name="Google Shape;261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15926" y="703941"/>
              <a:ext cx="171452" cy="171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900344" y="1254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Drawing Techniques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Digital Differential Analyzer (DDA) Algorithm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Bresenham’s Line Algorithm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Incremental Line Algorithm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900344" y="1254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What is line &amp; algorithm?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</a:t>
            </a:r>
            <a:r>
              <a:rPr b="1" lang="en-US"/>
              <a:t> line </a:t>
            </a:r>
            <a:r>
              <a:rPr lang="en-US"/>
              <a:t>connects two points. It is a basic element in graphics.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draw a line, you need two points between which you can draw a line.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Algorithm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by step procedure to solve a problem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algorithm is well-defined list of steps for solving a particular problem.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Time and space it uses are two major measures of the efficiency  of an algorithm.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900344" y="1254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838200" y="1825625"/>
            <a:ext cx="10577744" cy="457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</a:t>
            </a:r>
            <a:r>
              <a:rPr b="1" lang="en-US"/>
              <a:t>incremental line </a:t>
            </a:r>
            <a:r>
              <a:rPr lang="en-US"/>
              <a:t>or </a:t>
            </a:r>
            <a:r>
              <a:rPr b="1" lang="en-US"/>
              <a:t>increment line </a:t>
            </a:r>
            <a:r>
              <a:rPr lang="en-US"/>
              <a:t>algorithm in computer graphics is a method of drawing lines where each new pixel is found using the previous one, instead of solving the whole line equation again and again.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makes the process much faster and more efficient, especially when used in hardware.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900344" y="1254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1.</a:t>
            </a:r>
            <a:r>
              <a:rPr lang="en-US"/>
              <a:t>  currposition=start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Step =increment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2.   </a:t>
            </a:r>
            <a:r>
              <a:rPr lang="en-US"/>
              <a:t>if (currposition-end&lt;accuracy)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then go to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if (currposition&lt;end) then go to step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   if(currposition&gt;end)  then go to step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3.   </a:t>
            </a:r>
            <a:r>
              <a:rPr lang="en-US"/>
              <a:t>currposition =currposition+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go to step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4.</a:t>
            </a:r>
            <a:r>
              <a:rPr lang="en-US"/>
              <a:t>   currposition=currposition-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go to step2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5.</a:t>
            </a:r>
            <a:r>
              <a:rPr lang="en-US"/>
              <a:t>   Stop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It works by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incrementally moving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from a starting position (</a:t>
            </a:r>
            <a:r>
              <a:rPr lang="en-US" sz="2100"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) toward an ending position (</a:t>
            </a:r>
            <a:r>
              <a:rPr lang="en-US" sz="2100"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), using a fixed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step size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(called </a:t>
            </a:r>
            <a:r>
              <a:rPr lang="en-US" sz="2100">
                <a:latin typeface="Roboto Mono"/>
                <a:ea typeface="Roboto Mono"/>
                <a:cs typeface="Roboto Mono"/>
                <a:sym typeface="Roboto Mono"/>
              </a:rPr>
              <a:t>increment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doesn’t calculate the entire line equation each time — instead, it uses the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previous point to get the next one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which makes it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faster and more efficient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838200" y="1415150"/>
            <a:ext cx="105156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Calculate the Slope (m)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                                        m=dy/dx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This slope tells how steep the line is  that is, how much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changes when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increases by 1.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9" name="Google Shape;309;p45"/>
          <p:cNvSpPr txBox="1"/>
          <p:nvPr>
            <p:ph idx="1" type="body"/>
          </p:nvPr>
        </p:nvSpPr>
        <p:spPr>
          <a:xfrm>
            <a:off x="838200" y="1551225"/>
            <a:ext cx="10515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81"/>
              <a:buFont typeface="Arial"/>
              <a:buNone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When drawing a line between two points —</a:t>
            </a:r>
            <a:br>
              <a:rPr lang="en-US" sz="2418">
                <a:latin typeface="Arial"/>
                <a:ea typeface="Arial"/>
                <a:cs typeface="Arial"/>
                <a:sym typeface="Arial"/>
              </a:rPr>
            </a:br>
            <a:r>
              <a:rPr lang="en-US" sz="2418">
                <a:latin typeface="Arial"/>
                <a:ea typeface="Arial"/>
                <a:cs typeface="Arial"/>
                <a:sym typeface="Arial"/>
              </a:rPr>
              <a:t> say </a:t>
            </a:r>
            <a:r>
              <a:rPr lang="en-US" sz="24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(x1, y1)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(x2, y2)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—</a:t>
            </a:r>
            <a:br>
              <a:rPr lang="en-US" sz="2418">
                <a:latin typeface="Arial"/>
                <a:ea typeface="Arial"/>
                <a:cs typeface="Arial"/>
                <a:sym typeface="Arial"/>
              </a:rPr>
            </a:br>
            <a:r>
              <a:rPr lang="en-US" sz="2418">
                <a:latin typeface="Arial"/>
                <a:ea typeface="Arial"/>
                <a:cs typeface="Arial"/>
                <a:sym typeface="Arial"/>
              </a:rPr>
              <a:t> we need to know </a:t>
            </a:r>
            <a:r>
              <a:rPr b="1" lang="en-US" sz="2418">
                <a:latin typeface="Arial"/>
                <a:ea typeface="Arial"/>
                <a:cs typeface="Arial"/>
                <a:sym typeface="Arial"/>
              </a:rPr>
              <a:t>how much we move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in each iteration, i.e., our </a:t>
            </a:r>
            <a:r>
              <a:rPr i="1" lang="en-US" sz="2418">
                <a:latin typeface="Arial"/>
                <a:ea typeface="Arial"/>
                <a:cs typeface="Arial"/>
                <a:sym typeface="Arial"/>
              </a:rPr>
              <a:t>step size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.</a:t>
            </a: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81"/>
              <a:buFont typeface="Arial"/>
              <a:buNone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We can’t just move by </a:t>
            </a:r>
            <a:r>
              <a:rPr lang="en-US" sz="24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in both directions because sometimes:</a:t>
            </a: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-3361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The line is </a:t>
            </a:r>
            <a:r>
              <a:rPr b="1" lang="en-US" sz="2418">
                <a:latin typeface="Arial"/>
                <a:ea typeface="Arial"/>
                <a:cs typeface="Arial"/>
                <a:sym typeface="Arial"/>
              </a:rPr>
              <a:t>more horizontal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(moves more in X)</a:t>
            </a:r>
            <a:br>
              <a:rPr lang="en-US" sz="2418">
                <a:latin typeface="Arial"/>
                <a:ea typeface="Arial"/>
                <a:cs typeface="Arial"/>
                <a:sym typeface="Arial"/>
              </a:rPr>
            </a:b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-3361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2418">
                <a:latin typeface="Arial"/>
                <a:ea typeface="Arial"/>
                <a:cs typeface="Arial"/>
                <a:sym typeface="Arial"/>
              </a:rPr>
              <a:t>more vertical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(moves more in Y)</a:t>
            </a:r>
            <a:br>
              <a:rPr lang="en-US" sz="2418">
                <a:latin typeface="Arial"/>
                <a:ea typeface="Arial"/>
                <a:cs typeface="Arial"/>
                <a:sym typeface="Arial"/>
              </a:rPr>
            </a:b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81"/>
              <a:buNone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So we need to figure out </a:t>
            </a:r>
            <a:r>
              <a:rPr b="1" lang="en-US" sz="2418">
                <a:latin typeface="Arial"/>
                <a:ea typeface="Arial"/>
                <a:cs typeface="Arial"/>
                <a:sym typeface="Arial"/>
              </a:rPr>
              <a:t>which direction dominates</a:t>
            </a:r>
            <a:r>
              <a:rPr lang="en-US" sz="2418">
                <a:latin typeface="Arial"/>
                <a:ea typeface="Arial"/>
                <a:cs typeface="Arial"/>
                <a:sym typeface="Arial"/>
              </a:rPr>
              <a:t> — X or Y — and adjust our step accordingly.</a:t>
            </a: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449"/>
              <a:buNone/>
            </a:pPr>
            <a:r>
              <a:rPr b="1" lang="en-US" sz="2653">
                <a:latin typeface="Arial"/>
                <a:ea typeface="Arial"/>
                <a:cs typeface="Arial"/>
                <a:sym typeface="Arial"/>
              </a:rPr>
              <a:t>Dominant cordinate</a:t>
            </a:r>
            <a:endParaRPr b="1" sz="26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81"/>
              <a:buNone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dx = x2 - x1;</a:t>
            </a: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81"/>
              <a:buNone/>
            </a:pPr>
            <a:r>
              <a:rPr lang="en-US" sz="2418">
                <a:latin typeface="Arial"/>
                <a:ea typeface="Arial"/>
                <a:cs typeface="Arial"/>
                <a:sym typeface="Arial"/>
              </a:rPr>
              <a:t>dy = y2 - y1;</a:t>
            </a:r>
            <a:endParaRPr sz="24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838200" y="1551225"/>
            <a:ext cx="10918500" cy="5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135">
                <a:latin typeface="Arial"/>
                <a:ea typeface="Arial"/>
                <a:cs typeface="Arial"/>
                <a:sym typeface="Arial"/>
              </a:rPr>
              <a:t>Case 1: |m| &lt; 1 → Line is more horizontal</a:t>
            </a:r>
            <a:endParaRPr b="1"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135">
                <a:latin typeface="Arial"/>
                <a:ea typeface="Arial"/>
                <a:cs typeface="Arial"/>
                <a:sym typeface="Arial"/>
              </a:rPr>
              <a:t>That means X changes faster than Y.</a:t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135">
                <a:latin typeface="Arial"/>
                <a:ea typeface="Arial"/>
                <a:cs typeface="Arial"/>
                <a:sym typeface="Arial"/>
              </a:rPr>
              <a:t>We take </a:t>
            </a:r>
            <a:r>
              <a:rPr b="1" lang="en-US" sz="2135">
                <a:latin typeface="Arial"/>
                <a:ea typeface="Arial"/>
                <a:cs typeface="Arial"/>
                <a:sym typeface="Arial"/>
              </a:rPr>
              <a:t>1 step in X</a:t>
            </a:r>
            <a:r>
              <a:rPr lang="en-US" sz="2135">
                <a:latin typeface="Arial"/>
                <a:ea typeface="Arial"/>
                <a:cs typeface="Arial"/>
                <a:sym typeface="Arial"/>
              </a:rPr>
              <a:t> each time, and compute Y using slope:</a:t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135">
                <a:latin typeface="Roboto Mono"/>
                <a:ea typeface="Roboto Mono"/>
                <a:cs typeface="Roboto Mono"/>
                <a:sym typeface="Roboto Mono"/>
              </a:rPr>
              <a:t>x = x + 1;</a:t>
            </a:r>
            <a:endParaRPr sz="2135"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135">
                <a:latin typeface="Roboto Mono"/>
                <a:ea typeface="Roboto Mono"/>
                <a:cs typeface="Roboto Mono"/>
                <a:sym typeface="Roboto Mono"/>
              </a:rPr>
              <a:t>y = y + m;</a:t>
            </a:r>
            <a:endParaRPr sz="213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135">
                <a:latin typeface="Arial"/>
                <a:ea typeface="Arial"/>
                <a:cs typeface="Arial"/>
                <a:sym typeface="Arial"/>
              </a:rPr>
              <a:t>Case 2: |m| &gt; 1 → Line is more vertical</a:t>
            </a:r>
            <a:endParaRPr b="1"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135">
                <a:latin typeface="Arial"/>
                <a:ea typeface="Arial"/>
                <a:cs typeface="Arial"/>
                <a:sym typeface="Arial"/>
              </a:rPr>
              <a:t>That means Y changes faster than X.</a:t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135">
                <a:latin typeface="Arial"/>
                <a:ea typeface="Arial"/>
                <a:cs typeface="Arial"/>
                <a:sym typeface="Arial"/>
              </a:rPr>
              <a:t>We take </a:t>
            </a:r>
            <a:r>
              <a:rPr b="1" lang="en-US" sz="2135">
                <a:latin typeface="Arial"/>
                <a:ea typeface="Arial"/>
                <a:cs typeface="Arial"/>
                <a:sym typeface="Arial"/>
              </a:rPr>
              <a:t>1 step in Y</a:t>
            </a:r>
            <a:r>
              <a:rPr lang="en-US" sz="2135">
                <a:latin typeface="Arial"/>
                <a:ea typeface="Arial"/>
                <a:cs typeface="Arial"/>
                <a:sym typeface="Arial"/>
              </a:rPr>
              <a:t> each time, and compute X using reciprocal of slope:</a:t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135">
                <a:latin typeface="Roboto Mono"/>
                <a:ea typeface="Roboto Mono"/>
                <a:cs typeface="Roboto Mono"/>
                <a:sym typeface="Roboto Mono"/>
              </a:rPr>
              <a:t>y = y + 1;</a:t>
            </a:r>
            <a:endParaRPr sz="2135"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135">
                <a:latin typeface="Roboto Mono"/>
                <a:ea typeface="Roboto Mono"/>
                <a:cs typeface="Roboto Mono"/>
                <a:sym typeface="Roboto Mono"/>
              </a:rPr>
              <a:t>x = x + (1/m);</a:t>
            </a:r>
            <a:endParaRPr sz="213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35">
              <a:latin typeface="Roboto Mono"/>
              <a:ea typeface="Roboto Mono"/>
              <a:cs typeface="Roboto Mono"/>
              <a:sym typeface="Roboto Mono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81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838200" y="1551225"/>
            <a:ext cx="10918500" cy="5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535">
                <a:latin typeface="Arial"/>
                <a:ea typeface="Arial"/>
                <a:cs typeface="Arial"/>
                <a:sym typeface="Arial"/>
              </a:rPr>
              <a:t>Case 3: |m| = 1 → 45° diagonal line</a:t>
            </a:r>
            <a:endParaRPr b="1" sz="25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535">
                <a:latin typeface="Arial"/>
                <a:ea typeface="Arial"/>
                <a:cs typeface="Arial"/>
                <a:sym typeface="Arial"/>
              </a:rPr>
              <a:t>X and Y change equally:</a:t>
            </a:r>
            <a:endParaRPr sz="2535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535">
                <a:latin typeface="Roboto Mono"/>
                <a:ea typeface="Roboto Mono"/>
                <a:cs typeface="Roboto Mono"/>
                <a:sym typeface="Roboto Mono"/>
              </a:rPr>
              <a:t>x = x + 1;</a:t>
            </a:r>
            <a:endParaRPr sz="253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535">
                <a:latin typeface="Roboto Mono"/>
                <a:ea typeface="Roboto Mono"/>
                <a:cs typeface="Roboto Mono"/>
                <a:sym typeface="Roboto Mono"/>
              </a:rPr>
              <a:t>y = y + 1;</a:t>
            </a:r>
            <a:endParaRPr b="1" sz="253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Line incremental algorithm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48"/>
          <p:cNvSpPr txBox="1"/>
          <p:nvPr>
            <p:ph idx="1" type="body"/>
          </p:nvPr>
        </p:nvSpPr>
        <p:spPr>
          <a:xfrm>
            <a:off x="838200" y="1551225"/>
            <a:ext cx="10918500" cy="506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</a:pPr>
            <a:r>
              <a:rPr b="1" lang="en-US" sz="2535">
                <a:latin typeface="Arial"/>
                <a:ea typeface="Arial"/>
                <a:cs typeface="Arial"/>
                <a:sym typeface="Arial"/>
              </a:rPr>
              <a:t>   </a:t>
            </a:r>
            <a:endParaRPr b="1" sz="253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48" title="ChatGPT Image Oct 7, 2025, 11_30_5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000" y="1387950"/>
            <a:ext cx="9389824" cy="46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idx="1" type="body"/>
          </p:nvPr>
        </p:nvSpPr>
        <p:spPr>
          <a:xfrm>
            <a:off x="244925" y="1387925"/>
            <a:ext cx="11109000" cy="4788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 </a:t>
            </a:r>
            <a:endParaRPr b="1" sz="2400"/>
          </a:p>
        </p:txBody>
      </p:sp>
      <p:sp>
        <p:nvSpPr>
          <p:cNvPr id="338" name="Google Shape;338;p49"/>
          <p:cNvSpPr txBox="1"/>
          <p:nvPr>
            <p:ph type="title"/>
          </p:nvPr>
        </p:nvSpPr>
        <p:spPr>
          <a:xfrm>
            <a:off x="498008" y="0"/>
            <a:ext cx="10515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Line Drawing Algorithm</a:t>
            </a:r>
            <a:endParaRPr/>
          </a:p>
        </p:txBody>
      </p:sp>
      <p:pic>
        <p:nvPicPr>
          <p:cNvPr id="339" name="Google Shape;339;p49" title="ChatGPT Image Oct 7, 2025, 11_24_4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0" y="1387925"/>
            <a:ext cx="6667500" cy="522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type="title"/>
          </p:nvPr>
        </p:nvSpPr>
        <p:spPr>
          <a:xfrm>
            <a:off x="498008" y="0"/>
            <a:ext cx="10515600" cy="11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DDA (Digital Differential Analyzer) </a:t>
            </a:r>
            <a:br>
              <a:rPr b="1" lang="en-US" sz="3600">
                <a:solidFill>
                  <a:schemeClr val="lt1"/>
                </a:solidFill>
              </a:rPr>
            </a:br>
            <a:r>
              <a:rPr b="1" lang="en-US" sz="3600">
                <a:solidFill>
                  <a:schemeClr val="lt1"/>
                </a:solidFill>
              </a:rPr>
              <a:t>Line Drawing Algorithm</a:t>
            </a:r>
            <a:endParaRPr/>
          </a:p>
        </p:txBody>
      </p:sp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Digital Differential Analyzer (DDA)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line-drawing algorithm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used in computer graphics to draw a straight line between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two points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on the screen.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It’s called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“digital”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because it works on pixels (digital points),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“differential analyzer”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because it uses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differences (increments)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to calculate the next point from the previous one.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It starts at the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starting point (x₁, y₁)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and keeps adding a fixed increment (change in x and y) until it reaches the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end point (x₂, y₂)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>
            <p:ph idx="1" type="body"/>
          </p:nvPr>
        </p:nvSpPr>
        <p:spPr>
          <a:xfrm>
            <a:off x="838200" y="1825625"/>
            <a:ext cx="11588496" cy="490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Step1:</a:t>
            </a:r>
            <a:r>
              <a:rPr lang="en-US" sz="2000"/>
              <a:t> Start Algorithm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Step2:</a:t>
            </a:r>
            <a:r>
              <a:rPr lang="en-US" sz="2000"/>
              <a:t> Declare x</a:t>
            </a:r>
            <a:r>
              <a:rPr baseline="-25000" lang="en-US" sz="2000"/>
              <a:t>1</a:t>
            </a:r>
            <a:r>
              <a:rPr lang="en-US" sz="2000"/>
              <a:t>,y</a:t>
            </a:r>
            <a:r>
              <a:rPr baseline="-25000" lang="en-US" sz="2000"/>
              <a:t>1</a:t>
            </a:r>
            <a:r>
              <a:rPr lang="en-US" sz="2000"/>
              <a:t>,x</a:t>
            </a:r>
            <a:r>
              <a:rPr baseline="-25000" lang="en-US" sz="2000"/>
              <a:t>2</a:t>
            </a:r>
            <a:r>
              <a:rPr lang="en-US" sz="2000"/>
              <a:t>,y</a:t>
            </a:r>
            <a:r>
              <a:rPr baseline="-25000" lang="en-US" sz="2000"/>
              <a:t>2</a:t>
            </a:r>
            <a:r>
              <a:rPr lang="en-US" sz="2000"/>
              <a:t>,dx,dy,x,y as integer variables.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Step3:</a:t>
            </a:r>
            <a:r>
              <a:rPr lang="en-US" sz="2000"/>
              <a:t> Enter value of x</a:t>
            </a:r>
            <a:r>
              <a:rPr baseline="-25000" lang="en-US" sz="2000"/>
              <a:t>1</a:t>
            </a:r>
            <a:r>
              <a:rPr lang="en-US" sz="2000"/>
              <a:t>,y</a:t>
            </a:r>
            <a:r>
              <a:rPr baseline="-25000" lang="en-US" sz="2000"/>
              <a:t>1</a:t>
            </a:r>
            <a:r>
              <a:rPr lang="en-US" sz="2000"/>
              <a:t>,x</a:t>
            </a:r>
            <a:r>
              <a:rPr baseline="-25000" lang="en-US" sz="2000"/>
              <a:t>2</a:t>
            </a:r>
            <a:r>
              <a:rPr lang="en-US" sz="2000"/>
              <a:t>,y</a:t>
            </a:r>
            <a:r>
              <a:rPr baseline="-25000" lang="en-US" sz="2000"/>
              <a:t>2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Step4:</a:t>
            </a:r>
            <a:r>
              <a:rPr lang="en-US" sz="2000"/>
              <a:t> Calculate dx = x</a:t>
            </a:r>
            <a:r>
              <a:rPr baseline="-25000" lang="en-US" sz="2000"/>
              <a:t>2</a:t>
            </a:r>
            <a:r>
              <a:rPr lang="en-US" sz="2000"/>
              <a:t>-x</a:t>
            </a:r>
            <a:r>
              <a:rPr baseline="-25000" lang="en-US" sz="2000"/>
              <a:t>1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Step5:</a:t>
            </a:r>
            <a:r>
              <a:rPr lang="en-US" sz="2000"/>
              <a:t> Calculate dy = y</a:t>
            </a:r>
            <a:r>
              <a:rPr baseline="-25000" lang="en-US" sz="2000"/>
              <a:t>2</a:t>
            </a:r>
            <a:r>
              <a:rPr lang="en-US" sz="2000"/>
              <a:t>-y</a:t>
            </a:r>
            <a:r>
              <a:rPr baseline="-25000" lang="en-US" sz="2000"/>
              <a:t>1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Step6:</a:t>
            </a:r>
            <a:r>
              <a:rPr lang="en-US" sz="2000"/>
              <a:t> Calculate the Slope m= Dy/dx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Case1:</a:t>
            </a:r>
            <a:r>
              <a:rPr lang="en-US" sz="2000"/>
              <a:t> When |M|&lt;1 then :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baseline="-25000" lang="en-US" sz="2000"/>
              <a:t>                                     </a:t>
            </a:r>
            <a:r>
              <a:rPr b="1" baseline="-25000" lang="en-US" sz="3200"/>
              <a:t>Xn =X+1</a:t>
            </a:r>
            <a:endParaRPr b="1" baseline="-25000"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baseline="-25000" lang="en-US" sz="3200"/>
              <a:t>                       Yn =y+m</a:t>
            </a:r>
            <a:br>
              <a:rPr b="1" baseline="-25000" lang="en-US" sz="2000"/>
            </a:br>
            <a:r>
              <a:rPr b="1" baseline="-25000" lang="en-US" sz="2000"/>
              <a:t>           </a:t>
            </a:r>
            <a:endParaRPr/>
          </a:p>
        </p:txBody>
      </p:sp>
      <p:sp>
        <p:nvSpPr>
          <p:cNvPr id="352" name="Google Shape;352;p51"/>
          <p:cNvSpPr txBox="1"/>
          <p:nvPr/>
        </p:nvSpPr>
        <p:spPr>
          <a:xfrm>
            <a:off x="498008" y="0"/>
            <a:ext cx="10515600" cy="11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DDA (Digital Differential Analyzer) </a:t>
            </a:r>
            <a:b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 Drawing Algorithm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/>
          <p:nvPr>
            <p:ph idx="1" type="body"/>
          </p:nvPr>
        </p:nvSpPr>
        <p:spPr>
          <a:xfrm>
            <a:off x="838200" y="1442350"/>
            <a:ext cx="10515600" cy="5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DDA Algorithm 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 Step 1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- Calculate Differences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dx = x2 - x1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dy = y2 - y1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Step 2 -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Find Steps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steps = maximum of absolute(dx) and absolute(dy)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Step 3 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- Calculate Moves Per Step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x_move = dx / steps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y_move = dy / steps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Step 4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- Draw Line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x = x1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y = y1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2000"/>
          </a:p>
        </p:txBody>
      </p:sp>
      <p:sp>
        <p:nvSpPr>
          <p:cNvPr id="359" name="Google Shape;359;p52"/>
          <p:cNvSpPr txBox="1"/>
          <p:nvPr>
            <p:ph type="title"/>
          </p:nvPr>
        </p:nvSpPr>
        <p:spPr>
          <a:xfrm>
            <a:off x="498008" y="0"/>
            <a:ext cx="10515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DDA (Digital Differential Analyzer) </a:t>
            </a:r>
            <a:br>
              <a:rPr b="1" lang="en-US" sz="3600">
                <a:solidFill>
                  <a:schemeClr val="lt1"/>
                </a:solidFill>
              </a:rPr>
            </a:br>
            <a:r>
              <a:rPr b="1" lang="en-US" sz="3600">
                <a:solidFill>
                  <a:schemeClr val="lt1"/>
                </a:solidFill>
              </a:rPr>
              <a:t>Line Drawing Algorithm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idx="1" type="body"/>
          </p:nvPr>
        </p:nvSpPr>
        <p:spPr>
          <a:xfrm>
            <a:off x="838200" y="1825625"/>
            <a:ext cx="105156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Plot pixel at (round(x), round(y))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Repeat from 1 to steps: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x = x + x_move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y = y + y_move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Plot pixel at (round(x), round(y))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Loop repeats = steps times</a:t>
            </a:r>
            <a:endParaRPr b="1"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53"/>
          <p:cNvSpPr txBox="1"/>
          <p:nvPr>
            <p:ph type="title"/>
          </p:nvPr>
        </p:nvSpPr>
        <p:spPr>
          <a:xfrm>
            <a:off x="498008" y="0"/>
            <a:ext cx="10515600" cy="11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DDA (Digital Differential Analyzer) </a:t>
            </a:r>
            <a:br>
              <a:rPr b="1" lang="en-US" sz="3600">
                <a:solidFill>
                  <a:schemeClr val="lt1"/>
                </a:solidFill>
              </a:rPr>
            </a:br>
            <a:r>
              <a:rPr b="1" lang="en-US" sz="3600">
                <a:solidFill>
                  <a:schemeClr val="lt1"/>
                </a:solidFill>
              </a:rPr>
              <a:t>Line Drawing Algorithm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idx="1" type="body"/>
          </p:nvPr>
        </p:nvSpPr>
        <p:spPr>
          <a:xfrm>
            <a:off x="838200" y="1825625"/>
            <a:ext cx="105156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-US" sz="1200">
                <a:solidFill>
                  <a:srgbClr val="F9FAFB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endParaRPr b="1" sz="12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54"/>
          <p:cNvSpPr txBox="1"/>
          <p:nvPr>
            <p:ph type="title"/>
          </p:nvPr>
        </p:nvSpPr>
        <p:spPr>
          <a:xfrm>
            <a:off x="498008" y="0"/>
            <a:ext cx="10515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DDA (Digital Differential Analyzer) </a:t>
            </a:r>
            <a:br>
              <a:rPr b="1" lang="en-US" sz="3600">
                <a:solidFill>
                  <a:schemeClr val="lt1"/>
                </a:solidFill>
              </a:rPr>
            </a:br>
            <a:r>
              <a:rPr b="1" lang="en-US" sz="3600">
                <a:solidFill>
                  <a:schemeClr val="lt1"/>
                </a:solidFill>
              </a:rPr>
              <a:t>Line Drawing Algorithm</a:t>
            </a:r>
            <a:endParaRPr/>
          </a:p>
        </p:txBody>
      </p:sp>
      <p:pic>
        <p:nvPicPr>
          <p:cNvPr id="374" name="Google Shape;374;p54" title="ChatGPT Image Oct 7, 2025, 01_09_0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150" y="1306275"/>
            <a:ext cx="8082651" cy="538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/>
          <p:nvPr>
            <p:ph type="title"/>
          </p:nvPr>
        </p:nvSpPr>
        <p:spPr>
          <a:xfrm>
            <a:off x="498008" y="0"/>
            <a:ext cx="10515600" cy="11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Advantages of DDA</a:t>
            </a:r>
            <a:endParaRPr b="1" sz="3600">
              <a:solidFill>
                <a:schemeClr val="lt1"/>
              </a:solidFill>
            </a:endParaRPr>
          </a:p>
        </p:txBody>
      </p:sp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faster method when compared to direct use of line equation.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method does not use multiplication 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allows us to detect the change in value of x and y , so plotting of same point twice is not possible.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method gives overflow indication when a point is repositioned.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can easy method because each step involves just two additions.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/>
          <p:nvPr>
            <p:ph type="title"/>
          </p:nvPr>
        </p:nvSpPr>
        <p:spPr>
          <a:xfrm>
            <a:off x="498008" y="0"/>
            <a:ext cx="10515600" cy="11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</a:rPr>
              <a:t>Disadvantages of DDA</a:t>
            </a:r>
            <a:endParaRPr b="1" sz="3600">
              <a:solidFill>
                <a:schemeClr val="lt1"/>
              </a:solidFill>
            </a:endParaRPr>
          </a:p>
        </p:txBody>
      </p:sp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involves floating point addition, rounding  of done. Accumulation of round off cause errors.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Rounding of operation and floating point operations  consumes a lot of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more suitable generating line using the s/w. But it is less suited for H/w implementation.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ecture 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