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  <p:sldMasterId id="2147483684" r:id="rId3"/>
  </p:sldMasterIdLst>
  <p:notesMasterIdLst>
    <p:notesMasterId r:id="rId18"/>
  </p:notesMasterIdLst>
  <p:sldIdLst>
    <p:sldId id="273" r:id="rId4"/>
    <p:sldId id="257" r:id="rId5"/>
    <p:sldId id="295" r:id="rId6"/>
    <p:sldId id="296" r:id="rId7"/>
    <p:sldId id="297" r:id="rId8"/>
    <p:sldId id="294" r:id="rId9"/>
    <p:sldId id="258" r:id="rId10"/>
    <p:sldId id="260" r:id="rId11"/>
    <p:sldId id="298" r:id="rId12"/>
    <p:sldId id="261" r:id="rId13"/>
    <p:sldId id="262" r:id="rId14"/>
    <p:sldId id="299" r:id="rId15"/>
    <p:sldId id="300" r:id="rId16"/>
    <p:sldId id="301" r:id="rId17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2A2A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21" autoAdjust="0"/>
    <p:restoredTop sz="94438" autoAdjust="0"/>
  </p:normalViewPr>
  <p:slideViewPr>
    <p:cSldViewPr snapToGrid="0">
      <p:cViewPr varScale="1">
        <p:scale>
          <a:sx n="108" d="100"/>
          <a:sy n="108" d="100"/>
        </p:scale>
        <p:origin x="54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056C-9295-4614-95BD-8AAB9A5181D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A268B0-555D-49A7-B078-7311B453B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30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83471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15652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56261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678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50870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2735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563733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174338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771562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22281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954773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722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6326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276056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8830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769436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188601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472795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26497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410426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069766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8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 userDrawn="1"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 userDrawn="1"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 userDrawn="1"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1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 userDrawn="1"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3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2409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9/10/2025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05768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175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37" y="2635037"/>
            <a:ext cx="12023725" cy="227139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altLang="ko-KR" sz="4000" b="1" dirty="0">
                <a:solidFill>
                  <a:schemeClr val="accent4"/>
                </a:solidFill>
                <a:cs typeface="Arial" pitchFamily="34" charset="0"/>
              </a:rPr>
              <a:t>Lecture #3</a:t>
            </a:r>
            <a:br>
              <a:rPr lang="en-US" altLang="ko-KR" sz="4000" b="1" dirty="0">
                <a:solidFill>
                  <a:schemeClr val="accent4"/>
                </a:solidFill>
                <a:cs typeface="Arial" pitchFamily="34" charset="0"/>
              </a:rPr>
            </a:br>
            <a:br>
              <a:rPr lang="en-US" altLang="ko-KR" sz="4000" b="1" dirty="0">
                <a:solidFill>
                  <a:schemeClr val="accent4"/>
                </a:solidFill>
                <a:cs typeface="Arial" pitchFamily="34" charset="0"/>
              </a:rPr>
            </a:br>
            <a:endParaRPr lang="en-US" altLang="ko-KR" sz="4000" b="1" dirty="0">
              <a:solidFill>
                <a:schemeClr val="accent4"/>
              </a:solidFill>
              <a:cs typeface="Arial" pitchFamily="34" charset="0"/>
            </a:endParaRPr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62283" y="0"/>
            <a:ext cx="3611691" cy="3611691"/>
          </a:xfrm>
          <a:prstGeom prst="rect">
            <a:avLst/>
          </a:prstGeom>
        </p:spPr>
      </p:pic>
      <p:pic>
        <p:nvPicPr>
          <p:cNvPr id="1026" name="Picture 2" descr="C:\Users\Administrator\Downloads\Screenshot__117_-removebg-preview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063" y="393485"/>
            <a:ext cx="3067051" cy="161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344" y="12542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Point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b="1" dirty="0"/>
              <a:t>Pixel:  </a:t>
            </a:r>
            <a:r>
              <a:rPr lang="en-US" dirty="0"/>
              <a:t>The smallest dot illuminated that can be seen on screen.</a:t>
            </a:r>
          </a:p>
          <a:p>
            <a:pPr algn="just"/>
            <a:r>
              <a:rPr lang="en-US" b="1" dirty="0"/>
              <a:t>Picture:  </a:t>
            </a:r>
            <a:r>
              <a:rPr lang="en-US" dirty="0"/>
              <a:t>Composition of pixels makes picture that forms on whole screen</a:t>
            </a:r>
          </a:p>
          <a:p>
            <a:pPr algn="just"/>
            <a:r>
              <a:rPr lang="en-US" b="1" dirty="0"/>
              <a:t>Resolution: </a:t>
            </a:r>
            <a:r>
              <a:rPr lang="en-US" dirty="0"/>
              <a:t>The display resolution is defined by the number of rows from top to bottom, and number of pixels from left to right on each scan line.</a:t>
            </a:r>
          </a:p>
          <a:p>
            <a:r>
              <a:rPr lang="en-US" dirty="0"/>
              <a:t>In general, higher the resolution, more pleasing is the picture.</a:t>
            </a:r>
          </a:p>
          <a:p>
            <a:r>
              <a:rPr lang="en-US" dirty="0"/>
              <a:t>Higher resolution means a sharper, clearer picture</a:t>
            </a:r>
            <a:endParaRPr 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43529-5BF9-41E5-8DB5-A0790A3FA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721" y="89917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Example</a:t>
            </a:r>
            <a:r>
              <a:rPr lang="en-US" dirty="0"/>
              <a:t>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CD9940-1E48-4A39-9F1C-C7E014BF5B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82744"/>
            <a:ext cx="10276643" cy="46371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Poster A (Low Resolution)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This poster was made with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big, chunky stamps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. Each stamp is a single color.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The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Pixel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is one single stamp mark on the paper. It's just a big, solid blob of ink.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The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Picture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is the whole poster made from hundreds of these big stamp marks.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The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Resolution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is 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low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because you didn't need many stamps to fill up the poster. You can count the stamp marks easily.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What's wrong with it?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The face looks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blocky and blurry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. The curve of the smile looks like a staircase. You can't see any details like skin pores or individual eyelashes.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It's just a rough approximation of a face.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894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DA21-8DFD-4A60-9E5B-CA38B57B3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Poster B (High Resolution)</a:t>
            </a:r>
            <a:b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A700170-3D96-4A33-8D0F-2A09FEE8F1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7426" y="2025441"/>
            <a:ext cx="9877148" cy="38984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This poster was made with a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super fine-tip pen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. The tip is so tiny it can barely be seen.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The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Pixel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is one tiny, tiny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dot of ink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from that pen. It's the smallest possible mark.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The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Picture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is the entire poster, made from 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millions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of these microscopic dots.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The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Resolution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is 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high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because it took a huge number of these incredibly tiny dots to fill the same-sized poster.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You could never count them all.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Why is it better?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The face looks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incredibly sharp and clear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. The curves are smooth. The details are so fine you can see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every strand of hair and every little detail.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It looks real because the dots are too small for your eyes to see individually. They all blend together perfectly.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242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DA8EED-A569-4E2D-AF12-68611B6437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409" t="18565" r="6155" b="18076"/>
          <a:stretch/>
        </p:blipFill>
        <p:spPr>
          <a:xfrm>
            <a:off x="4597451" y="2885345"/>
            <a:ext cx="5292509" cy="38351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5BD748-96F1-4926-8121-02CD198681B5}"/>
              </a:ext>
            </a:extLst>
          </p:cNvPr>
          <p:cNvSpPr txBox="1"/>
          <p:nvPr/>
        </p:nvSpPr>
        <p:spPr>
          <a:xfrm>
            <a:off x="164356" y="1220628"/>
            <a:ext cx="6374166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effectLst/>
                <a:latin typeface="Rubik"/>
              </a:rPr>
              <a:t>Side-by-side comparison demonstrating screen resolution. On the left, labeled 'Poster A: Low Resolution', a pixelated, blurry, and blocky portrait of a woman's face, made of large, visible squares like big stamps. On the right, labeled 'Poster B: High Resolution', a sharp, ultra-detailed, and clear portrait of the same woman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915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7E470-2444-4DC8-ABDB-C717E5819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0" y="361951"/>
            <a:ext cx="10172700" cy="132873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How is Text Displayed on a Screen?</a:t>
            </a:r>
            <a:br>
              <a:rPr lang="en-US" sz="4000" b="1" dirty="0">
                <a:solidFill>
                  <a:schemeClr val="bg1"/>
                </a:solidFill>
              </a:rPr>
            </a:b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1765A-7A3D-4927-A953-692035334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912006" cy="4299967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2000" dirty="0"/>
              <a:t>Each </a:t>
            </a:r>
            <a:r>
              <a:rPr lang="en-US" sz="2000" b="1" dirty="0"/>
              <a:t>character (A, B, C, …)</a:t>
            </a:r>
            <a:r>
              <a:rPr lang="en-US" sz="2000" dirty="0"/>
              <a:t> is stored as a </a:t>
            </a:r>
            <a:r>
              <a:rPr lang="en-US" sz="2000" b="1" dirty="0"/>
              <a:t>binary code</a:t>
            </a:r>
            <a:r>
              <a:rPr lang="en-US" sz="2000" dirty="0"/>
              <a:t> (e.g., ASCII, Unicode).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The display system has a </a:t>
            </a:r>
            <a:r>
              <a:rPr lang="en-US" sz="2000" b="1" dirty="0"/>
              <a:t>character generator</a:t>
            </a:r>
            <a:r>
              <a:rPr lang="en-US" sz="2000" dirty="0"/>
              <a:t> or </a:t>
            </a:r>
            <a:r>
              <a:rPr lang="en-US" sz="2000" b="1" dirty="0"/>
              <a:t>font table</a:t>
            </a:r>
            <a:r>
              <a:rPr lang="en-US" sz="2000" dirty="0"/>
              <a:t> that defines the </a:t>
            </a:r>
            <a:r>
              <a:rPr lang="en-US" sz="2000" b="1" dirty="0"/>
              <a:t>shape of each character</a:t>
            </a:r>
            <a:r>
              <a:rPr lang="en-US" sz="2000" dirty="0"/>
              <a:t> in terms of pixels (a bitmap or vector).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When you type a character: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The system looks up its pixel pattern.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The pixels are </a:t>
            </a:r>
            <a:r>
              <a:rPr lang="en-US" sz="2000" b="1" dirty="0"/>
              <a:t>turned ON or OFF</a:t>
            </a:r>
            <a:r>
              <a:rPr lang="en-US" sz="2000" dirty="0"/>
              <a:t> (or set to a color) at the correct points on the screen.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The result: The collection of lit pixels forms </a:t>
            </a:r>
            <a:r>
              <a:rPr lang="en-US" sz="2000" b="1" dirty="0"/>
              <a:t>visible text</a:t>
            </a:r>
            <a:r>
              <a:rPr lang="en-US" sz="2000" dirty="0"/>
              <a:t>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6CF028-64EB-4067-9B67-F3BD7B771D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851" b="13728"/>
          <a:stretch/>
        </p:blipFill>
        <p:spPr>
          <a:xfrm>
            <a:off x="8007424" y="1825625"/>
            <a:ext cx="3905213" cy="369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682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3183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Text and Graphics Modes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Video cards are responsible to send picture data to monitor each time it refresh itself.</a:t>
            </a:r>
          </a:p>
          <a:p>
            <a:pPr algn="just"/>
            <a:r>
              <a:rPr lang="en-US" dirty="0"/>
              <a:t>Video cards support both different text and graphics modes. </a:t>
            </a:r>
          </a:p>
          <a:p>
            <a:pPr algn="just"/>
            <a:r>
              <a:rPr lang="en-US" dirty="0"/>
              <a:t>Modes consist of their own refresh rate, number of colors and resolutions (number of rows multiply by number of columns)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9817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How text displays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36847" y="1825625"/>
            <a:ext cx="10616953" cy="4351339"/>
          </a:xfrm>
        </p:spPr>
        <p:txBody>
          <a:bodyPr/>
          <a:lstStyle/>
          <a:p>
            <a:pPr marL="457200" lvl="1" indent="0">
              <a:buNone/>
            </a:pPr>
            <a:r>
              <a:rPr lang="en-US" dirty="0"/>
              <a:t>Text modes need two bytes in VDU memory to represent each character on screen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ASCII value in one byte</a:t>
            </a:r>
          </a:p>
          <a:p>
            <a:pPr marL="457200" lvl="1" indent="0">
              <a:buNone/>
            </a:pPr>
            <a:r>
              <a:rPr lang="en-US" dirty="0"/>
              <a:t>Attributes in second byte</a:t>
            </a:r>
          </a:p>
          <a:p>
            <a:pPr marL="457200" lvl="1" indent="0">
              <a:buNone/>
            </a:pPr>
            <a:r>
              <a:rPr lang="en-US" dirty="0"/>
              <a:t>   One byte says what to show, the next byte says how to show it. Together, they define everything about a single character on the screen.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24893-ED8E-43AC-9D54-FC48308E6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327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B357C-3BB7-4936-9C76-6B475EE26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27416" cy="4351339"/>
          </a:xfrm>
        </p:spPr>
        <p:txBody>
          <a:bodyPr/>
          <a:lstStyle/>
          <a:p>
            <a:pPr marL="0" indent="0" algn="l"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Imagine your screen is a grid of little squares. Each square can show one character (like a letter, number, or symbol).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For each square, the computer needs to remember two things: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What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character to show? (e.g., Is it the letter 'A' or a smiley face?)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How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should it look? (e.g., Is it red? On a blue background? Is it blinking?)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501C64-8787-4278-8BE7-693ABCB897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20" b="17660"/>
          <a:stretch/>
        </p:blipFill>
        <p:spPr>
          <a:xfrm>
            <a:off x="8046869" y="1825625"/>
            <a:ext cx="3440836" cy="298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737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9917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Graphics Mode 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dirty="0"/>
              <a:t>In the graphics mode each pixel on the screen has a color associated with it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Difference between text mode and graphics mode</a:t>
            </a:r>
          </a:p>
          <a:p>
            <a:r>
              <a:rPr lang="en-US" dirty="0"/>
              <a:t>Each pixel is simply one color or another. </a:t>
            </a:r>
          </a:p>
          <a:p>
            <a:r>
              <a:rPr lang="en-US" dirty="0"/>
              <a:t>The number of colors that each adapter can support and the way each adapter generates these colors is drastically different.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221" y="152061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Colors in VGA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VGA has 4 color planes – red, green, blue and intensity, with one bit from each of these planes contributing towards 1 pixel value.</a:t>
            </a:r>
          </a:p>
          <a:p>
            <a:pPr algn="just"/>
            <a:r>
              <a:rPr lang="en-US" dirty="0"/>
              <a:t>There are lots of ways that you can write pixel on screen. You can write pixel on screen by using one of the following methods: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BIOS Call: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Ask the computer's built-in software to do it.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Easy but slow.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Direct Access: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Command the graphics hardware yourself.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Hard but fast.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Library Function: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Use a helper toolkit to do it for you.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The modern, balanced way.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D2FEC-3CB7-4346-A46F-FD69840F2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061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effectLst/>
                <a:latin typeface="quote-cjk-patch"/>
              </a:rPr>
              <a:t>Method 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E50C5-29BB-4C0C-998C-5DE158870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Using Video BIOS Services (The "Help Desk")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How it works: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You don't talk to the manager (VGA) directly. Instead, you call a "help desk" (the BIOS) and tell them what you want.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You say: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"Hey, help desk, please turn on the light at position (X=100, Y=50) to Bright White."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Pros: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This is the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easiest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method. The help desk handles all the complicated stuff for you.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Cons: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It's the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slowest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method. Calling the help desk for every single pixel takes a long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751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03111-3A8C-4E9A-B3DF-A764E14B0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817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effectLst/>
                <a:latin typeface="quote-cjk-patch"/>
              </a:rPr>
              <a:t>Method 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F8D9A-F92B-4641-8BEF-C26707FC0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Accessing Memory and Registers Directly (The "Manual Control Room")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How it works: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You walk past the help desk, go straight into the manager's control room, and flip the switches yourself.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What you do: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You directly write to the special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video memory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to say </a:t>
            </a:r>
            <a:r>
              <a:rPr lang="en-US" b="0" i="1" dirty="0">
                <a:solidFill>
                  <a:srgbClr val="0F1115"/>
                </a:solidFill>
                <a:effectLst/>
                <a:latin typeface="quote-cjk-patch"/>
              </a:rPr>
              <a:t>which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bulb to change. Then you directly fiddle with the VGA's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registers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(the control knobs) to set the </a:t>
            </a:r>
            <a:r>
              <a:rPr lang="en-US" b="0" i="1" dirty="0">
                <a:solidFill>
                  <a:srgbClr val="0F1115"/>
                </a:solidFill>
                <a:effectLst/>
                <a:latin typeface="quote-cjk-patch"/>
              </a:rPr>
              <a:t>color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Pros: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This is the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fastest and most powerful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method. You have total control.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Cons: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This is the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most difficult and dangerous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method. You must know the exact addresses of the memory and registers. If you make a mistake, you could crash the whole system.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984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63207-B8EA-45BE-AC1B-D8E16DCDC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306"/>
            <a:ext cx="10515600" cy="1325563"/>
          </a:xfrm>
        </p:spPr>
        <p:txBody>
          <a:bodyPr/>
          <a:lstStyle/>
          <a:p>
            <a:pPr algn="ctr"/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Method 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5F930BA-54E5-4F32-9507-F6571993CD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4148" y="1967086"/>
            <a:ext cx="10170078" cy="29238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50784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Using Library Functions (The "Assistant")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How it works: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You have a smart assistant (a graphics library like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SDL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or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OpenGL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 who knows the control room inside and out. You just tell the assistant what you want.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You say: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"Assistant, draw a red pixel at (100, 50)."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The assistant then handles the complex task of either calling the help desk (BIOS) or going into the control room (direct access) for you.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Pros: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It's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easy for you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and still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very fast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. It's the best of both worlds.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Cons: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You need to have the assistant (the library) available.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858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ecture 6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</TotalTime>
  <Words>1251</Words>
  <Application>Microsoft Office PowerPoint</Application>
  <PresentationFormat>Widescreen</PresentationFormat>
  <Paragraphs>80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Calibri</vt:lpstr>
      <vt:lpstr>Calibri Light</vt:lpstr>
      <vt:lpstr>Menlo</vt:lpstr>
      <vt:lpstr>quote-cjk-patch</vt:lpstr>
      <vt:lpstr>Rubik</vt:lpstr>
      <vt:lpstr>Wingdings</vt:lpstr>
      <vt:lpstr>Office Theme</vt:lpstr>
      <vt:lpstr>Lecture 6</vt:lpstr>
      <vt:lpstr>1_Office Theme</vt:lpstr>
      <vt:lpstr>Lecture #3  </vt:lpstr>
      <vt:lpstr>Point</vt:lpstr>
      <vt:lpstr>Example </vt:lpstr>
      <vt:lpstr>Poster B (High Resolution) </vt:lpstr>
      <vt:lpstr>PowerPoint Presentation</vt:lpstr>
      <vt:lpstr>How is Text Displayed on a Screen? </vt:lpstr>
      <vt:lpstr>Text and Graphics Modes</vt:lpstr>
      <vt:lpstr>How text displays</vt:lpstr>
      <vt:lpstr>Example</vt:lpstr>
      <vt:lpstr>Graphics Mode Colors</vt:lpstr>
      <vt:lpstr>Colors in VGA</vt:lpstr>
      <vt:lpstr>Method 1</vt:lpstr>
      <vt:lpstr>Method 2</vt:lpstr>
      <vt:lpstr>Method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Sultana</dc:creator>
  <cp:lastModifiedBy>Saima Kanwal</cp:lastModifiedBy>
  <cp:revision>177</cp:revision>
  <dcterms:created xsi:type="dcterms:W3CDTF">2024-06-21T09:49:00Z</dcterms:created>
  <dcterms:modified xsi:type="dcterms:W3CDTF">2025-09-11T06:10:20Z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D61AE8DE3F6049F98ADA58C240837B38_12</vt:lpwstr>
  </property>
  <property fmtid="{D5CDD505-2E9C-101B-9397-08002B2CF9AE}" pid="3" name="KSOProductBuildVer">
    <vt:lpwstr>1033-12.2.0.13472</vt:lpwstr>
  </property>
</Properties>
</file>