
<file path=[Content_Types].xml><?xml version="1.0" encoding="utf-8"?>
<Types xmlns="http://schemas.openxmlformats.org/package/2006/content-types">
  <Default ContentType="application/vnd.openxmlformats-officedocument.vmlDrawing" Extension="vml"/>
  <Default ContentType="application/x-fontdata" Extension="fntdata"/>
  <Default ContentType="application/vnd.openxmlformats-officedocument.oleObject" Extension="bin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9144000"/>
  <p:notesSz cx="7315200" cy="9601200"/>
  <p:embeddedFontLst>
    <p:embeddedFont>
      <p:font typeface="Garamond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  <p:ext uri="GoogleSlidesCustomDataVersion2">
      <go:slidesCustomData xmlns:go="http://customooxmlschemas.google.com/" r:id="rId27" roundtripDataSignature="AMtx7mhHl4iQDvsY/ZKajZQqxtldXfhI4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024" orient="horz"/>
        <p:guide pos="2304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Garamond-bold.fntdata"/><Relationship Id="rId23" Type="http://schemas.openxmlformats.org/officeDocument/2006/relationships/font" Target="fonts/Garamon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Garamond-boldItalic.fntdata"/><Relationship Id="rId25" Type="http://schemas.openxmlformats.org/officeDocument/2006/relationships/font" Target="fonts/Garamond-italic.fntdata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170238" cy="481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25" lIns="96650" spcFirstLastPara="1" rIns="96650" wrap="square" tIns="483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44963" y="0"/>
            <a:ext cx="3170237" cy="481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25" lIns="96650" spcFirstLastPara="1" rIns="96650" wrap="square" tIns="4832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57300" y="719138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76313" y="4560888"/>
            <a:ext cx="5362575" cy="4321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25" lIns="96650" spcFirstLastPara="1" rIns="96650" wrap="square" tIns="48325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120188"/>
            <a:ext cx="3170238" cy="481012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44963" y="9120188"/>
            <a:ext cx="3170237" cy="481012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2" type="sldNum"/>
          </p:nvPr>
        </p:nvSpPr>
        <p:spPr>
          <a:xfrm>
            <a:off x="4144963" y="9120188"/>
            <a:ext cx="3170237" cy="481012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257300" y="719138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976313" y="4560888"/>
            <a:ext cx="5362575" cy="4321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976313" y="4560888"/>
            <a:ext cx="5362575" cy="4321175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257300" y="719138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976313" y="4560888"/>
            <a:ext cx="5362575" cy="4321175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257300" y="719138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976313" y="4560888"/>
            <a:ext cx="5362575" cy="4321175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257300" y="719138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976313" y="4560888"/>
            <a:ext cx="5362575" cy="4321175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1257300" y="719138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976313" y="4560888"/>
            <a:ext cx="5362575" cy="4321175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:notes"/>
          <p:cNvSpPr/>
          <p:nvPr>
            <p:ph idx="2" type="sldImg"/>
          </p:nvPr>
        </p:nvSpPr>
        <p:spPr>
          <a:xfrm>
            <a:off x="1257300" y="719138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976313" y="4560888"/>
            <a:ext cx="5362575" cy="4321175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/>
          <p:nvPr>
            <p:ph idx="2" type="sldImg"/>
          </p:nvPr>
        </p:nvSpPr>
        <p:spPr>
          <a:xfrm>
            <a:off x="1257300" y="719138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 txBox="1"/>
          <p:nvPr>
            <p:ph idx="1" type="body"/>
          </p:nvPr>
        </p:nvSpPr>
        <p:spPr>
          <a:xfrm>
            <a:off x="976313" y="4560888"/>
            <a:ext cx="5362575" cy="4321175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:notes"/>
          <p:cNvSpPr/>
          <p:nvPr>
            <p:ph idx="2" type="sldImg"/>
          </p:nvPr>
        </p:nvSpPr>
        <p:spPr>
          <a:xfrm>
            <a:off x="1257300" y="719138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:notes"/>
          <p:cNvSpPr txBox="1"/>
          <p:nvPr>
            <p:ph idx="1" type="body"/>
          </p:nvPr>
        </p:nvSpPr>
        <p:spPr>
          <a:xfrm>
            <a:off x="976313" y="4560888"/>
            <a:ext cx="5362575" cy="4321175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9:notes"/>
          <p:cNvSpPr/>
          <p:nvPr>
            <p:ph idx="2" type="sldImg"/>
          </p:nvPr>
        </p:nvSpPr>
        <p:spPr>
          <a:xfrm>
            <a:off x="1257300" y="719138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 txBox="1"/>
          <p:nvPr>
            <p:ph idx="1" type="body"/>
          </p:nvPr>
        </p:nvSpPr>
        <p:spPr>
          <a:xfrm>
            <a:off x="976313" y="4560888"/>
            <a:ext cx="5362575" cy="4321175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0:notes"/>
          <p:cNvSpPr/>
          <p:nvPr>
            <p:ph idx="2" type="sldImg"/>
          </p:nvPr>
        </p:nvSpPr>
        <p:spPr>
          <a:xfrm>
            <a:off x="1257300" y="719138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:notes"/>
          <p:cNvSpPr txBox="1"/>
          <p:nvPr>
            <p:ph idx="1" type="body"/>
          </p:nvPr>
        </p:nvSpPr>
        <p:spPr>
          <a:xfrm>
            <a:off x="976313" y="4560888"/>
            <a:ext cx="5362575" cy="4321175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1:notes"/>
          <p:cNvSpPr/>
          <p:nvPr>
            <p:ph idx="2" type="sldImg"/>
          </p:nvPr>
        </p:nvSpPr>
        <p:spPr>
          <a:xfrm>
            <a:off x="1257300" y="719138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2:notes"/>
          <p:cNvSpPr txBox="1"/>
          <p:nvPr>
            <p:ph idx="1" type="body"/>
          </p:nvPr>
        </p:nvSpPr>
        <p:spPr>
          <a:xfrm>
            <a:off x="976313" y="4560888"/>
            <a:ext cx="5362575" cy="4321175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2:notes"/>
          <p:cNvSpPr/>
          <p:nvPr>
            <p:ph idx="2" type="sldImg"/>
          </p:nvPr>
        </p:nvSpPr>
        <p:spPr>
          <a:xfrm>
            <a:off x="1257300" y="719138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/>
          <p:nvPr>
            <p:ph idx="2" type="sldImg"/>
          </p:nvPr>
        </p:nvSpPr>
        <p:spPr>
          <a:xfrm>
            <a:off x="1257300" y="719138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2" name="Google Shape;182;p13:notes"/>
          <p:cNvSpPr txBox="1"/>
          <p:nvPr>
            <p:ph idx="1" type="body"/>
          </p:nvPr>
        </p:nvSpPr>
        <p:spPr>
          <a:xfrm>
            <a:off x="976313" y="4560888"/>
            <a:ext cx="5362575" cy="4321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3:notes"/>
          <p:cNvSpPr txBox="1"/>
          <p:nvPr>
            <p:ph idx="12" type="sldNum"/>
          </p:nvPr>
        </p:nvSpPr>
        <p:spPr>
          <a:xfrm>
            <a:off x="4144963" y="9120188"/>
            <a:ext cx="3170237" cy="481012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4:notes"/>
          <p:cNvSpPr txBox="1"/>
          <p:nvPr>
            <p:ph idx="1" type="body"/>
          </p:nvPr>
        </p:nvSpPr>
        <p:spPr>
          <a:xfrm>
            <a:off x="976313" y="4560888"/>
            <a:ext cx="5362575" cy="4321175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4:notes"/>
          <p:cNvSpPr/>
          <p:nvPr>
            <p:ph idx="2" type="sldImg"/>
          </p:nvPr>
        </p:nvSpPr>
        <p:spPr>
          <a:xfrm>
            <a:off x="1257300" y="719138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5:notes"/>
          <p:cNvSpPr txBox="1"/>
          <p:nvPr>
            <p:ph idx="1" type="body"/>
          </p:nvPr>
        </p:nvSpPr>
        <p:spPr>
          <a:xfrm>
            <a:off x="976313" y="4560888"/>
            <a:ext cx="5362575" cy="4321175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5:notes"/>
          <p:cNvSpPr/>
          <p:nvPr>
            <p:ph idx="2" type="sldImg"/>
          </p:nvPr>
        </p:nvSpPr>
        <p:spPr>
          <a:xfrm>
            <a:off x="1257300" y="719138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6:notes"/>
          <p:cNvSpPr txBox="1"/>
          <p:nvPr>
            <p:ph idx="1" type="body"/>
          </p:nvPr>
        </p:nvSpPr>
        <p:spPr>
          <a:xfrm>
            <a:off x="976313" y="4560888"/>
            <a:ext cx="5362575" cy="4321175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6:notes"/>
          <p:cNvSpPr/>
          <p:nvPr>
            <p:ph idx="2" type="sldImg"/>
          </p:nvPr>
        </p:nvSpPr>
        <p:spPr>
          <a:xfrm>
            <a:off x="1257300" y="719138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7:notes"/>
          <p:cNvSpPr txBox="1"/>
          <p:nvPr>
            <p:ph idx="1" type="body"/>
          </p:nvPr>
        </p:nvSpPr>
        <p:spPr>
          <a:xfrm>
            <a:off x="976313" y="4560888"/>
            <a:ext cx="5362575" cy="4321175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7:notes"/>
          <p:cNvSpPr/>
          <p:nvPr>
            <p:ph idx="2" type="sldImg"/>
          </p:nvPr>
        </p:nvSpPr>
        <p:spPr>
          <a:xfrm>
            <a:off x="1257300" y="719138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vmlDrawing" Target="../drawings/vmlDrawing1.vml"/><Relationship Id="rId4" Type="http://schemas.openxmlformats.org/officeDocument/2006/relationships/image" Target="../media/image5.png"/><Relationship Id="rId5" Type="http://schemas.openxmlformats.org/officeDocument/2006/relationships/oleObject" Target="../embeddings/oleObject1.bin"/><Relationship Id="rId6" Type="http://schemas.openxmlformats.org/officeDocument/2006/relationships/oleObject" Target="../embeddings/oleObject1.bin"/><Relationship Id="rId7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youtu.be/yKhPWrdA6U8?list=PLTd6ceoshprfjQvdtZPohmS7_k9l43H9R" TargetMode="External"/><Relationship Id="rId4" Type="http://schemas.openxmlformats.org/officeDocument/2006/relationships/hyperlink" Target="https://youtu.be/yFHV7weZ_as" TargetMode="External"/><Relationship Id="rId5" Type="http://schemas.openxmlformats.org/officeDocument/2006/relationships/hyperlink" Target="https://youtu.be/yFHV7weZ_as" TargetMode="External"/><Relationship Id="rId6" Type="http://schemas.openxmlformats.org/officeDocument/2006/relationships/hyperlink" Target="https://www.geeksforgeeks.org/applications-of-string-matching-algorithm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ctrTitle"/>
          </p:nvPr>
        </p:nvSpPr>
        <p:spPr>
          <a:xfrm>
            <a:off x="990600" y="2514600"/>
            <a:ext cx="7412165" cy="11521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CS302</a:t>
            </a:r>
            <a:br>
              <a:rPr lang="en-US" sz="3600"/>
            </a:br>
            <a:r>
              <a:rPr lang="en-US" sz="3600"/>
              <a:t>Design and Analysis of Algorithm </a:t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4506182" y="3882449"/>
            <a:ext cx="6754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Noto Sans Symbols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609600" y="212726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accent2"/>
                </a:solidFill>
              </a:rPr>
              <a:t>Strings and Pattern Matching</a:t>
            </a:r>
            <a:endParaRPr/>
          </a:p>
        </p:txBody>
      </p:sp>
      <p:sp>
        <p:nvSpPr>
          <p:cNvPr id="96" name="Google Shape;96;p2"/>
          <p:cNvSpPr txBox="1"/>
          <p:nvPr>
            <p:ph idx="1" type="body"/>
          </p:nvPr>
        </p:nvSpPr>
        <p:spPr>
          <a:xfrm>
            <a:off x="228600" y="5891213"/>
            <a:ext cx="8534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Brute Force, Rabin-Karp, Knuth-Morris-Pratt</a:t>
            </a:r>
            <a:endParaRPr/>
          </a:p>
        </p:txBody>
      </p:sp>
      <p:pic>
        <p:nvPicPr>
          <p:cNvPr id="97" name="Google Shape;9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4350" y="1123157"/>
            <a:ext cx="5575300" cy="4535487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 txBox="1"/>
          <p:nvPr>
            <p:ph type="title"/>
          </p:nvPr>
        </p:nvSpPr>
        <p:spPr>
          <a:xfrm>
            <a:off x="685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String Searching</a:t>
            </a:r>
            <a:endParaRPr/>
          </a:p>
        </p:txBody>
      </p:sp>
      <p:sp>
        <p:nvSpPr>
          <p:cNvPr id="104" name="Google Shape;104;p3"/>
          <p:cNvSpPr txBox="1"/>
          <p:nvPr>
            <p:ph idx="1" type="body"/>
          </p:nvPr>
        </p:nvSpPr>
        <p:spPr>
          <a:xfrm>
            <a:off x="0" y="1905000"/>
            <a:ext cx="91440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The previous slide is not a great example of what is meant by “String Searching.”  Nor is it meant to ridicule people without eyes....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The object of </a:t>
            </a:r>
            <a:r>
              <a:rPr lang="en-US" sz="2800">
                <a:solidFill>
                  <a:srgbClr val="BF3346"/>
                </a:solidFill>
              </a:rPr>
              <a:t>string searching</a:t>
            </a:r>
            <a:r>
              <a:rPr lang="en-US" sz="2800"/>
              <a:t> is to find the location of a specific text pattern within a larger body of text (e.g., a sentence, a paragraph, a book, etc.).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As with most algorithms, the main considerations for string searching are speed and efficiency.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There are a number of string searching algorithms in existence today, but the three we shall review are </a:t>
            </a:r>
            <a:r>
              <a:rPr lang="en-US" sz="2800">
                <a:solidFill>
                  <a:schemeClr val="accent2"/>
                </a:solidFill>
              </a:rPr>
              <a:t>Brute Force,Rabin-Karp, and Knuth-Morris-Pratt.</a:t>
            </a:r>
            <a:endParaRPr/>
          </a:p>
        </p:txBody>
      </p:sp>
      <p:sp>
        <p:nvSpPr>
          <p:cNvPr id="105" name="Google Shape;105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/>
          <p:nvPr>
            <p:ph type="title"/>
          </p:nvPr>
        </p:nvSpPr>
        <p:spPr>
          <a:xfrm>
            <a:off x="533400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Brute Force</a:t>
            </a:r>
            <a:endParaRPr/>
          </a:p>
        </p:txBody>
      </p:sp>
      <p:sp>
        <p:nvSpPr>
          <p:cNvPr id="111" name="Google Shape;111;p4"/>
          <p:cNvSpPr txBox="1"/>
          <p:nvPr>
            <p:ph idx="1" type="body"/>
          </p:nvPr>
        </p:nvSpPr>
        <p:spPr>
          <a:xfrm>
            <a:off x="0" y="10668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</a:t>
            </a:r>
            <a:r>
              <a:rPr lang="en-US" sz="2400">
                <a:solidFill>
                  <a:schemeClr val="accent2"/>
                </a:solidFill>
              </a:rPr>
              <a:t>Brute Force</a:t>
            </a:r>
            <a:r>
              <a:rPr lang="en-US" sz="2400"/>
              <a:t> algorithm compares the pattern to the text, one character at a time, until unmatching characters are found</a:t>
            </a:r>
            <a:endParaRPr sz="2800"/>
          </a:p>
        </p:txBody>
      </p:sp>
      <p:sp>
        <p:nvSpPr>
          <p:cNvPr id="112" name="Google Shape;112;p4"/>
          <p:cNvSpPr/>
          <p:nvPr/>
        </p:nvSpPr>
        <p:spPr>
          <a:xfrm>
            <a:off x="0" y="5029200"/>
            <a:ext cx="8610600" cy="1552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Compared characters are </a:t>
            </a:r>
            <a:r>
              <a:rPr b="0" i="1" lang="en-US" sz="2400" u="none" cap="none" strike="noStrike">
                <a:solidFill>
                  <a:srgbClr val="EB1D1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italicized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matches are in </a:t>
            </a:r>
            <a:r>
              <a:rPr b="1" i="0" lang="en-US" sz="2400" u="none" cap="none" strike="noStrike">
                <a:solidFill>
                  <a:srgbClr val="0066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boldface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type.</a:t>
            </a:r>
            <a:endParaRPr/>
          </a:p>
          <a:p>
            <a:pPr indent="-1524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The algorithm can be designed to stop on either the first occurrence of the pattern, or upon reaching the end of the text.</a:t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3" name="Google Shape;11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47800" y="1981200"/>
            <a:ext cx="6019800" cy="278288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4" name="Google Shape;114;p4"/>
          <p:cNvGraphicFramePr/>
          <p:nvPr/>
        </p:nvGraphicFramePr>
        <p:xfrm>
          <a:off x="7061200" y="0"/>
          <a:ext cx="2082800" cy="1641475"/>
        </p:xfrm>
        <a:graphic>
          <a:graphicData uri="http://schemas.openxmlformats.org/presentationml/2006/ole">
            <mc:AlternateContent>
              <mc:Choice Requires="v">
                <p:oleObj r:id="rId5" imgH="1641475" imgW="2082800" progId="MS_ClipArt_Gallery" spid="_x0000_s1">
                  <p:embed/>
                </p:oleObj>
              </mc:Choice>
              <mc:Fallback>
                <p:oleObj r:id="rId6" imgH="1641475" imgW="2082800" progId="MS_ClipArt_Gallery">
                  <p:embed/>
                  <p:pic>
                    <p:nvPicPr>
                      <p:cNvPr id="114" name="Google Shape;114;p4"/>
                      <p:cNvPicPr preferRelativeResize="0"/>
                      <p:nvPr/>
                    </p:nvPicPr>
                    <p:blipFill rotWithShape="1">
                      <a:blip r:embed="rId7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7061200" y="0"/>
                        <a:ext cx="2082800" cy="164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" name="Google Shape;115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 txBox="1"/>
          <p:nvPr>
            <p:ph type="title"/>
          </p:nvPr>
        </p:nvSpPr>
        <p:spPr>
          <a:xfrm>
            <a:off x="381000" y="685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Brute Force Pseudo-Code</a:t>
            </a:r>
            <a:endParaRPr/>
          </a:p>
        </p:txBody>
      </p:sp>
      <p:sp>
        <p:nvSpPr>
          <p:cNvPr id="121" name="Google Shape;121;p5"/>
          <p:cNvSpPr txBox="1"/>
          <p:nvPr>
            <p:ph idx="1" type="body"/>
          </p:nvPr>
        </p:nvSpPr>
        <p:spPr>
          <a:xfrm>
            <a:off x="0" y="1752600"/>
            <a:ext cx="8305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Here’s the pseudo-code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chemeClr val="accent2"/>
                </a:solidFill>
              </a:rPr>
              <a:t>do if</a:t>
            </a:r>
            <a:r>
              <a:rPr lang="en-US" sz="2400">
                <a:solidFill>
                  <a:schemeClr val="accent2"/>
                </a:solidFill>
              </a:rPr>
              <a:t> (text letter == pattern letter)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accent2"/>
                </a:solidFill>
              </a:rPr>
              <a:t>		compare next letter of pattern to next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accent2"/>
                </a:solidFill>
              </a:rPr>
              <a:t>		letter of text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chemeClr val="accent2"/>
                </a:solidFill>
              </a:rPr>
              <a:t>	else </a:t>
            </a:r>
            <a:r>
              <a:rPr lang="en-US" sz="2400">
                <a:solidFill>
                  <a:schemeClr val="accent2"/>
                </a:solidFill>
              </a:rPr>
              <a:t>move pattern down text by one letter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chemeClr val="accent2"/>
                </a:solidFill>
              </a:rPr>
              <a:t> while</a:t>
            </a:r>
            <a:r>
              <a:rPr lang="en-US" sz="2400">
                <a:solidFill>
                  <a:schemeClr val="accent2"/>
                </a:solidFill>
              </a:rPr>
              <a:t> (entire pattern found or end of text)</a:t>
            </a:r>
            <a:endParaRPr sz="2800">
              <a:solidFill>
                <a:schemeClr val="accent2"/>
              </a:solidFill>
            </a:endParaRPr>
          </a:p>
        </p:txBody>
      </p:sp>
      <p:pic>
        <p:nvPicPr>
          <p:cNvPr id="122" name="Google Shape;12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24200" y="4167188"/>
            <a:ext cx="5105400" cy="2690812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"/>
          <p:cNvSpPr txBox="1"/>
          <p:nvPr>
            <p:ph type="title"/>
          </p:nvPr>
        </p:nvSpPr>
        <p:spPr>
          <a:xfrm>
            <a:off x="7620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Brute Force-Complexity</a:t>
            </a:r>
            <a:endParaRPr/>
          </a:p>
        </p:txBody>
      </p:sp>
      <p:sp>
        <p:nvSpPr>
          <p:cNvPr id="129" name="Google Shape;129;p6"/>
          <p:cNvSpPr txBox="1"/>
          <p:nvPr>
            <p:ph idx="1" type="body"/>
          </p:nvPr>
        </p:nvSpPr>
        <p:spPr>
          <a:xfrm>
            <a:off x="-76200" y="1371600"/>
            <a:ext cx="91440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Given a pattern M characters in length, and a text N characters in length...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Worst case:  compares pattern to each substring of text of length M.  For example, M=5.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This kind of case can occur for image data.</a:t>
            </a:r>
            <a:endParaRPr sz="2800"/>
          </a:p>
        </p:txBody>
      </p:sp>
      <p:pic>
        <p:nvPicPr>
          <p:cNvPr id="130" name="Google Shape;13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0" y="3148013"/>
            <a:ext cx="4343400" cy="2871787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6"/>
          <p:cNvSpPr/>
          <p:nvPr/>
        </p:nvSpPr>
        <p:spPr>
          <a:xfrm>
            <a:off x="381000" y="6035675"/>
            <a:ext cx="7086600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number of comparisons: M (N-M+1)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Worst case time complexity: O(MN)</a:t>
            </a:r>
            <a:endParaRPr/>
          </a:p>
        </p:txBody>
      </p:sp>
      <p:sp>
        <p:nvSpPr>
          <p:cNvPr id="132" name="Google Shape;132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/>
          <p:nvPr>
            <p:ph type="title"/>
          </p:nvPr>
        </p:nvSpPr>
        <p:spPr>
          <a:xfrm>
            <a:off x="609600" y="609600"/>
            <a:ext cx="7772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Brute Force-Complexity(cont.)</a:t>
            </a:r>
            <a:endParaRPr/>
          </a:p>
        </p:txBody>
      </p:sp>
      <p:sp>
        <p:nvSpPr>
          <p:cNvPr id="138" name="Google Shape;138;p7"/>
          <p:cNvSpPr txBox="1"/>
          <p:nvPr>
            <p:ph idx="1" type="body"/>
          </p:nvPr>
        </p:nvSpPr>
        <p:spPr>
          <a:xfrm>
            <a:off x="0" y="2057400"/>
            <a:ext cx="91440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Given a pattern M characters in length, and a text N characters in length...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Best case if pattern found: Finds pattern in first M positions of text.  For example, M=5.</a:t>
            </a:r>
            <a:endParaRPr/>
          </a:p>
        </p:txBody>
      </p:sp>
      <p:pic>
        <p:nvPicPr>
          <p:cNvPr id="139" name="Google Shape;13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4191000"/>
            <a:ext cx="6438900" cy="977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7"/>
          <p:cNvSpPr/>
          <p:nvPr/>
        </p:nvSpPr>
        <p:spPr>
          <a:xfrm>
            <a:off x="0" y="5410200"/>
            <a:ext cx="7543800" cy="1187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number of comparisons: 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Best case time complexity: O(M)</a:t>
            </a:r>
            <a:endParaRPr/>
          </a:p>
        </p:txBody>
      </p:sp>
      <p:sp>
        <p:nvSpPr>
          <p:cNvPr id="141" name="Google Shape;141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 txBox="1"/>
          <p:nvPr>
            <p:ph type="title"/>
          </p:nvPr>
        </p:nvSpPr>
        <p:spPr>
          <a:xfrm>
            <a:off x="533400" y="4572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Brute Force-Complexity(cont.)</a:t>
            </a:r>
            <a:endParaRPr/>
          </a:p>
        </p:txBody>
      </p:sp>
      <p:sp>
        <p:nvSpPr>
          <p:cNvPr id="147" name="Google Shape;147;p8"/>
          <p:cNvSpPr txBox="1"/>
          <p:nvPr>
            <p:ph idx="1" type="body"/>
          </p:nvPr>
        </p:nvSpPr>
        <p:spPr>
          <a:xfrm>
            <a:off x="0" y="1752600"/>
            <a:ext cx="9144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Given a pattern M characters in length, and a text N characters in length...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Best case if pattern not found: Always mismatch on first character.  For example, M=5.</a:t>
            </a:r>
            <a:endParaRPr sz="2800"/>
          </a:p>
        </p:txBody>
      </p:sp>
      <p:sp>
        <p:nvSpPr>
          <p:cNvPr id="148" name="Google Shape;148;p8"/>
          <p:cNvSpPr/>
          <p:nvPr/>
        </p:nvSpPr>
        <p:spPr>
          <a:xfrm>
            <a:off x="228600" y="6035675"/>
            <a:ext cx="60960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number of comparisons: N-M+1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Best case time complexity: O(N)  in worst best</a:t>
            </a:r>
            <a:endParaRPr/>
          </a:p>
        </p:txBody>
      </p:sp>
      <p:pic>
        <p:nvPicPr>
          <p:cNvPr id="149" name="Google Shape;14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200" y="3200400"/>
            <a:ext cx="4876800" cy="295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"/>
          <p:cNvSpPr txBox="1"/>
          <p:nvPr>
            <p:ph type="title"/>
          </p:nvPr>
        </p:nvSpPr>
        <p:spPr>
          <a:xfrm>
            <a:off x="609600" y="685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Rabin-Karp</a:t>
            </a:r>
            <a:endParaRPr/>
          </a:p>
        </p:txBody>
      </p:sp>
      <p:sp>
        <p:nvSpPr>
          <p:cNvPr id="156" name="Google Shape;156;p9"/>
          <p:cNvSpPr txBox="1"/>
          <p:nvPr>
            <p:ph idx="1" type="body"/>
          </p:nvPr>
        </p:nvSpPr>
        <p:spPr>
          <a:xfrm>
            <a:off x="381000" y="2133600"/>
            <a:ext cx="8763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Rabin-Karp string searching algorithm calculates a </a:t>
            </a:r>
            <a:r>
              <a:rPr b="1" lang="en-US" sz="2400"/>
              <a:t>hash value</a:t>
            </a:r>
            <a:r>
              <a:rPr lang="en-US" sz="2400"/>
              <a:t> for the pattern, and for each M-character subsequence of text to be compared.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If the hash values are unequal, the algorithm will calculate the hash value for next M-character sequence.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If the hash values are equal, the algorithm will do a </a:t>
            </a:r>
            <a:r>
              <a:rPr lang="en-US" sz="2400">
                <a:solidFill>
                  <a:schemeClr val="accent2"/>
                </a:solidFill>
              </a:rPr>
              <a:t>Brute Force</a:t>
            </a:r>
            <a:r>
              <a:rPr lang="en-US" sz="2400"/>
              <a:t> comparison between the pattern and the M-character sequence.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In this way, there is only one comparison per text subsequence, and Brute Force is only needed when hash values match.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Perhaps an example will clarify some things...</a:t>
            </a:r>
            <a:endParaRPr sz="2800"/>
          </a:p>
        </p:txBody>
      </p:sp>
      <p:sp>
        <p:nvSpPr>
          <p:cNvPr id="157" name="Google Shape;157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"/>
          <p:cNvSpPr txBox="1"/>
          <p:nvPr>
            <p:ph type="title"/>
          </p:nvPr>
        </p:nvSpPr>
        <p:spPr>
          <a:xfrm>
            <a:off x="6096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Rabin-Karp Example</a:t>
            </a:r>
            <a:endParaRPr/>
          </a:p>
        </p:txBody>
      </p:sp>
      <p:sp>
        <p:nvSpPr>
          <p:cNvPr id="163" name="Google Shape;163;p10"/>
          <p:cNvSpPr txBox="1"/>
          <p:nvPr>
            <p:ph idx="1" type="body"/>
          </p:nvPr>
        </p:nvSpPr>
        <p:spPr>
          <a:xfrm>
            <a:off x="0" y="14478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Hash value of “AAAAA” is 37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Hash value of “AAAAH” is 100</a:t>
            </a:r>
            <a:endParaRPr/>
          </a:p>
        </p:txBody>
      </p:sp>
      <p:pic>
        <p:nvPicPr>
          <p:cNvPr id="164" name="Google Shape;16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2200" y="2486025"/>
            <a:ext cx="4962525" cy="437197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1"/>
          <p:cNvSpPr txBox="1"/>
          <p:nvPr>
            <p:ph type="title"/>
          </p:nvPr>
        </p:nvSpPr>
        <p:spPr>
          <a:xfrm>
            <a:off x="6096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Rabin-Karp Algorithm</a:t>
            </a:r>
            <a:endParaRPr/>
          </a:p>
        </p:txBody>
      </p:sp>
      <p:sp>
        <p:nvSpPr>
          <p:cNvPr id="171" name="Google Shape;171;p11"/>
          <p:cNvSpPr txBox="1"/>
          <p:nvPr>
            <p:ph idx="1" type="body"/>
          </p:nvPr>
        </p:nvSpPr>
        <p:spPr>
          <a:xfrm>
            <a:off x="0" y="2133600"/>
            <a:ext cx="8763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i="1" lang="en-US" sz="2400"/>
              <a:t>pattern is M characters long</a:t>
            </a:r>
            <a:r>
              <a:rPr lang="en-US" sz="2400"/>
              <a:t>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5D994E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5D994E"/>
                </a:solidFill>
              </a:rPr>
              <a:t>hash_p</a:t>
            </a:r>
            <a:r>
              <a:rPr lang="en-US" sz="2400"/>
              <a:t>=hash value of pattern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DC303B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DC303B"/>
                </a:solidFill>
              </a:rPr>
              <a:t>hash_t</a:t>
            </a:r>
            <a:r>
              <a:rPr lang="en-US" sz="2400"/>
              <a:t>=hash value of first M letters in body of text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chemeClr val="accent2"/>
                </a:solidFill>
              </a:rPr>
              <a:t>do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chemeClr val="accent2"/>
                </a:solidFill>
              </a:rPr>
              <a:t>	if</a:t>
            </a:r>
            <a:r>
              <a:rPr lang="en-US" sz="2400">
                <a:solidFill>
                  <a:schemeClr val="accent2"/>
                </a:solidFill>
              </a:rPr>
              <a:t> (</a:t>
            </a:r>
            <a:r>
              <a:rPr lang="en-US" sz="2400">
                <a:solidFill>
                  <a:srgbClr val="5D994E"/>
                </a:solidFill>
              </a:rPr>
              <a:t>hash_p</a:t>
            </a:r>
            <a:r>
              <a:rPr lang="en-US" sz="2400">
                <a:solidFill>
                  <a:schemeClr val="accent2"/>
                </a:solidFill>
              </a:rPr>
              <a:t> == </a:t>
            </a:r>
            <a:r>
              <a:rPr lang="en-US" sz="2400">
                <a:solidFill>
                  <a:srgbClr val="DC303B"/>
                </a:solidFill>
              </a:rPr>
              <a:t>hash_t</a:t>
            </a:r>
            <a:r>
              <a:rPr lang="en-US" sz="2400">
                <a:solidFill>
                  <a:schemeClr val="accent2"/>
                </a:solidFill>
              </a:rPr>
              <a:t>)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accent2"/>
                </a:solidFill>
              </a:rPr>
              <a:t>		brute force comparison of pattern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accent2"/>
                </a:solidFill>
              </a:rPr>
              <a:t>		and selected section of text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accent2"/>
                </a:solidFill>
              </a:rPr>
              <a:t>	       </a:t>
            </a:r>
            <a:r>
              <a:rPr lang="en-US" sz="2400">
                <a:solidFill>
                  <a:srgbClr val="DC303B"/>
                </a:solidFill>
              </a:rPr>
              <a:t>hash_t</a:t>
            </a:r>
            <a:r>
              <a:rPr lang="en-US" sz="2400">
                <a:solidFill>
                  <a:schemeClr val="accent2"/>
                </a:solidFill>
              </a:rPr>
              <a:t>= hash value of next section of text, one character over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chemeClr val="accent2"/>
                </a:solidFill>
              </a:rPr>
              <a:t>while</a:t>
            </a:r>
            <a:r>
              <a:rPr lang="en-US" sz="2400">
                <a:solidFill>
                  <a:schemeClr val="accent2"/>
                </a:solidFill>
              </a:rPr>
              <a:t> (end of text	 </a:t>
            </a:r>
            <a:r>
              <a:rPr b="1" lang="en-US" sz="2400">
                <a:solidFill>
                  <a:schemeClr val="accent2"/>
                </a:solidFill>
              </a:rPr>
              <a:t>or </a:t>
            </a:r>
            <a:endParaRPr sz="2400">
              <a:solidFill>
                <a:schemeClr val="accent2"/>
              </a:solidFill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accent2"/>
                </a:solidFill>
              </a:rPr>
              <a:t>          brute force comparison == true)</a:t>
            </a:r>
            <a:endParaRPr sz="2400"/>
          </a:p>
        </p:txBody>
      </p:sp>
      <p:sp>
        <p:nvSpPr>
          <p:cNvPr id="172" name="Google Shape;172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2"/>
          <p:cNvSpPr txBox="1"/>
          <p:nvPr>
            <p:ph type="title"/>
          </p:nvPr>
        </p:nvSpPr>
        <p:spPr>
          <a:xfrm>
            <a:off x="4572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Rabin-Karp</a:t>
            </a:r>
            <a:endParaRPr/>
          </a:p>
        </p:txBody>
      </p:sp>
      <p:sp>
        <p:nvSpPr>
          <p:cNvPr id="178" name="Google Shape;178;p12"/>
          <p:cNvSpPr txBox="1"/>
          <p:nvPr>
            <p:ph idx="1" type="body"/>
          </p:nvPr>
        </p:nvSpPr>
        <p:spPr>
          <a:xfrm>
            <a:off x="0" y="2286000"/>
            <a:ext cx="8839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Common Rabin-Karp questions: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/>
              <a:t>		“What is the hash function used to calculate 	values for character sequences?”		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/>
              <a:t>		“Isn’t it time consuming to hash very one of  the M-character sequences in the text body?”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To answer some of these questions, we’ll have to get mathematical.</a:t>
            </a:r>
            <a:endParaRPr sz="2800"/>
          </a:p>
        </p:txBody>
      </p:sp>
      <p:sp>
        <p:nvSpPr>
          <p:cNvPr id="179" name="Google Shape;1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Rabin-Karp Math</a:t>
            </a:r>
            <a:endParaRPr/>
          </a:p>
        </p:txBody>
      </p:sp>
      <p:sp>
        <p:nvSpPr>
          <p:cNvPr id="186" name="Google Shape;186;p13"/>
          <p:cNvSpPr txBox="1"/>
          <p:nvPr>
            <p:ph idx="1" type="body"/>
          </p:nvPr>
        </p:nvSpPr>
        <p:spPr>
          <a:xfrm>
            <a:off x="0" y="121920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Consider an M-character sequence as an M-digit number in base b, where b is the number of letters in the alphabet.  The text subsequence t[i .. i+M-1] is mapped to the number</a:t>
            </a:r>
            <a:endParaRPr sz="2800"/>
          </a:p>
        </p:txBody>
      </p:sp>
      <p:sp>
        <p:nvSpPr>
          <p:cNvPr id="187" name="Google Shape;187;p13"/>
          <p:cNvSpPr/>
          <p:nvPr/>
        </p:nvSpPr>
        <p:spPr>
          <a:xfrm>
            <a:off x="0" y="3352800"/>
            <a:ext cx="9144000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524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Furthermore, given x(i) we can compute x(i+1) for the next subsequence t[i+1 .. i+M] in constant time, as follows: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p13"/>
          <p:cNvSpPr/>
          <p:nvPr/>
        </p:nvSpPr>
        <p:spPr>
          <a:xfrm>
            <a:off x="0" y="5670550"/>
            <a:ext cx="9144000" cy="1187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524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In this way, we never explicitly compute a new value.  We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simply adjust the existing value as we move over one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character.</a:t>
            </a:r>
            <a:endParaRPr/>
          </a:p>
        </p:txBody>
      </p:sp>
      <p:pic>
        <p:nvPicPr>
          <p:cNvPr id="189" name="Google Shape;18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2895600"/>
            <a:ext cx="5372100" cy="55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19200" y="4114800"/>
            <a:ext cx="6248400" cy="1663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Rabin-Karp Math Example	</a:t>
            </a:r>
            <a:r>
              <a:rPr lang="en-US"/>
              <a:t>	</a:t>
            </a:r>
            <a:endParaRPr/>
          </a:p>
        </p:txBody>
      </p:sp>
      <p:sp>
        <p:nvSpPr>
          <p:cNvPr id="197" name="Google Shape;197;p14"/>
          <p:cNvSpPr txBox="1"/>
          <p:nvPr>
            <p:ph idx="1" type="body"/>
          </p:nvPr>
        </p:nvSpPr>
        <p:spPr>
          <a:xfrm>
            <a:off x="0" y="2743200"/>
            <a:ext cx="8534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Let’s say that our alphabet consists of 10 letters.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our alphabet = a, b, c, d, e, f, g, h, i, j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Let’s say that “a” corresponds to 1, “b” corresponds to 2 and so on.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/>
              <a:t>   The hash value for string “cah” would be ...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/>
              <a:t>              3*100 + 1*10 + 8*1 = 318</a:t>
            </a:r>
            <a:endParaRPr/>
          </a:p>
        </p:txBody>
      </p:sp>
      <p:sp>
        <p:nvSpPr>
          <p:cNvPr id="198" name="Google Shape;19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5"/>
          <p:cNvSpPr txBox="1"/>
          <p:nvPr>
            <p:ph type="title"/>
          </p:nvPr>
        </p:nvSpPr>
        <p:spPr>
          <a:xfrm>
            <a:off x="533400" y="381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Rabin-Karp Mods</a:t>
            </a:r>
            <a:endParaRPr/>
          </a:p>
        </p:txBody>
      </p:sp>
      <p:sp>
        <p:nvSpPr>
          <p:cNvPr id="204" name="Google Shape;204;p15"/>
          <p:cNvSpPr txBox="1"/>
          <p:nvPr>
            <p:ph idx="1" type="body"/>
          </p:nvPr>
        </p:nvSpPr>
        <p:spPr>
          <a:xfrm>
            <a:off x="0" y="1143000"/>
            <a:ext cx="91440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If M is large, then the resulting value (~bM) will be enormous.  For this reason, we hash the value by taking it </a:t>
            </a:r>
            <a:r>
              <a:rPr b="1" lang="en-US" sz="2200">
                <a:solidFill>
                  <a:schemeClr val="accent2"/>
                </a:solidFill>
              </a:rPr>
              <a:t>mod</a:t>
            </a:r>
            <a:r>
              <a:rPr lang="en-US" sz="2200"/>
              <a:t> a </a:t>
            </a:r>
            <a:r>
              <a:rPr lang="en-US" sz="2200">
                <a:solidFill>
                  <a:schemeClr val="accent2"/>
                </a:solidFill>
              </a:rPr>
              <a:t>prime number </a:t>
            </a:r>
            <a:r>
              <a:rPr b="1" lang="en-US" sz="2200">
                <a:solidFill>
                  <a:schemeClr val="accent2"/>
                </a:solidFill>
              </a:rPr>
              <a:t>q</a:t>
            </a:r>
            <a:r>
              <a:rPr lang="en-US" sz="2200"/>
              <a:t>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The </a:t>
            </a:r>
            <a:r>
              <a:rPr b="1" lang="en-US" sz="2200">
                <a:solidFill>
                  <a:schemeClr val="accent2"/>
                </a:solidFill>
              </a:rPr>
              <a:t>mod</a:t>
            </a:r>
            <a:r>
              <a:rPr lang="en-US" sz="2200"/>
              <a:t> function (% in C) is particularly useful in this case due to several of its inherent properties: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rPr lang="en-US" sz="2200"/>
              <a:t>	</a:t>
            </a:r>
            <a:r>
              <a:rPr lang="en-US" sz="2200">
                <a:solidFill>
                  <a:srgbClr val="DC303B"/>
                </a:solidFill>
              </a:rPr>
              <a:t>[(x mod q) + (y mod q)] mod q = (x+y) mod q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rgbClr val="DC303B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DC303B"/>
                </a:solidFill>
              </a:rPr>
              <a:t>	(x mod q) mod q = x mod q</a:t>
            </a:r>
            <a:endParaRPr sz="2200"/>
          </a:p>
          <a:p>
            <a:pPr indent="-342900" lvl="0" marL="34290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For these reasons: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Calibri"/>
              <a:buNone/>
            </a:pPr>
            <a:r>
              <a:rPr lang="en-US" sz="2200">
                <a:solidFill>
                  <a:schemeClr val="accent2"/>
                </a:solidFill>
              </a:rPr>
              <a:t>  h(i)=((t[i]⋅ b</a:t>
            </a:r>
            <a:r>
              <a:rPr baseline="30000" lang="en-US" sz="2200">
                <a:solidFill>
                  <a:schemeClr val="accent2"/>
                </a:solidFill>
              </a:rPr>
              <a:t>M-1</a:t>
            </a:r>
            <a:r>
              <a:rPr lang="en-US" sz="2200">
                <a:solidFill>
                  <a:schemeClr val="accent2"/>
                </a:solidFill>
              </a:rPr>
              <a:t> mod q) +(t[i+1]⋅ b</a:t>
            </a:r>
            <a:r>
              <a:rPr baseline="30000" lang="en-US" sz="2200">
                <a:solidFill>
                  <a:schemeClr val="accent2"/>
                </a:solidFill>
              </a:rPr>
              <a:t>M-2</a:t>
            </a:r>
            <a:r>
              <a:rPr lang="en-US" sz="2200">
                <a:solidFill>
                  <a:schemeClr val="accent2"/>
                </a:solidFill>
              </a:rPr>
              <a:t> mod q) + ...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Calibri"/>
              <a:buNone/>
            </a:pPr>
            <a:r>
              <a:rPr lang="en-US" sz="2200">
                <a:solidFill>
                  <a:schemeClr val="accent2"/>
                </a:solidFill>
              </a:rPr>
              <a:t>		 +(t[i+M-1] mod q))mod q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Calibri"/>
              <a:buNone/>
            </a:pPr>
            <a:r>
              <a:rPr lang="en-US" sz="2200">
                <a:solidFill>
                  <a:schemeClr val="accent2"/>
                </a:solidFill>
              </a:rPr>
              <a:t>  h(i+1) =( h(i) ⋅ b  mod q</a:t>
            </a:r>
            <a:endParaRPr sz="2200"/>
          </a:p>
          <a:p>
            <a:pPr indent="-342900" lvl="0" marL="34290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rPr lang="en-US" sz="2200"/>
              <a:t>			Shift left one digit	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rPr lang="en-US" sz="2200"/>
              <a:t>	          </a:t>
            </a:r>
            <a:r>
              <a:rPr lang="en-US" sz="2200">
                <a:solidFill>
                  <a:schemeClr val="accent2"/>
                </a:solidFill>
              </a:rPr>
              <a:t>-t[i] ⋅ b</a:t>
            </a:r>
            <a:r>
              <a:rPr baseline="30000" lang="en-US" sz="2200">
                <a:solidFill>
                  <a:schemeClr val="accent2"/>
                </a:solidFill>
              </a:rPr>
              <a:t>M</a:t>
            </a:r>
            <a:r>
              <a:rPr lang="en-US" sz="2200">
                <a:solidFill>
                  <a:schemeClr val="accent2"/>
                </a:solidFill>
              </a:rPr>
              <a:t> mod q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rPr lang="en-US" sz="2200"/>
              <a:t>			Subtract leftmost digit	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rPr lang="en-US" sz="2200"/>
              <a:t>		   </a:t>
            </a:r>
            <a:r>
              <a:rPr lang="en-US" sz="2200">
                <a:solidFill>
                  <a:schemeClr val="accent2"/>
                </a:solidFill>
              </a:rPr>
              <a:t>+t[i+M] mod q )</a:t>
            </a:r>
            <a:endParaRPr sz="2200"/>
          </a:p>
          <a:p>
            <a:pPr indent="-342900" lvl="0" marL="34290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rPr lang="en-US" sz="2200"/>
              <a:t>			Add new rightmost digit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rPr lang="en-US" sz="2200"/>
              <a:t>		   </a:t>
            </a:r>
            <a:r>
              <a:rPr lang="en-US" sz="2200">
                <a:solidFill>
                  <a:schemeClr val="accent2"/>
                </a:solidFill>
              </a:rPr>
              <a:t>mod q</a:t>
            </a:r>
            <a:endParaRPr sz="2200"/>
          </a:p>
        </p:txBody>
      </p:sp>
      <p:sp>
        <p:nvSpPr>
          <p:cNvPr id="205" name="Google Shape;205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4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4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4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6"/>
          <p:cNvSpPr txBox="1"/>
          <p:nvPr>
            <p:ph type="title"/>
          </p:nvPr>
        </p:nvSpPr>
        <p:spPr>
          <a:xfrm>
            <a:off x="609600" y="4572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Rabin-Karp Complexity</a:t>
            </a:r>
            <a:endParaRPr/>
          </a:p>
        </p:txBody>
      </p:sp>
      <p:sp>
        <p:nvSpPr>
          <p:cNvPr id="211" name="Google Shape;211;p16"/>
          <p:cNvSpPr txBox="1"/>
          <p:nvPr>
            <p:ph idx="1" type="body"/>
          </p:nvPr>
        </p:nvSpPr>
        <p:spPr>
          <a:xfrm>
            <a:off x="0" y="1828800"/>
            <a:ext cx="8763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If a sufficiently large prime number is used for the </a:t>
            </a:r>
            <a:r>
              <a:rPr i="1" lang="en-US" sz="2400"/>
              <a:t>hash function</a:t>
            </a:r>
            <a:r>
              <a:rPr lang="en-US" sz="2400"/>
              <a:t>, the hashed values of two different patterns will usually be distinct.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If this is the case, searching takes </a:t>
            </a:r>
            <a:r>
              <a:rPr lang="en-US" sz="2400">
                <a:solidFill>
                  <a:schemeClr val="accent2"/>
                </a:solidFill>
              </a:rPr>
              <a:t>O(N)</a:t>
            </a:r>
            <a:r>
              <a:rPr lang="en-US" sz="2400"/>
              <a:t> time, where N is the number of characters in the larger body of text.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It is always possible to construct a scenario with a worst case complexity of </a:t>
            </a:r>
            <a:r>
              <a:rPr lang="en-US" sz="2400">
                <a:solidFill>
                  <a:schemeClr val="accent2"/>
                </a:solidFill>
              </a:rPr>
              <a:t>O(MN).</a:t>
            </a:r>
            <a:r>
              <a:rPr lang="en-US" sz="2400"/>
              <a:t>  This, however, is likely to happen only if the prime number used for hashing is small.</a:t>
            </a:r>
            <a:endParaRPr/>
          </a:p>
        </p:txBody>
      </p:sp>
      <p:sp>
        <p:nvSpPr>
          <p:cNvPr id="212" name="Google Shape;21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Important Links</a:t>
            </a:r>
            <a:endParaRPr/>
          </a:p>
        </p:txBody>
      </p:sp>
      <p:sp>
        <p:nvSpPr>
          <p:cNvPr id="218" name="Google Shape;218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https://youtu.be/yKhPWrdA6U8?list=PLTd6ceoshprfjQvdtZPohmS7_k9l43H9R</a:t>
            </a:r>
            <a:endParaRPr u="sng">
              <a:solidFill>
                <a:schemeClr val="hlink"/>
              </a:solidFill>
              <a:hlinkClick r:id="rId4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u="sng">
                <a:solidFill>
                  <a:schemeClr val="hlink"/>
                </a:solidFill>
                <a:hlinkClick r:id="rId5"/>
              </a:rPr>
              <a:t>https://youtu.be/yFHV7weZ_as</a:t>
            </a:r>
            <a:endParaRPr/>
          </a:p>
          <a:p>
            <a:pPr indent="-254000" lvl="0" marL="342900" rtl="0" algn="l">
              <a:spcBef>
                <a:spcPts val="640"/>
              </a:spcBef>
              <a:spcAft>
                <a:spcPts val="0"/>
              </a:spcAft>
              <a:buSzPts val="1800"/>
              <a:buChar char="•"/>
            </a:pPr>
            <a:r>
              <a:rPr lang="en-US" u="sng">
                <a:solidFill>
                  <a:schemeClr val="hlink"/>
                </a:solidFill>
                <a:hlinkClick r:id="rId6"/>
              </a:rPr>
              <a:t>https://www.geeksforgeeks.org/applications-of-string-matching-algorithms/</a:t>
            </a:r>
            <a:endParaRPr/>
          </a:p>
        </p:txBody>
      </p:sp>
      <p:sp>
        <p:nvSpPr>
          <p:cNvPr id="219" name="Google Shape;21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2019-10-19T08:05:12Z</dcterms:created>
</cp:coreProperties>
</file>