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  <p:sldMasterId id="2147483661" r:id="rId2"/>
  </p:sldMasterIdLst>
  <p:notesMasterIdLst>
    <p:notesMasterId r:id="rId32"/>
  </p:notesMasterIdLst>
  <p:sldIdLst>
    <p:sldId id="256" r:id="rId3"/>
    <p:sldId id="257" r:id="rId4"/>
    <p:sldId id="401" r:id="rId5"/>
    <p:sldId id="402" r:id="rId6"/>
    <p:sldId id="403" r:id="rId7"/>
    <p:sldId id="289" r:id="rId8"/>
    <p:sldId id="404" r:id="rId9"/>
    <p:sldId id="277" r:id="rId10"/>
    <p:sldId id="259" r:id="rId11"/>
    <p:sldId id="291" r:id="rId12"/>
    <p:sldId id="405" r:id="rId13"/>
    <p:sldId id="406" r:id="rId14"/>
    <p:sldId id="292" r:id="rId15"/>
    <p:sldId id="294" r:id="rId16"/>
    <p:sldId id="293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9" r:id="rId25"/>
    <p:sldId id="290" r:id="rId26"/>
    <p:sldId id="270" r:id="rId27"/>
    <p:sldId id="271" r:id="rId28"/>
    <p:sldId id="278" r:id="rId29"/>
    <p:sldId id="279" r:id="rId30"/>
    <p:sldId id="280" r:id="rId31"/>
  </p:sldIdLst>
  <p:sldSz cx="9144000" cy="5143500" type="screen16x9"/>
  <p:notesSz cx="6858000" cy="9144000"/>
  <p:embeddedFontLst>
    <p:embeddedFont>
      <p:font typeface="Assistant" pitchFamily="2" charset="-79"/>
      <p:regular r:id="rId33"/>
      <p:bold r:id="rId34"/>
    </p:embeddedFont>
    <p:embeddedFont>
      <p:font typeface="Assistant ExtraLight" pitchFamily="2" charset="-79"/>
      <p:regular r:id="rId35"/>
      <p:bold r:id="rId36"/>
    </p:embeddedFont>
    <p:embeddedFont>
      <p:font typeface="Inconsolata" pitchFamily="1" charset="0"/>
      <p:regular r:id="rId37"/>
      <p:bold r:id="rId38"/>
    </p:embeddedFont>
    <p:embeddedFont>
      <p:font typeface="Lato Light" panose="020F0502020204030203" pitchFamily="34" charset="0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1224834-C474-4FC3-8C61-A97B8A76590A}">
  <a:tblStyle styleId="{81224834-C474-4FC3-8C61-A97B8A76590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199" autoAdjust="0"/>
  </p:normalViewPr>
  <p:slideViewPr>
    <p:cSldViewPr snapToGrid="0">
      <p:cViewPr varScale="1">
        <p:scale>
          <a:sx n="78" d="100"/>
          <a:sy n="78" d="100"/>
        </p:scale>
        <p:origin x="1176" y="5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7.fntdata"/><Relationship Id="rId21" Type="http://schemas.openxmlformats.org/officeDocument/2006/relationships/slide" Target="slides/slide19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font" Target="fonts/font3.fntdata"/><Relationship Id="rId43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e83368a463_0_13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e83368a463_0_13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e864671410_0_5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e864671410_0_5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5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P1-P1-S-20-01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5" name="Google Shape;135;p5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9/10/2021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6" name="Google Shape;136;p5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Project Title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7" name="Google Shape;137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55291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5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P1-P1-S-20-01</a:t>
            </a:r>
            <a:endParaRPr/>
          </a:p>
        </p:txBody>
      </p:sp>
      <p:sp>
        <p:nvSpPr>
          <p:cNvPr id="135" name="Google Shape;135;p5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9/10/2021</a:t>
            </a:r>
            <a:endParaRPr/>
          </a:p>
        </p:txBody>
      </p:sp>
      <p:sp>
        <p:nvSpPr>
          <p:cNvPr id="136" name="Google Shape;136;p5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Project Title</a:t>
            </a:r>
            <a:endParaRPr/>
          </a:p>
        </p:txBody>
      </p:sp>
      <p:sp>
        <p:nvSpPr>
          <p:cNvPr id="137" name="Google Shape;137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046459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5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P1-P1-S-20-01</a:t>
            </a:r>
            <a:endParaRPr/>
          </a:p>
        </p:txBody>
      </p:sp>
      <p:sp>
        <p:nvSpPr>
          <p:cNvPr id="135" name="Google Shape;135;p5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9/10/2021</a:t>
            </a:r>
            <a:endParaRPr/>
          </a:p>
        </p:txBody>
      </p:sp>
      <p:sp>
        <p:nvSpPr>
          <p:cNvPr id="136" name="Google Shape;136;p5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Project Title</a:t>
            </a:r>
            <a:endParaRPr/>
          </a:p>
        </p:txBody>
      </p:sp>
      <p:sp>
        <p:nvSpPr>
          <p:cNvPr id="137" name="Google Shape;137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901185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e9e566a05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e9e566a05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50" dirty="0">
              <a:solidFill>
                <a:schemeClr val="dk1"/>
              </a:solidFill>
              <a:highlight>
                <a:srgbClr val="EEEEEE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eb4d069f3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eb4d069f3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e94a833118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e94a833118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560329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e83368a463_0_3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e83368a463_0_3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64559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eae04f1cc1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eae04f1cc1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eae04f1cc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eae04f1cc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eadce02c6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eadce02c6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e83368a463_0_32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e83368a463_0_32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e83368a463_0_3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e83368a463_0_3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e9a71fd2c8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e9a71fd2c8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e83368a463_0_25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e83368a463_0_25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e9e566a05c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e9e566a05c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e9e566a05c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e9e566a05c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eab3b9bc2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eab3b9bc2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e1a5c76648_0_28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e1a5c76648_0_28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54850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e1a5c76648_0_28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e1a5c76648_0_28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49067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eb4ddfd9f1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eb4ddfd9f1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23.25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826059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A143A-C72C-4EFD-8866-83CE29391D11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52AEA-A5CF-44CB-BF4C-5BCCFE557A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2712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0CE0C-93D4-4F63-B6AA-3469A4BA3CF4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5F32F-E84B-4BBA-9118-EFFC0CDCC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3965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0CE0C-93D4-4F63-B6AA-3469A4BA3CF4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5F32F-E84B-4BBA-9118-EFFC0CDCC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7216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0CE0C-93D4-4F63-B6AA-3469A4BA3CF4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5F32F-E84B-4BBA-9118-EFFC0CDCC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023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0CE0C-93D4-4F63-B6AA-3469A4BA3CF4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5F32F-E84B-4BBA-9118-EFFC0CDCC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328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0CE0C-93D4-4F63-B6AA-3469A4BA3CF4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5F32F-E84B-4BBA-9118-EFFC0CDCC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5669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0CE0C-93D4-4F63-B6AA-3469A4BA3CF4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5F32F-E84B-4BBA-9118-EFFC0CDCC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4474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0CE0C-93D4-4F63-B6AA-3469A4BA3CF4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5F32F-E84B-4BBA-9118-EFFC0CDCC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0624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0CE0C-93D4-4F63-B6AA-3469A4BA3CF4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5F32F-E84B-4BBA-9118-EFFC0CDCC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8124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0CE0C-93D4-4F63-B6AA-3469A4BA3CF4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5F32F-E84B-4BBA-9118-EFFC0CDCC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4361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0CE0C-93D4-4F63-B6AA-3469A4BA3CF4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5F32F-E84B-4BBA-9118-EFFC0CDCC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6208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0CE0C-93D4-4F63-B6AA-3469A4BA3CF4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5F32F-E84B-4BBA-9118-EFFC0CDCC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96725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00150"/>
            <a:ext cx="8839200" cy="34861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4743450"/>
            <a:ext cx="3810000" cy="3429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 2016 Cengage Learning®. May not be scanned, copied or duplicated, or posted to a publicly accessible website, in whole or in part.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4800600"/>
            <a:ext cx="1676400" cy="342900"/>
          </a:xfrm>
        </p:spPr>
        <p:txBody>
          <a:bodyPr>
            <a:normAutofit/>
          </a:bodyPr>
          <a:lstStyle>
            <a:lvl1pPr>
              <a:buNone/>
              <a:defRPr sz="900"/>
            </a:lvl1pPr>
          </a:lstStyle>
          <a:p>
            <a:pPr lvl="0"/>
            <a:r>
              <a:rPr lang="en-US" dirty="0"/>
              <a:t>Page 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8534400" y="4686300"/>
            <a:ext cx="609600" cy="457200"/>
          </a:xfrm>
          <a:prstGeom prst="rect">
            <a:avLst/>
          </a:prstGeom>
          <a:solidFill>
            <a:srgbClr val="DB7531"/>
          </a:solidFill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4400" y="4686300"/>
            <a:ext cx="6096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rgbClr val="EEEBCA"/>
                </a:solidFill>
              </a:defRPr>
            </a:lvl1pPr>
          </a:lstStyle>
          <a:p>
            <a:fld id="{E1920792-1FFE-4123-96E7-9B6DC9FF0B0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3973519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00150"/>
            <a:ext cx="8839200" cy="34861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4743450"/>
            <a:ext cx="3810000" cy="3429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 2016 Cengage Learning®. May not be scanned, copied or duplicated, or posted to a publicly accessible website, in whole or in part.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4800600"/>
            <a:ext cx="1676400" cy="342900"/>
          </a:xfrm>
        </p:spPr>
        <p:txBody>
          <a:bodyPr>
            <a:normAutofit/>
          </a:bodyPr>
          <a:lstStyle>
            <a:lvl1pPr>
              <a:buNone/>
              <a:defRPr sz="900"/>
            </a:lvl1pPr>
          </a:lstStyle>
          <a:p>
            <a:pPr lvl="0"/>
            <a:r>
              <a:rPr lang="en-US" dirty="0"/>
              <a:t>Page 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8534400" y="4686300"/>
            <a:ext cx="609600" cy="457200"/>
          </a:xfrm>
          <a:prstGeom prst="rect">
            <a:avLst/>
          </a:prstGeom>
          <a:solidFill>
            <a:srgbClr val="DB7531"/>
          </a:solidFill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4400" y="4686300"/>
            <a:ext cx="6096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rgbClr val="EEEBCA"/>
                </a:solidFill>
              </a:defRPr>
            </a:lvl1pPr>
          </a:lstStyle>
          <a:p>
            <a:fld id="{E1920792-1FFE-4123-96E7-9B6DC9FF0B0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9588913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00150"/>
            <a:ext cx="8839200" cy="34861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4743450"/>
            <a:ext cx="3810000" cy="3429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 2016 Cengage Learning®. May not be scanned, copied or duplicated, or posted to a publicly accessible website, in whole or in part.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4800600"/>
            <a:ext cx="1676400" cy="342900"/>
          </a:xfrm>
        </p:spPr>
        <p:txBody>
          <a:bodyPr>
            <a:normAutofit/>
          </a:bodyPr>
          <a:lstStyle>
            <a:lvl1pPr>
              <a:buNone/>
              <a:defRPr sz="900"/>
            </a:lvl1pPr>
          </a:lstStyle>
          <a:p>
            <a:pPr lvl="0"/>
            <a:r>
              <a:rPr lang="en-US" dirty="0"/>
              <a:t>Page 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8534400" y="4686300"/>
            <a:ext cx="609600" cy="457200"/>
          </a:xfrm>
          <a:prstGeom prst="rect">
            <a:avLst/>
          </a:prstGeom>
          <a:solidFill>
            <a:srgbClr val="DB7531"/>
          </a:solidFill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4400" y="4686300"/>
            <a:ext cx="6096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rgbClr val="EEEBCA"/>
                </a:solidFill>
              </a:defRPr>
            </a:lvl1pPr>
          </a:lstStyle>
          <a:p>
            <a:fld id="{E1920792-1FFE-4123-96E7-9B6DC9FF0B0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7519778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00150"/>
            <a:ext cx="8839200" cy="34861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4743450"/>
            <a:ext cx="3810000" cy="3429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 2016 Cengage Learning®. May not be scanned, copied or duplicated, or posted to a publicly accessible website, in whole or in part.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4800600"/>
            <a:ext cx="1676400" cy="342900"/>
          </a:xfrm>
        </p:spPr>
        <p:txBody>
          <a:bodyPr>
            <a:normAutofit/>
          </a:bodyPr>
          <a:lstStyle>
            <a:lvl1pPr>
              <a:buNone/>
              <a:defRPr sz="900"/>
            </a:lvl1pPr>
          </a:lstStyle>
          <a:p>
            <a:pPr lvl="0"/>
            <a:r>
              <a:rPr lang="en-US" dirty="0"/>
              <a:t>Page 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8534400" y="4686300"/>
            <a:ext cx="609600" cy="457200"/>
          </a:xfrm>
          <a:prstGeom prst="rect">
            <a:avLst/>
          </a:prstGeom>
          <a:solidFill>
            <a:srgbClr val="DB7531"/>
          </a:solidFill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4400" y="4686300"/>
            <a:ext cx="6096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rgbClr val="EEEBCA"/>
                </a:solidFill>
              </a:defRPr>
            </a:lvl1pPr>
          </a:lstStyle>
          <a:p>
            <a:fld id="{E1920792-1FFE-4123-96E7-9B6DC9FF0B0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4173105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00150"/>
            <a:ext cx="8839200" cy="34861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4743450"/>
            <a:ext cx="3810000" cy="3429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 2016 Cengage Learning®. May not be scanned, copied or duplicated, or posted to a publicly accessible website, in whole or in part.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4800600"/>
            <a:ext cx="1676400" cy="342900"/>
          </a:xfrm>
        </p:spPr>
        <p:txBody>
          <a:bodyPr>
            <a:normAutofit/>
          </a:bodyPr>
          <a:lstStyle>
            <a:lvl1pPr>
              <a:buNone/>
              <a:defRPr sz="900"/>
            </a:lvl1pPr>
          </a:lstStyle>
          <a:p>
            <a:pPr lvl="0"/>
            <a:r>
              <a:rPr lang="en-US" dirty="0"/>
              <a:t>Page 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8534400" y="4686300"/>
            <a:ext cx="609600" cy="457200"/>
          </a:xfrm>
          <a:prstGeom prst="rect">
            <a:avLst/>
          </a:prstGeom>
          <a:solidFill>
            <a:srgbClr val="DB7531"/>
          </a:solidFill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4400" y="4686300"/>
            <a:ext cx="6096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rgbClr val="EEEBCA"/>
                </a:solidFill>
              </a:defRPr>
            </a:lvl1pPr>
          </a:lstStyle>
          <a:p>
            <a:fld id="{E1920792-1FFE-4123-96E7-9B6DC9FF0B0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2744704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00150"/>
            <a:ext cx="8839200" cy="34861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4743450"/>
            <a:ext cx="3810000" cy="3429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 2016 Cengage Learning®. May not be scanned, copied or duplicated, or posted to a publicly accessible website, in whole or in part.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4800600"/>
            <a:ext cx="1676400" cy="342900"/>
          </a:xfrm>
        </p:spPr>
        <p:txBody>
          <a:bodyPr>
            <a:normAutofit/>
          </a:bodyPr>
          <a:lstStyle>
            <a:lvl1pPr>
              <a:buNone/>
              <a:defRPr sz="900"/>
            </a:lvl1pPr>
          </a:lstStyle>
          <a:p>
            <a:pPr lvl="0"/>
            <a:r>
              <a:rPr lang="en-US" dirty="0"/>
              <a:t>Page 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8534400" y="4686300"/>
            <a:ext cx="609600" cy="457200"/>
          </a:xfrm>
          <a:prstGeom prst="rect">
            <a:avLst/>
          </a:prstGeom>
          <a:solidFill>
            <a:srgbClr val="DB7531"/>
          </a:solidFill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4400" y="4686300"/>
            <a:ext cx="6096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rgbClr val="EEEBCA"/>
                </a:solidFill>
              </a:defRPr>
            </a:lvl1pPr>
          </a:lstStyle>
          <a:p>
            <a:fld id="{E1920792-1FFE-4123-96E7-9B6DC9FF0B0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1026904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00150"/>
            <a:ext cx="8839200" cy="34861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4743450"/>
            <a:ext cx="3810000" cy="3429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 2016 Cengage Learning®. May not be scanned, copied or duplicated, or posted to a publicly accessible website, in whole or in part.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4800600"/>
            <a:ext cx="1676400" cy="342900"/>
          </a:xfrm>
        </p:spPr>
        <p:txBody>
          <a:bodyPr>
            <a:normAutofit/>
          </a:bodyPr>
          <a:lstStyle>
            <a:lvl1pPr>
              <a:buNone/>
              <a:defRPr sz="900"/>
            </a:lvl1pPr>
          </a:lstStyle>
          <a:p>
            <a:pPr lvl="0"/>
            <a:r>
              <a:rPr lang="en-US" dirty="0"/>
              <a:t>Page 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8534400" y="4686300"/>
            <a:ext cx="609600" cy="457200"/>
          </a:xfrm>
          <a:prstGeom prst="rect">
            <a:avLst/>
          </a:prstGeom>
          <a:solidFill>
            <a:srgbClr val="DB7531"/>
          </a:solidFill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4400" y="4686300"/>
            <a:ext cx="6096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rgbClr val="EEEBCA"/>
                </a:solidFill>
              </a:defRPr>
            </a:lvl1pPr>
          </a:lstStyle>
          <a:p>
            <a:fld id="{E1920792-1FFE-4123-96E7-9B6DC9FF0B0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2047629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00150"/>
            <a:ext cx="8839200" cy="34861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4743450"/>
            <a:ext cx="3810000" cy="3429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 2016 Cengage Learning®. May not be scanned, copied or duplicated, or posted to a publicly accessible website, in whole or in part.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4800600"/>
            <a:ext cx="1676400" cy="342900"/>
          </a:xfrm>
        </p:spPr>
        <p:txBody>
          <a:bodyPr>
            <a:normAutofit/>
          </a:bodyPr>
          <a:lstStyle>
            <a:lvl1pPr>
              <a:buNone/>
              <a:defRPr sz="900"/>
            </a:lvl1pPr>
          </a:lstStyle>
          <a:p>
            <a:pPr lvl="0"/>
            <a:r>
              <a:rPr lang="en-US" dirty="0"/>
              <a:t>Page 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8534400" y="4686300"/>
            <a:ext cx="609600" cy="457200"/>
          </a:xfrm>
          <a:prstGeom prst="rect">
            <a:avLst/>
          </a:prstGeom>
          <a:solidFill>
            <a:srgbClr val="DB7531"/>
          </a:solidFill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4400" y="4686300"/>
            <a:ext cx="6096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rgbClr val="EEEBCA"/>
                </a:solidFill>
              </a:defRPr>
            </a:lvl1pPr>
          </a:lstStyle>
          <a:p>
            <a:fld id="{E1920792-1FFE-4123-96E7-9B6DC9FF0B0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9482338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00150"/>
            <a:ext cx="8839200" cy="34861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4743450"/>
            <a:ext cx="3810000" cy="3429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 2016 Cengage Learning®. May not be scanned, copied or duplicated, or posted to a publicly accessible website, in whole or in part.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4800600"/>
            <a:ext cx="1676400" cy="342900"/>
          </a:xfrm>
        </p:spPr>
        <p:txBody>
          <a:bodyPr>
            <a:normAutofit/>
          </a:bodyPr>
          <a:lstStyle>
            <a:lvl1pPr>
              <a:buNone/>
              <a:defRPr sz="900"/>
            </a:lvl1pPr>
          </a:lstStyle>
          <a:p>
            <a:pPr lvl="0"/>
            <a:r>
              <a:rPr lang="en-US" dirty="0"/>
              <a:t>Page 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8534400" y="4686300"/>
            <a:ext cx="609600" cy="457200"/>
          </a:xfrm>
          <a:prstGeom prst="rect">
            <a:avLst/>
          </a:prstGeom>
          <a:solidFill>
            <a:srgbClr val="DB7531"/>
          </a:solidFill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4400" y="4686300"/>
            <a:ext cx="6096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rgbClr val="EEEBCA"/>
                </a:solidFill>
              </a:defRPr>
            </a:lvl1pPr>
          </a:lstStyle>
          <a:p>
            <a:fld id="{E1920792-1FFE-4123-96E7-9B6DC9FF0B0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22842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00150"/>
            <a:ext cx="8839200" cy="34861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4743450"/>
            <a:ext cx="3810000" cy="3429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 2016 Cengage Learning®. May not be scanned, copied or duplicated, or posted to a publicly accessible website, in whole or in part.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4800600"/>
            <a:ext cx="1676400" cy="342900"/>
          </a:xfrm>
        </p:spPr>
        <p:txBody>
          <a:bodyPr>
            <a:normAutofit/>
          </a:bodyPr>
          <a:lstStyle>
            <a:lvl1pPr>
              <a:buNone/>
              <a:defRPr sz="900"/>
            </a:lvl1pPr>
          </a:lstStyle>
          <a:p>
            <a:pPr lvl="0"/>
            <a:r>
              <a:rPr lang="en-US" dirty="0"/>
              <a:t>Page 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8534400" y="4686300"/>
            <a:ext cx="609600" cy="457200"/>
          </a:xfrm>
          <a:prstGeom prst="rect">
            <a:avLst/>
          </a:prstGeom>
          <a:solidFill>
            <a:srgbClr val="DB7531"/>
          </a:solidFill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4400" y="4686300"/>
            <a:ext cx="6096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rgbClr val="EEEBCA"/>
                </a:solidFill>
              </a:defRPr>
            </a:lvl1pPr>
          </a:lstStyle>
          <a:p>
            <a:fld id="{E1920792-1FFE-4123-96E7-9B6DC9FF0B0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0512262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00150"/>
            <a:ext cx="8839200" cy="34861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4743450"/>
            <a:ext cx="3810000" cy="3429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 2016 Cengage Learning®. May not be scanned, copied or duplicated, or posted to a publicly accessible website, in whole or in part.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4800600"/>
            <a:ext cx="1676400" cy="342900"/>
          </a:xfrm>
        </p:spPr>
        <p:txBody>
          <a:bodyPr>
            <a:normAutofit/>
          </a:bodyPr>
          <a:lstStyle>
            <a:lvl1pPr>
              <a:buNone/>
              <a:defRPr sz="900"/>
            </a:lvl1pPr>
          </a:lstStyle>
          <a:p>
            <a:pPr lvl="0"/>
            <a:r>
              <a:rPr lang="en-US" dirty="0"/>
              <a:t>Page 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8534400" y="4686300"/>
            <a:ext cx="609600" cy="457200"/>
          </a:xfrm>
          <a:prstGeom prst="rect">
            <a:avLst/>
          </a:prstGeom>
          <a:solidFill>
            <a:srgbClr val="DB7531"/>
          </a:solidFill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4400" y="4686300"/>
            <a:ext cx="6096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rgbClr val="EEEBCA"/>
                </a:solidFill>
              </a:defRPr>
            </a:lvl1pPr>
          </a:lstStyle>
          <a:p>
            <a:fld id="{E1920792-1FFE-4123-96E7-9B6DC9FF0B0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8881448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00150"/>
            <a:ext cx="8839200" cy="34861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4743450"/>
            <a:ext cx="3810000" cy="3429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 2016 Cengage Learning®. May not be scanned, copied or duplicated, or posted to a publicly accessible website, in whole or in part.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4800600"/>
            <a:ext cx="1676400" cy="342900"/>
          </a:xfrm>
        </p:spPr>
        <p:txBody>
          <a:bodyPr>
            <a:normAutofit/>
          </a:bodyPr>
          <a:lstStyle>
            <a:lvl1pPr>
              <a:buNone/>
              <a:defRPr sz="900"/>
            </a:lvl1pPr>
          </a:lstStyle>
          <a:p>
            <a:pPr lvl="0"/>
            <a:r>
              <a:rPr lang="en-US" dirty="0"/>
              <a:t>Page 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8534400" y="4686300"/>
            <a:ext cx="609600" cy="457200"/>
          </a:xfrm>
          <a:prstGeom prst="rect">
            <a:avLst/>
          </a:prstGeom>
          <a:solidFill>
            <a:srgbClr val="DB7531"/>
          </a:solidFill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4400" y="4686300"/>
            <a:ext cx="6096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rgbClr val="EEEBCA"/>
                </a:solidFill>
              </a:defRPr>
            </a:lvl1pPr>
          </a:lstStyle>
          <a:p>
            <a:fld id="{E1920792-1FFE-4123-96E7-9B6DC9FF0B0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0484668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00150"/>
            <a:ext cx="8839200" cy="34861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4743450"/>
            <a:ext cx="3810000" cy="3429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 2016 Cengage Learning®. May not be scanned, copied or duplicated, or posted to a publicly accessible website, in whole or in part.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4800600"/>
            <a:ext cx="1676400" cy="342900"/>
          </a:xfrm>
        </p:spPr>
        <p:txBody>
          <a:bodyPr>
            <a:normAutofit/>
          </a:bodyPr>
          <a:lstStyle>
            <a:lvl1pPr>
              <a:buNone/>
              <a:defRPr sz="900"/>
            </a:lvl1pPr>
          </a:lstStyle>
          <a:p>
            <a:pPr lvl="0"/>
            <a:r>
              <a:rPr lang="en-US" dirty="0"/>
              <a:t>Page 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8534400" y="4686300"/>
            <a:ext cx="609600" cy="457200"/>
          </a:xfrm>
          <a:prstGeom prst="rect">
            <a:avLst/>
          </a:prstGeom>
          <a:solidFill>
            <a:srgbClr val="DB7531"/>
          </a:solidFill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4400" y="4686300"/>
            <a:ext cx="6096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rgbClr val="EEEBCA"/>
                </a:solidFill>
              </a:defRPr>
            </a:lvl1pPr>
          </a:lstStyle>
          <a:p>
            <a:fld id="{E1920792-1FFE-4123-96E7-9B6DC9FF0B0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620123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00150"/>
            <a:ext cx="8839200" cy="34861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4743450"/>
            <a:ext cx="3810000" cy="3429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 2016 Cengage Learning®. May not be scanned, copied or duplicated, or posted to a publicly accessible website, in whole or in part.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4800600"/>
            <a:ext cx="1676400" cy="342900"/>
          </a:xfrm>
        </p:spPr>
        <p:txBody>
          <a:bodyPr>
            <a:normAutofit/>
          </a:bodyPr>
          <a:lstStyle>
            <a:lvl1pPr>
              <a:buNone/>
              <a:defRPr sz="900"/>
            </a:lvl1pPr>
          </a:lstStyle>
          <a:p>
            <a:pPr lvl="0"/>
            <a:r>
              <a:rPr lang="en-US" dirty="0"/>
              <a:t>Page 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8534400" y="4686300"/>
            <a:ext cx="609600" cy="457200"/>
          </a:xfrm>
          <a:prstGeom prst="rect">
            <a:avLst/>
          </a:prstGeom>
          <a:solidFill>
            <a:srgbClr val="DB7531"/>
          </a:solidFill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4400" y="4686300"/>
            <a:ext cx="6096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rgbClr val="EEEBCA"/>
                </a:solidFill>
              </a:defRPr>
            </a:lvl1pPr>
          </a:lstStyle>
          <a:p>
            <a:fld id="{E1920792-1FFE-4123-96E7-9B6DC9FF0B0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6604456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00150"/>
            <a:ext cx="8839200" cy="34861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4743450"/>
            <a:ext cx="3810000" cy="3429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 2016 Cengage Learning®. May not be scanned, copied or duplicated, or posted to a publicly accessible website, in whole or in part.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4800600"/>
            <a:ext cx="1676400" cy="342900"/>
          </a:xfrm>
        </p:spPr>
        <p:txBody>
          <a:bodyPr>
            <a:normAutofit/>
          </a:bodyPr>
          <a:lstStyle>
            <a:lvl1pPr>
              <a:buNone/>
              <a:defRPr sz="900"/>
            </a:lvl1pPr>
          </a:lstStyle>
          <a:p>
            <a:pPr lvl="0"/>
            <a:r>
              <a:rPr lang="en-US" dirty="0"/>
              <a:t>Page 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8534400" y="4686300"/>
            <a:ext cx="609600" cy="457200"/>
          </a:xfrm>
          <a:prstGeom prst="rect">
            <a:avLst/>
          </a:prstGeom>
          <a:solidFill>
            <a:srgbClr val="DB7531"/>
          </a:solidFill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4400" y="4686300"/>
            <a:ext cx="6096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rgbClr val="EEEBCA"/>
                </a:solidFill>
              </a:defRPr>
            </a:lvl1pPr>
          </a:lstStyle>
          <a:p>
            <a:fld id="{E1920792-1FFE-4123-96E7-9B6DC9FF0B0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6840105"/>
      </p:ext>
    </p:extLst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00150"/>
            <a:ext cx="8839200" cy="34861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4743450"/>
            <a:ext cx="3810000" cy="3429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 2016 Cengage Learning®. May not be scanned, copied or duplicated, or posted to a publicly accessible website, in whole or in part.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4800600"/>
            <a:ext cx="1676400" cy="342900"/>
          </a:xfrm>
        </p:spPr>
        <p:txBody>
          <a:bodyPr>
            <a:normAutofit/>
          </a:bodyPr>
          <a:lstStyle>
            <a:lvl1pPr>
              <a:buNone/>
              <a:defRPr sz="900"/>
            </a:lvl1pPr>
          </a:lstStyle>
          <a:p>
            <a:pPr lvl="0"/>
            <a:r>
              <a:rPr lang="en-US" dirty="0"/>
              <a:t>Page 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8534400" y="4686300"/>
            <a:ext cx="609600" cy="457200"/>
          </a:xfrm>
          <a:prstGeom prst="rect">
            <a:avLst/>
          </a:prstGeom>
          <a:solidFill>
            <a:srgbClr val="DB7531"/>
          </a:solidFill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4400" y="4686300"/>
            <a:ext cx="6096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rgbClr val="EEEBCA"/>
                </a:solidFill>
              </a:defRPr>
            </a:lvl1pPr>
          </a:lstStyle>
          <a:p>
            <a:fld id="{E1920792-1FFE-4123-96E7-9B6DC9FF0B0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44179"/>
      </p:ext>
    </p:extLst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00150"/>
            <a:ext cx="8839200" cy="34861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4743450"/>
            <a:ext cx="3810000" cy="3429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 2016 Cengage Learning®. May not be scanned, copied or duplicated, or posted to a publicly accessible website, in whole or in part.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4800600"/>
            <a:ext cx="1676400" cy="342900"/>
          </a:xfrm>
        </p:spPr>
        <p:txBody>
          <a:bodyPr>
            <a:normAutofit/>
          </a:bodyPr>
          <a:lstStyle>
            <a:lvl1pPr>
              <a:buNone/>
              <a:defRPr sz="900"/>
            </a:lvl1pPr>
          </a:lstStyle>
          <a:p>
            <a:pPr lvl="0"/>
            <a:r>
              <a:rPr lang="en-US" dirty="0"/>
              <a:t>Page 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8534400" y="4686300"/>
            <a:ext cx="609600" cy="457200"/>
          </a:xfrm>
          <a:prstGeom prst="rect">
            <a:avLst/>
          </a:prstGeom>
          <a:solidFill>
            <a:srgbClr val="DB7531"/>
          </a:solidFill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4400" y="4686300"/>
            <a:ext cx="6096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rgbClr val="EEEBCA"/>
                </a:solidFill>
              </a:defRPr>
            </a:lvl1pPr>
          </a:lstStyle>
          <a:p>
            <a:fld id="{E1920792-1FFE-4123-96E7-9B6DC9FF0B0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7705551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00150"/>
            <a:ext cx="8839200" cy="34861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4743450"/>
            <a:ext cx="3810000" cy="3429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 2016 Cengage Learning®. May not be scanned, copied or duplicated, or posted to a publicly accessible website, in whole or in part.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4800600"/>
            <a:ext cx="1676400" cy="342900"/>
          </a:xfrm>
        </p:spPr>
        <p:txBody>
          <a:bodyPr>
            <a:normAutofit/>
          </a:bodyPr>
          <a:lstStyle>
            <a:lvl1pPr>
              <a:buNone/>
              <a:defRPr sz="900"/>
            </a:lvl1pPr>
          </a:lstStyle>
          <a:p>
            <a:pPr lvl="0"/>
            <a:r>
              <a:rPr lang="en-US" dirty="0"/>
              <a:t>Page 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8534400" y="4686300"/>
            <a:ext cx="609600" cy="457200"/>
          </a:xfrm>
          <a:prstGeom prst="rect">
            <a:avLst/>
          </a:prstGeom>
          <a:solidFill>
            <a:srgbClr val="DB7531"/>
          </a:solidFill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4400" y="4686300"/>
            <a:ext cx="6096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rgbClr val="EEEBCA"/>
                </a:solidFill>
              </a:defRPr>
            </a:lvl1pPr>
          </a:lstStyle>
          <a:p>
            <a:fld id="{E1920792-1FFE-4123-96E7-9B6DC9FF0B0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578416"/>
      </p:ext>
    </p:extLst>
  </p:cSld>
  <p:clrMapOvr>
    <a:masterClrMapping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00150"/>
            <a:ext cx="8839200" cy="34861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4743450"/>
            <a:ext cx="3810000" cy="3429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 2016 Cengage Learning®. May not be scanned, copied or duplicated, or posted to a publicly accessible website, in whole or in part.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4800600"/>
            <a:ext cx="1676400" cy="342900"/>
          </a:xfrm>
        </p:spPr>
        <p:txBody>
          <a:bodyPr>
            <a:normAutofit/>
          </a:bodyPr>
          <a:lstStyle>
            <a:lvl1pPr>
              <a:buNone/>
              <a:defRPr sz="900"/>
            </a:lvl1pPr>
          </a:lstStyle>
          <a:p>
            <a:pPr lvl="0"/>
            <a:r>
              <a:rPr lang="en-US" dirty="0"/>
              <a:t>Page 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8534400" y="4686300"/>
            <a:ext cx="609600" cy="457200"/>
          </a:xfrm>
          <a:prstGeom prst="rect">
            <a:avLst/>
          </a:prstGeom>
          <a:solidFill>
            <a:srgbClr val="DB7531"/>
          </a:solidFill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4400" y="4686300"/>
            <a:ext cx="6096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rgbClr val="EEEBCA"/>
                </a:solidFill>
              </a:defRPr>
            </a:lvl1pPr>
          </a:lstStyle>
          <a:p>
            <a:fld id="{E1920792-1FFE-4123-96E7-9B6DC9FF0B0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503854"/>
      </p:ext>
    </p:extLst>
  </p:cSld>
  <p:clrMapOvr>
    <a:masterClrMapping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743200" y="4800600"/>
            <a:ext cx="3810000" cy="3429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 2016 Cengage Learning®. May not be scanned, copied or duplicated, or posted to a publicly accessible website, in whole or in part.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4800600"/>
            <a:ext cx="1676400" cy="342900"/>
          </a:xfrm>
        </p:spPr>
        <p:txBody>
          <a:bodyPr>
            <a:normAutofit/>
          </a:bodyPr>
          <a:lstStyle>
            <a:lvl1pPr>
              <a:buNone/>
              <a:defRPr sz="900"/>
            </a:lvl1pPr>
          </a:lstStyle>
          <a:p>
            <a:pPr lvl="0"/>
            <a:r>
              <a:rPr lang="en-US" dirty="0"/>
              <a:t>Page 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8534400" y="4686300"/>
            <a:ext cx="609600" cy="457200"/>
          </a:xfrm>
          <a:prstGeom prst="rect">
            <a:avLst/>
          </a:prstGeom>
          <a:solidFill>
            <a:srgbClr val="DB7531"/>
          </a:solidFill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4400" y="4686300"/>
            <a:ext cx="6096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rgbClr val="EEEBCA"/>
                </a:solidFill>
              </a:defRPr>
            </a:lvl1pPr>
          </a:lstStyle>
          <a:p>
            <a:fld id="{E1920792-1FFE-4123-96E7-9B6DC9FF0B0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514667"/>
      </p:ext>
    </p:extLst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00150"/>
            <a:ext cx="8839200" cy="34861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4743450"/>
            <a:ext cx="3810000" cy="3429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 2016 Cengage Learning®. May not be scanned, copied or duplicated, or posted to a publicly accessible website, in whole or in part.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4800600"/>
            <a:ext cx="1676400" cy="342900"/>
          </a:xfrm>
        </p:spPr>
        <p:txBody>
          <a:bodyPr>
            <a:normAutofit/>
          </a:bodyPr>
          <a:lstStyle>
            <a:lvl1pPr>
              <a:buNone/>
              <a:defRPr sz="900"/>
            </a:lvl1pPr>
          </a:lstStyle>
          <a:p>
            <a:pPr lvl="0"/>
            <a:r>
              <a:rPr lang="en-US" dirty="0"/>
              <a:t>Page 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8534400" y="4686300"/>
            <a:ext cx="609600" cy="457200"/>
          </a:xfrm>
          <a:prstGeom prst="rect">
            <a:avLst/>
          </a:prstGeom>
          <a:solidFill>
            <a:srgbClr val="DB7531"/>
          </a:solidFill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4400" y="4686300"/>
            <a:ext cx="6096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rgbClr val="EEEBCA"/>
                </a:solidFill>
              </a:defRPr>
            </a:lvl1pPr>
          </a:lstStyle>
          <a:p>
            <a:fld id="{E1920792-1FFE-4123-96E7-9B6DC9FF0B0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1449316"/>
      </p:ext>
    </p:extLst>
  </p:cSld>
  <p:clrMapOvr>
    <a:masterClrMapping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00150"/>
            <a:ext cx="8839200" cy="34861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4743450"/>
            <a:ext cx="3810000" cy="3429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 2016 Cengage Learning®. May not be scanned, copied or duplicated, or posted to a publicly accessible website, in whole or in part.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4800600"/>
            <a:ext cx="1676400" cy="342900"/>
          </a:xfrm>
        </p:spPr>
        <p:txBody>
          <a:bodyPr>
            <a:normAutofit/>
          </a:bodyPr>
          <a:lstStyle>
            <a:lvl1pPr>
              <a:buNone/>
              <a:defRPr sz="900"/>
            </a:lvl1pPr>
          </a:lstStyle>
          <a:p>
            <a:pPr lvl="0"/>
            <a:r>
              <a:rPr lang="en-US" dirty="0"/>
              <a:t>Page 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8534400" y="4686300"/>
            <a:ext cx="609600" cy="457200"/>
          </a:xfrm>
          <a:prstGeom prst="rect">
            <a:avLst/>
          </a:prstGeom>
          <a:solidFill>
            <a:srgbClr val="DB7531"/>
          </a:solidFill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4400" y="4686300"/>
            <a:ext cx="6096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rgbClr val="EEEBCA"/>
                </a:solidFill>
              </a:defRPr>
            </a:lvl1pPr>
          </a:lstStyle>
          <a:p>
            <a:fld id="{E1920792-1FFE-4123-96E7-9B6DC9FF0B0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48973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26" Type="http://schemas.openxmlformats.org/officeDocument/2006/relationships/slideLayout" Target="../slideLayouts/slideLayout38.xml"/><Relationship Id="rId3" Type="http://schemas.openxmlformats.org/officeDocument/2006/relationships/slideLayout" Target="../slideLayouts/slideLayout15.xml"/><Relationship Id="rId21" Type="http://schemas.openxmlformats.org/officeDocument/2006/relationships/slideLayout" Target="../slideLayouts/slideLayout33.xml"/><Relationship Id="rId34" Type="http://schemas.openxmlformats.org/officeDocument/2006/relationships/theme" Target="../theme/theme2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7.xml"/><Relationship Id="rId33" Type="http://schemas.openxmlformats.org/officeDocument/2006/relationships/slideLayout" Target="../slideLayouts/slideLayout45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32.xml"/><Relationship Id="rId29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36.xml"/><Relationship Id="rId32" Type="http://schemas.openxmlformats.org/officeDocument/2006/relationships/slideLayout" Target="../slideLayouts/slideLayout44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35.xml"/><Relationship Id="rId28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31" Type="http://schemas.openxmlformats.org/officeDocument/2006/relationships/slideLayout" Target="../slideLayouts/slideLayout43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34.xml"/><Relationship Id="rId27" Type="http://schemas.openxmlformats.org/officeDocument/2006/relationships/slideLayout" Target="../slideLayouts/slideLayout39.xml"/><Relationship Id="rId30" Type="http://schemas.openxmlformats.org/officeDocument/2006/relationships/slideLayout" Target="../slideLayouts/slideLayout42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E0CE0C-93D4-4F63-B6AA-3469A4BA3CF4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B5F32F-E84B-4BBA-9118-EFFC0CDCC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524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8" r:id="rId27"/>
    <p:sldLayoutId id="2147483689" r:id="rId28"/>
    <p:sldLayoutId id="2147483690" r:id="rId29"/>
    <p:sldLayoutId id="2147483691" r:id="rId30"/>
    <p:sldLayoutId id="2147483692" r:id="rId31"/>
    <p:sldLayoutId id="2147483693" r:id="rId32"/>
    <p:sldLayoutId id="2147483694" r:id="rId33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777000" y="1142835"/>
            <a:ext cx="7590000" cy="1751700"/>
          </a:xfrm>
          <a:prstGeom prst="rect">
            <a:avLst/>
          </a:prstGeom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900" dirty="0">
                <a:solidFill>
                  <a:schemeClr val="accent5"/>
                </a:solidFill>
                <a:latin typeface="Lato Light"/>
                <a:ea typeface="Lato Light"/>
                <a:cs typeface="Lato Light"/>
                <a:sym typeface="Lato Light"/>
              </a:rPr>
              <a:t>CS 2009</a:t>
            </a:r>
            <a:br>
              <a:rPr lang="en" dirty="0">
                <a:solidFill>
                  <a:schemeClr val="accent5"/>
                </a:solidFill>
                <a:latin typeface="Lato Light"/>
                <a:ea typeface="Lato Light"/>
                <a:cs typeface="Lato Light"/>
                <a:sym typeface="Lato Light"/>
              </a:rPr>
            </a:br>
            <a:r>
              <a:rPr lang="en" sz="4000" dirty="0">
                <a:solidFill>
                  <a:schemeClr val="accent5"/>
                </a:solidFill>
                <a:latin typeface="Lato Light"/>
                <a:ea typeface="Lato Light"/>
                <a:cs typeface="Lato Light"/>
                <a:sym typeface="Lato Light"/>
              </a:rPr>
              <a:t>Design and Analysis of Algorithms</a:t>
            </a:r>
            <a:endParaRPr sz="4000" dirty="0">
              <a:solidFill>
                <a:srgbClr val="4C1130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311700" y="3044710"/>
            <a:ext cx="8520600" cy="1553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i="1" dirty="0">
                <a:latin typeface="Assistant ExtraLight"/>
                <a:ea typeface="Assistant ExtraLight"/>
                <a:cs typeface="Assistant ExtraLight"/>
                <a:sym typeface="Assistant ExtraLight"/>
              </a:rPr>
              <a:t>Zohaib Ali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i="1" dirty="0">
                <a:latin typeface="Assistant ExtraLight"/>
                <a:ea typeface="Assistant ExtraLight"/>
                <a:cs typeface="Assistant ExtraLight"/>
                <a:sym typeface="Assistant ExtraLight"/>
              </a:rPr>
              <a:t>Email : zohaibali.cs@tuf.edu.pk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i="1" dirty="0">
              <a:latin typeface="Assistant ExtraLight"/>
              <a:ea typeface="Assistant ExtraLight"/>
              <a:cs typeface="Assistant ExtraLight"/>
              <a:sym typeface="Assistant Extra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body" idx="1"/>
          </p:nvPr>
        </p:nvSpPr>
        <p:spPr>
          <a:xfrm>
            <a:off x="311700" y="364000"/>
            <a:ext cx="8520600" cy="420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400" b="1" dirty="0">
                <a:solidFill>
                  <a:schemeClr val="accent5"/>
                </a:solidFill>
              </a:rPr>
              <a:t>Lecture 1: </a:t>
            </a:r>
            <a:r>
              <a:rPr lang="en" sz="4000" dirty="0">
                <a:solidFill>
                  <a:schemeClr val="accent5"/>
                </a:solidFill>
                <a:latin typeface="Lato Light"/>
                <a:ea typeface="Lato Light"/>
                <a:cs typeface="Lato Light"/>
                <a:sym typeface="Lato Light"/>
              </a:rPr>
              <a:t> </a:t>
            </a:r>
            <a:r>
              <a:rPr lang="en" sz="2400" b="1" dirty="0">
                <a:solidFill>
                  <a:srgbClr val="EE2214"/>
                </a:solidFill>
              </a:rPr>
              <a:t> </a:t>
            </a:r>
            <a:br>
              <a:rPr lang="en" sz="2400" b="1" dirty="0">
                <a:solidFill>
                  <a:srgbClr val="EE2214"/>
                </a:solidFill>
              </a:rPr>
            </a:br>
            <a:r>
              <a:rPr lang="en" sz="2400" b="1" dirty="0">
                <a:solidFill>
                  <a:schemeClr val="accent5"/>
                </a:solidFill>
              </a:rPr>
              <a:t>Introduction &amp; Course Overview</a:t>
            </a:r>
            <a:endParaRPr sz="30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 txBox="1">
            <a:spLocks noGrp="1"/>
          </p:cNvSpPr>
          <p:nvPr>
            <p:ph type="title"/>
          </p:nvPr>
        </p:nvSpPr>
        <p:spPr>
          <a:xfrm>
            <a:off x="1828800" y="465068"/>
            <a:ext cx="5036015" cy="74562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51427" tIns="25706" rIns="51427" bIns="25706" rtlCol="0" anchor="ctr" anchorCtr="0">
            <a:norm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SzPts val="4400"/>
            </a:pPr>
            <a:r>
              <a:rPr lang="en-GB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 Introduction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1427" tIns="25706" rIns="51427" bIns="25706" anchor="ctr" anchorCtr="0">
            <a:noAutofit/>
          </a:bodyPr>
          <a:lstStyle/>
          <a:p>
            <a:pPr algn="ctr" defTabSz="685800">
              <a:buClrTx/>
            </a:pPr>
            <a:endParaRPr sz="1013" kern="1200" dirty="0">
              <a:solidFill>
                <a:prstClr val="whit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1599329" y="1671499"/>
            <a:ext cx="6000750" cy="243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7" tIns="25706" rIns="51427" bIns="25706" anchor="t" anchorCtr="0">
            <a:noAutofit/>
          </a:bodyPr>
          <a:lstStyle/>
          <a:p>
            <a:pPr marL="257175" indent="-214313" defTabSz="685800">
              <a:buClr>
                <a:prstClr val="black"/>
              </a:buClr>
              <a:buSzPts val="2400"/>
              <a:buFont typeface="Times New Roman"/>
              <a:buChar char="●"/>
            </a:pPr>
            <a:endParaRPr sz="1013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505464-AD74-4F88-B687-A312413F0EC9}"/>
              </a:ext>
            </a:extLst>
          </p:cNvPr>
          <p:cNvSpPr txBox="1"/>
          <p:nvPr/>
        </p:nvSpPr>
        <p:spPr>
          <a:xfrm>
            <a:off x="628651" y="1714500"/>
            <a:ext cx="7829549" cy="28674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6700" indent="-257175" defTabSz="685800">
              <a:spcBef>
                <a:spcPts val="506"/>
              </a:spcBef>
              <a:buClrTx/>
              <a:buFont typeface="Wingdings" panose="05000000000000000000" pitchFamily="2" charset="2"/>
              <a:buChar char="Ø"/>
              <a:tabLst>
                <a:tab pos="180975" algn="l"/>
              </a:tabLst>
            </a:pPr>
            <a:r>
              <a:rPr lang="en-US" sz="1800" b="1" kern="1200" dirty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Zohaib Ali</a:t>
            </a:r>
          </a:p>
          <a:p>
            <a:pPr marL="609600" lvl="1" indent="-257175" defTabSz="685800">
              <a:spcBef>
                <a:spcPts val="506"/>
              </a:spcBef>
              <a:buClrTx/>
              <a:buFont typeface="Wingdings" panose="05000000000000000000" pitchFamily="2" charset="2"/>
              <a:buChar char="§"/>
              <a:tabLst>
                <a:tab pos="180975" algn="l"/>
              </a:tabLst>
            </a:pPr>
            <a:r>
              <a:rPr lang="en-US" sz="1500" b="1" kern="1200" dirty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Lecturer in DCS, TUF</a:t>
            </a:r>
          </a:p>
          <a:p>
            <a:pPr marL="266700" indent="-257175" defTabSz="685800">
              <a:spcBef>
                <a:spcPts val="506"/>
              </a:spcBef>
              <a:buClrTx/>
              <a:buFont typeface="Wingdings" panose="05000000000000000000" pitchFamily="2" charset="2"/>
              <a:buChar char="Ø"/>
              <a:tabLst>
                <a:tab pos="180975" algn="l"/>
              </a:tabLst>
            </a:pPr>
            <a:r>
              <a:rPr lang="en-US" sz="1800" b="1" kern="1200" dirty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Education</a:t>
            </a:r>
          </a:p>
          <a:p>
            <a:pPr marL="609600" lvl="1" indent="-257175" defTabSz="685800">
              <a:spcBef>
                <a:spcPts val="506"/>
              </a:spcBef>
              <a:buClrTx/>
              <a:buFont typeface="Wingdings" panose="05000000000000000000" pitchFamily="2" charset="2"/>
              <a:buChar char="§"/>
              <a:tabLst>
                <a:tab pos="180975" algn="l"/>
              </a:tabLst>
            </a:pPr>
            <a:r>
              <a:rPr lang="en-US" sz="1500" b="1" kern="1200" dirty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MSCS form the FAST-NUCES</a:t>
            </a:r>
          </a:p>
          <a:p>
            <a:pPr marL="266700" indent="-257175" defTabSz="685800">
              <a:spcBef>
                <a:spcPts val="506"/>
              </a:spcBef>
              <a:buClrTx/>
              <a:buFont typeface="Wingdings" panose="05000000000000000000" pitchFamily="2" charset="2"/>
              <a:buChar char="Ø"/>
              <a:tabLst>
                <a:tab pos="180975" algn="l"/>
              </a:tabLst>
            </a:pPr>
            <a:r>
              <a:rPr lang="en-US" sz="1800" b="1" kern="1200" dirty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Experience</a:t>
            </a:r>
          </a:p>
          <a:p>
            <a:pPr marL="609600" lvl="1" indent="-257175" defTabSz="685800">
              <a:spcBef>
                <a:spcPts val="506"/>
              </a:spcBef>
              <a:buClrTx/>
              <a:buFont typeface="Wingdings" panose="05000000000000000000" pitchFamily="2" charset="2"/>
              <a:buChar char="§"/>
              <a:tabLst>
                <a:tab pos="180975" algn="l"/>
              </a:tabLst>
            </a:pPr>
            <a:r>
              <a:rPr lang="en-US" sz="1500" b="1" kern="1200" dirty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Research Associate at Fast-NUCES</a:t>
            </a:r>
          </a:p>
          <a:p>
            <a:pPr marL="609600" lvl="1" indent="-257175" defTabSz="685800">
              <a:spcBef>
                <a:spcPts val="506"/>
              </a:spcBef>
              <a:buClrTx/>
              <a:buFont typeface="Wingdings" panose="05000000000000000000" pitchFamily="2" charset="2"/>
              <a:buChar char="§"/>
              <a:tabLst>
                <a:tab pos="180975" algn="l"/>
              </a:tabLst>
            </a:pPr>
            <a:r>
              <a:rPr lang="en-US" sz="1500" b="1" kern="1200" dirty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Web Developer</a:t>
            </a:r>
          </a:p>
          <a:p>
            <a:pPr marL="352425" lvl="1" defTabSz="685800">
              <a:spcBef>
                <a:spcPts val="506"/>
              </a:spcBef>
              <a:buClrTx/>
              <a:tabLst>
                <a:tab pos="180975" algn="l"/>
              </a:tabLst>
            </a:pPr>
            <a:endParaRPr lang="en-US" sz="1500" b="1" kern="1200" dirty="0">
              <a:solidFill>
                <a:prstClr val="black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66700" indent="-257175" defTabSz="685800">
              <a:spcBef>
                <a:spcPts val="506"/>
              </a:spcBef>
              <a:buClr>
                <a:srgbClr val="FF0000"/>
              </a:buClr>
              <a:buFont typeface="Wingdings" panose="05000000000000000000" pitchFamily="2" charset="2"/>
              <a:buChar char="Ø"/>
              <a:tabLst>
                <a:tab pos="180975" algn="l"/>
              </a:tabLst>
            </a:pPr>
            <a:endParaRPr lang="en-US" sz="1800" b="1" kern="1200" dirty="0">
              <a:solidFill>
                <a:prstClr val="black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E1148E-BC71-49D7-A13A-73152759C4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685800">
              <a:buClrTx/>
            </a:pPr>
            <a:fld id="{00000000-1234-1234-1234-123412341234}" type="slidenum">
              <a:rPr lang="en-US" kern="1200">
                <a:solidFill>
                  <a:prstClr val="black">
                    <a:tint val="75000"/>
                  </a:prstClr>
                </a:solidFill>
                <a:latin typeface="Calibri"/>
                <a:ea typeface="+mn-ea"/>
                <a:cs typeface="+mn-cs"/>
              </a:rPr>
              <a:pPr defTabSz="685800">
                <a:buClrTx/>
              </a:pPr>
              <a:t>3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E5C8AB-EC7A-448D-B5E9-57F30D0F20C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8" r="4249"/>
          <a:stretch/>
        </p:blipFill>
        <p:spPr>
          <a:xfrm>
            <a:off x="4615651" y="1535309"/>
            <a:ext cx="3963857" cy="287001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47271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 txBox="1">
            <a:spLocks noGrp="1"/>
          </p:cNvSpPr>
          <p:nvPr>
            <p:ph type="title"/>
          </p:nvPr>
        </p:nvSpPr>
        <p:spPr>
          <a:xfrm>
            <a:off x="1828800" y="465068"/>
            <a:ext cx="5036015" cy="74562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51427" tIns="25706" rIns="51427" bIns="25706" rtlCol="0" anchor="ctr" anchorCtr="0">
            <a:norm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SzPts val="4400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Plan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1427" tIns="25706" rIns="51427" bIns="25706" anchor="ctr" anchorCtr="0">
            <a:noAutofit/>
          </a:bodyPr>
          <a:lstStyle/>
          <a:p>
            <a:pPr algn="ctr"/>
            <a:endParaRPr sz="1013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1599329" y="1671499"/>
            <a:ext cx="6000750" cy="243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7" tIns="25706" rIns="51427" bIns="25706" anchor="t" anchorCtr="0">
            <a:noAutofit/>
          </a:bodyPr>
          <a:lstStyle/>
          <a:p>
            <a:pPr marL="257175" indent="-214313">
              <a:buClr>
                <a:schemeClr val="dk1"/>
              </a:buClr>
              <a:buSzPts val="2400"/>
              <a:buFont typeface="Times New Roman"/>
              <a:buChar char="●"/>
            </a:pPr>
            <a:endParaRPr sz="1013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505464-AD74-4F88-B687-A312413F0EC9}"/>
              </a:ext>
            </a:extLst>
          </p:cNvPr>
          <p:cNvSpPr txBox="1"/>
          <p:nvPr/>
        </p:nvSpPr>
        <p:spPr>
          <a:xfrm>
            <a:off x="657226" y="1704650"/>
            <a:ext cx="7829549" cy="664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2425" lvl="1">
              <a:spcBef>
                <a:spcPts val="506"/>
              </a:spcBef>
              <a:tabLst>
                <a:tab pos="180975" algn="l"/>
              </a:tabLst>
            </a:pPr>
            <a:endParaRPr 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6700" indent="-257175">
              <a:spcBef>
                <a:spcPts val="506"/>
              </a:spcBef>
              <a:buClr>
                <a:srgbClr val="FF0000"/>
              </a:buClr>
              <a:buFont typeface="Wingdings" panose="05000000000000000000" pitchFamily="2" charset="2"/>
              <a:buChar char="Ø"/>
              <a:tabLst>
                <a:tab pos="180975" algn="l"/>
              </a:tabLst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E1148E-BC71-49D7-A13A-73152759C4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4</a:t>
            </a:fld>
            <a:endParaRPr lang="en-US"/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FC62A576-D94D-474E-A1D3-5300D37BD673}"/>
              </a:ext>
            </a:extLst>
          </p:cNvPr>
          <p:cNvGraphicFramePr>
            <a:graphicFrameLocks noGrp="1"/>
          </p:cNvGraphicFramePr>
          <p:nvPr/>
        </p:nvGraphicFramePr>
        <p:xfrm>
          <a:off x="1313952" y="1671499"/>
          <a:ext cx="3257550" cy="2331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14549">
                  <a:extLst>
                    <a:ext uri="{9D8B030D-6E8A-4147-A177-3AD203B41FA5}">
                      <a16:colId xmlns:a16="http://schemas.microsoft.com/office/drawing/2014/main" val="1649475729"/>
                    </a:ext>
                  </a:extLst>
                </a:gridCol>
                <a:gridCol w="1143001">
                  <a:extLst>
                    <a:ext uri="{9D8B030D-6E8A-4147-A177-3AD203B41FA5}">
                      <a16:colId xmlns:a16="http://schemas.microsoft.com/office/drawing/2014/main" val="2326579152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r>
                        <a:rPr lang="en-US" sz="2100" b="1" dirty="0"/>
                        <a:t>Evaluation Type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2100" b="1" dirty="0"/>
                        <a:t>Points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12111329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lang="en-US" sz="2100" b="0" kern="1200" dirty="0">
                          <a:solidFill>
                            <a:schemeClr val="dk1"/>
                          </a:solidFill>
                          <a:effectLst/>
                        </a:rPr>
                        <a:t>Quiz </a:t>
                      </a:r>
                      <a:endParaRPr lang="en-US" sz="2100" b="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2100" b="0" dirty="0"/>
                        <a:t>10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34944578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lang="en-US" sz="2100" b="0" kern="1200" dirty="0">
                          <a:solidFill>
                            <a:schemeClr val="dk1"/>
                          </a:solidFill>
                          <a:effectLst/>
                        </a:rPr>
                        <a:t>Assignment </a:t>
                      </a:r>
                      <a:endParaRPr lang="en-US" sz="2100" b="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2100" b="0" dirty="0"/>
                        <a:t>15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490927435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lang="en-US" sz="2100" b="0" dirty="0"/>
                        <a:t>MID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2100" b="0" dirty="0"/>
                        <a:t>25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8064807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lang="en-US" sz="2100" b="0" dirty="0"/>
                        <a:t>Presentation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2100" b="0" dirty="0"/>
                        <a:t>10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46453721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lang="en-US" sz="2100" b="0" dirty="0"/>
                        <a:t>Final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2100" b="0" dirty="0"/>
                        <a:t>40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119990302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19F29F80-53FD-4E27-899B-6276342510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7084" y="1035251"/>
            <a:ext cx="2429762" cy="3721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7592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1427" tIns="25706" rIns="51427" bIns="25706" anchor="ctr" anchorCtr="0">
            <a:noAutofit/>
          </a:bodyPr>
          <a:lstStyle/>
          <a:p>
            <a:pPr algn="ctr"/>
            <a:endParaRPr sz="1013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1599329" y="1671499"/>
            <a:ext cx="6000750" cy="243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7" tIns="25706" rIns="51427" bIns="25706" anchor="t" anchorCtr="0">
            <a:noAutofit/>
          </a:bodyPr>
          <a:lstStyle/>
          <a:p>
            <a:pPr marL="257175" indent="-214313">
              <a:buClr>
                <a:schemeClr val="dk1"/>
              </a:buClr>
              <a:buSzPts val="2400"/>
              <a:buFont typeface="Times New Roman"/>
              <a:buChar char="●"/>
            </a:pPr>
            <a:endParaRPr sz="1013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505464-AD74-4F88-B687-A312413F0EC9}"/>
              </a:ext>
            </a:extLst>
          </p:cNvPr>
          <p:cNvSpPr txBox="1"/>
          <p:nvPr/>
        </p:nvSpPr>
        <p:spPr>
          <a:xfrm>
            <a:off x="657226" y="1704650"/>
            <a:ext cx="7829549" cy="2351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09600" lvl="1" indent="-257175">
              <a:spcBef>
                <a:spcPts val="506"/>
              </a:spcBef>
              <a:buFont typeface="Wingdings" panose="05000000000000000000" pitchFamily="2" charset="2"/>
              <a:buChar char="§"/>
              <a:tabLst>
                <a:tab pos="180975" algn="l"/>
              </a:tabLs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Raise your hand before asking any question and then WAIT for the permission.</a:t>
            </a:r>
          </a:p>
          <a:p>
            <a:pPr marL="609600" lvl="1" indent="-257175">
              <a:spcBef>
                <a:spcPts val="506"/>
              </a:spcBef>
              <a:buFont typeface="Wingdings" panose="05000000000000000000" pitchFamily="2" charset="2"/>
              <a:buChar char="§"/>
              <a:tabLst>
                <a:tab pos="180975" algn="l"/>
              </a:tabLst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Please don’t miss a class.</a:t>
            </a:r>
          </a:p>
          <a:p>
            <a:pPr marL="609600" lvl="1" indent="-257175">
              <a:spcBef>
                <a:spcPts val="506"/>
              </a:spcBef>
              <a:buFont typeface="Wingdings" panose="05000000000000000000" pitchFamily="2" charset="2"/>
              <a:buChar char="§"/>
              <a:tabLst>
                <a:tab pos="180975" algn="l"/>
              </a:tabLs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Please don’t use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phones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class.</a:t>
            </a:r>
          </a:p>
          <a:p>
            <a:pPr marL="609600" lvl="1" indent="-257175">
              <a:spcBef>
                <a:spcPts val="506"/>
              </a:spcBef>
              <a:buFont typeface="Wingdings" panose="05000000000000000000" pitchFamily="2" charset="2"/>
              <a:buChar char="§"/>
              <a:tabLst>
                <a:tab pos="180975" algn="l"/>
              </a:tabLs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Plagiarism in research work is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allowed.</a:t>
            </a:r>
          </a:p>
          <a:p>
            <a:pPr marL="609600" lvl="1" indent="-257175">
              <a:spcBef>
                <a:spcPts val="506"/>
              </a:spcBef>
              <a:buFont typeface="Wingdings" panose="05000000000000000000" pitchFamily="2" charset="2"/>
              <a:buChar char="§"/>
              <a:tabLst>
                <a:tab pos="180975" algn="l"/>
              </a:tabLs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Makeup Quiz OR Assignments will be given.</a:t>
            </a:r>
          </a:p>
          <a:p>
            <a:pPr marL="609600" lvl="1" indent="-257175">
              <a:spcBef>
                <a:spcPts val="506"/>
              </a:spcBef>
              <a:buFont typeface="Wingdings" panose="05000000000000000000" pitchFamily="2" charset="2"/>
              <a:buChar char="§"/>
              <a:tabLst>
                <a:tab pos="180975" algn="l"/>
              </a:tabLs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exam will be selective comprehensive.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E1148E-BC71-49D7-A13A-73152759C4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5" name="Google Shape;139;p17">
            <a:extLst>
              <a:ext uri="{FF2B5EF4-FFF2-40B4-BE49-F238E27FC236}">
                <a16:creationId xmlns:a16="http://schemas.microsoft.com/office/drawing/2014/main" id="{0D8C4F30-16C6-4EC7-8F33-94829B960C23}"/>
              </a:ext>
            </a:extLst>
          </p:cNvPr>
          <p:cNvSpPr txBox="1">
            <a:spLocks/>
          </p:cNvSpPr>
          <p:nvPr/>
        </p:nvSpPr>
        <p:spPr>
          <a:xfrm>
            <a:off x="1828800" y="465068"/>
            <a:ext cx="5036015" cy="74562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51427" tIns="25706" rIns="51427" bIns="25706" rtlCol="0" anchor="ctr" anchorCtr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SzPts val="4400"/>
            </a:pPr>
            <a:r>
              <a:rPr lang="en-GB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Guidelines</a:t>
            </a:r>
            <a:endParaRPr lang="en-GB" sz="3300" dirty="0"/>
          </a:p>
        </p:txBody>
      </p:sp>
    </p:spTree>
    <p:extLst>
      <p:ext uri="{BB962C8B-B14F-4D97-AF65-F5344CB8AC3E}">
        <p14:creationId xmlns:p14="http://schemas.microsoft.com/office/powerpoint/2010/main" val="11483563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Text &amp; Reference Books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Required Textbook</a:t>
            </a:r>
          </a:p>
          <a:p>
            <a:pPr lvl="1"/>
            <a:r>
              <a:rPr lang="en-US" sz="1800" dirty="0"/>
              <a:t>Thomas H. </a:t>
            </a:r>
            <a:r>
              <a:rPr lang="en-US" sz="1800" dirty="0" err="1"/>
              <a:t>Cormen</a:t>
            </a:r>
            <a:r>
              <a:rPr lang="en-US" sz="1800" dirty="0"/>
              <a:t> “Introduction to Algorithms</a:t>
            </a:r>
            <a:r>
              <a:rPr lang="en-US" sz="1800"/>
              <a:t>” 3rd </a:t>
            </a:r>
            <a:r>
              <a:rPr lang="en-US" sz="1800" dirty="0"/>
              <a:t>Edition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Reference Books</a:t>
            </a:r>
          </a:p>
          <a:p>
            <a:r>
              <a:rPr lang="en-US" dirty="0" err="1"/>
              <a:t>Anany</a:t>
            </a:r>
            <a:r>
              <a:rPr lang="en-US" dirty="0"/>
              <a:t> </a:t>
            </a:r>
            <a:r>
              <a:rPr lang="en-US" dirty="0" err="1"/>
              <a:t>Levitin</a:t>
            </a:r>
            <a:r>
              <a:rPr lang="en-US" dirty="0"/>
              <a:t> “Introduction to the Design and Analysis of Algorithms” 3rd edition</a:t>
            </a:r>
          </a:p>
          <a:p>
            <a:r>
              <a:rPr lang="en-US" dirty="0"/>
              <a:t>Jon Kleinberg and </a:t>
            </a:r>
            <a:r>
              <a:rPr lang="en-US" dirty="0" err="1"/>
              <a:t>Éva</a:t>
            </a:r>
            <a:r>
              <a:rPr lang="en-US" dirty="0"/>
              <a:t> </a:t>
            </a:r>
            <a:r>
              <a:rPr lang="en-US" dirty="0" err="1"/>
              <a:t>Tardos</a:t>
            </a:r>
            <a:r>
              <a:rPr lang="en-US" dirty="0"/>
              <a:t> “Algorithm Design”</a:t>
            </a:r>
          </a:p>
          <a:p>
            <a:r>
              <a:rPr lang="en-US" dirty="0" err="1"/>
              <a:t>Sanjoy</a:t>
            </a:r>
            <a:r>
              <a:rPr lang="en-US" dirty="0"/>
              <a:t> </a:t>
            </a:r>
            <a:r>
              <a:rPr lang="en-US" dirty="0" err="1"/>
              <a:t>Dasgupta</a:t>
            </a:r>
            <a:r>
              <a:rPr lang="en-US" dirty="0"/>
              <a:t> et al. “Algorithms”</a:t>
            </a:r>
          </a:p>
          <a:p>
            <a:r>
              <a:rPr lang="en-US" dirty="0"/>
              <a:t>Steven S. </a:t>
            </a:r>
            <a:r>
              <a:rPr lang="en-US" dirty="0" err="1"/>
              <a:t>Skiena</a:t>
            </a:r>
            <a:r>
              <a:rPr lang="en-US" dirty="0"/>
              <a:t> “The Algorithm Design Manual”</a:t>
            </a:r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6775" y="272018"/>
            <a:ext cx="6390450" cy="453329"/>
          </a:xfrm>
          <a:prstGeom prst="rect">
            <a:avLst/>
          </a:prstGeom>
        </p:spPr>
        <p:txBody>
          <a:bodyPr spcFirstLastPara="1" vert="horz" wrap="square" lIns="0" tIns="9525" rIns="0" bIns="0" rtlCol="0" anchor="t" anchorCtr="0">
            <a:spAutoFit/>
          </a:bodyPr>
          <a:lstStyle/>
          <a:p>
            <a:pPr marL="9525" algn="ctr">
              <a:spcBef>
                <a:spcPts val="75"/>
              </a:spcBef>
            </a:pPr>
            <a:r>
              <a:rPr dirty="0"/>
              <a:t>Course</a:t>
            </a:r>
            <a:r>
              <a:rPr spc="-75" dirty="0"/>
              <a:t> </a:t>
            </a:r>
            <a:r>
              <a:rPr spc="-8" dirty="0"/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1276" y="787098"/>
            <a:ext cx="8501448" cy="4298452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266224" marR="4763" indent="-257175" algn="just">
              <a:spcBef>
                <a:spcPts val="79"/>
              </a:spcBef>
              <a:buFont typeface="Wingdings"/>
              <a:buChar char=""/>
              <a:tabLst>
                <a:tab pos="266224" algn="l"/>
              </a:tabLst>
            </a:pPr>
            <a:r>
              <a:rPr sz="1800" dirty="0">
                <a:latin typeface="Arial MT"/>
                <a:cs typeface="Arial MT"/>
              </a:rPr>
              <a:t>This</a:t>
            </a:r>
            <a:r>
              <a:rPr sz="1800" spc="-4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course</a:t>
            </a:r>
            <a:r>
              <a:rPr sz="1800" spc="-8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introduces</a:t>
            </a:r>
            <a:r>
              <a:rPr sz="1800" spc="-11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students  to</a:t>
            </a:r>
            <a:r>
              <a:rPr sz="1800" spc="-4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4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analysis</a:t>
            </a:r>
            <a:r>
              <a:rPr sz="1800" spc="-4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4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design</a:t>
            </a:r>
            <a:r>
              <a:rPr sz="1800" spc="-8" dirty="0">
                <a:latin typeface="Arial MT"/>
                <a:cs typeface="Arial MT"/>
              </a:rPr>
              <a:t>  </a:t>
            </a:r>
            <a:r>
              <a:rPr sz="1800" spc="-19" dirty="0">
                <a:latin typeface="Arial MT"/>
                <a:cs typeface="Arial MT"/>
              </a:rPr>
              <a:t>of </a:t>
            </a:r>
            <a:r>
              <a:rPr sz="1800" dirty="0">
                <a:latin typeface="Arial MT"/>
                <a:cs typeface="Arial MT"/>
              </a:rPr>
              <a:t>computer</a:t>
            </a:r>
            <a:r>
              <a:rPr sz="1800" spc="26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algorithms.</a:t>
            </a:r>
            <a:r>
              <a:rPr sz="1800" spc="19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Upon</a:t>
            </a:r>
            <a:r>
              <a:rPr sz="1800" spc="23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completion</a:t>
            </a:r>
            <a:r>
              <a:rPr sz="1800" spc="26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26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this</a:t>
            </a:r>
            <a:r>
              <a:rPr sz="1800" spc="23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course,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students</a:t>
            </a:r>
            <a:r>
              <a:rPr sz="1800" spc="34" dirty="0">
                <a:latin typeface="Arial MT"/>
                <a:cs typeface="Arial MT"/>
              </a:rPr>
              <a:t> </a:t>
            </a:r>
            <a:r>
              <a:rPr sz="1800" spc="-15" dirty="0">
                <a:latin typeface="Arial MT"/>
                <a:cs typeface="Arial MT"/>
              </a:rPr>
              <a:t>will </a:t>
            </a:r>
            <a:r>
              <a:rPr sz="1800" dirty="0">
                <a:latin typeface="Arial MT"/>
                <a:cs typeface="Arial MT"/>
              </a:rPr>
              <a:t>be</a:t>
            </a:r>
            <a:r>
              <a:rPr sz="1800" spc="-23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able</a:t>
            </a:r>
            <a:r>
              <a:rPr sz="1800" spc="-8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19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do</a:t>
            </a:r>
            <a:r>
              <a:rPr sz="1800" spc="-19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9" dirty="0">
                <a:latin typeface="Arial MT"/>
                <a:cs typeface="Arial MT"/>
              </a:rPr>
              <a:t> </a:t>
            </a:r>
            <a:r>
              <a:rPr sz="1800" spc="-8" dirty="0">
                <a:latin typeface="Arial MT"/>
                <a:cs typeface="Arial MT"/>
              </a:rPr>
              <a:t>following:</a:t>
            </a:r>
            <a:endParaRPr sz="1800" dirty="0">
              <a:latin typeface="Arial MT"/>
              <a:cs typeface="Arial MT"/>
            </a:endParaRPr>
          </a:p>
          <a:p>
            <a:pPr marL="566738" lvl="1" indent="-256699" algn="just">
              <a:spcBef>
                <a:spcPts val="360"/>
              </a:spcBef>
              <a:buFont typeface="Wingdings"/>
              <a:buChar char=""/>
              <a:tabLst>
                <a:tab pos="566738" algn="l"/>
              </a:tabLst>
            </a:pPr>
            <a:r>
              <a:rPr sz="1800" dirty="0">
                <a:latin typeface="Arial MT"/>
                <a:cs typeface="Arial MT"/>
              </a:rPr>
              <a:t>Analyze</a:t>
            </a:r>
            <a:r>
              <a:rPr sz="1800" spc="-11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9" dirty="0">
                <a:latin typeface="Arial MT"/>
                <a:cs typeface="Arial MT"/>
              </a:rPr>
              <a:t> </a:t>
            </a:r>
            <a:r>
              <a:rPr sz="1800" i="1" dirty="0">
                <a:solidFill>
                  <a:srgbClr val="00AFEF"/>
                </a:solidFill>
              </a:rPr>
              <a:t>asymptotic</a:t>
            </a:r>
            <a:r>
              <a:rPr sz="1800" i="1" spc="-38" dirty="0">
                <a:solidFill>
                  <a:srgbClr val="00AFEF"/>
                </a:solidFill>
              </a:rPr>
              <a:t> </a:t>
            </a:r>
            <a:r>
              <a:rPr sz="1800" i="1" dirty="0">
                <a:solidFill>
                  <a:srgbClr val="00AFEF"/>
                </a:solidFill>
              </a:rPr>
              <a:t>performance</a:t>
            </a:r>
            <a:r>
              <a:rPr sz="1800" i="1" spc="-34" dirty="0">
                <a:solidFill>
                  <a:srgbClr val="00AFEF"/>
                </a:solidFill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26" dirty="0">
                <a:latin typeface="Arial MT"/>
                <a:cs typeface="Arial MT"/>
              </a:rPr>
              <a:t> </a:t>
            </a:r>
            <a:r>
              <a:rPr sz="1800" spc="-8" dirty="0">
                <a:latin typeface="Arial MT"/>
                <a:cs typeface="Arial MT"/>
              </a:rPr>
              <a:t>algorithms.</a:t>
            </a:r>
            <a:endParaRPr sz="1800" dirty="0">
              <a:latin typeface="Arial MT"/>
              <a:cs typeface="Arial MT"/>
            </a:endParaRPr>
          </a:p>
          <a:p>
            <a:pPr marL="910114" lvl="2" indent="-257175">
              <a:spcBef>
                <a:spcPts val="360"/>
              </a:spcBef>
              <a:buFont typeface="Wingdings"/>
              <a:buChar char=""/>
              <a:tabLst>
                <a:tab pos="910114" algn="l"/>
              </a:tabLst>
            </a:pPr>
            <a:r>
              <a:rPr sz="1800" spc="-8" dirty="0">
                <a:latin typeface="Arial MT"/>
                <a:cs typeface="Arial MT"/>
              </a:rPr>
              <a:t>Accuracy</a:t>
            </a:r>
            <a:endParaRPr sz="1800" dirty="0">
              <a:latin typeface="Arial MT"/>
              <a:cs typeface="Arial MT"/>
            </a:endParaRPr>
          </a:p>
          <a:p>
            <a:pPr marL="910114" lvl="2" indent="-257175">
              <a:spcBef>
                <a:spcPts val="360"/>
              </a:spcBef>
              <a:buFont typeface="Wingdings"/>
              <a:buChar char=""/>
              <a:tabLst>
                <a:tab pos="910114" algn="l"/>
              </a:tabLst>
            </a:pPr>
            <a:r>
              <a:rPr sz="1800" spc="-8" dirty="0">
                <a:latin typeface="Arial MT"/>
                <a:cs typeface="Arial MT"/>
              </a:rPr>
              <a:t>Efficiency</a:t>
            </a:r>
            <a:endParaRPr sz="1800" dirty="0">
              <a:latin typeface="Arial MT"/>
              <a:cs typeface="Arial MT"/>
            </a:endParaRPr>
          </a:p>
          <a:p>
            <a:pPr marL="910114" lvl="2" indent="-257175">
              <a:spcBef>
                <a:spcPts val="360"/>
              </a:spcBef>
              <a:buFont typeface="Wingdings"/>
              <a:buChar char=""/>
              <a:tabLst>
                <a:tab pos="910114" algn="l"/>
              </a:tabLst>
            </a:pPr>
            <a:r>
              <a:rPr sz="1800" dirty="0">
                <a:latin typeface="Arial MT"/>
                <a:cs typeface="Arial MT"/>
              </a:rPr>
              <a:t>Comparing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spc="-8" dirty="0">
                <a:latin typeface="Arial MT"/>
                <a:cs typeface="Arial MT"/>
              </a:rPr>
              <a:t>Efficiencies</a:t>
            </a:r>
            <a:endParaRPr sz="1800" dirty="0">
              <a:latin typeface="Arial MT"/>
              <a:cs typeface="Arial MT"/>
            </a:endParaRPr>
          </a:p>
          <a:p>
            <a:pPr marL="567214" marR="5239" lvl="1" indent="-257175">
              <a:spcBef>
                <a:spcPts val="360"/>
              </a:spcBef>
              <a:buFont typeface="Wingdings"/>
              <a:buChar char=""/>
              <a:tabLst>
                <a:tab pos="567214" algn="l"/>
                <a:tab pos="1794986" algn="l"/>
                <a:tab pos="2038350" algn="l"/>
                <a:tab pos="2981325" algn="l"/>
                <a:tab pos="3457099" algn="l"/>
                <a:tab pos="4070985" algn="l"/>
                <a:tab pos="5087303" algn="l"/>
                <a:tab pos="5543074" algn="l"/>
              </a:tabLst>
            </a:pPr>
            <a:r>
              <a:rPr sz="1800" i="1" spc="-8" dirty="0">
                <a:solidFill>
                  <a:srgbClr val="00AFEF"/>
                </a:solidFill>
              </a:rPr>
              <a:t>Demonstrate</a:t>
            </a:r>
            <a:r>
              <a:rPr sz="1800" i="1" dirty="0">
                <a:solidFill>
                  <a:srgbClr val="00AFEF"/>
                </a:solidFill>
              </a:rPr>
              <a:t>	</a:t>
            </a:r>
            <a:r>
              <a:rPr sz="1800" i="1" spc="-38" dirty="0">
                <a:solidFill>
                  <a:srgbClr val="00AFEF"/>
                </a:solidFill>
              </a:rPr>
              <a:t>a</a:t>
            </a:r>
            <a:r>
              <a:rPr sz="1800" i="1" dirty="0">
                <a:solidFill>
                  <a:srgbClr val="00AFEF"/>
                </a:solidFill>
              </a:rPr>
              <a:t>	</a:t>
            </a:r>
            <a:r>
              <a:rPr sz="1800" i="1" spc="-8" dirty="0">
                <a:solidFill>
                  <a:srgbClr val="00AFEF"/>
                </a:solidFill>
              </a:rPr>
              <a:t>familiarity</a:t>
            </a:r>
            <a:r>
              <a:rPr sz="1800" i="1" dirty="0">
                <a:solidFill>
                  <a:srgbClr val="00AFEF"/>
                </a:solidFill>
              </a:rPr>
              <a:t>	</a:t>
            </a:r>
            <a:r>
              <a:rPr sz="1800" spc="-15" dirty="0">
                <a:latin typeface="Arial MT"/>
                <a:cs typeface="Arial MT"/>
              </a:rPr>
              <a:t>with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8" dirty="0">
                <a:latin typeface="Arial MT"/>
                <a:cs typeface="Arial MT"/>
              </a:rPr>
              <a:t>major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8" dirty="0">
                <a:latin typeface="Arial MT"/>
                <a:cs typeface="Arial MT"/>
              </a:rPr>
              <a:t>algorithms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19" dirty="0">
                <a:latin typeface="Arial MT"/>
                <a:cs typeface="Arial MT"/>
              </a:rPr>
              <a:t>and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15" dirty="0">
                <a:latin typeface="Arial MT"/>
                <a:cs typeface="Arial MT"/>
              </a:rPr>
              <a:t>data </a:t>
            </a:r>
            <a:r>
              <a:rPr sz="1800" spc="-8" dirty="0">
                <a:latin typeface="Arial MT"/>
                <a:cs typeface="Arial MT"/>
              </a:rPr>
              <a:t>structures.</a:t>
            </a:r>
            <a:endParaRPr sz="1800" dirty="0">
              <a:latin typeface="Arial MT"/>
              <a:cs typeface="Arial MT"/>
            </a:endParaRPr>
          </a:p>
          <a:p>
            <a:pPr marL="567214" lvl="1" indent="-257175">
              <a:spcBef>
                <a:spcPts val="360"/>
              </a:spcBef>
              <a:buFont typeface="Wingdings"/>
              <a:buChar char=""/>
              <a:tabLst>
                <a:tab pos="567214" algn="l"/>
              </a:tabLst>
            </a:pPr>
            <a:r>
              <a:rPr sz="1800" i="1" dirty="0">
                <a:solidFill>
                  <a:srgbClr val="00AFEF"/>
                </a:solidFill>
              </a:rPr>
              <a:t>Apply</a:t>
            </a:r>
            <a:r>
              <a:rPr sz="1800" i="1" spc="116" dirty="0">
                <a:solidFill>
                  <a:srgbClr val="00AFEF"/>
                </a:solidFill>
              </a:rPr>
              <a:t> </a:t>
            </a:r>
            <a:r>
              <a:rPr sz="1800" dirty="0">
                <a:latin typeface="Arial MT"/>
                <a:cs typeface="Arial MT"/>
              </a:rPr>
              <a:t>important</a:t>
            </a:r>
            <a:r>
              <a:rPr sz="1800" spc="116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algorithmic</a:t>
            </a:r>
            <a:r>
              <a:rPr sz="1800" spc="124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design</a:t>
            </a:r>
            <a:r>
              <a:rPr sz="1800" spc="1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paradigms</a:t>
            </a:r>
            <a:r>
              <a:rPr sz="1800" spc="124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109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methods</a:t>
            </a:r>
            <a:r>
              <a:rPr sz="1800" spc="113" dirty="0">
                <a:latin typeface="Arial MT"/>
                <a:cs typeface="Arial MT"/>
              </a:rPr>
              <a:t> </a:t>
            </a:r>
            <a:r>
              <a:rPr sz="1800" spc="-19" dirty="0">
                <a:latin typeface="Arial MT"/>
                <a:cs typeface="Arial MT"/>
              </a:rPr>
              <a:t>of</a:t>
            </a:r>
            <a:endParaRPr sz="1800" dirty="0">
              <a:latin typeface="Arial MT"/>
              <a:cs typeface="Arial MT"/>
            </a:endParaRPr>
          </a:p>
          <a:p>
            <a:pPr marL="567214">
              <a:spcBef>
                <a:spcPts val="4"/>
              </a:spcBef>
            </a:pPr>
            <a:r>
              <a:rPr sz="1800" spc="-8" dirty="0">
                <a:latin typeface="Arial MT"/>
                <a:cs typeface="Arial MT"/>
              </a:rPr>
              <a:t>analysis.</a:t>
            </a:r>
            <a:endParaRPr sz="1800" dirty="0">
              <a:latin typeface="Arial MT"/>
              <a:cs typeface="Arial MT"/>
            </a:endParaRPr>
          </a:p>
          <a:p>
            <a:pPr marL="567214" marR="4763" lvl="1" indent="-257175">
              <a:spcBef>
                <a:spcPts val="360"/>
              </a:spcBef>
              <a:buFont typeface="Wingdings"/>
              <a:buChar char=""/>
              <a:tabLst>
                <a:tab pos="567214" algn="l"/>
              </a:tabLst>
            </a:pPr>
            <a:r>
              <a:rPr sz="1800" i="1" dirty="0">
                <a:solidFill>
                  <a:srgbClr val="00AFEF"/>
                </a:solidFill>
              </a:rPr>
              <a:t>Synthesize</a:t>
            </a:r>
            <a:r>
              <a:rPr sz="1800" i="1" spc="127" dirty="0">
                <a:solidFill>
                  <a:srgbClr val="00AFEF"/>
                </a:solidFill>
              </a:rPr>
              <a:t> </a:t>
            </a:r>
            <a:r>
              <a:rPr sz="1800" dirty="0">
                <a:latin typeface="Arial MT"/>
                <a:cs typeface="Arial MT"/>
              </a:rPr>
              <a:t>efficient</a:t>
            </a:r>
            <a:r>
              <a:rPr sz="1800" spc="131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algorithms</a:t>
            </a:r>
            <a:r>
              <a:rPr sz="1800" spc="131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127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common</a:t>
            </a:r>
            <a:r>
              <a:rPr sz="1800" spc="127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engineering</a:t>
            </a:r>
            <a:r>
              <a:rPr sz="1800" spc="127" dirty="0">
                <a:latin typeface="Arial MT"/>
                <a:cs typeface="Arial MT"/>
              </a:rPr>
              <a:t> </a:t>
            </a:r>
            <a:r>
              <a:rPr sz="1800" spc="-8" dirty="0">
                <a:latin typeface="Arial MT"/>
                <a:cs typeface="Arial MT"/>
              </a:rPr>
              <a:t>design situations.</a:t>
            </a:r>
            <a:endParaRPr sz="1800" dirty="0">
              <a:latin typeface="Arial MT"/>
              <a:cs typeface="Arial MT"/>
            </a:endParaRPr>
          </a:p>
          <a:p>
            <a:pPr marL="567214" lvl="1" indent="-257175">
              <a:spcBef>
                <a:spcPts val="360"/>
              </a:spcBef>
              <a:buFont typeface="Wingdings"/>
              <a:buChar char=""/>
              <a:tabLst>
                <a:tab pos="567214" algn="l"/>
              </a:tabLst>
            </a:pPr>
            <a:r>
              <a:rPr sz="1800" dirty="0">
                <a:latin typeface="Arial MT"/>
                <a:cs typeface="Arial MT"/>
              </a:rPr>
              <a:t>Gain</a:t>
            </a:r>
            <a:r>
              <a:rPr sz="1800" spc="79" dirty="0">
                <a:latin typeface="Arial MT"/>
                <a:cs typeface="Arial MT"/>
              </a:rPr>
              <a:t> </a:t>
            </a:r>
            <a:r>
              <a:rPr sz="1800" i="1" dirty="0">
                <a:solidFill>
                  <a:srgbClr val="00AFEF"/>
                </a:solidFill>
              </a:rPr>
              <a:t>familiarity</a:t>
            </a:r>
            <a:r>
              <a:rPr sz="1800" i="1" spc="94" dirty="0">
                <a:solidFill>
                  <a:srgbClr val="00AFEF"/>
                </a:solidFill>
              </a:rPr>
              <a:t>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79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83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number</a:t>
            </a:r>
            <a:r>
              <a:rPr sz="1800" spc="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classical</a:t>
            </a:r>
            <a:r>
              <a:rPr sz="1800" spc="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problems</a:t>
            </a:r>
            <a:r>
              <a:rPr sz="1800" spc="94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86" dirty="0">
                <a:latin typeface="Arial MT"/>
                <a:cs typeface="Arial MT"/>
              </a:rPr>
              <a:t> </a:t>
            </a:r>
            <a:r>
              <a:rPr sz="1800" spc="-8" dirty="0">
                <a:latin typeface="Arial MT"/>
                <a:cs typeface="Arial MT"/>
              </a:rPr>
              <a:t>occur</a:t>
            </a:r>
            <a:r>
              <a:rPr lang="en-US" sz="1800" spc="-8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frequently</a:t>
            </a:r>
            <a:r>
              <a:rPr lang="en-US" sz="1800" spc="-4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in</a:t>
            </a:r>
            <a:r>
              <a:rPr lang="en-US" sz="1800" spc="-15" dirty="0">
                <a:latin typeface="Arial MT"/>
                <a:cs typeface="Arial MT"/>
              </a:rPr>
              <a:t> </a:t>
            </a:r>
            <a:r>
              <a:rPr lang="en-US" sz="1800" i="1" spc="-8" dirty="0">
                <a:solidFill>
                  <a:srgbClr val="00AFEF"/>
                </a:solidFill>
              </a:rPr>
              <a:t>real-</a:t>
            </a:r>
            <a:r>
              <a:rPr lang="en-US" sz="1800" i="1" dirty="0">
                <a:solidFill>
                  <a:srgbClr val="00AFEF"/>
                </a:solidFill>
              </a:rPr>
              <a:t>world</a:t>
            </a:r>
            <a:r>
              <a:rPr lang="en-US" sz="1800" i="1" spc="-41" dirty="0">
                <a:solidFill>
                  <a:srgbClr val="00AFEF"/>
                </a:solidFill>
              </a:rPr>
              <a:t> </a:t>
            </a:r>
            <a:r>
              <a:rPr lang="en-US" sz="1800" i="1" spc="-8" dirty="0">
                <a:solidFill>
                  <a:srgbClr val="00AFEF"/>
                </a:solidFill>
              </a:rPr>
              <a:t>applications</a:t>
            </a:r>
            <a:endParaRPr lang="en-US" sz="1800" dirty="0"/>
          </a:p>
        </p:txBody>
      </p:sp>
      <p:sp>
        <p:nvSpPr>
          <p:cNvPr id="5" name="object 5"/>
          <p:cNvSpPr txBox="1"/>
          <p:nvPr/>
        </p:nvSpPr>
        <p:spPr>
          <a:xfrm>
            <a:off x="7597806" y="4884802"/>
            <a:ext cx="82867" cy="1481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900" spc="-38" dirty="0">
                <a:solidFill>
                  <a:srgbClr val="585858"/>
                </a:solidFill>
                <a:latin typeface="Arial MT"/>
                <a:cs typeface="Arial MT"/>
              </a:rPr>
              <a:t>5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4"/>
          <p:cNvSpPr txBox="1">
            <a:spLocks noGrp="1"/>
          </p:cNvSpPr>
          <p:nvPr>
            <p:ph type="title"/>
          </p:nvPr>
        </p:nvSpPr>
        <p:spPr>
          <a:xfrm>
            <a:off x="311700" y="555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22860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Knowledge tree</a:t>
            </a:r>
            <a:endParaRPr/>
          </a:p>
        </p:txBody>
      </p:sp>
      <p:pic>
        <p:nvPicPr>
          <p:cNvPr id="196" name="Google Shape;19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150" y="628250"/>
            <a:ext cx="8155424" cy="4377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body" idx="1"/>
          </p:nvPr>
        </p:nvSpPr>
        <p:spPr>
          <a:xfrm>
            <a:off x="311700" y="364000"/>
            <a:ext cx="8520600" cy="420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4000">
                <a:solidFill>
                  <a:schemeClr val="accent5"/>
                </a:solidFill>
                <a:latin typeface="Lato Light"/>
                <a:ea typeface="Lato Light"/>
                <a:cs typeface="Lato Light"/>
                <a:sym typeface="Lato Light"/>
              </a:rPr>
              <a:t>What is an algorithm?</a:t>
            </a:r>
            <a:endParaRPr sz="3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What is Algorithm</a:t>
            </a:r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body" idx="1"/>
          </p:nvPr>
        </p:nvSpPr>
        <p:spPr>
          <a:xfrm>
            <a:off x="587625" y="1206325"/>
            <a:ext cx="8520600" cy="374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800" dirty="0">
              <a:solidFill>
                <a:schemeClr val="tx1"/>
              </a:solidFill>
            </a:endParaRPr>
          </a:p>
          <a:p>
            <a:pPr marL="457200" lvl="0" indent="-33274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981" dirty="0">
                <a:solidFill>
                  <a:schemeClr val="tx1"/>
                </a:solidFill>
              </a:rPr>
              <a:t>Informally, an algorithm is any well-defined computational procedure that takes some value as input and produces some value as output. (Thomas H. CORMEN)</a:t>
            </a:r>
            <a:endParaRPr sz="2981" dirty="0">
              <a:solidFill>
                <a:schemeClr val="tx1"/>
              </a:solidFill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200" dirty="0">
              <a:solidFill>
                <a:schemeClr val="tx1"/>
              </a:solidFill>
            </a:endParaRPr>
          </a:p>
          <a:p>
            <a:pPr marL="45720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840" dirty="0">
              <a:solidFill>
                <a:schemeClr val="tx1"/>
              </a:solidFill>
            </a:endParaRPr>
          </a:p>
          <a:p>
            <a:pPr marL="457200" lvl="0" indent="-33274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ct val="100000"/>
              <a:buChar char="●"/>
            </a:pPr>
            <a:r>
              <a:rPr lang="en-US" sz="3200" dirty="0">
                <a:solidFill>
                  <a:schemeClr val="tx1"/>
                </a:solidFill>
              </a:rPr>
              <a:t>"An algorithm is a well-defined sequence of instructions to solve a specific problem or perform a task.”</a:t>
            </a:r>
            <a:endParaRPr lang="en-US" sz="2981" dirty="0">
              <a:solidFill>
                <a:schemeClr val="tx1"/>
              </a:solidFill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981" dirty="0">
                <a:solidFill>
                  <a:schemeClr val="tx1"/>
                </a:solidFill>
              </a:rPr>
              <a:t>E.g.</a:t>
            </a:r>
            <a:endParaRPr sz="2981" dirty="0">
              <a:solidFill>
                <a:schemeClr val="tx1"/>
              </a:solidFill>
            </a:endParaRPr>
          </a:p>
          <a:p>
            <a:pPr marL="914400" lvl="1" indent="-33274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ct val="100000"/>
              <a:buChar char="○"/>
            </a:pPr>
            <a:r>
              <a:rPr lang="en" sz="2981" dirty="0">
                <a:solidFill>
                  <a:schemeClr val="tx1"/>
                </a:solidFill>
              </a:rPr>
              <a:t>Multiply Two Numbers.</a:t>
            </a:r>
            <a:endParaRPr sz="2981" dirty="0">
              <a:solidFill>
                <a:schemeClr val="tx1"/>
              </a:solidFill>
            </a:endParaRPr>
          </a:p>
          <a:p>
            <a:pPr marL="914400" lvl="1" indent="-33274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Char char="○"/>
            </a:pPr>
            <a:r>
              <a:rPr lang="en" sz="2981" dirty="0">
                <a:solidFill>
                  <a:schemeClr val="tx1"/>
                </a:solidFill>
              </a:rPr>
              <a:t>Algorithms to Sort Array.</a:t>
            </a:r>
            <a:endParaRPr sz="2981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67543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6775" y="333769"/>
            <a:ext cx="6390450" cy="453329"/>
          </a:xfrm>
          <a:prstGeom prst="rect">
            <a:avLst/>
          </a:prstGeom>
        </p:spPr>
        <p:txBody>
          <a:bodyPr spcFirstLastPara="1" vert="horz" wrap="square" lIns="0" tIns="9525" rIns="0" bIns="0" rtlCol="0" anchor="t" anchorCtr="0">
            <a:spAutoFit/>
          </a:bodyPr>
          <a:lstStyle/>
          <a:p>
            <a:pPr marL="9525">
              <a:spcBef>
                <a:spcPts val="75"/>
              </a:spcBef>
            </a:pPr>
            <a:r>
              <a:rPr dirty="0"/>
              <a:t>Algorithm</a:t>
            </a:r>
            <a:r>
              <a:rPr spc="-79" dirty="0"/>
              <a:t> </a:t>
            </a:r>
            <a:r>
              <a:rPr spc="-8" dirty="0"/>
              <a:t>Specification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521065" y="6527504"/>
            <a:ext cx="23431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585858"/>
                </a:solidFill>
                <a:latin typeface="Arial MT"/>
                <a:cs typeface="Arial MT"/>
              </a:defRPr>
            </a:lvl1pPr>
          </a:lstStyle>
          <a:p>
            <a:pPr marL="9525">
              <a:lnSpc>
                <a:spcPts val="1069"/>
              </a:lnSpc>
            </a:pPr>
            <a:fld id="{81D60167-4931-47E6-BA6A-407CBD079E47}" type="slidenum">
              <a:rPr lang="en-US" spc="-50" smtClean="0"/>
              <a:pPr marL="97790">
                <a:lnSpc>
                  <a:spcPts val="1425"/>
                </a:lnSpc>
              </a:pPr>
              <a:t>11</a:t>
            </a:fld>
            <a:endParaRPr spc="-19" dirty="0"/>
          </a:p>
        </p:txBody>
      </p:sp>
      <p:sp>
        <p:nvSpPr>
          <p:cNvPr id="3" name="object 3"/>
          <p:cNvSpPr txBox="1"/>
          <p:nvPr/>
        </p:nvSpPr>
        <p:spPr>
          <a:xfrm>
            <a:off x="766119" y="1132599"/>
            <a:ext cx="7364627" cy="3717621"/>
          </a:xfrm>
          <a:prstGeom prst="rect">
            <a:avLst/>
          </a:prstGeom>
        </p:spPr>
        <p:txBody>
          <a:bodyPr vert="horz" wrap="square" lIns="0" tIns="55245" rIns="0" bIns="0" rtlCol="0">
            <a:spAutoFit/>
          </a:bodyPr>
          <a:lstStyle/>
          <a:p>
            <a:pPr marL="266224" indent="-256699">
              <a:spcBef>
                <a:spcPts val="435"/>
              </a:spcBef>
              <a:buFont typeface="Wingdings"/>
              <a:buChar char=""/>
              <a:tabLst>
                <a:tab pos="266224" algn="l"/>
              </a:tabLst>
            </a:pPr>
            <a:r>
              <a:rPr sz="1800" dirty="0">
                <a:latin typeface="Arial MT"/>
                <a:cs typeface="Arial MT"/>
              </a:rPr>
              <a:t>We</a:t>
            </a:r>
            <a:r>
              <a:rPr sz="1800" spc="-19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can</a:t>
            </a:r>
            <a:r>
              <a:rPr sz="1800" spc="-19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specify</a:t>
            </a:r>
            <a:r>
              <a:rPr sz="1800" spc="-19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</a:t>
            </a:r>
            <a:r>
              <a:rPr sz="1800" spc="-8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algorithm</a:t>
            </a:r>
            <a:r>
              <a:rPr sz="1800" spc="-19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3 </a:t>
            </a:r>
            <a:r>
              <a:rPr sz="1800" spc="-8" dirty="0">
                <a:latin typeface="Arial MT"/>
                <a:cs typeface="Arial MT"/>
              </a:rPr>
              <a:t>types:</a:t>
            </a:r>
            <a:endParaRPr sz="1800" dirty="0">
              <a:latin typeface="Arial MT"/>
              <a:cs typeface="Arial MT"/>
            </a:endParaRPr>
          </a:p>
          <a:p>
            <a:pPr marL="567214" lvl="1" indent="-257175">
              <a:spcBef>
                <a:spcPts val="360"/>
              </a:spcBef>
              <a:buFont typeface="Wingdings"/>
              <a:buChar char=""/>
              <a:tabLst>
                <a:tab pos="567214" algn="l"/>
              </a:tabLst>
            </a:pPr>
            <a:r>
              <a:rPr sz="1800" dirty="0">
                <a:latin typeface="Arial MT"/>
                <a:cs typeface="Arial MT"/>
              </a:rPr>
              <a:t>Using</a:t>
            </a:r>
            <a:r>
              <a:rPr sz="1800" spc="-53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Natural</a:t>
            </a:r>
            <a:r>
              <a:rPr sz="1800" spc="-53" dirty="0">
                <a:latin typeface="Arial MT"/>
                <a:cs typeface="Arial MT"/>
              </a:rPr>
              <a:t> </a:t>
            </a:r>
            <a:r>
              <a:rPr sz="1800" spc="-8" dirty="0">
                <a:latin typeface="Arial MT"/>
                <a:cs typeface="Arial MT"/>
              </a:rPr>
              <a:t>language</a:t>
            </a:r>
            <a:endParaRPr sz="1800" dirty="0">
              <a:latin typeface="Arial MT"/>
              <a:cs typeface="Arial MT"/>
            </a:endParaRPr>
          </a:p>
          <a:p>
            <a:pPr marL="694849">
              <a:spcBef>
                <a:spcPts val="705"/>
              </a:spcBef>
            </a:pPr>
            <a:r>
              <a:rPr dirty="0">
                <a:latin typeface="Arial MT"/>
                <a:cs typeface="Arial MT"/>
              </a:rPr>
              <a:t>Step1:</a:t>
            </a:r>
            <a:r>
              <a:rPr spc="-38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read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the</a:t>
            </a:r>
            <a:r>
              <a:rPr spc="-23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first</a:t>
            </a:r>
            <a:r>
              <a:rPr spc="-41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number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(assume</a:t>
            </a:r>
            <a:r>
              <a:rPr spc="-34" dirty="0">
                <a:latin typeface="Arial MT"/>
                <a:cs typeface="Arial MT"/>
              </a:rPr>
              <a:t> </a:t>
            </a:r>
            <a:r>
              <a:rPr spc="-19" dirty="0">
                <a:latin typeface="Arial MT"/>
                <a:cs typeface="Arial MT"/>
              </a:rPr>
              <a:t>a)</a:t>
            </a:r>
            <a:endParaRPr dirty="0">
              <a:latin typeface="Arial MT"/>
              <a:cs typeface="Arial MT"/>
            </a:endParaRPr>
          </a:p>
          <a:p>
            <a:pPr marL="694849">
              <a:spcBef>
                <a:spcPts val="949"/>
              </a:spcBef>
            </a:pPr>
            <a:r>
              <a:rPr dirty="0">
                <a:latin typeface="Arial MT"/>
                <a:cs typeface="Arial MT"/>
              </a:rPr>
              <a:t>Step2:read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the</a:t>
            </a:r>
            <a:r>
              <a:rPr spc="-38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second</a:t>
            </a:r>
            <a:r>
              <a:rPr spc="-38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number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(assume</a:t>
            </a:r>
            <a:r>
              <a:rPr spc="-34" dirty="0">
                <a:latin typeface="Arial MT"/>
                <a:cs typeface="Arial MT"/>
              </a:rPr>
              <a:t> </a:t>
            </a:r>
            <a:r>
              <a:rPr spc="-19" dirty="0">
                <a:latin typeface="Arial MT"/>
                <a:cs typeface="Arial MT"/>
              </a:rPr>
              <a:t>b)</a:t>
            </a:r>
            <a:endParaRPr dirty="0">
              <a:latin typeface="Arial MT"/>
              <a:cs typeface="Arial MT"/>
            </a:endParaRPr>
          </a:p>
          <a:p>
            <a:pPr marL="694849">
              <a:spcBef>
                <a:spcPts val="945"/>
              </a:spcBef>
            </a:pPr>
            <a:r>
              <a:rPr dirty="0">
                <a:latin typeface="Arial MT"/>
                <a:cs typeface="Arial MT"/>
              </a:rPr>
              <a:t>Step3:add</a:t>
            </a:r>
            <a:r>
              <a:rPr spc="-41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2</a:t>
            </a:r>
            <a:r>
              <a:rPr spc="-19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numbers(a</a:t>
            </a:r>
            <a:r>
              <a:rPr spc="-19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and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b)and</a:t>
            </a:r>
            <a:r>
              <a:rPr spc="-19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store</a:t>
            </a:r>
            <a:r>
              <a:rPr spc="-38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the</a:t>
            </a:r>
            <a:r>
              <a:rPr spc="-23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result</a:t>
            </a:r>
            <a:r>
              <a:rPr spc="259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in</a:t>
            </a:r>
            <a:r>
              <a:rPr spc="-23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</a:t>
            </a:r>
            <a:r>
              <a:rPr spc="-23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variable</a:t>
            </a:r>
            <a:r>
              <a:rPr spc="-4" dirty="0">
                <a:latin typeface="Arial MT"/>
                <a:cs typeface="Arial MT"/>
              </a:rPr>
              <a:t> </a:t>
            </a:r>
            <a:r>
              <a:rPr spc="-38" dirty="0">
                <a:latin typeface="Arial MT"/>
                <a:cs typeface="Arial MT"/>
              </a:rPr>
              <a:t>c</a:t>
            </a:r>
            <a:endParaRPr dirty="0">
              <a:latin typeface="Arial MT"/>
              <a:cs typeface="Arial MT"/>
            </a:endParaRPr>
          </a:p>
          <a:p>
            <a:pPr marL="694849">
              <a:spcBef>
                <a:spcPts val="945"/>
              </a:spcBef>
            </a:pPr>
            <a:r>
              <a:rPr dirty="0">
                <a:latin typeface="Arial MT"/>
                <a:cs typeface="Arial MT"/>
              </a:rPr>
              <a:t>Step4:display</a:t>
            </a:r>
            <a:r>
              <a:rPr spc="-49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the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spc="-8" dirty="0">
                <a:latin typeface="Arial MT"/>
                <a:cs typeface="Arial MT"/>
              </a:rPr>
              <a:t>result</a:t>
            </a:r>
            <a:endParaRPr dirty="0">
              <a:latin typeface="Arial MT"/>
              <a:cs typeface="Arial MT"/>
            </a:endParaRPr>
          </a:p>
          <a:p>
            <a:pPr>
              <a:spcBef>
                <a:spcPts val="1069"/>
              </a:spcBef>
            </a:pPr>
            <a:endParaRPr dirty="0">
              <a:latin typeface="Arial MT"/>
              <a:cs typeface="Arial MT"/>
            </a:endParaRPr>
          </a:p>
          <a:p>
            <a:pPr marL="567214" lvl="1" indent="-257175">
              <a:buFont typeface="Wingdings"/>
              <a:buChar char=""/>
              <a:tabLst>
                <a:tab pos="567214" algn="l"/>
              </a:tabLst>
            </a:pPr>
            <a:r>
              <a:rPr sz="1800" spc="-8" dirty="0">
                <a:latin typeface="Arial MT"/>
                <a:cs typeface="Arial MT"/>
              </a:rPr>
              <a:t>Pseudocode</a:t>
            </a:r>
            <a:endParaRPr sz="1800" dirty="0">
              <a:latin typeface="Arial MT"/>
              <a:cs typeface="Arial MT"/>
            </a:endParaRPr>
          </a:p>
          <a:p>
            <a:pPr marL="609124">
              <a:spcBef>
                <a:spcPts val="465"/>
              </a:spcBef>
            </a:pPr>
            <a:r>
              <a:rPr dirty="0">
                <a:latin typeface="Arial MT"/>
                <a:cs typeface="Arial MT"/>
              </a:rPr>
              <a:t>//this</a:t>
            </a:r>
            <a:r>
              <a:rPr spc="-41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algo</a:t>
            </a:r>
            <a:r>
              <a:rPr spc="-26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perform</a:t>
            </a:r>
            <a:r>
              <a:rPr spc="-41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addition</a:t>
            </a:r>
            <a:r>
              <a:rPr spc="-34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of</a:t>
            </a:r>
            <a:r>
              <a:rPr spc="-23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two</a:t>
            </a:r>
            <a:r>
              <a:rPr spc="-19" dirty="0">
                <a:latin typeface="Arial MT"/>
                <a:cs typeface="Arial MT"/>
              </a:rPr>
              <a:t> </a:t>
            </a:r>
            <a:r>
              <a:rPr spc="-8" dirty="0">
                <a:latin typeface="Arial MT"/>
                <a:cs typeface="Arial MT"/>
              </a:rPr>
              <a:t>integers</a:t>
            </a:r>
            <a:endParaRPr dirty="0">
              <a:latin typeface="Arial MT"/>
              <a:cs typeface="Arial MT"/>
            </a:endParaRPr>
          </a:p>
          <a:p>
            <a:pPr marL="609124">
              <a:spcBef>
                <a:spcPts val="454"/>
              </a:spcBef>
            </a:pPr>
            <a:r>
              <a:rPr dirty="0">
                <a:latin typeface="Arial MT"/>
                <a:cs typeface="Arial MT"/>
              </a:rPr>
              <a:t>//input</a:t>
            </a:r>
            <a:r>
              <a:rPr spc="-41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two</a:t>
            </a:r>
            <a:r>
              <a:rPr spc="-19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integers</a:t>
            </a:r>
            <a:r>
              <a:rPr spc="-34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</a:t>
            </a:r>
            <a:r>
              <a:rPr spc="-19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and</a:t>
            </a:r>
            <a:r>
              <a:rPr spc="-34" dirty="0">
                <a:latin typeface="Arial MT"/>
                <a:cs typeface="Arial MT"/>
              </a:rPr>
              <a:t> </a:t>
            </a:r>
            <a:r>
              <a:rPr spc="-38" dirty="0">
                <a:latin typeface="Arial MT"/>
                <a:cs typeface="Arial MT"/>
              </a:rPr>
              <a:t>b</a:t>
            </a:r>
            <a:endParaRPr dirty="0">
              <a:latin typeface="Arial MT"/>
              <a:cs typeface="Arial MT"/>
            </a:endParaRPr>
          </a:p>
          <a:p>
            <a:pPr marL="845820" marR="2732722" indent="-236696">
              <a:lnSpc>
                <a:spcPct val="133300"/>
              </a:lnSpc>
            </a:pPr>
            <a:r>
              <a:rPr dirty="0">
                <a:latin typeface="Arial MT"/>
                <a:cs typeface="Arial MT"/>
              </a:rPr>
              <a:t>//</a:t>
            </a:r>
            <a:r>
              <a:rPr spc="-26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output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of</a:t>
            </a:r>
            <a:r>
              <a:rPr spc="-1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two</a:t>
            </a:r>
            <a:r>
              <a:rPr spc="-11" dirty="0">
                <a:latin typeface="Arial MT"/>
                <a:cs typeface="Arial MT"/>
              </a:rPr>
              <a:t> </a:t>
            </a:r>
            <a:r>
              <a:rPr spc="-8" dirty="0">
                <a:latin typeface="Arial MT"/>
                <a:cs typeface="Arial MT"/>
              </a:rPr>
              <a:t>integers C=a+b</a:t>
            </a:r>
            <a:endParaRPr dirty="0">
              <a:latin typeface="Arial MT"/>
              <a:cs typeface="Arial MT"/>
            </a:endParaRPr>
          </a:p>
          <a:p>
            <a:pPr marL="845820">
              <a:spcBef>
                <a:spcPts val="450"/>
              </a:spcBef>
            </a:pPr>
            <a:r>
              <a:rPr dirty="0">
                <a:latin typeface="Arial MT"/>
                <a:cs typeface="Arial MT"/>
              </a:rPr>
              <a:t>Write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spc="-38" dirty="0">
                <a:latin typeface="Arial MT"/>
                <a:cs typeface="Arial MT"/>
              </a:rPr>
              <a:t>c</a:t>
            </a:r>
            <a:endParaRPr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6775" y="333769"/>
            <a:ext cx="6390450" cy="453329"/>
          </a:xfrm>
          <a:prstGeom prst="rect">
            <a:avLst/>
          </a:prstGeom>
        </p:spPr>
        <p:txBody>
          <a:bodyPr spcFirstLastPara="1" vert="horz" wrap="square" lIns="0" tIns="9525" rIns="0" bIns="0" rtlCol="0" anchor="t" anchorCtr="0">
            <a:spAutoFit/>
          </a:bodyPr>
          <a:lstStyle/>
          <a:p>
            <a:pPr marL="9525">
              <a:spcBef>
                <a:spcPts val="75"/>
              </a:spcBef>
            </a:pPr>
            <a:r>
              <a:rPr dirty="0"/>
              <a:t>Algorithm</a:t>
            </a:r>
            <a:r>
              <a:rPr spc="-79" dirty="0"/>
              <a:t> </a:t>
            </a:r>
            <a:r>
              <a:rPr spc="-8" dirty="0"/>
              <a:t>Specification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6054" y="1132598"/>
            <a:ext cx="4916287" cy="599523"/>
          </a:xfrm>
          <a:prstGeom prst="rect">
            <a:avLst/>
          </a:prstGeom>
        </p:spPr>
        <p:txBody>
          <a:bodyPr vert="horz" wrap="square" lIns="0" tIns="55245" rIns="0" bIns="0" rtlCol="0">
            <a:spAutoFit/>
          </a:bodyPr>
          <a:lstStyle/>
          <a:p>
            <a:pPr marL="266224" indent="-256699">
              <a:spcBef>
                <a:spcPts val="435"/>
              </a:spcBef>
              <a:buFont typeface="Wingdings"/>
              <a:buChar char=""/>
              <a:tabLst>
                <a:tab pos="266224" algn="l"/>
              </a:tabLst>
            </a:pPr>
            <a:r>
              <a:rPr sz="1600" dirty="0">
                <a:latin typeface="Arial MT"/>
                <a:cs typeface="Arial MT"/>
              </a:rPr>
              <a:t>We</a:t>
            </a:r>
            <a:r>
              <a:rPr sz="1600" spc="-19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can</a:t>
            </a:r>
            <a:r>
              <a:rPr sz="1600" spc="-19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specify</a:t>
            </a:r>
            <a:r>
              <a:rPr sz="1600" spc="-19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</a:t>
            </a:r>
            <a:r>
              <a:rPr sz="1600" spc="-8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algorithm</a:t>
            </a:r>
            <a:r>
              <a:rPr sz="1600" spc="-19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by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3 </a:t>
            </a:r>
            <a:r>
              <a:rPr sz="1600" spc="-8" dirty="0">
                <a:latin typeface="Arial MT"/>
                <a:cs typeface="Arial MT"/>
              </a:rPr>
              <a:t>types:</a:t>
            </a:r>
            <a:endParaRPr sz="1600" dirty="0">
              <a:latin typeface="Arial MT"/>
              <a:cs typeface="Arial MT"/>
            </a:endParaRPr>
          </a:p>
          <a:p>
            <a:pPr marL="567214" lvl="1" indent="-257175">
              <a:spcBef>
                <a:spcPts val="360"/>
              </a:spcBef>
              <a:buFont typeface="Wingdings"/>
              <a:buChar char=""/>
              <a:tabLst>
                <a:tab pos="567214" algn="l"/>
              </a:tabLst>
            </a:pPr>
            <a:r>
              <a:rPr sz="1600" dirty="0">
                <a:latin typeface="Arial MT"/>
                <a:cs typeface="Arial MT"/>
              </a:rPr>
              <a:t>Flow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spc="-8" dirty="0">
                <a:latin typeface="Arial MT"/>
                <a:cs typeface="Arial MT"/>
              </a:rPr>
              <a:t>chart</a:t>
            </a:r>
            <a:endParaRPr sz="16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08152" y="1732121"/>
            <a:ext cx="2287167" cy="315878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521065" y="6527504"/>
            <a:ext cx="23431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585858"/>
                </a:solidFill>
                <a:latin typeface="Arial MT"/>
                <a:cs typeface="Arial MT"/>
              </a:defRPr>
            </a:lvl1pPr>
          </a:lstStyle>
          <a:p>
            <a:pPr marL="9525">
              <a:lnSpc>
                <a:spcPts val="1069"/>
              </a:lnSpc>
            </a:pPr>
            <a:fld id="{81D60167-4931-47E6-BA6A-407CBD079E47}" type="slidenum">
              <a:rPr lang="en-US" spc="-50" smtClean="0"/>
              <a:pPr marL="97790">
                <a:lnSpc>
                  <a:spcPts val="1425"/>
                </a:lnSpc>
              </a:pPr>
              <a:t>12</a:t>
            </a:fld>
            <a:endParaRPr spc="-19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Examples of Algorithms - Walk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0290" y="1500799"/>
            <a:ext cx="4107656" cy="1764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8455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Examples of Algorithms – Cook Noodles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3056" y="1384301"/>
            <a:ext cx="5272088" cy="317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5184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>
            <a:spLocks noGrp="1"/>
          </p:cNvSpPr>
          <p:nvPr>
            <p:ph type="ctrTitle"/>
          </p:nvPr>
        </p:nvSpPr>
        <p:spPr>
          <a:xfrm>
            <a:off x="311700" y="371175"/>
            <a:ext cx="8520600" cy="646500"/>
          </a:xfrm>
          <a:prstGeom prst="rect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5"/>
                </a:solidFill>
                <a:latin typeface="Lato Light"/>
                <a:ea typeface="Lato Light"/>
                <a:cs typeface="Lato Light"/>
                <a:sym typeface="Lato Light"/>
              </a:rPr>
              <a:t>MULTIPLICATION: THE PROBLEM</a:t>
            </a:r>
            <a:endParaRPr sz="3600">
              <a:solidFill>
                <a:schemeClr val="accent5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28" name="Google Shape;128;p25"/>
          <p:cNvSpPr/>
          <p:nvPr/>
        </p:nvSpPr>
        <p:spPr>
          <a:xfrm>
            <a:off x="1161000" y="1388425"/>
            <a:ext cx="6822000" cy="1095000"/>
          </a:xfrm>
          <a:prstGeom prst="roundRect">
            <a:avLst>
              <a:gd name="adj" fmla="val 27385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latin typeface="Assistant"/>
                <a:ea typeface="Assistant"/>
                <a:cs typeface="Assistant"/>
                <a:sym typeface="Assistant"/>
              </a:rPr>
              <a:t>Input</a:t>
            </a:r>
            <a:r>
              <a:rPr lang="en" sz="2300">
                <a:latin typeface="Assistant ExtraLight"/>
                <a:ea typeface="Assistant ExtraLight"/>
                <a:cs typeface="Assistant ExtraLight"/>
                <a:sym typeface="Assistant ExtraLight"/>
              </a:rPr>
              <a:t>: 2 numbers, x and y (n digits each)</a:t>
            </a:r>
            <a:endParaRPr sz="2300">
              <a:latin typeface="Assistant ExtraLight"/>
              <a:ea typeface="Assistant ExtraLight"/>
              <a:cs typeface="Assistant ExtraLight"/>
              <a:sym typeface="Assistant ExtraLight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latin typeface="Assistant"/>
                <a:ea typeface="Assistant"/>
                <a:cs typeface="Assistant"/>
                <a:sym typeface="Assistant"/>
              </a:rPr>
              <a:t>Output</a:t>
            </a:r>
            <a:r>
              <a:rPr lang="en" sz="2300">
                <a:latin typeface="Assistant ExtraLight"/>
                <a:ea typeface="Assistant ExtraLight"/>
                <a:cs typeface="Assistant ExtraLight"/>
                <a:sym typeface="Assistant ExtraLight"/>
              </a:rPr>
              <a:t>: the product x · y</a:t>
            </a:r>
            <a:endParaRPr sz="2300">
              <a:latin typeface="Assistant ExtraLight"/>
              <a:ea typeface="Assistant ExtraLight"/>
              <a:cs typeface="Assistant ExtraLight"/>
              <a:sym typeface="Assistant ExtraLight"/>
            </a:endParaRPr>
          </a:p>
        </p:txBody>
      </p:sp>
      <p:sp>
        <p:nvSpPr>
          <p:cNvPr id="129" name="Google Shape;129;p25"/>
          <p:cNvSpPr txBox="1"/>
          <p:nvPr/>
        </p:nvSpPr>
        <p:spPr>
          <a:xfrm>
            <a:off x="3529950" y="2829425"/>
            <a:ext cx="2084100" cy="18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16355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solidFill>
                  <a:srgbClr val="CC0000"/>
                </a:solidFill>
                <a:latin typeface="Inconsolata"/>
                <a:ea typeface="Inconsolata"/>
                <a:cs typeface="Inconsolata"/>
                <a:sym typeface="Inconsolata"/>
              </a:rPr>
              <a:t>4456</a:t>
            </a:r>
            <a:endParaRPr sz="3800">
              <a:solidFill>
                <a:srgbClr val="CC0000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marL="0" marR="16355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CC0000"/>
                </a:solidFill>
                <a:latin typeface="Inconsolata"/>
                <a:ea typeface="Inconsolata"/>
                <a:cs typeface="Inconsolata"/>
                <a:sym typeface="Inconsolata"/>
              </a:rPr>
              <a:t>x</a:t>
            </a:r>
            <a:r>
              <a:rPr lang="en" sz="3800">
                <a:solidFill>
                  <a:srgbClr val="CC0000"/>
                </a:solidFill>
                <a:latin typeface="Inconsolata"/>
                <a:ea typeface="Inconsolata"/>
                <a:cs typeface="Inconsolata"/>
                <a:sym typeface="Inconsolata"/>
              </a:rPr>
              <a:t> 1123</a:t>
            </a:r>
            <a:endParaRPr sz="3800">
              <a:solidFill>
                <a:srgbClr val="CC0000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marL="0" marR="163550" lvl="0" indent="0" algn="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3800" b="1">
                <a:solidFill>
                  <a:srgbClr val="CC0000"/>
                </a:solidFill>
                <a:latin typeface="Inconsolata"/>
                <a:ea typeface="Inconsolata"/>
                <a:cs typeface="Inconsolata"/>
                <a:sym typeface="Inconsolata"/>
              </a:rPr>
              <a:t>5004088</a:t>
            </a:r>
            <a:endParaRPr sz="3800" b="1">
              <a:solidFill>
                <a:srgbClr val="CC0000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cxnSp>
        <p:nvCxnSpPr>
          <p:cNvPr id="130" name="Google Shape;130;p25"/>
          <p:cNvCxnSpPr/>
          <p:nvPr/>
        </p:nvCxnSpPr>
        <p:spPr>
          <a:xfrm>
            <a:off x="3529946" y="4070975"/>
            <a:ext cx="2084100" cy="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1" name="Google Shape;131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548418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>
            <a:spLocks noGrp="1"/>
          </p:cNvSpPr>
          <p:nvPr>
            <p:ph type="body" idx="1"/>
          </p:nvPr>
        </p:nvSpPr>
        <p:spPr>
          <a:xfrm>
            <a:off x="311700" y="364000"/>
            <a:ext cx="8520600" cy="420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4000">
                <a:solidFill>
                  <a:schemeClr val="accent5"/>
                </a:solidFill>
                <a:latin typeface="Lato Light"/>
                <a:ea typeface="Lato Light"/>
                <a:cs typeface="Lato Light"/>
                <a:sym typeface="Lato Light"/>
              </a:rPr>
              <a:t>Why Study Algorithms ?</a:t>
            </a:r>
            <a:endParaRPr sz="3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title"/>
          </p:nvPr>
        </p:nvSpPr>
        <p:spPr>
          <a:xfrm>
            <a:off x="311700" y="2550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Web Search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3" name="Google Shape;8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969275"/>
            <a:ext cx="8186950" cy="409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>
            <a:spLocks noGrp="1"/>
          </p:cNvSpPr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Personalized Recommendation</a:t>
            </a:r>
            <a:endParaRPr/>
          </a:p>
        </p:txBody>
      </p:sp>
      <p:pic>
        <p:nvPicPr>
          <p:cNvPr id="89" name="Google Shape;8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5706" y="909550"/>
            <a:ext cx="3098750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9"/>
          <p:cNvSpPr txBox="1"/>
          <p:nvPr/>
        </p:nvSpPr>
        <p:spPr>
          <a:xfrm>
            <a:off x="645900" y="2423650"/>
            <a:ext cx="8186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More than </a:t>
            </a:r>
            <a:r>
              <a:rPr lang="en" sz="1800" b="1"/>
              <a:t>70% of what people watch</a:t>
            </a:r>
            <a:r>
              <a:rPr lang="en" sz="1800"/>
              <a:t> on YouTube is determined by its </a:t>
            </a:r>
            <a:r>
              <a:rPr lang="en" sz="1800" b="1">
                <a:solidFill>
                  <a:srgbClr val="980000"/>
                </a:solidFill>
              </a:rPr>
              <a:t>recommendation algorithm</a:t>
            </a:r>
            <a:r>
              <a:rPr lang="en" sz="1800"/>
              <a:t>.</a:t>
            </a:r>
            <a:endParaRPr sz="1800"/>
          </a:p>
        </p:txBody>
      </p:sp>
      <p:pic>
        <p:nvPicPr>
          <p:cNvPr id="91" name="Google Shape;9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6700" y="3001150"/>
            <a:ext cx="2681841" cy="167615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9"/>
          <p:cNvSpPr txBox="1"/>
          <p:nvPr/>
        </p:nvSpPr>
        <p:spPr>
          <a:xfrm>
            <a:off x="654725" y="3608375"/>
            <a:ext cx="5634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News Feed, Friend Suggestions</a:t>
            </a:r>
            <a:endParaRPr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Human Genome Project</a:t>
            </a:r>
            <a:endParaRPr dirty="0"/>
          </a:p>
        </p:txBody>
      </p:sp>
      <p:pic>
        <p:nvPicPr>
          <p:cNvPr id="98" name="Google Shape;9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525" y="920100"/>
            <a:ext cx="8420001" cy="401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Security E-commerce</a:t>
            </a:r>
            <a:endParaRPr/>
          </a:p>
        </p:txBody>
      </p:sp>
      <p:pic>
        <p:nvPicPr>
          <p:cNvPr id="104" name="Google Shape;10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2150" y="1107575"/>
            <a:ext cx="409560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Lot of Applications </a:t>
            </a:r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890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980000"/>
                </a:solidFill>
              </a:rPr>
              <a:t>Internet.</a:t>
            </a:r>
            <a:r>
              <a:rPr lang="en" sz="1600" dirty="0"/>
              <a:t> Web search, Packet routing, distributed file sharing,...</a:t>
            </a:r>
            <a:endParaRPr sz="16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980000"/>
                </a:solidFill>
              </a:rPr>
              <a:t>Biology.</a:t>
            </a:r>
            <a:r>
              <a:rPr lang="en" sz="1600" dirty="0"/>
              <a:t> Human genome project, protein folding, …</a:t>
            </a:r>
            <a:endParaRPr sz="16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980000"/>
                </a:solidFill>
              </a:rPr>
              <a:t>Data Mining. </a:t>
            </a:r>
            <a:r>
              <a:rPr lang="en" sz="1600" dirty="0">
                <a:solidFill>
                  <a:srgbClr val="434343"/>
                </a:solidFill>
              </a:rPr>
              <a:t>Text Classification, Text Clustering, Page Rank</a:t>
            </a:r>
            <a:endParaRPr sz="1600" dirty="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980000"/>
                </a:solidFill>
              </a:rPr>
              <a:t>Security. </a:t>
            </a:r>
            <a:r>
              <a:rPr lang="en" sz="1600" dirty="0">
                <a:solidFill>
                  <a:srgbClr val="434343"/>
                </a:solidFill>
              </a:rPr>
              <a:t>E-commerce, Cell phones, Voting machine</a:t>
            </a:r>
            <a:endParaRPr sz="1600" dirty="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980000"/>
                </a:solidFill>
              </a:rPr>
              <a:t>Web programing. </a:t>
            </a:r>
            <a:r>
              <a:rPr lang="en" sz="1600" dirty="0">
                <a:solidFill>
                  <a:srgbClr val="434343"/>
                </a:solidFill>
              </a:rPr>
              <a:t>Sorting Algorithms, Searching algorithms</a:t>
            </a:r>
            <a:endParaRPr sz="1600" dirty="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980000"/>
                </a:solidFill>
              </a:rPr>
              <a:t>Graphics. </a:t>
            </a:r>
            <a:r>
              <a:rPr lang="en" sz="1600" dirty="0">
                <a:solidFill>
                  <a:srgbClr val="434343"/>
                </a:solidFill>
              </a:rPr>
              <a:t>Video Games, Virtual Reality,</a:t>
            </a:r>
            <a:endParaRPr sz="1600" dirty="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980000"/>
                </a:solidFill>
              </a:rPr>
              <a:t>Social networks. </a:t>
            </a:r>
            <a:r>
              <a:rPr lang="en" sz="1600" dirty="0">
                <a:solidFill>
                  <a:srgbClr val="434343"/>
                </a:solidFill>
              </a:rPr>
              <a:t>Recommendations, news feed</a:t>
            </a:r>
            <a:endParaRPr sz="1600" dirty="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980000"/>
                </a:solidFill>
              </a:rPr>
              <a:t>Machine Learning AI. </a:t>
            </a:r>
            <a:r>
              <a:rPr lang="en" sz="1600" dirty="0">
                <a:solidFill>
                  <a:srgbClr val="434343"/>
                </a:solidFill>
              </a:rPr>
              <a:t>Linear Regression Algorithm, Deep Neural Networks such RNN, CNN</a:t>
            </a:r>
            <a:endParaRPr sz="1600" dirty="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 dirty="0">
                <a:solidFill>
                  <a:srgbClr val="980000"/>
                </a:solidFill>
              </a:rPr>
              <a:t>Robotics. </a:t>
            </a:r>
            <a:r>
              <a:rPr lang="en" sz="1600" dirty="0">
                <a:solidFill>
                  <a:srgbClr val="434343"/>
                </a:solidFill>
              </a:rPr>
              <a:t>Planning Algorithms.</a:t>
            </a:r>
            <a:endParaRPr sz="1600" dirty="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en" sz="3000"/>
              <a:t>Why Study Algorithms?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>
              <a:spcBef>
                <a:spcPts val="1600"/>
              </a:spcBef>
            </a:pPr>
            <a:r>
              <a:rPr lang="en-US" dirty="0">
                <a:solidFill>
                  <a:srgbClr val="000000"/>
                </a:solidFill>
              </a:rPr>
              <a:t>To become proficient programmer. </a:t>
            </a:r>
          </a:p>
          <a:p>
            <a:pPr marL="285750" indent="-285750">
              <a:spcBef>
                <a:spcPts val="1600"/>
              </a:spcBef>
            </a:pPr>
            <a:r>
              <a:rPr lang="en" dirty="0">
                <a:solidFill>
                  <a:srgbClr val="000000"/>
                </a:solidFill>
              </a:rPr>
              <a:t>To solve problems that could not be solved.</a:t>
            </a:r>
            <a:endParaRPr dirty="0">
              <a:solidFill>
                <a:srgbClr val="000000"/>
              </a:solidFill>
            </a:endParaRPr>
          </a:p>
          <a:p>
            <a:pPr marL="285750" indent="-285750">
              <a:spcBef>
                <a:spcPts val="1600"/>
              </a:spcBef>
            </a:pPr>
            <a:r>
              <a:rPr lang="en" dirty="0">
                <a:solidFill>
                  <a:srgbClr val="000000"/>
                </a:solidFill>
              </a:rPr>
              <a:t>For fun and profit.</a:t>
            </a:r>
            <a:endParaRPr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we are interested in Algorithms</a:t>
            </a:r>
            <a:endParaRPr/>
          </a:p>
        </p:txBody>
      </p:sp>
      <p:sp>
        <p:nvSpPr>
          <p:cNvPr id="137" name="Google Shape;137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Correctness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 dirty="0"/>
              <a:t>Does it work correctly?</a:t>
            </a:r>
            <a:endParaRPr sz="1800"/>
          </a:p>
          <a:p>
            <a:pPr lvl="0"/>
            <a:r>
              <a:rPr lang="en-US" dirty="0"/>
              <a:t>Performance/</a:t>
            </a:r>
            <a:r>
              <a:rPr lang="en" dirty="0"/>
              <a:t>Efficiency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 dirty="0"/>
              <a:t>How much time will it take? (Time Complexity)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 dirty="0"/>
              <a:t>How much space will it take? (Space Complexity)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Can We do it better?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What’s more important than performance?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3600" baseline="-25000" dirty="0"/>
              <a:t>Correctness</a:t>
            </a:r>
          </a:p>
          <a:p>
            <a:r>
              <a:rPr lang="en-US" sz="3600" baseline="-25000" dirty="0"/>
              <a:t>Robustness</a:t>
            </a:r>
          </a:p>
          <a:p>
            <a:r>
              <a:rPr lang="en-US" sz="3600" baseline="-25000" dirty="0"/>
              <a:t>User-friendliness</a:t>
            </a:r>
          </a:p>
          <a:p>
            <a:r>
              <a:rPr lang="en-US" sz="3600" baseline="-25000" dirty="0"/>
              <a:t>Simplicity</a:t>
            </a:r>
          </a:p>
          <a:p>
            <a:r>
              <a:rPr lang="en-US" sz="3600" baseline="-25000" dirty="0"/>
              <a:t>Extensibility</a:t>
            </a:r>
          </a:p>
          <a:p>
            <a:r>
              <a:rPr lang="en-US" sz="3600" baseline="-25000" dirty="0"/>
              <a:t>Reliability</a:t>
            </a:r>
          </a:p>
          <a:p>
            <a:pPr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Correct Algorithm</a:t>
            </a:r>
            <a:endParaRPr/>
          </a:p>
        </p:txBody>
      </p:sp>
      <p:sp>
        <p:nvSpPr>
          <p:cNvPr id="143" name="Google Shape;143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262626"/>
                </a:solidFill>
              </a:rPr>
              <a:t>An algorithm is said to be </a:t>
            </a:r>
            <a:r>
              <a:rPr lang="en" sz="2200" b="1" i="1">
                <a:solidFill>
                  <a:srgbClr val="262626"/>
                </a:solidFill>
              </a:rPr>
              <a:t>correct </a:t>
            </a:r>
            <a:r>
              <a:rPr lang="en" sz="2200">
                <a:solidFill>
                  <a:srgbClr val="262626"/>
                </a:solidFill>
              </a:rPr>
              <a:t>if, for every input instance, it halts with the correct output.</a:t>
            </a:r>
            <a:endParaRPr sz="2200">
              <a:solidFill>
                <a:srgbClr val="262626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200">
              <a:solidFill>
                <a:srgbClr val="262626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>
              <a:solidFill>
                <a:srgbClr val="26262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44" name="Google Shape;144;p27"/>
          <p:cNvSpPr/>
          <p:nvPr/>
        </p:nvSpPr>
        <p:spPr>
          <a:xfrm>
            <a:off x="2887100" y="2817725"/>
            <a:ext cx="1032300" cy="857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Algorithm</a:t>
            </a:r>
            <a:endParaRPr/>
          </a:p>
        </p:txBody>
      </p:sp>
      <p:cxnSp>
        <p:nvCxnSpPr>
          <p:cNvPr id="145" name="Google Shape;145;p27"/>
          <p:cNvCxnSpPr>
            <a:endCxn id="144" idx="1"/>
          </p:cNvCxnSpPr>
          <p:nvPr/>
        </p:nvCxnSpPr>
        <p:spPr>
          <a:xfrm rot="10800000" flipH="1">
            <a:off x="1987400" y="3246425"/>
            <a:ext cx="899700" cy="16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6" name="Google Shape;146;p27"/>
          <p:cNvSpPr txBox="1"/>
          <p:nvPr/>
        </p:nvSpPr>
        <p:spPr>
          <a:xfrm>
            <a:off x="2128450" y="2893925"/>
            <a:ext cx="617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</a:t>
            </a:r>
            <a:endParaRPr/>
          </a:p>
        </p:txBody>
      </p:sp>
      <p:sp>
        <p:nvSpPr>
          <p:cNvPr id="147" name="Google Shape;147;p27"/>
          <p:cNvSpPr/>
          <p:nvPr/>
        </p:nvSpPr>
        <p:spPr>
          <a:xfrm>
            <a:off x="5331525" y="2256150"/>
            <a:ext cx="2001000" cy="4701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Correct Output</a:t>
            </a:r>
            <a:endParaRPr sz="1300"/>
          </a:p>
        </p:txBody>
      </p:sp>
      <p:sp>
        <p:nvSpPr>
          <p:cNvPr id="148" name="Google Shape;148;p27"/>
          <p:cNvSpPr/>
          <p:nvPr/>
        </p:nvSpPr>
        <p:spPr>
          <a:xfrm>
            <a:off x="5331525" y="3019875"/>
            <a:ext cx="2001000" cy="4701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Incorrect Output</a:t>
            </a:r>
            <a:endParaRPr sz="1300"/>
          </a:p>
        </p:txBody>
      </p:sp>
      <p:sp>
        <p:nvSpPr>
          <p:cNvPr id="149" name="Google Shape;149;p27"/>
          <p:cNvSpPr/>
          <p:nvPr/>
        </p:nvSpPr>
        <p:spPr>
          <a:xfrm>
            <a:off x="5389900" y="3783600"/>
            <a:ext cx="2001000" cy="4701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Loop Infinitely</a:t>
            </a:r>
            <a:endParaRPr sz="1300"/>
          </a:p>
        </p:txBody>
      </p:sp>
      <p:cxnSp>
        <p:nvCxnSpPr>
          <p:cNvPr id="150" name="Google Shape;150;p27"/>
          <p:cNvCxnSpPr>
            <a:stCxn id="144" idx="3"/>
            <a:endCxn id="147" idx="2"/>
          </p:cNvCxnSpPr>
          <p:nvPr/>
        </p:nvCxnSpPr>
        <p:spPr>
          <a:xfrm rot="10800000" flipH="1">
            <a:off x="3919400" y="2491325"/>
            <a:ext cx="1412100" cy="755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1" name="Google Shape;151;p27"/>
          <p:cNvCxnSpPr>
            <a:stCxn id="144" idx="3"/>
            <a:endCxn id="149" idx="2"/>
          </p:cNvCxnSpPr>
          <p:nvPr/>
        </p:nvCxnSpPr>
        <p:spPr>
          <a:xfrm>
            <a:off x="3919400" y="3246425"/>
            <a:ext cx="1470600" cy="772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2" name="Google Shape;152;p27"/>
          <p:cNvCxnSpPr>
            <a:stCxn id="144" idx="3"/>
            <a:endCxn id="148" idx="2"/>
          </p:cNvCxnSpPr>
          <p:nvPr/>
        </p:nvCxnSpPr>
        <p:spPr>
          <a:xfrm>
            <a:off x="3919400" y="3246425"/>
            <a:ext cx="1412100" cy="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measure an algorithm?</a:t>
            </a:r>
            <a:endParaRPr/>
          </a:p>
        </p:txBody>
      </p:sp>
      <p:sp>
        <p:nvSpPr>
          <p:cNvPr id="158" name="Google Shape;158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en" sz="2400" dirty="0">
                <a:solidFill>
                  <a:srgbClr val="434343"/>
                </a:solidFill>
              </a:rPr>
              <a:t>The number of key operations</a:t>
            </a:r>
            <a:endParaRPr sz="2400" dirty="0">
              <a:solidFill>
                <a:srgbClr val="434343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en" sz="2400" dirty="0">
                <a:solidFill>
                  <a:srgbClr val="434343"/>
                </a:solidFill>
              </a:rPr>
              <a:t>The number of space units needed</a:t>
            </a: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endParaRPr lang="en" sz="2400" dirty="0">
              <a:solidFill>
                <a:srgbClr val="434343"/>
              </a:solidFill>
            </a:endParaRPr>
          </a:p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en-US" sz="2400" dirty="0">
                <a:solidFill>
                  <a:srgbClr val="434343"/>
                </a:solidFill>
              </a:rPr>
              <a:t>E.g. Search a book in a box of books</a:t>
            </a: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Char char="○"/>
            </a:pPr>
            <a:r>
              <a:rPr lang="en-US" sz="2000" dirty="0">
                <a:solidFill>
                  <a:srgbClr val="434343"/>
                </a:solidFill>
              </a:rPr>
              <a:t>Key operation: check the title of a book</a:t>
            </a: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Char char="○"/>
            </a:pPr>
            <a:r>
              <a:rPr lang="en-US" sz="2000" dirty="0">
                <a:solidFill>
                  <a:srgbClr val="434343"/>
                </a:solidFill>
              </a:rPr>
              <a:t>Space unit: the space for one book</a:t>
            </a: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endParaRPr sz="2400" dirty="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2"/>
          <p:cNvSpPr txBox="1">
            <a:spLocks noGrp="1"/>
          </p:cNvSpPr>
          <p:nvPr>
            <p:ph type="title" idx="4294967295"/>
          </p:nvPr>
        </p:nvSpPr>
        <p:spPr>
          <a:xfrm>
            <a:off x="311700" y="371175"/>
            <a:ext cx="8520600" cy="646500"/>
          </a:xfrm>
          <a:prstGeom prst="rect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>
                <a:solidFill>
                  <a:schemeClr val="accent5"/>
                </a:solidFill>
                <a:latin typeface="Lato Light"/>
                <a:ea typeface="Lato Light"/>
                <a:cs typeface="Lato Light"/>
                <a:sym typeface="Lato Light"/>
              </a:rPr>
              <a:t>Which Running Time Is Better? (Less is better</a:t>
            </a:r>
            <a:r>
              <a:rPr lang="en" sz="3600" dirty="0">
                <a:solidFill>
                  <a:schemeClr val="accent5"/>
                </a:solidFill>
                <a:latin typeface="Lato Light"/>
                <a:ea typeface="Lato Light"/>
                <a:cs typeface="Lato Light"/>
                <a:sym typeface="Lato Light"/>
              </a:rPr>
              <a:t>)</a:t>
            </a:r>
            <a:endParaRPr sz="3600" dirty="0">
              <a:solidFill>
                <a:schemeClr val="accent5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67" name="Google Shape;167;p32"/>
          <p:cNvSpPr/>
          <p:nvPr/>
        </p:nvSpPr>
        <p:spPr>
          <a:xfrm>
            <a:off x="2149500" y="1524925"/>
            <a:ext cx="4689600" cy="12837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>
                <a:solidFill>
                  <a:srgbClr val="CC0000"/>
                </a:solidFill>
                <a:latin typeface="Assistant ExtraLight"/>
                <a:ea typeface="Assistant ExtraLight"/>
                <a:cs typeface="Assistant ExtraLight"/>
                <a:sym typeface="Assistant ExtraLight"/>
              </a:rPr>
              <a:t>Is 1000000n operations better than 4n</a:t>
            </a:r>
            <a:r>
              <a:rPr lang="en" sz="2000" baseline="30000" dirty="0">
                <a:solidFill>
                  <a:srgbClr val="CC0000"/>
                </a:solidFill>
                <a:latin typeface="Assistant ExtraLight"/>
                <a:ea typeface="Assistant ExtraLight"/>
                <a:cs typeface="Assistant ExtraLight"/>
                <a:sym typeface="Assistant ExtraLight"/>
              </a:rPr>
              <a:t>2</a:t>
            </a:r>
            <a:r>
              <a:rPr lang="en" sz="2000" dirty="0">
                <a:solidFill>
                  <a:srgbClr val="CC0000"/>
                </a:solidFill>
                <a:latin typeface="Assistant ExtraLight"/>
                <a:ea typeface="Assistant ExtraLight"/>
                <a:cs typeface="Assistant ExtraLight"/>
                <a:sym typeface="Assistant ExtraLight"/>
              </a:rPr>
              <a:t>? </a:t>
            </a:r>
            <a:endParaRPr sz="2000" dirty="0">
              <a:solidFill>
                <a:srgbClr val="CC0000"/>
              </a:solidFill>
              <a:latin typeface="Assistant ExtraLight"/>
              <a:ea typeface="Assistant ExtraLight"/>
              <a:cs typeface="Assistant ExtraLight"/>
              <a:sym typeface="Assistant ExtraLight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>
                <a:solidFill>
                  <a:srgbClr val="CC0000"/>
                </a:solidFill>
                <a:latin typeface="Assistant ExtraLight"/>
                <a:ea typeface="Assistant ExtraLight"/>
                <a:cs typeface="Assistant ExtraLight"/>
                <a:sym typeface="Assistant ExtraLight"/>
              </a:rPr>
              <a:t>Is 0.000001n</a:t>
            </a:r>
            <a:r>
              <a:rPr lang="en" sz="2000" baseline="30000" dirty="0">
                <a:solidFill>
                  <a:srgbClr val="CC0000"/>
                </a:solidFill>
                <a:latin typeface="Assistant ExtraLight"/>
                <a:ea typeface="Assistant ExtraLight"/>
                <a:cs typeface="Assistant ExtraLight"/>
                <a:sym typeface="Assistant ExtraLight"/>
              </a:rPr>
              <a:t>3</a:t>
            </a:r>
            <a:r>
              <a:rPr lang="en" sz="2000" dirty="0">
                <a:solidFill>
                  <a:srgbClr val="CC0000"/>
                </a:solidFill>
                <a:latin typeface="Assistant ExtraLight"/>
                <a:ea typeface="Assistant ExtraLight"/>
                <a:cs typeface="Assistant ExtraLight"/>
                <a:sym typeface="Assistant ExtraLight"/>
              </a:rPr>
              <a:t> operations better than 4n</a:t>
            </a:r>
            <a:r>
              <a:rPr lang="en" sz="2000" baseline="30000" dirty="0">
                <a:solidFill>
                  <a:srgbClr val="CC0000"/>
                </a:solidFill>
                <a:latin typeface="Assistant ExtraLight"/>
                <a:ea typeface="Assistant ExtraLight"/>
                <a:cs typeface="Assistant ExtraLight"/>
                <a:sym typeface="Assistant ExtraLight"/>
              </a:rPr>
              <a:t>2</a:t>
            </a:r>
            <a:r>
              <a:rPr lang="en" sz="2000" dirty="0">
                <a:solidFill>
                  <a:srgbClr val="CC0000"/>
                </a:solidFill>
                <a:latin typeface="Assistant ExtraLight"/>
                <a:ea typeface="Assistant ExtraLight"/>
                <a:cs typeface="Assistant ExtraLight"/>
                <a:sym typeface="Assistant ExtraLight"/>
              </a:rPr>
              <a:t>? </a:t>
            </a:r>
            <a:endParaRPr sz="2000" dirty="0">
              <a:solidFill>
                <a:srgbClr val="CC0000"/>
              </a:solidFill>
              <a:latin typeface="Assistant ExtraLight"/>
              <a:ea typeface="Assistant ExtraLight"/>
              <a:cs typeface="Assistant ExtraLight"/>
              <a:sym typeface="Assistant ExtraLight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>
                <a:solidFill>
                  <a:srgbClr val="CC0000"/>
                </a:solidFill>
                <a:latin typeface="Assistant ExtraLight"/>
                <a:ea typeface="Assistant ExtraLight"/>
                <a:cs typeface="Assistant ExtraLight"/>
                <a:sym typeface="Assistant ExtraLight"/>
              </a:rPr>
              <a:t>Is 3n</a:t>
            </a:r>
            <a:r>
              <a:rPr lang="en" sz="2000" baseline="30000" dirty="0">
                <a:solidFill>
                  <a:srgbClr val="CC0000"/>
                </a:solidFill>
                <a:latin typeface="Assistant ExtraLight"/>
                <a:ea typeface="Assistant ExtraLight"/>
                <a:cs typeface="Assistant ExtraLight"/>
                <a:sym typeface="Assistant ExtraLight"/>
              </a:rPr>
              <a:t>2</a:t>
            </a:r>
            <a:r>
              <a:rPr lang="en" sz="2000" dirty="0">
                <a:solidFill>
                  <a:srgbClr val="CC0000"/>
                </a:solidFill>
                <a:latin typeface="Assistant ExtraLight"/>
                <a:ea typeface="Assistant ExtraLight"/>
                <a:cs typeface="Assistant ExtraLight"/>
                <a:sym typeface="Assistant ExtraLight"/>
              </a:rPr>
              <a:t> operations better than 4n</a:t>
            </a:r>
            <a:r>
              <a:rPr lang="en" sz="2000" baseline="30000" dirty="0">
                <a:solidFill>
                  <a:srgbClr val="CC0000"/>
                </a:solidFill>
                <a:latin typeface="Assistant ExtraLight"/>
                <a:ea typeface="Assistant ExtraLight"/>
                <a:cs typeface="Assistant ExtraLight"/>
                <a:sym typeface="Assistant ExtraLight"/>
              </a:rPr>
              <a:t>2</a:t>
            </a:r>
            <a:r>
              <a:rPr lang="en" sz="2000" dirty="0">
                <a:solidFill>
                  <a:srgbClr val="CC0000"/>
                </a:solidFill>
                <a:latin typeface="Assistant ExtraLight"/>
                <a:ea typeface="Assistant ExtraLight"/>
                <a:cs typeface="Assistant ExtraLight"/>
                <a:sym typeface="Assistant ExtraLight"/>
              </a:rPr>
              <a:t>?</a:t>
            </a:r>
            <a:endParaRPr sz="1600" dirty="0">
              <a:solidFill>
                <a:srgbClr val="CC0000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CC0000"/>
              </a:solidFill>
              <a:latin typeface="Assistant ExtraLight"/>
              <a:ea typeface="Assistant ExtraLight"/>
              <a:cs typeface="Assistant ExtraLight"/>
              <a:sym typeface="Assistant ExtraLight"/>
            </a:endParaRPr>
          </a:p>
        </p:txBody>
      </p:sp>
      <p:sp>
        <p:nvSpPr>
          <p:cNvPr id="168" name="Google Shape;168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779391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3"/>
          <p:cNvSpPr txBox="1">
            <a:spLocks noGrp="1"/>
          </p:cNvSpPr>
          <p:nvPr>
            <p:ph type="title" idx="4294967295"/>
          </p:nvPr>
        </p:nvSpPr>
        <p:spPr>
          <a:xfrm>
            <a:off x="311700" y="371175"/>
            <a:ext cx="8520600" cy="646500"/>
          </a:xfrm>
          <a:prstGeom prst="rect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SzPts val="1100"/>
            </a:pPr>
            <a:r>
              <a:rPr lang="en" sz="3200" dirty="0">
                <a:solidFill>
                  <a:schemeClr val="accent5"/>
                </a:solidFill>
                <a:latin typeface="Lato Light"/>
                <a:ea typeface="Lato Light"/>
                <a:cs typeface="Lato Light"/>
                <a:sym typeface="Lato Light"/>
              </a:rPr>
              <a:t>Which Running Time Is Better? (Less is better)</a:t>
            </a:r>
            <a:endParaRPr sz="3200" dirty="0">
              <a:solidFill>
                <a:schemeClr val="accent5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74" name="Google Shape;174;p33"/>
          <p:cNvSpPr txBox="1">
            <a:spLocks noGrp="1"/>
          </p:cNvSpPr>
          <p:nvPr>
            <p:ph type="body" idx="4294967295"/>
          </p:nvPr>
        </p:nvSpPr>
        <p:spPr>
          <a:xfrm>
            <a:off x="311700" y="2706275"/>
            <a:ext cx="8365200" cy="200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ssistant"/>
              <a:buChar char="●"/>
            </a:pPr>
            <a:r>
              <a:rPr lang="en" sz="2000" b="1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The answers for the first two depend on what value n is…</a:t>
            </a:r>
            <a:endParaRPr sz="2000" b="1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ssistant ExtraLight"/>
              <a:buChar char="○"/>
            </a:pPr>
            <a:r>
              <a:rPr lang="en" sz="1800">
                <a:solidFill>
                  <a:schemeClr val="dk1"/>
                </a:solidFill>
                <a:latin typeface="Assistant ExtraLight"/>
                <a:ea typeface="Assistant ExtraLight"/>
                <a:cs typeface="Assistant ExtraLight"/>
                <a:sym typeface="Assistant ExtraLight"/>
              </a:rPr>
              <a:t>1000000n &lt; 4n</a:t>
            </a:r>
            <a:r>
              <a:rPr lang="en" sz="1800" baseline="30000">
                <a:solidFill>
                  <a:schemeClr val="dk1"/>
                </a:solidFill>
                <a:latin typeface="Assistant ExtraLight"/>
                <a:ea typeface="Assistant ExtraLight"/>
                <a:cs typeface="Assistant ExtraLight"/>
                <a:sym typeface="Assistant ExtraLight"/>
              </a:rPr>
              <a:t>2</a:t>
            </a:r>
            <a:r>
              <a:rPr lang="en" sz="1800">
                <a:solidFill>
                  <a:schemeClr val="dk1"/>
                </a:solidFill>
                <a:latin typeface="Assistant ExtraLight"/>
                <a:ea typeface="Assistant ExtraLight"/>
                <a:cs typeface="Assistant ExtraLight"/>
                <a:sym typeface="Assistant ExtraLight"/>
              </a:rPr>
              <a:t> only when n exceeds a certain value (in this case, 250000)</a:t>
            </a:r>
            <a:endParaRPr sz="1800">
              <a:solidFill>
                <a:schemeClr val="dk1"/>
              </a:solidFill>
              <a:latin typeface="Assistant ExtraLight"/>
              <a:ea typeface="Assistant ExtraLight"/>
              <a:cs typeface="Assistant ExtraLight"/>
              <a:sym typeface="Assistant ExtraLight"/>
            </a:endParaRPr>
          </a:p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ssistant"/>
              <a:buChar char="●"/>
            </a:pPr>
            <a:r>
              <a:rPr lang="en" sz="2000" b="1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These constant multipliers are too environment-dependent...</a:t>
            </a:r>
            <a:endParaRPr sz="2000" b="1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ssistant ExtraLight"/>
              <a:buChar char="○"/>
            </a:pPr>
            <a:r>
              <a:rPr lang="en" sz="1800">
                <a:solidFill>
                  <a:schemeClr val="dk1"/>
                </a:solidFill>
                <a:latin typeface="Assistant ExtraLight"/>
                <a:ea typeface="Assistant ExtraLight"/>
                <a:cs typeface="Assistant ExtraLight"/>
                <a:sym typeface="Assistant ExtraLight"/>
              </a:rPr>
              <a:t>An operation could be faster/slower depending on the machine, so 3n</a:t>
            </a:r>
            <a:r>
              <a:rPr lang="en" sz="1800" baseline="30000">
                <a:solidFill>
                  <a:schemeClr val="dk1"/>
                </a:solidFill>
                <a:latin typeface="Assistant ExtraLight"/>
                <a:ea typeface="Assistant ExtraLight"/>
                <a:cs typeface="Assistant ExtraLight"/>
                <a:sym typeface="Assistant ExtraLight"/>
              </a:rPr>
              <a:t>2</a:t>
            </a:r>
            <a:r>
              <a:rPr lang="en" sz="1800">
                <a:solidFill>
                  <a:schemeClr val="dk1"/>
                </a:solidFill>
                <a:latin typeface="Assistant ExtraLight"/>
                <a:ea typeface="Assistant ExtraLight"/>
                <a:cs typeface="Assistant ExtraLight"/>
                <a:sym typeface="Assistant ExtraLight"/>
              </a:rPr>
              <a:t> ops on a slow machine might not be “better” than 4n</a:t>
            </a:r>
            <a:r>
              <a:rPr lang="en" sz="1800" baseline="30000">
                <a:solidFill>
                  <a:schemeClr val="dk1"/>
                </a:solidFill>
                <a:latin typeface="Assistant ExtraLight"/>
                <a:ea typeface="Assistant ExtraLight"/>
                <a:cs typeface="Assistant ExtraLight"/>
                <a:sym typeface="Assistant ExtraLight"/>
              </a:rPr>
              <a:t>2</a:t>
            </a:r>
            <a:r>
              <a:rPr lang="en" sz="1800">
                <a:solidFill>
                  <a:schemeClr val="dk1"/>
                </a:solidFill>
                <a:latin typeface="Assistant ExtraLight"/>
                <a:ea typeface="Assistant ExtraLight"/>
                <a:cs typeface="Assistant ExtraLight"/>
                <a:sym typeface="Assistant ExtraLight"/>
              </a:rPr>
              <a:t> ops on a faster machine</a:t>
            </a:r>
            <a:endParaRPr sz="1800">
              <a:solidFill>
                <a:schemeClr val="dk1"/>
              </a:solidFill>
              <a:latin typeface="Assistant ExtraLight"/>
              <a:ea typeface="Assistant ExtraLight"/>
              <a:cs typeface="Assistant ExtraLight"/>
              <a:sym typeface="Assistant ExtraLight"/>
            </a:endParaRPr>
          </a:p>
        </p:txBody>
      </p:sp>
      <p:sp>
        <p:nvSpPr>
          <p:cNvPr id="175" name="Google Shape;175;p33"/>
          <p:cNvSpPr/>
          <p:nvPr/>
        </p:nvSpPr>
        <p:spPr>
          <a:xfrm>
            <a:off x="2149500" y="1372525"/>
            <a:ext cx="4689600" cy="12837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CC0000"/>
                </a:solidFill>
                <a:latin typeface="Assistant ExtraLight"/>
                <a:ea typeface="Assistant ExtraLight"/>
                <a:cs typeface="Assistant ExtraLight"/>
                <a:sym typeface="Assistant ExtraLight"/>
              </a:rPr>
              <a:t>Is 1000000n operations better than 4n</a:t>
            </a:r>
            <a:r>
              <a:rPr lang="en" sz="2000" baseline="30000" dirty="0">
                <a:solidFill>
                  <a:srgbClr val="CC0000"/>
                </a:solidFill>
                <a:latin typeface="Assistant ExtraLight"/>
                <a:ea typeface="Assistant ExtraLight"/>
                <a:cs typeface="Assistant ExtraLight"/>
                <a:sym typeface="Assistant ExtraLight"/>
              </a:rPr>
              <a:t>2</a:t>
            </a:r>
            <a:r>
              <a:rPr lang="en" sz="2000" dirty="0">
                <a:solidFill>
                  <a:srgbClr val="CC0000"/>
                </a:solidFill>
                <a:latin typeface="Assistant ExtraLight"/>
                <a:ea typeface="Assistant ExtraLight"/>
                <a:cs typeface="Assistant ExtraLight"/>
                <a:sym typeface="Assistant ExtraLight"/>
              </a:rPr>
              <a:t>? </a:t>
            </a:r>
            <a:endParaRPr sz="2000" dirty="0">
              <a:solidFill>
                <a:srgbClr val="CC0000"/>
              </a:solidFill>
              <a:latin typeface="Assistant ExtraLight"/>
              <a:ea typeface="Assistant ExtraLight"/>
              <a:cs typeface="Assistant ExtraLight"/>
              <a:sym typeface="Assistant ExtraLight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CC0000"/>
                </a:solidFill>
                <a:latin typeface="Assistant ExtraLight"/>
                <a:ea typeface="Assistant ExtraLight"/>
                <a:cs typeface="Assistant ExtraLight"/>
                <a:sym typeface="Assistant ExtraLight"/>
              </a:rPr>
              <a:t>Is 0.000001n</a:t>
            </a:r>
            <a:r>
              <a:rPr lang="en" sz="2000" baseline="30000" dirty="0">
                <a:solidFill>
                  <a:srgbClr val="CC0000"/>
                </a:solidFill>
                <a:latin typeface="Assistant ExtraLight"/>
                <a:ea typeface="Assistant ExtraLight"/>
                <a:cs typeface="Assistant ExtraLight"/>
                <a:sym typeface="Assistant ExtraLight"/>
              </a:rPr>
              <a:t>3</a:t>
            </a:r>
            <a:r>
              <a:rPr lang="en" sz="2000" dirty="0">
                <a:solidFill>
                  <a:srgbClr val="CC0000"/>
                </a:solidFill>
                <a:latin typeface="Assistant ExtraLight"/>
                <a:ea typeface="Assistant ExtraLight"/>
                <a:cs typeface="Assistant ExtraLight"/>
                <a:sym typeface="Assistant ExtraLight"/>
              </a:rPr>
              <a:t> operations better than 4n</a:t>
            </a:r>
            <a:r>
              <a:rPr lang="en" sz="2000" baseline="30000" dirty="0">
                <a:solidFill>
                  <a:srgbClr val="CC0000"/>
                </a:solidFill>
                <a:latin typeface="Assistant ExtraLight"/>
                <a:ea typeface="Assistant ExtraLight"/>
                <a:cs typeface="Assistant ExtraLight"/>
                <a:sym typeface="Assistant ExtraLight"/>
              </a:rPr>
              <a:t>2</a:t>
            </a:r>
            <a:r>
              <a:rPr lang="en" sz="2000" dirty="0">
                <a:solidFill>
                  <a:srgbClr val="CC0000"/>
                </a:solidFill>
                <a:latin typeface="Assistant ExtraLight"/>
                <a:ea typeface="Assistant ExtraLight"/>
                <a:cs typeface="Assistant ExtraLight"/>
                <a:sym typeface="Assistant ExtraLight"/>
              </a:rPr>
              <a:t>? </a:t>
            </a:r>
            <a:endParaRPr sz="2000" dirty="0">
              <a:solidFill>
                <a:srgbClr val="CC0000"/>
              </a:solidFill>
              <a:latin typeface="Assistant ExtraLight"/>
              <a:ea typeface="Assistant ExtraLight"/>
              <a:cs typeface="Assistant ExtraLight"/>
              <a:sym typeface="Assistant ExtraLight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CC0000"/>
                </a:solidFill>
                <a:latin typeface="Assistant ExtraLight"/>
                <a:ea typeface="Assistant ExtraLight"/>
                <a:cs typeface="Assistant ExtraLight"/>
                <a:sym typeface="Assistant ExtraLight"/>
              </a:rPr>
              <a:t>Is 3n</a:t>
            </a:r>
            <a:r>
              <a:rPr lang="en" sz="2000" baseline="30000" dirty="0">
                <a:solidFill>
                  <a:srgbClr val="CC0000"/>
                </a:solidFill>
                <a:latin typeface="Assistant ExtraLight"/>
                <a:ea typeface="Assistant ExtraLight"/>
                <a:cs typeface="Assistant ExtraLight"/>
                <a:sym typeface="Assistant ExtraLight"/>
              </a:rPr>
              <a:t>2</a:t>
            </a:r>
            <a:r>
              <a:rPr lang="en" sz="2000" dirty="0">
                <a:solidFill>
                  <a:srgbClr val="CC0000"/>
                </a:solidFill>
                <a:latin typeface="Assistant ExtraLight"/>
                <a:ea typeface="Assistant ExtraLight"/>
                <a:cs typeface="Assistant ExtraLight"/>
                <a:sym typeface="Assistant ExtraLight"/>
              </a:rPr>
              <a:t> operations better than 4n</a:t>
            </a:r>
            <a:r>
              <a:rPr lang="en" sz="2000" baseline="30000" dirty="0">
                <a:solidFill>
                  <a:srgbClr val="CC0000"/>
                </a:solidFill>
                <a:latin typeface="Assistant ExtraLight"/>
                <a:ea typeface="Assistant ExtraLight"/>
                <a:cs typeface="Assistant ExtraLight"/>
                <a:sym typeface="Assistant ExtraLight"/>
              </a:rPr>
              <a:t>2</a:t>
            </a:r>
            <a:r>
              <a:rPr lang="en" sz="2000" dirty="0">
                <a:solidFill>
                  <a:srgbClr val="CC0000"/>
                </a:solidFill>
                <a:latin typeface="Assistant ExtraLight"/>
                <a:ea typeface="Assistant ExtraLight"/>
                <a:cs typeface="Assistant ExtraLight"/>
                <a:sym typeface="Assistant ExtraLight"/>
              </a:rPr>
              <a:t>?</a:t>
            </a:r>
            <a:endParaRPr sz="1600" dirty="0">
              <a:solidFill>
                <a:srgbClr val="CC0000"/>
              </a:solidFill>
            </a:endParaRPr>
          </a:p>
        </p:txBody>
      </p:sp>
      <p:sp>
        <p:nvSpPr>
          <p:cNvPr id="176" name="Google Shape;176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63678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4"/>
          <p:cNvSpPr txBox="1">
            <a:spLocks noGrp="1"/>
          </p:cNvSpPr>
          <p:nvPr>
            <p:ph type="title" idx="4294967295"/>
          </p:nvPr>
        </p:nvSpPr>
        <p:spPr>
          <a:xfrm>
            <a:off x="311700" y="371175"/>
            <a:ext cx="8520600" cy="646500"/>
          </a:xfrm>
          <a:prstGeom prst="rect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600">
                <a:solidFill>
                  <a:schemeClr val="accent5"/>
                </a:solidFill>
                <a:latin typeface="Lato Light"/>
                <a:ea typeface="Lato Light"/>
                <a:cs typeface="Lato Light"/>
                <a:sym typeface="Lato Light"/>
              </a:rPr>
              <a:t>Which Running Time Is Better?</a:t>
            </a:r>
            <a:endParaRPr sz="3600">
              <a:solidFill>
                <a:schemeClr val="accent5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82" name="Google Shape;182;p34"/>
          <p:cNvSpPr/>
          <p:nvPr/>
        </p:nvSpPr>
        <p:spPr>
          <a:xfrm>
            <a:off x="141500" y="1478625"/>
            <a:ext cx="8758800" cy="12837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ssistant ExtraLight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ssistant ExtraLight"/>
              </a:rPr>
              <a:t>Computer A </a:t>
            </a:r>
            <a:r>
              <a:rPr lang="en" sz="17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ssistant"/>
              </a:rPr>
              <a:t>(Faster)</a:t>
            </a:r>
            <a:r>
              <a:rPr lang="en" sz="17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ssistant ExtraLight"/>
              </a:rPr>
              <a:t>: Run algorithm of </a:t>
            </a:r>
            <a:r>
              <a:rPr lang="en" sz="23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ssistant"/>
              </a:rPr>
              <a:t>2n</a:t>
            </a:r>
            <a:r>
              <a:rPr lang="en" sz="2300" b="1" baseline="30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ssistant"/>
              </a:rPr>
              <a:t>2</a:t>
            </a:r>
            <a:r>
              <a:rPr lang="en" sz="17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ssistant ExtraLight"/>
              </a:rPr>
              <a:t> complexity. Run 10 billions instruction per second.</a:t>
            </a:r>
            <a:endParaRPr sz="17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ssistant ExtraLight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ssistant ExtraLight"/>
              </a:rPr>
              <a:t>Computer B </a:t>
            </a:r>
            <a:r>
              <a:rPr lang="en" sz="17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ssistant"/>
              </a:rPr>
              <a:t>(Slower)</a:t>
            </a:r>
            <a:r>
              <a:rPr lang="en" sz="17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ssistant ExtraLight"/>
              </a:rPr>
              <a:t>:  Run Algorithm </a:t>
            </a:r>
            <a:r>
              <a:rPr lang="en" sz="2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ssistant"/>
              </a:rPr>
              <a:t>50 n log n</a:t>
            </a:r>
            <a:r>
              <a:rPr lang="en" sz="17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ssistant ExtraLight"/>
              </a:rPr>
              <a:t> complexity. Run 10 millions instruction per second.</a:t>
            </a:r>
            <a:endParaRPr sz="17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ssistant Extra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ssistant ExtraLight"/>
              </a:rPr>
              <a:t>Input length </a:t>
            </a:r>
            <a:r>
              <a:rPr lang="en" sz="17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ssistant"/>
              </a:rPr>
              <a:t>n = 10</a:t>
            </a:r>
            <a:r>
              <a:rPr lang="en" sz="17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ssistant ExtraLight"/>
              </a:rPr>
              <a:t> millions</a:t>
            </a:r>
            <a:endParaRPr sz="17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ssistant ExtraLight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ssistant ExtraLight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ssistant ExtraLight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3" name="Google Shape;183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29</a:t>
            </a:fld>
            <a:endParaRPr/>
          </a:p>
        </p:txBody>
      </p:sp>
      <p:cxnSp>
        <p:nvCxnSpPr>
          <p:cNvPr id="184" name="Google Shape;184;p34"/>
          <p:cNvCxnSpPr/>
          <p:nvPr/>
        </p:nvCxnSpPr>
        <p:spPr>
          <a:xfrm>
            <a:off x="1270275" y="3179325"/>
            <a:ext cx="1678200" cy="1140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5" name="Google Shape;185;p34"/>
          <p:cNvSpPr txBox="1"/>
          <p:nvPr/>
        </p:nvSpPr>
        <p:spPr>
          <a:xfrm>
            <a:off x="3571700" y="2880550"/>
            <a:ext cx="52605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 b="1" dirty="0">
                <a:solidFill>
                  <a:srgbClr val="CC0000"/>
                </a:solidFill>
                <a:latin typeface="Assistant"/>
                <a:ea typeface="Assistant"/>
                <a:cs typeface="Assistant"/>
                <a:sym typeface="Assistant"/>
              </a:rPr>
              <a:t>= 20,000 seconds (&gt; 5.5 hours) </a:t>
            </a:r>
            <a:endParaRPr sz="1200"/>
          </a:p>
        </p:txBody>
      </p:sp>
      <p:sp>
        <p:nvSpPr>
          <p:cNvPr id="186" name="Google Shape;186;p34"/>
          <p:cNvSpPr txBox="1"/>
          <p:nvPr/>
        </p:nvSpPr>
        <p:spPr>
          <a:xfrm>
            <a:off x="62550" y="2332825"/>
            <a:ext cx="3919500" cy="1458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CC0000"/>
              </a:solidFill>
              <a:latin typeface="Assistant ExtraLight"/>
              <a:ea typeface="Assistant ExtraLight"/>
              <a:cs typeface="Assistant ExtraLight"/>
              <a:sym typeface="Assistant ExtraLight"/>
            </a:endParaRPr>
          </a:p>
          <a:p>
            <a:pPr marL="91440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b="1" dirty="0">
                <a:solidFill>
                  <a:srgbClr val="CC0000"/>
                </a:solidFill>
                <a:latin typeface="Assistant"/>
                <a:ea typeface="Assistant"/>
                <a:cs typeface="Assistant"/>
                <a:sym typeface="Assistant"/>
              </a:rPr>
              <a:t>2 . (10</a:t>
            </a:r>
            <a:r>
              <a:rPr lang="en" sz="2700" b="1" baseline="30000" dirty="0">
                <a:solidFill>
                  <a:srgbClr val="CC0000"/>
                </a:solidFill>
                <a:latin typeface="Assistant"/>
                <a:ea typeface="Assistant"/>
                <a:cs typeface="Assistant"/>
                <a:sym typeface="Assistant"/>
              </a:rPr>
              <a:t>7</a:t>
            </a:r>
            <a:r>
              <a:rPr lang="en" sz="2700" b="1" dirty="0">
                <a:solidFill>
                  <a:srgbClr val="CC0000"/>
                </a:solidFill>
                <a:latin typeface="Assistant"/>
                <a:ea typeface="Assistant"/>
                <a:cs typeface="Assistant"/>
                <a:sym typeface="Assistant"/>
              </a:rPr>
              <a:t>)</a:t>
            </a:r>
            <a:r>
              <a:rPr lang="en" sz="2700" b="1" baseline="30000" dirty="0">
                <a:solidFill>
                  <a:srgbClr val="CC0000"/>
                </a:solidFill>
                <a:latin typeface="Assistant"/>
                <a:ea typeface="Assistant"/>
                <a:cs typeface="Assistant"/>
                <a:sym typeface="Assistant"/>
              </a:rPr>
              <a:t>2</a:t>
            </a:r>
            <a:r>
              <a:rPr lang="en" sz="1300" dirty="0">
                <a:solidFill>
                  <a:srgbClr val="CC0000"/>
                </a:solidFill>
                <a:latin typeface="Assistant"/>
                <a:ea typeface="Assistant"/>
                <a:cs typeface="Assistant"/>
                <a:sym typeface="Assistant"/>
              </a:rPr>
              <a:t>Instructions </a:t>
            </a:r>
            <a:r>
              <a:rPr lang="en" sz="2700" b="1" dirty="0">
                <a:solidFill>
                  <a:srgbClr val="CC0000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en" sz="2700" b="1" baseline="30000" dirty="0">
                <a:solidFill>
                  <a:srgbClr val="CC0000"/>
                </a:solidFill>
                <a:latin typeface="Assistant"/>
                <a:ea typeface="Assistant"/>
                <a:cs typeface="Assistant"/>
                <a:sym typeface="Assistant"/>
              </a:rPr>
              <a:t>      </a:t>
            </a:r>
            <a:endParaRPr sz="2700" b="1" baseline="30000" dirty="0">
              <a:solidFill>
                <a:srgbClr val="CC0000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13716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b="1" dirty="0">
                <a:solidFill>
                  <a:srgbClr val="CC0000"/>
                </a:solidFill>
                <a:latin typeface="Assistant"/>
                <a:ea typeface="Assistant"/>
                <a:cs typeface="Assistant"/>
                <a:sym typeface="Assistant"/>
              </a:rPr>
              <a:t>10</a:t>
            </a:r>
            <a:r>
              <a:rPr lang="en" sz="2700" b="1" baseline="30000" dirty="0">
                <a:solidFill>
                  <a:srgbClr val="CC0000"/>
                </a:solidFill>
                <a:latin typeface="Assistant"/>
                <a:ea typeface="Assistant"/>
                <a:cs typeface="Assistant"/>
                <a:sym typeface="Assistant"/>
              </a:rPr>
              <a:t>10 </a:t>
            </a:r>
            <a:r>
              <a:rPr lang="en" sz="1300" dirty="0">
                <a:solidFill>
                  <a:srgbClr val="CC0000"/>
                </a:solidFill>
                <a:latin typeface="Assistant"/>
                <a:ea typeface="Assistant"/>
                <a:cs typeface="Assistant"/>
                <a:sym typeface="Assistant"/>
              </a:rPr>
              <a:t>Instructions/second</a:t>
            </a:r>
            <a:endParaRPr dirty="0"/>
          </a:p>
        </p:txBody>
      </p:sp>
      <p:sp>
        <p:nvSpPr>
          <p:cNvPr id="187" name="Google Shape;187;p34"/>
          <p:cNvSpPr txBox="1"/>
          <p:nvPr/>
        </p:nvSpPr>
        <p:spPr>
          <a:xfrm>
            <a:off x="4005475" y="4258650"/>
            <a:ext cx="44076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rgbClr val="CC0000"/>
                </a:solidFill>
                <a:latin typeface="Assistant"/>
                <a:ea typeface="Assistant"/>
                <a:cs typeface="Assistant"/>
                <a:sym typeface="Assistant"/>
              </a:rPr>
              <a:t>= 1163 seconds (&lt; 20 minutes)</a:t>
            </a:r>
            <a:endParaRPr sz="1200"/>
          </a:p>
        </p:txBody>
      </p:sp>
      <p:sp>
        <p:nvSpPr>
          <p:cNvPr id="188" name="Google Shape;188;p34"/>
          <p:cNvSpPr txBox="1"/>
          <p:nvPr/>
        </p:nvSpPr>
        <p:spPr>
          <a:xfrm>
            <a:off x="-307575" y="3768750"/>
            <a:ext cx="4633200" cy="1458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CC0000"/>
              </a:solidFill>
              <a:latin typeface="Assistant ExtraLight"/>
              <a:ea typeface="Assistant ExtraLight"/>
              <a:cs typeface="Assistant ExtraLight"/>
              <a:sym typeface="Assistant ExtraLight"/>
            </a:endParaRPr>
          </a:p>
          <a:p>
            <a:pPr marL="91440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b="1" dirty="0">
                <a:solidFill>
                  <a:srgbClr val="CC0000"/>
                </a:solidFill>
                <a:latin typeface="Assistant"/>
                <a:ea typeface="Assistant"/>
                <a:cs typeface="Assistant"/>
                <a:sym typeface="Assistant"/>
              </a:rPr>
              <a:t>50 . 10</a:t>
            </a:r>
            <a:r>
              <a:rPr lang="en" sz="2700" b="1" baseline="30000" dirty="0">
                <a:solidFill>
                  <a:srgbClr val="CC0000"/>
                </a:solidFill>
                <a:latin typeface="Assistant"/>
                <a:ea typeface="Assistant"/>
                <a:cs typeface="Assistant"/>
                <a:sym typeface="Assistant"/>
              </a:rPr>
              <a:t>7 </a:t>
            </a:r>
            <a:r>
              <a:rPr lang="en" sz="2700" b="1" dirty="0">
                <a:solidFill>
                  <a:srgbClr val="CC0000"/>
                </a:solidFill>
                <a:latin typeface="Assistant"/>
                <a:ea typeface="Assistant"/>
                <a:cs typeface="Assistant"/>
                <a:sym typeface="Assistant"/>
              </a:rPr>
              <a:t>log 10</a:t>
            </a:r>
            <a:r>
              <a:rPr lang="en" sz="2700" b="1" baseline="30000" dirty="0">
                <a:solidFill>
                  <a:srgbClr val="CC0000"/>
                </a:solidFill>
                <a:latin typeface="Assistant"/>
                <a:ea typeface="Assistant"/>
                <a:cs typeface="Assistant"/>
                <a:sym typeface="Assistant"/>
              </a:rPr>
              <a:t>7</a:t>
            </a:r>
            <a:r>
              <a:rPr lang="en" sz="1300" dirty="0">
                <a:solidFill>
                  <a:srgbClr val="CC0000"/>
                </a:solidFill>
                <a:latin typeface="Assistant"/>
                <a:ea typeface="Assistant"/>
                <a:cs typeface="Assistant"/>
                <a:sym typeface="Assistant"/>
              </a:rPr>
              <a:t>Instructions </a:t>
            </a:r>
            <a:r>
              <a:rPr lang="en" sz="2700" b="1" dirty="0">
                <a:solidFill>
                  <a:srgbClr val="CC0000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en" sz="2700" b="1" baseline="30000" dirty="0">
                <a:solidFill>
                  <a:srgbClr val="CC0000"/>
                </a:solidFill>
                <a:latin typeface="Assistant"/>
                <a:ea typeface="Assistant"/>
                <a:cs typeface="Assistant"/>
                <a:sym typeface="Assistant"/>
              </a:rPr>
              <a:t>      </a:t>
            </a:r>
            <a:endParaRPr sz="2700" b="1" baseline="30000">
              <a:solidFill>
                <a:srgbClr val="CC0000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13716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b="1" dirty="0">
                <a:solidFill>
                  <a:srgbClr val="CC0000"/>
                </a:solidFill>
                <a:latin typeface="Assistant"/>
                <a:ea typeface="Assistant"/>
                <a:cs typeface="Assistant"/>
                <a:sym typeface="Assistant"/>
              </a:rPr>
              <a:t>10</a:t>
            </a:r>
            <a:r>
              <a:rPr lang="en" sz="2700" b="1" baseline="30000" dirty="0">
                <a:solidFill>
                  <a:srgbClr val="CC0000"/>
                </a:solidFill>
                <a:latin typeface="Assistant"/>
                <a:ea typeface="Assistant"/>
                <a:cs typeface="Assistant"/>
                <a:sym typeface="Assistant"/>
              </a:rPr>
              <a:t>7 </a:t>
            </a:r>
            <a:r>
              <a:rPr lang="en" sz="1300" dirty="0">
                <a:solidFill>
                  <a:srgbClr val="CC0000"/>
                </a:solidFill>
                <a:latin typeface="Assistant"/>
                <a:ea typeface="Assistant"/>
                <a:cs typeface="Assistant"/>
                <a:sym typeface="Assistant"/>
              </a:rPr>
              <a:t>Instructions/second</a:t>
            </a:r>
            <a:endParaRPr/>
          </a:p>
        </p:txBody>
      </p:sp>
      <p:cxnSp>
        <p:nvCxnSpPr>
          <p:cNvPr id="189" name="Google Shape;189;p34"/>
          <p:cNvCxnSpPr/>
          <p:nvPr/>
        </p:nvCxnSpPr>
        <p:spPr>
          <a:xfrm>
            <a:off x="998700" y="4638625"/>
            <a:ext cx="2047200" cy="2460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997071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" grpId="0"/>
      <p:bldP spid="186" grpId="0"/>
      <p:bldP spid="187" grpId="0"/>
      <p:bldP spid="188" grpId="0"/>
    </p:bld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1321</TotalTime>
  <Words>997</Words>
  <Application>Microsoft Office PowerPoint</Application>
  <PresentationFormat>On-screen Show (16:9)</PresentationFormat>
  <Paragraphs>190</Paragraphs>
  <Slides>29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29</vt:i4>
      </vt:variant>
    </vt:vector>
  </HeadingPairs>
  <TitlesOfParts>
    <vt:vector size="40" baseType="lpstr">
      <vt:lpstr>Lato Light</vt:lpstr>
      <vt:lpstr>Wingdings</vt:lpstr>
      <vt:lpstr>Inconsolata</vt:lpstr>
      <vt:lpstr>Arial</vt:lpstr>
      <vt:lpstr>Assistant</vt:lpstr>
      <vt:lpstr>Arial MT</vt:lpstr>
      <vt:lpstr>Times New Roman</vt:lpstr>
      <vt:lpstr>Assistant ExtraLight</vt:lpstr>
      <vt:lpstr>Calibri</vt:lpstr>
      <vt:lpstr>Simple Light</vt:lpstr>
      <vt:lpstr>Office Theme</vt:lpstr>
      <vt:lpstr>CS 2009 Design and Analysis of Algorithms</vt:lpstr>
      <vt:lpstr>PowerPoint Presentation</vt:lpstr>
      <vt:lpstr>Self Introduction</vt:lpstr>
      <vt:lpstr>Evaluation Plan</vt:lpstr>
      <vt:lpstr>PowerPoint Presentation</vt:lpstr>
      <vt:lpstr>Text &amp; Reference Books</vt:lpstr>
      <vt:lpstr>Course Objectives</vt:lpstr>
      <vt:lpstr>Knowledge tree</vt:lpstr>
      <vt:lpstr>PowerPoint Presentation</vt:lpstr>
      <vt:lpstr>What is Algorithm</vt:lpstr>
      <vt:lpstr>Algorithm Specification</vt:lpstr>
      <vt:lpstr>Algorithm Specification</vt:lpstr>
      <vt:lpstr>Examples of Algorithms - Walk</vt:lpstr>
      <vt:lpstr>Examples of Algorithms – Cook Noodles</vt:lpstr>
      <vt:lpstr>MULTIPLICATION: THE PROBLEM</vt:lpstr>
      <vt:lpstr>PowerPoint Presentation</vt:lpstr>
      <vt:lpstr>Web Search </vt:lpstr>
      <vt:lpstr>Personalized Recommendation</vt:lpstr>
      <vt:lpstr>Human Genome Project</vt:lpstr>
      <vt:lpstr>Security E-commerce</vt:lpstr>
      <vt:lpstr>Lot of Applications </vt:lpstr>
      <vt:lpstr>Why Study Algorithms? </vt:lpstr>
      <vt:lpstr>What we are interested in Algorithms</vt:lpstr>
      <vt:lpstr>What’s more important than performance? </vt:lpstr>
      <vt:lpstr>Correct Algorithm</vt:lpstr>
      <vt:lpstr>How to measure an algorithm?</vt:lpstr>
      <vt:lpstr>Which Running Time Is Better? (Less is better)</vt:lpstr>
      <vt:lpstr>Which Running Time Is Better? (Less is better)</vt:lpstr>
      <vt:lpstr>Which Running Time Is Better?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302 Design and Analysis of Algorithms</dc:title>
  <dc:creator>Waheed Ahmed Abro</dc:creator>
  <cp:lastModifiedBy>Zohaib ALI</cp:lastModifiedBy>
  <cp:revision>33</cp:revision>
  <dcterms:modified xsi:type="dcterms:W3CDTF">2025-02-11T07:53:02Z</dcterms:modified>
</cp:coreProperties>
</file>