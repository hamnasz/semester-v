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6" r:id="rId24"/>
    <p:sldId id="278" r:id="rId25"/>
    <p:sldId id="279" r:id="rId26"/>
    <p:sldId id="280" r:id="rId27"/>
    <p:sldId id="282" r:id="rId28"/>
    <p:sldId id="281" r:id="rId29"/>
    <p:sldId id="285" r:id="rId30"/>
    <p:sldId id="284" r:id="rId31"/>
    <p:sldId id="283"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103" d="100"/>
          <a:sy n="103" d="100"/>
        </p:scale>
        <p:origin x="69"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E5ABC2-D028-4344-B5D0-2FD0BBEC17E4}" type="datetimeFigureOut">
              <a:rPr lang="en-US" smtClean="0"/>
              <a:t>4/21/2025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9361-DE0F-40EB-B201-1A7B49884F79}" type="slidenum">
              <a:rPr lang="en-US" smtClean="0"/>
              <a:t>‹#›</a:t>
            </a:fld>
            <a:endParaRPr lang="en-US"/>
          </a:p>
        </p:txBody>
      </p:sp>
    </p:spTree>
    <p:extLst>
      <p:ext uri="{BB962C8B-B14F-4D97-AF65-F5344CB8AC3E}">
        <p14:creationId xmlns:p14="http://schemas.microsoft.com/office/powerpoint/2010/main" val="2737942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49361-DE0F-40EB-B201-1A7B49884F79}" type="slidenum">
              <a:rPr lang="en-US" smtClean="0"/>
              <a:t>2</a:t>
            </a:fld>
            <a:endParaRPr lang="en-US"/>
          </a:p>
        </p:txBody>
      </p:sp>
    </p:spTree>
    <p:extLst>
      <p:ext uri="{BB962C8B-B14F-4D97-AF65-F5344CB8AC3E}">
        <p14:creationId xmlns:p14="http://schemas.microsoft.com/office/powerpoint/2010/main" val="455972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49361-DE0F-40EB-B201-1A7B49884F79}" type="slidenum">
              <a:rPr lang="en-US" smtClean="0"/>
              <a:t>7</a:t>
            </a:fld>
            <a:endParaRPr lang="en-US"/>
          </a:p>
        </p:txBody>
      </p:sp>
    </p:spTree>
    <p:extLst>
      <p:ext uri="{BB962C8B-B14F-4D97-AF65-F5344CB8AC3E}">
        <p14:creationId xmlns:p14="http://schemas.microsoft.com/office/powerpoint/2010/main" val="3206091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01137-ECD3-76CB-B592-C9B62030B6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E0ACCB-321F-8FB3-195B-D91E56E5BC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9D944-EA4B-AC38-40D8-C8229270B4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218201-B0F0-C93D-087A-092B0E7D904D}"/>
              </a:ext>
            </a:extLst>
          </p:cNvPr>
          <p:cNvSpPr>
            <a:spLocks noGrp="1"/>
          </p:cNvSpPr>
          <p:nvPr>
            <p:ph type="sldNum" sz="quarter" idx="5"/>
          </p:nvPr>
        </p:nvSpPr>
        <p:spPr/>
        <p:txBody>
          <a:bodyPr/>
          <a:lstStyle/>
          <a:p>
            <a:fld id="{59E49361-DE0F-40EB-B201-1A7B49884F79}" type="slidenum">
              <a:rPr lang="en-US" smtClean="0"/>
              <a:t>8</a:t>
            </a:fld>
            <a:endParaRPr lang="en-US"/>
          </a:p>
        </p:txBody>
      </p:sp>
    </p:spTree>
    <p:extLst>
      <p:ext uri="{BB962C8B-B14F-4D97-AF65-F5344CB8AC3E}">
        <p14:creationId xmlns:p14="http://schemas.microsoft.com/office/powerpoint/2010/main" val="1124813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353EE-42AF-7195-78B7-DEE11B3F0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AD3301-281F-6779-5BEE-FC99F4FD52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F2A0A-984F-63F1-2EB1-C4F95F8B96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8D6DDF-237A-668B-695D-2F3310D896F7}"/>
              </a:ext>
            </a:extLst>
          </p:cNvPr>
          <p:cNvSpPr>
            <a:spLocks noGrp="1"/>
          </p:cNvSpPr>
          <p:nvPr>
            <p:ph type="sldNum" sz="quarter" idx="5"/>
          </p:nvPr>
        </p:nvSpPr>
        <p:spPr/>
        <p:txBody>
          <a:bodyPr/>
          <a:lstStyle/>
          <a:p>
            <a:fld id="{59E49361-DE0F-40EB-B201-1A7B49884F79}" type="slidenum">
              <a:rPr lang="en-US" smtClean="0"/>
              <a:t>9</a:t>
            </a:fld>
            <a:endParaRPr lang="en-US"/>
          </a:p>
        </p:txBody>
      </p:sp>
    </p:spTree>
    <p:extLst>
      <p:ext uri="{BB962C8B-B14F-4D97-AF65-F5344CB8AC3E}">
        <p14:creationId xmlns:p14="http://schemas.microsoft.com/office/powerpoint/2010/main" val="2672362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49361-DE0F-40EB-B201-1A7B49884F79}" type="slidenum">
              <a:rPr lang="en-US" smtClean="0"/>
              <a:t>30</a:t>
            </a:fld>
            <a:endParaRPr lang="en-US"/>
          </a:p>
        </p:txBody>
      </p:sp>
    </p:spTree>
    <p:extLst>
      <p:ext uri="{BB962C8B-B14F-4D97-AF65-F5344CB8AC3E}">
        <p14:creationId xmlns:p14="http://schemas.microsoft.com/office/powerpoint/2010/main" val="3221092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4/21/2025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4/21/2025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4/21/2025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4/21/2025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4/21/2025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4/21/2025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4/21/2025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4/21/2025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4/21/2025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web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programiz.com/dsa/heap-sort" TargetMode="External"/><Relationship Id="rId2" Type="http://schemas.openxmlformats.org/officeDocument/2006/relationships/hyperlink" Target="https://www.geeksforgeeks.org/heap-sort/" TargetMode="External"/><Relationship Id="rId1" Type="http://schemas.openxmlformats.org/officeDocument/2006/relationships/slideLayout" Target="../slideLayouts/slideLayout2.xml"/><Relationship Id="rId4" Type="http://schemas.openxmlformats.org/officeDocument/2006/relationships/hyperlink" Target="https://www.youtube.com/watch?v=HqPJF2L5h9U&amp;t=926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86667-B569-2CC5-7B66-208EC8290457}"/>
              </a:ext>
            </a:extLst>
          </p:cNvPr>
          <p:cNvSpPr>
            <a:spLocks noGrp="1"/>
          </p:cNvSpPr>
          <p:nvPr>
            <p:ph type="ctrTitle"/>
          </p:nvPr>
        </p:nvSpPr>
        <p:spPr/>
        <p:txBody>
          <a:bodyPr/>
          <a:lstStyle/>
          <a:p>
            <a:r>
              <a:rPr lang="en-US" sz="6000" dirty="0"/>
              <a:t>TREE DATA STRUCTURE</a:t>
            </a:r>
          </a:p>
        </p:txBody>
      </p:sp>
      <p:sp>
        <p:nvSpPr>
          <p:cNvPr id="3" name="Subtitle 2">
            <a:extLst>
              <a:ext uri="{FF2B5EF4-FFF2-40B4-BE49-F238E27FC236}">
                <a16:creationId xmlns:a16="http://schemas.microsoft.com/office/drawing/2014/main" id="{04A60A56-917E-3619-4E1A-F778D20B2565}"/>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8705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EB5E-0A1D-B7B5-327C-967879C667B3}"/>
              </a:ext>
            </a:extLst>
          </p:cNvPr>
          <p:cNvSpPr>
            <a:spLocks noGrp="1"/>
          </p:cNvSpPr>
          <p:nvPr>
            <p:ph type="title"/>
          </p:nvPr>
        </p:nvSpPr>
        <p:spPr/>
        <p:txBody>
          <a:bodyPr/>
          <a:lstStyle/>
          <a:p>
            <a:r>
              <a:rPr lang="en-US" b="1" dirty="0"/>
              <a:t>Introduction to Trees</a:t>
            </a:r>
          </a:p>
        </p:txBody>
      </p:sp>
      <p:sp>
        <p:nvSpPr>
          <p:cNvPr id="3" name="Content Placeholder 2">
            <a:extLst>
              <a:ext uri="{FF2B5EF4-FFF2-40B4-BE49-F238E27FC236}">
                <a16:creationId xmlns:a16="http://schemas.microsoft.com/office/drawing/2014/main" id="{4A300C72-425A-DE17-D7C9-8DD3ED62158A}"/>
              </a:ext>
            </a:extLst>
          </p:cNvPr>
          <p:cNvSpPr>
            <a:spLocks noGrp="1"/>
          </p:cNvSpPr>
          <p:nvPr>
            <p:ph idx="1"/>
          </p:nvPr>
        </p:nvSpPr>
        <p:spPr/>
        <p:txBody>
          <a:bodyPr/>
          <a:lstStyle/>
          <a:p>
            <a:pPr>
              <a:buNone/>
            </a:pPr>
            <a:r>
              <a:rPr lang="en-US" dirty="0"/>
              <a:t>A tree is a </a:t>
            </a:r>
            <a:r>
              <a:rPr lang="en-US" b="1" dirty="0"/>
              <a:t>hierarchical</a:t>
            </a:r>
            <a:r>
              <a:rPr lang="en-US" dirty="0"/>
              <a:t> data structure consisting of nodes connected by edges. </a:t>
            </a:r>
          </a:p>
          <a:p>
            <a:pPr marL="0" indent="0">
              <a:buNone/>
            </a:pPr>
            <a:r>
              <a:rPr lang="en-US" dirty="0"/>
              <a:t>Consider the tree below:</a:t>
            </a:r>
          </a:p>
          <a:p>
            <a:pPr>
              <a:buNone/>
            </a:pPr>
            <a:r>
              <a:rPr lang="en-US" dirty="0"/>
              <a:t>Here, </a:t>
            </a:r>
          </a:p>
          <a:p>
            <a:pPr>
              <a:buFont typeface="Arial" panose="020B0604020202020204" pitchFamily="34" charset="0"/>
              <a:buChar char="•"/>
            </a:pPr>
            <a:r>
              <a:rPr lang="en-US" dirty="0"/>
              <a:t>The circles are </a:t>
            </a:r>
            <a:r>
              <a:rPr lang="en-US" b="1" dirty="0"/>
              <a:t>nodes</a:t>
            </a:r>
            <a:r>
              <a:rPr lang="en-US" dirty="0"/>
              <a:t>.</a:t>
            </a:r>
          </a:p>
          <a:p>
            <a:pPr>
              <a:buFont typeface="Arial" panose="020B0604020202020204" pitchFamily="34" charset="0"/>
              <a:buChar char="•"/>
            </a:pPr>
            <a:r>
              <a:rPr lang="en-US" dirty="0"/>
              <a:t>The lines are </a:t>
            </a:r>
            <a:r>
              <a:rPr lang="en-US" b="1" dirty="0"/>
              <a:t>edges</a:t>
            </a:r>
            <a:r>
              <a:rPr lang="en-US" dirty="0"/>
              <a:t>.</a:t>
            </a:r>
          </a:p>
          <a:p>
            <a:pPr marL="0" indent="0">
              <a:buNone/>
            </a:pPr>
            <a:r>
              <a:rPr lang="en-US" dirty="0"/>
              <a:t>In a tree, nodes are the individual </a:t>
            </a:r>
          </a:p>
          <a:p>
            <a:pPr marL="0" indent="0">
              <a:buNone/>
            </a:pPr>
            <a:r>
              <a:rPr lang="en-US" dirty="0"/>
              <a:t>elements, and edges connect these</a:t>
            </a:r>
          </a:p>
          <a:p>
            <a:pPr marL="0" indent="0">
              <a:buNone/>
            </a:pPr>
            <a:r>
              <a:rPr lang="en-US" dirty="0"/>
              <a:t> nodes.</a:t>
            </a:r>
          </a:p>
          <a:p>
            <a:pPr marL="0" indent="0">
              <a:buNone/>
            </a:pPr>
            <a:endParaRPr lang="en-US" dirty="0"/>
          </a:p>
        </p:txBody>
      </p:sp>
      <p:pic>
        <p:nvPicPr>
          <p:cNvPr id="5" name="Picture 4">
            <a:extLst>
              <a:ext uri="{FF2B5EF4-FFF2-40B4-BE49-F238E27FC236}">
                <a16:creationId xmlns:a16="http://schemas.microsoft.com/office/drawing/2014/main" id="{8A7293F2-2C50-188D-3BF9-5BEB2C65152B}"/>
              </a:ext>
            </a:extLst>
          </p:cNvPr>
          <p:cNvPicPr>
            <a:picLocks noChangeAspect="1"/>
          </p:cNvPicPr>
          <p:nvPr/>
        </p:nvPicPr>
        <p:blipFill>
          <a:blip r:embed="rId3"/>
          <a:stretch>
            <a:fillRect/>
          </a:stretch>
        </p:blipFill>
        <p:spPr>
          <a:xfrm>
            <a:off x="5832066" y="2962253"/>
            <a:ext cx="5791242" cy="3019447"/>
          </a:xfrm>
          <a:prstGeom prst="rect">
            <a:avLst/>
          </a:prstGeom>
        </p:spPr>
      </p:pic>
    </p:spTree>
    <p:extLst>
      <p:ext uri="{BB962C8B-B14F-4D97-AF65-F5344CB8AC3E}">
        <p14:creationId xmlns:p14="http://schemas.microsoft.com/office/powerpoint/2010/main" val="892734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1F251-B519-DD97-0267-0541A688E200}"/>
              </a:ext>
            </a:extLst>
          </p:cNvPr>
          <p:cNvSpPr>
            <a:spLocks noGrp="1"/>
          </p:cNvSpPr>
          <p:nvPr>
            <p:ph type="title"/>
          </p:nvPr>
        </p:nvSpPr>
        <p:spPr/>
        <p:txBody>
          <a:bodyPr/>
          <a:lstStyle/>
          <a:p>
            <a:r>
              <a:rPr lang="en-US" b="1" dirty="0"/>
              <a:t>Why Tree Data Structure?</a:t>
            </a:r>
            <a:endParaRPr lang="en-US" dirty="0"/>
          </a:p>
        </p:txBody>
      </p:sp>
      <p:sp>
        <p:nvSpPr>
          <p:cNvPr id="3" name="Content Placeholder 2">
            <a:extLst>
              <a:ext uri="{FF2B5EF4-FFF2-40B4-BE49-F238E27FC236}">
                <a16:creationId xmlns:a16="http://schemas.microsoft.com/office/drawing/2014/main" id="{63A37376-B73C-C961-6E32-369E7D36E4C0}"/>
              </a:ext>
            </a:extLst>
          </p:cNvPr>
          <p:cNvSpPr>
            <a:spLocks noGrp="1"/>
          </p:cNvSpPr>
          <p:nvPr>
            <p:ph idx="1"/>
          </p:nvPr>
        </p:nvSpPr>
        <p:spPr/>
        <p:txBody>
          <a:bodyPr/>
          <a:lstStyle/>
          <a:p>
            <a:pPr marL="0" indent="0">
              <a:buNone/>
            </a:pPr>
            <a:r>
              <a:rPr lang="en-US" dirty="0"/>
              <a:t>Other data structures such as arrays, linked list, stack, and queue are linear data structures that store data sequentially. In order to perform any operation in a linear data structure, the time complexity increases with the increase in the data size. But, it is not acceptable in today's computational world.</a:t>
            </a:r>
          </a:p>
          <a:p>
            <a:pPr marL="0" indent="0">
              <a:buNone/>
            </a:pPr>
            <a:r>
              <a:rPr lang="en-US" dirty="0"/>
              <a:t>Different tree data structures allow quicker and easier access to the data as it is a non-linear data structure.</a:t>
            </a:r>
          </a:p>
        </p:txBody>
      </p:sp>
    </p:spTree>
    <p:extLst>
      <p:ext uri="{BB962C8B-B14F-4D97-AF65-F5344CB8AC3E}">
        <p14:creationId xmlns:p14="http://schemas.microsoft.com/office/powerpoint/2010/main" val="261318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DD8B7-0BD9-FEA2-B2CC-8EE57474972E}"/>
              </a:ext>
            </a:extLst>
          </p:cNvPr>
          <p:cNvSpPr>
            <a:spLocks noGrp="1"/>
          </p:cNvSpPr>
          <p:nvPr>
            <p:ph type="title"/>
          </p:nvPr>
        </p:nvSpPr>
        <p:spPr/>
        <p:txBody>
          <a:bodyPr/>
          <a:lstStyle/>
          <a:p>
            <a:r>
              <a:rPr lang="en-US" dirty="0"/>
              <a:t>Tree Terminologies</a:t>
            </a:r>
          </a:p>
        </p:txBody>
      </p:sp>
      <p:sp>
        <p:nvSpPr>
          <p:cNvPr id="3" name="Content Placeholder 2">
            <a:extLst>
              <a:ext uri="{FF2B5EF4-FFF2-40B4-BE49-F238E27FC236}">
                <a16:creationId xmlns:a16="http://schemas.microsoft.com/office/drawing/2014/main" id="{F26ED00C-7902-FD33-3D3C-31B78066C0BE}"/>
              </a:ext>
            </a:extLst>
          </p:cNvPr>
          <p:cNvSpPr>
            <a:spLocks noGrp="1"/>
          </p:cNvSpPr>
          <p:nvPr>
            <p:ph idx="1"/>
          </p:nvPr>
        </p:nvSpPr>
        <p:spPr/>
        <p:txBody>
          <a:bodyPr/>
          <a:lstStyle/>
          <a:p>
            <a:r>
              <a:rPr lang="en-US" b="1" dirty="0"/>
              <a:t>Node:  </a:t>
            </a:r>
            <a:r>
              <a:rPr lang="en-US" dirty="0"/>
              <a:t>A node is an entity that contains a key or value and pointers to its child nodes.</a:t>
            </a:r>
          </a:p>
          <a:p>
            <a:r>
              <a:rPr lang="en-US" b="1" dirty="0"/>
              <a:t>Edge:  </a:t>
            </a:r>
            <a:r>
              <a:rPr lang="en-US" dirty="0"/>
              <a:t>It is the link between any two nodes.</a:t>
            </a:r>
          </a:p>
          <a:p>
            <a:r>
              <a:rPr lang="en-US" b="1" dirty="0"/>
              <a:t>Root: </a:t>
            </a:r>
            <a:r>
              <a:rPr lang="en-US" dirty="0"/>
              <a:t>It is the topmost node of a tree.</a:t>
            </a:r>
          </a:p>
          <a:p>
            <a:r>
              <a:rPr lang="en-US" b="1" dirty="0"/>
              <a:t>Leaf:</a:t>
            </a:r>
            <a:r>
              <a:rPr lang="en-US" dirty="0"/>
              <a:t> A node with no child nodes, often referred to as a terminal node.</a:t>
            </a:r>
          </a:p>
          <a:p>
            <a:r>
              <a:rPr lang="en-US" b="1" dirty="0"/>
              <a:t>Parent:</a:t>
            </a:r>
            <a:r>
              <a:rPr lang="en-US" dirty="0"/>
              <a:t> The connected node directly above the current node.</a:t>
            </a:r>
          </a:p>
          <a:p>
            <a:r>
              <a:rPr lang="en-US" b="1" dirty="0"/>
              <a:t>Child:</a:t>
            </a:r>
            <a:r>
              <a:rPr lang="en-US" dirty="0"/>
              <a:t> The connected nodes directly below a particular node.</a:t>
            </a:r>
          </a:p>
          <a:p>
            <a:r>
              <a:rPr lang="en-US" b="1" dirty="0"/>
              <a:t>Siblings:</a:t>
            </a:r>
            <a:r>
              <a:rPr lang="en-US" dirty="0"/>
              <a:t> The nodes in a tree that share the same parent node.</a:t>
            </a:r>
          </a:p>
          <a:p>
            <a:endParaRPr lang="en-US" dirty="0"/>
          </a:p>
        </p:txBody>
      </p:sp>
    </p:spTree>
    <p:extLst>
      <p:ext uri="{BB962C8B-B14F-4D97-AF65-F5344CB8AC3E}">
        <p14:creationId xmlns:p14="http://schemas.microsoft.com/office/powerpoint/2010/main" val="400313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child's structure&#10;&#10;AI-generated content may be incorrect.">
            <a:extLst>
              <a:ext uri="{FF2B5EF4-FFF2-40B4-BE49-F238E27FC236}">
                <a16:creationId xmlns:a16="http://schemas.microsoft.com/office/drawing/2014/main" id="{C9F7379B-177E-E03B-FB62-74FC2B53768A}"/>
              </a:ext>
            </a:extLst>
          </p:cNvPr>
          <p:cNvPicPr>
            <a:picLocks noGrp="1" noChangeAspect="1"/>
          </p:cNvPicPr>
          <p:nvPr>
            <p:ph idx="1"/>
          </p:nvPr>
        </p:nvPicPr>
        <p:blipFill>
          <a:blip r:embed="rId2"/>
          <a:srcRect l="36838" r="1819"/>
          <a:stretch/>
        </p:blipFill>
        <p:spPr>
          <a:xfrm>
            <a:off x="2501835" y="1375863"/>
            <a:ext cx="8187826" cy="6280495"/>
          </a:xfrm>
        </p:spPr>
      </p:pic>
      <p:sp>
        <p:nvSpPr>
          <p:cNvPr id="2" name="Title 1">
            <a:extLst>
              <a:ext uri="{FF2B5EF4-FFF2-40B4-BE49-F238E27FC236}">
                <a16:creationId xmlns:a16="http://schemas.microsoft.com/office/drawing/2014/main" id="{D9068098-E631-9964-5A0B-9C397E8579A0}"/>
              </a:ext>
            </a:extLst>
          </p:cNvPr>
          <p:cNvSpPr>
            <a:spLocks noGrp="1"/>
          </p:cNvSpPr>
          <p:nvPr>
            <p:ph type="title"/>
          </p:nvPr>
        </p:nvSpPr>
        <p:spPr/>
        <p:txBody>
          <a:bodyPr/>
          <a:lstStyle/>
          <a:p>
            <a:r>
              <a:rPr lang="en-US" dirty="0"/>
              <a:t>Tree Terminologies </a:t>
            </a:r>
            <a:r>
              <a:rPr lang="en-US" dirty="0" err="1"/>
              <a:t>Cont</a:t>
            </a:r>
            <a:r>
              <a:rPr lang="en-US" dirty="0"/>
              <a:t>…</a:t>
            </a:r>
          </a:p>
        </p:txBody>
      </p:sp>
    </p:spTree>
    <p:extLst>
      <p:ext uri="{BB962C8B-B14F-4D97-AF65-F5344CB8AC3E}">
        <p14:creationId xmlns:p14="http://schemas.microsoft.com/office/powerpoint/2010/main" val="4158628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183D0-F122-5A7D-5CA0-3621DC6F4FE3}"/>
              </a:ext>
            </a:extLst>
          </p:cNvPr>
          <p:cNvSpPr>
            <a:spLocks noGrp="1"/>
          </p:cNvSpPr>
          <p:nvPr>
            <p:ph type="title"/>
          </p:nvPr>
        </p:nvSpPr>
        <p:spPr/>
        <p:txBody>
          <a:bodyPr/>
          <a:lstStyle/>
          <a:p>
            <a:endParaRPr lang="en-US"/>
          </a:p>
        </p:txBody>
      </p:sp>
      <p:pic>
        <p:nvPicPr>
          <p:cNvPr id="5" name="Content Placeholder 4" descr="A diagram of a tree data structure&#10;&#10;AI-generated content may be incorrect.">
            <a:extLst>
              <a:ext uri="{FF2B5EF4-FFF2-40B4-BE49-F238E27FC236}">
                <a16:creationId xmlns:a16="http://schemas.microsoft.com/office/drawing/2014/main" id="{3F007F52-8338-E336-B6F5-EC23C0E25628}"/>
              </a:ext>
            </a:extLst>
          </p:cNvPr>
          <p:cNvPicPr>
            <a:picLocks noGrp="1" noChangeAspect="1"/>
          </p:cNvPicPr>
          <p:nvPr>
            <p:ph idx="1"/>
          </p:nvPr>
        </p:nvPicPr>
        <p:blipFill>
          <a:blip r:embed="rId2"/>
          <a:stretch>
            <a:fillRect/>
          </a:stretch>
        </p:blipFill>
        <p:spPr>
          <a:xfrm>
            <a:off x="764020" y="279077"/>
            <a:ext cx="11199724" cy="6299845"/>
          </a:xfrm>
        </p:spPr>
      </p:pic>
    </p:spTree>
    <p:extLst>
      <p:ext uri="{BB962C8B-B14F-4D97-AF65-F5344CB8AC3E}">
        <p14:creationId xmlns:p14="http://schemas.microsoft.com/office/powerpoint/2010/main" val="776755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C06F0-1ED7-D6C1-F11B-E6CF41023484}"/>
              </a:ext>
            </a:extLst>
          </p:cNvPr>
          <p:cNvSpPr>
            <a:spLocks noGrp="1"/>
          </p:cNvSpPr>
          <p:nvPr>
            <p:ph type="title"/>
          </p:nvPr>
        </p:nvSpPr>
        <p:spPr/>
        <p:txBody>
          <a:bodyPr/>
          <a:lstStyle/>
          <a:p>
            <a:r>
              <a:rPr lang="en-US" dirty="0"/>
              <a:t>Tree Terminologies </a:t>
            </a:r>
            <a:r>
              <a:rPr lang="en-US" dirty="0" err="1"/>
              <a:t>Cont</a:t>
            </a:r>
            <a:r>
              <a:rPr lang="en-US" dirty="0"/>
              <a:t>…</a:t>
            </a:r>
          </a:p>
        </p:txBody>
      </p:sp>
      <p:sp>
        <p:nvSpPr>
          <p:cNvPr id="3" name="Content Placeholder 2">
            <a:extLst>
              <a:ext uri="{FF2B5EF4-FFF2-40B4-BE49-F238E27FC236}">
                <a16:creationId xmlns:a16="http://schemas.microsoft.com/office/drawing/2014/main" id="{0AD43C11-1427-32A3-B3D7-E53CD2693798}"/>
              </a:ext>
            </a:extLst>
          </p:cNvPr>
          <p:cNvSpPr>
            <a:spLocks noGrp="1"/>
          </p:cNvSpPr>
          <p:nvPr>
            <p:ph idx="1"/>
          </p:nvPr>
        </p:nvSpPr>
        <p:spPr>
          <a:xfrm>
            <a:off x="1371600" y="2286000"/>
            <a:ext cx="5446946" cy="3581400"/>
          </a:xfrm>
        </p:spPr>
        <p:txBody>
          <a:bodyPr>
            <a:normAutofit lnSpcReduction="10000"/>
          </a:bodyPr>
          <a:lstStyle/>
          <a:p>
            <a:pPr algn="just"/>
            <a:r>
              <a:rPr lang="en-US" b="1" dirty="0"/>
              <a:t>Height of a Node: </a:t>
            </a:r>
          </a:p>
          <a:p>
            <a:pPr marL="530352" lvl="1" indent="0" algn="just">
              <a:buNone/>
            </a:pPr>
            <a:r>
              <a:rPr lang="en-US" dirty="0"/>
              <a:t>The height of a node is the number of edges from the node to the deepest leaf (</a:t>
            </a:r>
            <a:r>
              <a:rPr lang="en-US" dirty="0" err="1"/>
              <a:t>ie</a:t>
            </a:r>
            <a:r>
              <a:rPr lang="en-US" dirty="0"/>
              <a:t>. the longest path from the node to a leaf node).</a:t>
            </a:r>
          </a:p>
          <a:p>
            <a:pPr algn="just"/>
            <a:r>
              <a:rPr lang="en-US" b="1" dirty="0"/>
              <a:t>Depth of a Node</a:t>
            </a:r>
          </a:p>
          <a:p>
            <a:pPr marL="530352" lvl="1" indent="0" algn="just">
              <a:buNone/>
            </a:pPr>
            <a:r>
              <a:rPr lang="en-US" dirty="0"/>
              <a:t>The depth of a node is the number of edges from the root to the node.</a:t>
            </a:r>
          </a:p>
          <a:p>
            <a:pPr algn="just"/>
            <a:r>
              <a:rPr lang="en-US" b="1" dirty="0"/>
              <a:t>Height of a Tree</a:t>
            </a:r>
          </a:p>
          <a:p>
            <a:pPr marL="530352" lvl="1" indent="0" algn="just">
              <a:buNone/>
            </a:pPr>
            <a:r>
              <a:rPr lang="en-US" dirty="0"/>
              <a:t>The height of a Tree is the height of the root node or the depth of the deepest node.</a:t>
            </a:r>
          </a:p>
          <a:p>
            <a:endParaRPr lang="en-US" dirty="0"/>
          </a:p>
        </p:txBody>
      </p:sp>
      <p:pic>
        <p:nvPicPr>
          <p:cNvPr id="5" name="Picture 4">
            <a:extLst>
              <a:ext uri="{FF2B5EF4-FFF2-40B4-BE49-F238E27FC236}">
                <a16:creationId xmlns:a16="http://schemas.microsoft.com/office/drawing/2014/main" id="{C0864310-81D2-B0F8-6F62-0649A0C77A3E}"/>
              </a:ext>
            </a:extLst>
          </p:cNvPr>
          <p:cNvPicPr>
            <a:picLocks noChangeAspect="1"/>
          </p:cNvPicPr>
          <p:nvPr/>
        </p:nvPicPr>
        <p:blipFill>
          <a:blip r:embed="rId3"/>
          <a:stretch>
            <a:fillRect/>
          </a:stretch>
        </p:blipFill>
        <p:spPr>
          <a:xfrm>
            <a:off x="7136649" y="2272462"/>
            <a:ext cx="4459205" cy="4177572"/>
          </a:xfrm>
          <a:prstGeom prst="rect">
            <a:avLst/>
          </a:prstGeom>
        </p:spPr>
      </p:pic>
    </p:spTree>
    <p:extLst>
      <p:ext uri="{BB962C8B-B14F-4D97-AF65-F5344CB8AC3E}">
        <p14:creationId xmlns:p14="http://schemas.microsoft.com/office/powerpoint/2010/main" val="4056042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E1048-E95C-5439-742F-87AC95AF69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F4364D-A36E-A857-A71C-19AE673C4CDD}"/>
              </a:ext>
            </a:extLst>
          </p:cNvPr>
          <p:cNvSpPr>
            <a:spLocks noGrp="1"/>
          </p:cNvSpPr>
          <p:nvPr>
            <p:ph type="title"/>
          </p:nvPr>
        </p:nvSpPr>
        <p:spPr/>
        <p:txBody>
          <a:bodyPr/>
          <a:lstStyle/>
          <a:p>
            <a:r>
              <a:rPr lang="en-US" dirty="0"/>
              <a:t>Tree Terminologies </a:t>
            </a:r>
            <a:r>
              <a:rPr lang="en-US" dirty="0" err="1"/>
              <a:t>Cont</a:t>
            </a:r>
            <a:r>
              <a:rPr lang="en-US" dirty="0"/>
              <a:t>…</a:t>
            </a:r>
          </a:p>
        </p:txBody>
      </p:sp>
      <p:sp>
        <p:nvSpPr>
          <p:cNvPr id="3" name="Content Placeholder 2">
            <a:extLst>
              <a:ext uri="{FF2B5EF4-FFF2-40B4-BE49-F238E27FC236}">
                <a16:creationId xmlns:a16="http://schemas.microsoft.com/office/drawing/2014/main" id="{BF1BCF31-600F-BE3A-3A6C-30B78CB107BD}"/>
              </a:ext>
            </a:extLst>
          </p:cNvPr>
          <p:cNvSpPr>
            <a:spLocks noGrp="1"/>
          </p:cNvSpPr>
          <p:nvPr>
            <p:ph idx="1"/>
          </p:nvPr>
        </p:nvSpPr>
        <p:spPr>
          <a:xfrm>
            <a:off x="1371600" y="2286000"/>
            <a:ext cx="5446946" cy="3581400"/>
          </a:xfrm>
        </p:spPr>
        <p:txBody>
          <a:bodyPr>
            <a:normAutofit/>
          </a:bodyPr>
          <a:lstStyle/>
          <a:p>
            <a:r>
              <a:rPr lang="en-US" b="1" dirty="0"/>
              <a:t>Degree of a Node</a:t>
            </a:r>
          </a:p>
          <a:p>
            <a:pPr marL="530352" lvl="1" indent="0">
              <a:buNone/>
            </a:pPr>
            <a:r>
              <a:rPr lang="en-US" dirty="0"/>
              <a:t>The degree of a node is the total number of branches of that node.</a:t>
            </a:r>
          </a:p>
          <a:p>
            <a:r>
              <a:rPr lang="en-US" b="1" dirty="0"/>
              <a:t>Degree of a Tree</a:t>
            </a:r>
          </a:p>
          <a:p>
            <a:pPr marL="530352" lvl="1" indent="0">
              <a:buNone/>
            </a:pPr>
            <a:r>
              <a:rPr lang="en-US" dirty="0"/>
              <a:t>The degree of a tree is the maximum degree of any node in the tree. </a:t>
            </a:r>
          </a:p>
          <a:p>
            <a:endParaRPr lang="en-US" dirty="0"/>
          </a:p>
        </p:txBody>
      </p:sp>
      <p:pic>
        <p:nvPicPr>
          <p:cNvPr id="6" name="Picture 5">
            <a:extLst>
              <a:ext uri="{FF2B5EF4-FFF2-40B4-BE49-F238E27FC236}">
                <a16:creationId xmlns:a16="http://schemas.microsoft.com/office/drawing/2014/main" id="{47F32867-2025-A7D1-222C-0AA035716B3F}"/>
              </a:ext>
            </a:extLst>
          </p:cNvPr>
          <p:cNvPicPr>
            <a:picLocks noChangeAspect="1"/>
          </p:cNvPicPr>
          <p:nvPr/>
        </p:nvPicPr>
        <p:blipFill>
          <a:blip r:embed="rId3"/>
          <a:stretch>
            <a:fillRect/>
          </a:stretch>
        </p:blipFill>
        <p:spPr>
          <a:xfrm>
            <a:off x="6818546" y="1835700"/>
            <a:ext cx="4648234" cy="3752877"/>
          </a:xfrm>
          <a:prstGeom prst="rect">
            <a:avLst/>
          </a:prstGeom>
        </p:spPr>
      </p:pic>
    </p:spTree>
    <p:extLst>
      <p:ext uri="{BB962C8B-B14F-4D97-AF65-F5344CB8AC3E}">
        <p14:creationId xmlns:p14="http://schemas.microsoft.com/office/powerpoint/2010/main" val="589381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5EF94-EA97-20F0-7585-47CFD784D9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CCD83-1941-214A-0FFE-505F34A88AB8}"/>
              </a:ext>
            </a:extLst>
          </p:cNvPr>
          <p:cNvSpPr>
            <a:spLocks noGrp="1"/>
          </p:cNvSpPr>
          <p:nvPr>
            <p:ph type="title"/>
          </p:nvPr>
        </p:nvSpPr>
        <p:spPr/>
        <p:txBody>
          <a:bodyPr/>
          <a:lstStyle/>
          <a:p>
            <a:r>
              <a:rPr lang="en-US" dirty="0"/>
              <a:t>Tree Terminologies </a:t>
            </a:r>
            <a:r>
              <a:rPr lang="en-US" dirty="0" err="1"/>
              <a:t>Cont</a:t>
            </a:r>
            <a:r>
              <a:rPr lang="en-US" dirty="0"/>
              <a:t>…</a:t>
            </a:r>
          </a:p>
        </p:txBody>
      </p:sp>
      <p:sp>
        <p:nvSpPr>
          <p:cNvPr id="3" name="Content Placeholder 2">
            <a:extLst>
              <a:ext uri="{FF2B5EF4-FFF2-40B4-BE49-F238E27FC236}">
                <a16:creationId xmlns:a16="http://schemas.microsoft.com/office/drawing/2014/main" id="{12DF96B1-BB84-31C7-B6E2-AFA36C8AB5E1}"/>
              </a:ext>
            </a:extLst>
          </p:cNvPr>
          <p:cNvSpPr>
            <a:spLocks noGrp="1"/>
          </p:cNvSpPr>
          <p:nvPr>
            <p:ph idx="1"/>
          </p:nvPr>
        </p:nvSpPr>
        <p:spPr>
          <a:xfrm>
            <a:off x="1371600" y="2286000"/>
            <a:ext cx="5446946" cy="4062252"/>
          </a:xfrm>
        </p:spPr>
        <p:txBody>
          <a:bodyPr>
            <a:normAutofit/>
          </a:bodyPr>
          <a:lstStyle/>
          <a:p>
            <a:r>
              <a:rPr lang="en-US" b="1" dirty="0"/>
              <a:t>Subtrees</a:t>
            </a:r>
            <a:r>
              <a:rPr lang="en-US" dirty="0"/>
              <a:t> </a:t>
            </a:r>
          </a:p>
          <a:p>
            <a:pPr marL="530352" lvl="1" indent="0">
              <a:buNone/>
            </a:pPr>
            <a:r>
              <a:rPr lang="en-US" dirty="0"/>
              <a:t>A  subtree is a portion of a tree that is derived from a specific node.</a:t>
            </a:r>
          </a:p>
          <a:p>
            <a:pPr marL="530352" lvl="1" indent="0">
              <a:buNone/>
            </a:pPr>
            <a:endParaRPr lang="en-US" dirty="0"/>
          </a:p>
          <a:p>
            <a:pPr marL="530352" lvl="1" indent="0">
              <a:buNone/>
            </a:pPr>
            <a:endParaRPr lang="en-US" dirty="0"/>
          </a:p>
          <a:p>
            <a:pPr marL="530352" lvl="1" indent="0">
              <a:buNone/>
            </a:pPr>
            <a:endParaRPr lang="en-US" dirty="0"/>
          </a:p>
          <a:p>
            <a:pPr marL="530352" lvl="1" indent="0">
              <a:buNone/>
            </a:pPr>
            <a:endParaRPr lang="en-US" dirty="0"/>
          </a:p>
          <a:p>
            <a:r>
              <a:rPr lang="en-US" b="1" dirty="0"/>
              <a:t>Forest</a:t>
            </a:r>
          </a:p>
          <a:p>
            <a:pPr marL="530352" lvl="1" indent="0">
              <a:buNone/>
            </a:pPr>
            <a:r>
              <a:rPr lang="en-US" dirty="0"/>
              <a:t>In data structures, a forest is a set of non-interacting trees. </a:t>
            </a:r>
          </a:p>
          <a:p>
            <a:pPr marL="530352" lvl="1" indent="0">
              <a:buNone/>
            </a:pPr>
            <a:endParaRPr lang="en-US" dirty="0"/>
          </a:p>
        </p:txBody>
      </p:sp>
      <p:pic>
        <p:nvPicPr>
          <p:cNvPr id="5" name="Picture 4">
            <a:extLst>
              <a:ext uri="{FF2B5EF4-FFF2-40B4-BE49-F238E27FC236}">
                <a16:creationId xmlns:a16="http://schemas.microsoft.com/office/drawing/2014/main" id="{BA20F947-150E-0913-212D-C22C5117CBB1}"/>
              </a:ext>
            </a:extLst>
          </p:cNvPr>
          <p:cNvPicPr>
            <a:picLocks noChangeAspect="1"/>
          </p:cNvPicPr>
          <p:nvPr/>
        </p:nvPicPr>
        <p:blipFill>
          <a:blip r:embed="rId3"/>
          <a:stretch>
            <a:fillRect/>
          </a:stretch>
        </p:blipFill>
        <p:spPr>
          <a:xfrm>
            <a:off x="7377894" y="4176630"/>
            <a:ext cx="4324382" cy="2533669"/>
          </a:xfrm>
          <a:prstGeom prst="rect">
            <a:avLst/>
          </a:prstGeom>
        </p:spPr>
      </p:pic>
      <p:pic>
        <p:nvPicPr>
          <p:cNvPr id="8" name="Picture 7">
            <a:extLst>
              <a:ext uri="{FF2B5EF4-FFF2-40B4-BE49-F238E27FC236}">
                <a16:creationId xmlns:a16="http://schemas.microsoft.com/office/drawing/2014/main" id="{AFD3A995-FF19-07B5-1763-932EEAEA9B85}"/>
              </a:ext>
            </a:extLst>
          </p:cNvPr>
          <p:cNvPicPr>
            <a:picLocks noChangeAspect="1"/>
          </p:cNvPicPr>
          <p:nvPr/>
        </p:nvPicPr>
        <p:blipFill>
          <a:blip r:embed="rId4"/>
          <a:stretch>
            <a:fillRect/>
          </a:stretch>
        </p:blipFill>
        <p:spPr>
          <a:xfrm>
            <a:off x="7529671" y="1544911"/>
            <a:ext cx="2366272" cy="2631719"/>
          </a:xfrm>
          <a:prstGeom prst="rect">
            <a:avLst/>
          </a:prstGeom>
        </p:spPr>
      </p:pic>
      <p:pic>
        <p:nvPicPr>
          <p:cNvPr id="10" name="Picture 9">
            <a:extLst>
              <a:ext uri="{FF2B5EF4-FFF2-40B4-BE49-F238E27FC236}">
                <a16:creationId xmlns:a16="http://schemas.microsoft.com/office/drawing/2014/main" id="{9657229F-15BE-497A-92A8-F14F0EAAE551}"/>
              </a:ext>
            </a:extLst>
          </p:cNvPr>
          <p:cNvPicPr>
            <a:picLocks noChangeAspect="1"/>
          </p:cNvPicPr>
          <p:nvPr/>
        </p:nvPicPr>
        <p:blipFill>
          <a:blip r:embed="rId5"/>
          <a:stretch>
            <a:fillRect/>
          </a:stretch>
        </p:blipFill>
        <p:spPr>
          <a:xfrm>
            <a:off x="10120344" y="1495600"/>
            <a:ext cx="1704911" cy="1580799"/>
          </a:xfrm>
          <a:prstGeom prst="rect">
            <a:avLst/>
          </a:prstGeom>
        </p:spPr>
      </p:pic>
    </p:spTree>
    <p:extLst>
      <p:ext uri="{BB962C8B-B14F-4D97-AF65-F5344CB8AC3E}">
        <p14:creationId xmlns:p14="http://schemas.microsoft.com/office/powerpoint/2010/main" val="3773263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A3F2E-271F-AA6D-8310-F7BBEB4284C7}"/>
              </a:ext>
            </a:extLst>
          </p:cNvPr>
          <p:cNvSpPr>
            <a:spLocks noGrp="1"/>
          </p:cNvSpPr>
          <p:nvPr>
            <p:ph type="title"/>
          </p:nvPr>
        </p:nvSpPr>
        <p:spPr/>
        <p:txBody>
          <a:bodyPr/>
          <a:lstStyle/>
          <a:p>
            <a:r>
              <a:rPr lang="en-US" b="1" dirty="0"/>
              <a:t>Tree Applications</a:t>
            </a:r>
            <a:br>
              <a:rPr lang="en-US" b="1" dirty="0"/>
            </a:br>
            <a:endParaRPr lang="en-US" dirty="0"/>
          </a:p>
        </p:txBody>
      </p:sp>
      <p:sp>
        <p:nvSpPr>
          <p:cNvPr id="3" name="Content Placeholder 2">
            <a:extLst>
              <a:ext uri="{FF2B5EF4-FFF2-40B4-BE49-F238E27FC236}">
                <a16:creationId xmlns:a16="http://schemas.microsoft.com/office/drawing/2014/main" id="{DB481A37-6847-F20A-A45F-95935A543F7A}"/>
              </a:ext>
            </a:extLst>
          </p:cNvPr>
          <p:cNvSpPr>
            <a:spLocks noGrp="1"/>
          </p:cNvSpPr>
          <p:nvPr>
            <p:ph idx="1"/>
          </p:nvPr>
        </p:nvSpPr>
        <p:spPr/>
        <p:txBody>
          <a:bodyPr/>
          <a:lstStyle/>
          <a:p>
            <a:pPr>
              <a:buFont typeface="Arial" panose="020B0604020202020204" pitchFamily="34" charset="0"/>
              <a:buChar char="•"/>
            </a:pPr>
            <a:r>
              <a:rPr lang="en-US" dirty="0"/>
              <a:t>Binary Search Trees(BSTs) are used to quickly check whether an element is present in a set or not.</a:t>
            </a:r>
          </a:p>
          <a:p>
            <a:pPr>
              <a:buFont typeface="Arial" panose="020B0604020202020204" pitchFamily="34" charset="0"/>
              <a:buChar char="•"/>
            </a:pPr>
            <a:r>
              <a:rPr lang="en-US" dirty="0"/>
              <a:t>Heap is a kind of tree that is used for heap sort.</a:t>
            </a:r>
          </a:p>
          <a:p>
            <a:pPr>
              <a:buFont typeface="Arial" panose="020B0604020202020204" pitchFamily="34" charset="0"/>
              <a:buChar char="•"/>
            </a:pPr>
            <a:r>
              <a:rPr lang="en-US" dirty="0"/>
              <a:t>A modified version of a tree called Tries is used in modern routers to store routing information.</a:t>
            </a:r>
          </a:p>
          <a:p>
            <a:pPr>
              <a:buFont typeface="Arial" panose="020B0604020202020204" pitchFamily="34" charset="0"/>
              <a:buChar char="•"/>
            </a:pPr>
            <a:r>
              <a:rPr lang="en-US" dirty="0"/>
              <a:t>Most popular databases use B-Trees and T-Trees, which are variants of the tree structure we learned above to store their data</a:t>
            </a:r>
          </a:p>
          <a:p>
            <a:pPr>
              <a:buFont typeface="Arial" panose="020B0604020202020204" pitchFamily="34" charset="0"/>
              <a:buChar char="•"/>
            </a:pPr>
            <a:r>
              <a:rPr lang="en-US" dirty="0"/>
              <a:t>Compilers use a syntax tree to validate the syntax of every program you write.</a:t>
            </a:r>
          </a:p>
          <a:p>
            <a:endParaRPr lang="en-US" dirty="0"/>
          </a:p>
        </p:txBody>
      </p:sp>
    </p:spTree>
    <p:extLst>
      <p:ext uri="{BB962C8B-B14F-4D97-AF65-F5344CB8AC3E}">
        <p14:creationId xmlns:p14="http://schemas.microsoft.com/office/powerpoint/2010/main" val="3774800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D05AA-C4A8-CCDB-064A-88A7D78EFC1B}"/>
              </a:ext>
            </a:extLst>
          </p:cNvPr>
          <p:cNvSpPr>
            <a:spLocks noGrp="1"/>
          </p:cNvSpPr>
          <p:nvPr>
            <p:ph type="title"/>
          </p:nvPr>
        </p:nvSpPr>
        <p:spPr/>
        <p:txBody>
          <a:bodyPr/>
          <a:lstStyle/>
          <a:p>
            <a:r>
              <a:rPr lang="en-US" b="1" dirty="0"/>
              <a:t>Binary Tree</a:t>
            </a:r>
            <a:br>
              <a:rPr lang="en-US" b="1" dirty="0"/>
            </a:br>
            <a:endParaRPr lang="en-US" dirty="0"/>
          </a:p>
        </p:txBody>
      </p:sp>
      <p:sp>
        <p:nvSpPr>
          <p:cNvPr id="3" name="Content Placeholder 2">
            <a:extLst>
              <a:ext uri="{FF2B5EF4-FFF2-40B4-BE49-F238E27FC236}">
                <a16:creationId xmlns:a16="http://schemas.microsoft.com/office/drawing/2014/main" id="{22AD6AF9-0797-E669-68AA-1874E8503487}"/>
              </a:ext>
            </a:extLst>
          </p:cNvPr>
          <p:cNvSpPr>
            <a:spLocks noGrp="1"/>
          </p:cNvSpPr>
          <p:nvPr>
            <p:ph idx="1"/>
          </p:nvPr>
        </p:nvSpPr>
        <p:spPr/>
        <p:txBody>
          <a:bodyPr/>
          <a:lstStyle/>
          <a:p>
            <a:pPr marL="0" indent="0">
              <a:buNone/>
            </a:pPr>
            <a:r>
              <a:rPr lang="en-US" dirty="0"/>
              <a:t>A </a:t>
            </a:r>
            <a:r>
              <a:rPr lang="en-US" b="1" dirty="0"/>
              <a:t>binary tree</a:t>
            </a:r>
            <a:r>
              <a:rPr lang="en-US" dirty="0"/>
              <a:t> is a tree that has, at most, two children. </a:t>
            </a:r>
          </a:p>
          <a:p>
            <a:pPr marL="0" indent="0">
              <a:buNone/>
            </a:pPr>
            <a:endParaRPr lang="en-US" dirty="0"/>
          </a:p>
          <a:p>
            <a:pPr>
              <a:buNone/>
            </a:pPr>
            <a:r>
              <a:rPr lang="en-US" dirty="0"/>
              <a:t>Each node of a binary tree consists of three items:</a:t>
            </a:r>
          </a:p>
          <a:p>
            <a:pPr>
              <a:buFont typeface="Arial" panose="020B0604020202020204" pitchFamily="34" charset="0"/>
              <a:buChar char="•"/>
            </a:pPr>
            <a:r>
              <a:rPr lang="en-US" dirty="0"/>
              <a:t>data item</a:t>
            </a:r>
          </a:p>
          <a:p>
            <a:pPr>
              <a:buFont typeface="Arial" panose="020B0604020202020204" pitchFamily="34" charset="0"/>
              <a:buChar char="•"/>
            </a:pPr>
            <a:r>
              <a:rPr lang="en-US" dirty="0"/>
              <a:t>address of left child</a:t>
            </a:r>
          </a:p>
          <a:p>
            <a:pPr>
              <a:buFont typeface="Arial" panose="020B0604020202020204" pitchFamily="34" charset="0"/>
              <a:buChar char="•"/>
            </a:pPr>
            <a:r>
              <a:rPr lang="en-US" dirty="0"/>
              <a:t>address of right child</a:t>
            </a:r>
          </a:p>
          <a:p>
            <a:pPr marL="0" indent="0">
              <a:buNone/>
            </a:pPr>
            <a:endParaRPr lang="en-US" dirty="0"/>
          </a:p>
          <a:p>
            <a:pPr marL="0" indent="0">
              <a:buNone/>
            </a:pPr>
            <a:endParaRPr lang="en-US" dirty="0"/>
          </a:p>
        </p:txBody>
      </p:sp>
      <p:pic>
        <p:nvPicPr>
          <p:cNvPr id="7" name="Picture 6">
            <a:extLst>
              <a:ext uri="{FF2B5EF4-FFF2-40B4-BE49-F238E27FC236}">
                <a16:creationId xmlns:a16="http://schemas.microsoft.com/office/drawing/2014/main" id="{DC8815EF-3EF6-DE5C-FB40-0F88614952F5}"/>
              </a:ext>
            </a:extLst>
          </p:cNvPr>
          <p:cNvPicPr>
            <a:picLocks noChangeAspect="1"/>
          </p:cNvPicPr>
          <p:nvPr/>
        </p:nvPicPr>
        <p:blipFill>
          <a:blip r:embed="rId2"/>
          <a:stretch>
            <a:fillRect/>
          </a:stretch>
        </p:blipFill>
        <p:spPr>
          <a:xfrm>
            <a:off x="8072956" y="2796706"/>
            <a:ext cx="3145536" cy="3259328"/>
          </a:xfrm>
          <a:prstGeom prst="rect">
            <a:avLst/>
          </a:prstGeom>
        </p:spPr>
      </p:pic>
    </p:spTree>
    <p:extLst>
      <p:ext uri="{BB962C8B-B14F-4D97-AF65-F5344CB8AC3E}">
        <p14:creationId xmlns:p14="http://schemas.microsoft.com/office/powerpoint/2010/main" val="43794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91154-0977-3774-102F-E57ABBA4EB58}"/>
              </a:ext>
            </a:extLst>
          </p:cNvPr>
          <p:cNvSpPr>
            <a:spLocks noGrp="1"/>
          </p:cNvSpPr>
          <p:nvPr>
            <p:ph type="title"/>
          </p:nvPr>
        </p:nvSpPr>
        <p:spPr/>
        <p:txBody>
          <a:bodyPr/>
          <a:lstStyle/>
          <a:p>
            <a:r>
              <a:rPr lang="en-US" b="1" dirty="0"/>
              <a:t>Types of Binary Tree</a:t>
            </a:r>
            <a:br>
              <a:rPr lang="en-US" b="1" dirty="0"/>
            </a:br>
            <a:endParaRPr lang="en-US" dirty="0"/>
          </a:p>
        </p:txBody>
      </p:sp>
      <p:sp>
        <p:nvSpPr>
          <p:cNvPr id="3" name="Content Placeholder 2">
            <a:extLst>
              <a:ext uri="{FF2B5EF4-FFF2-40B4-BE49-F238E27FC236}">
                <a16:creationId xmlns:a16="http://schemas.microsoft.com/office/drawing/2014/main" id="{C3AC887B-320E-F114-5256-114B9A5D7D58}"/>
              </a:ext>
            </a:extLst>
          </p:cNvPr>
          <p:cNvSpPr>
            <a:spLocks noGrp="1"/>
          </p:cNvSpPr>
          <p:nvPr>
            <p:ph idx="1"/>
          </p:nvPr>
        </p:nvSpPr>
        <p:spPr/>
        <p:txBody>
          <a:bodyPr/>
          <a:lstStyle/>
          <a:p>
            <a:pPr marL="0" indent="0">
              <a:buNone/>
            </a:pPr>
            <a:r>
              <a:rPr lang="en-US" dirty="0"/>
              <a:t>Binary trees are classified into different types. In the following lessons, we will be discussing the following types of binary trees:</a:t>
            </a:r>
          </a:p>
          <a:p>
            <a:pPr marL="0" indent="0">
              <a:buNone/>
            </a:pPr>
            <a:endParaRPr lang="en-US" dirty="0"/>
          </a:p>
          <a:p>
            <a:pPr>
              <a:buFont typeface="Arial" panose="020B0604020202020204" pitchFamily="34" charset="0"/>
              <a:buChar char="•"/>
            </a:pPr>
            <a:r>
              <a:rPr lang="en-US" dirty="0"/>
              <a:t>Full Binary Tree</a:t>
            </a:r>
          </a:p>
          <a:p>
            <a:pPr>
              <a:buFont typeface="Arial" panose="020B0604020202020204" pitchFamily="34" charset="0"/>
              <a:buChar char="•"/>
            </a:pPr>
            <a:r>
              <a:rPr lang="en-US" dirty="0"/>
              <a:t>Perfect Binary Tree</a:t>
            </a:r>
          </a:p>
          <a:p>
            <a:pPr>
              <a:buFont typeface="Arial" panose="020B0604020202020204" pitchFamily="34" charset="0"/>
              <a:buChar char="•"/>
            </a:pPr>
            <a:r>
              <a:rPr lang="en-US" dirty="0"/>
              <a:t>Complete Binary Tree</a:t>
            </a:r>
          </a:p>
          <a:p>
            <a:pPr>
              <a:buFont typeface="Arial" panose="020B0604020202020204" pitchFamily="34" charset="0"/>
              <a:buChar char="•"/>
            </a:pPr>
            <a:r>
              <a:rPr lang="en-US" dirty="0"/>
              <a:t>Degenerate Tree</a:t>
            </a:r>
          </a:p>
        </p:txBody>
      </p:sp>
    </p:spTree>
    <p:extLst>
      <p:ext uri="{BB962C8B-B14F-4D97-AF65-F5344CB8AC3E}">
        <p14:creationId xmlns:p14="http://schemas.microsoft.com/office/powerpoint/2010/main" val="4121427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FE6C8-A481-1044-6E07-5358C0C021BC}"/>
              </a:ext>
            </a:extLst>
          </p:cNvPr>
          <p:cNvSpPr>
            <a:spLocks noGrp="1"/>
          </p:cNvSpPr>
          <p:nvPr>
            <p:ph type="title"/>
          </p:nvPr>
        </p:nvSpPr>
        <p:spPr/>
        <p:txBody>
          <a:bodyPr/>
          <a:lstStyle/>
          <a:p>
            <a:r>
              <a:rPr lang="en-US" b="1" dirty="0"/>
              <a:t>Types of Binary Tree</a:t>
            </a:r>
            <a:br>
              <a:rPr lang="en-US" b="1" dirty="0"/>
            </a:br>
            <a:endParaRPr lang="en-US" dirty="0"/>
          </a:p>
        </p:txBody>
      </p:sp>
      <p:sp>
        <p:nvSpPr>
          <p:cNvPr id="3" name="Content Placeholder 2">
            <a:extLst>
              <a:ext uri="{FF2B5EF4-FFF2-40B4-BE49-F238E27FC236}">
                <a16:creationId xmlns:a16="http://schemas.microsoft.com/office/drawing/2014/main" id="{3CE44DE3-410E-7439-F122-ED59B1A7C538}"/>
              </a:ext>
            </a:extLst>
          </p:cNvPr>
          <p:cNvSpPr>
            <a:spLocks noGrp="1"/>
          </p:cNvSpPr>
          <p:nvPr>
            <p:ph idx="1"/>
          </p:nvPr>
        </p:nvSpPr>
        <p:spPr/>
        <p:txBody>
          <a:bodyPr/>
          <a:lstStyle/>
          <a:p>
            <a:r>
              <a:rPr lang="en-US" b="1" dirty="0"/>
              <a:t>Full Binary Tree</a:t>
            </a:r>
          </a:p>
          <a:p>
            <a:pPr marL="530352" lvl="1" indent="0">
              <a:buNone/>
            </a:pPr>
            <a:r>
              <a:rPr lang="en-US" dirty="0"/>
              <a:t>A full Binary tree is a special type of binary tree in which every parent node/internal node has either two or no children.</a:t>
            </a:r>
          </a:p>
          <a:p>
            <a:pPr marL="0" indent="0">
              <a:buNone/>
            </a:pPr>
            <a:endParaRPr lang="en-US" dirty="0"/>
          </a:p>
        </p:txBody>
      </p:sp>
      <p:pic>
        <p:nvPicPr>
          <p:cNvPr id="5" name="Picture 4">
            <a:extLst>
              <a:ext uri="{FF2B5EF4-FFF2-40B4-BE49-F238E27FC236}">
                <a16:creationId xmlns:a16="http://schemas.microsoft.com/office/drawing/2014/main" id="{D59BD8C6-C63E-281A-0270-4603C9131F46}"/>
              </a:ext>
            </a:extLst>
          </p:cNvPr>
          <p:cNvPicPr>
            <a:picLocks noChangeAspect="1"/>
          </p:cNvPicPr>
          <p:nvPr/>
        </p:nvPicPr>
        <p:blipFill>
          <a:blip r:embed="rId2"/>
          <a:stretch>
            <a:fillRect/>
          </a:stretch>
        </p:blipFill>
        <p:spPr>
          <a:xfrm>
            <a:off x="4129800" y="3429000"/>
            <a:ext cx="3742396" cy="3301033"/>
          </a:xfrm>
          <a:prstGeom prst="rect">
            <a:avLst/>
          </a:prstGeom>
        </p:spPr>
      </p:pic>
    </p:spTree>
    <p:extLst>
      <p:ext uri="{BB962C8B-B14F-4D97-AF65-F5344CB8AC3E}">
        <p14:creationId xmlns:p14="http://schemas.microsoft.com/office/powerpoint/2010/main" val="4058134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2F715-D653-75A0-AF51-EE2226CC2C80}"/>
              </a:ext>
            </a:extLst>
          </p:cNvPr>
          <p:cNvSpPr>
            <a:spLocks noGrp="1"/>
          </p:cNvSpPr>
          <p:nvPr>
            <p:ph type="title"/>
          </p:nvPr>
        </p:nvSpPr>
        <p:spPr/>
        <p:txBody>
          <a:bodyPr/>
          <a:lstStyle/>
          <a:p>
            <a:r>
              <a:rPr lang="en-US" b="1" dirty="0"/>
              <a:t>Types of Binary Tree</a:t>
            </a:r>
            <a:br>
              <a:rPr lang="en-US" b="1" dirty="0"/>
            </a:br>
            <a:endParaRPr lang="en-US" dirty="0"/>
          </a:p>
        </p:txBody>
      </p:sp>
      <p:sp>
        <p:nvSpPr>
          <p:cNvPr id="3" name="Content Placeholder 2">
            <a:extLst>
              <a:ext uri="{FF2B5EF4-FFF2-40B4-BE49-F238E27FC236}">
                <a16:creationId xmlns:a16="http://schemas.microsoft.com/office/drawing/2014/main" id="{CFF23452-213B-8937-2043-649ABA8663ED}"/>
              </a:ext>
            </a:extLst>
          </p:cNvPr>
          <p:cNvSpPr>
            <a:spLocks noGrp="1"/>
          </p:cNvSpPr>
          <p:nvPr>
            <p:ph idx="1"/>
          </p:nvPr>
        </p:nvSpPr>
        <p:spPr/>
        <p:txBody>
          <a:bodyPr/>
          <a:lstStyle/>
          <a:p>
            <a:r>
              <a:rPr lang="en-US" b="1" dirty="0"/>
              <a:t>Perfect Binary Tree</a:t>
            </a:r>
          </a:p>
          <a:p>
            <a:pPr marL="530352" lvl="1" indent="0">
              <a:buNone/>
            </a:pPr>
            <a:r>
              <a:rPr lang="en-US" dirty="0"/>
              <a:t>To be a perfect binary tree, every internal node has exactly two child nodes and all the leaf nodes are at the same level.</a:t>
            </a:r>
          </a:p>
          <a:p>
            <a:endParaRPr lang="en-US" dirty="0"/>
          </a:p>
        </p:txBody>
      </p:sp>
      <p:pic>
        <p:nvPicPr>
          <p:cNvPr id="5" name="Picture 4">
            <a:extLst>
              <a:ext uri="{FF2B5EF4-FFF2-40B4-BE49-F238E27FC236}">
                <a16:creationId xmlns:a16="http://schemas.microsoft.com/office/drawing/2014/main" id="{0B971573-FD2D-3C0E-43E0-5672464D115B}"/>
              </a:ext>
            </a:extLst>
          </p:cNvPr>
          <p:cNvPicPr>
            <a:picLocks noChangeAspect="1"/>
          </p:cNvPicPr>
          <p:nvPr/>
        </p:nvPicPr>
        <p:blipFill>
          <a:blip r:embed="rId2"/>
          <a:stretch>
            <a:fillRect/>
          </a:stretch>
        </p:blipFill>
        <p:spPr>
          <a:xfrm>
            <a:off x="3853115" y="3499783"/>
            <a:ext cx="4622491" cy="3289987"/>
          </a:xfrm>
          <a:prstGeom prst="rect">
            <a:avLst/>
          </a:prstGeom>
        </p:spPr>
      </p:pic>
    </p:spTree>
    <p:extLst>
      <p:ext uri="{BB962C8B-B14F-4D97-AF65-F5344CB8AC3E}">
        <p14:creationId xmlns:p14="http://schemas.microsoft.com/office/powerpoint/2010/main" val="3555031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BB6E4-9E44-659D-BB78-D217FF312784}"/>
              </a:ext>
            </a:extLst>
          </p:cNvPr>
          <p:cNvSpPr>
            <a:spLocks noGrp="1"/>
          </p:cNvSpPr>
          <p:nvPr>
            <p:ph type="title"/>
          </p:nvPr>
        </p:nvSpPr>
        <p:spPr/>
        <p:txBody>
          <a:bodyPr/>
          <a:lstStyle/>
          <a:p>
            <a:r>
              <a:rPr lang="en-US" b="1" dirty="0"/>
              <a:t>Types of Binary Tree</a:t>
            </a:r>
            <a:br>
              <a:rPr lang="en-US" b="1" dirty="0"/>
            </a:br>
            <a:endParaRPr lang="en-US" dirty="0"/>
          </a:p>
        </p:txBody>
      </p:sp>
      <p:sp>
        <p:nvSpPr>
          <p:cNvPr id="3" name="Content Placeholder 2">
            <a:extLst>
              <a:ext uri="{FF2B5EF4-FFF2-40B4-BE49-F238E27FC236}">
                <a16:creationId xmlns:a16="http://schemas.microsoft.com/office/drawing/2014/main" id="{548EF6D8-9552-4CE3-F717-46879E1A36B1}"/>
              </a:ext>
            </a:extLst>
          </p:cNvPr>
          <p:cNvSpPr>
            <a:spLocks noGrp="1"/>
          </p:cNvSpPr>
          <p:nvPr>
            <p:ph idx="1"/>
          </p:nvPr>
        </p:nvSpPr>
        <p:spPr/>
        <p:txBody>
          <a:bodyPr/>
          <a:lstStyle/>
          <a:p>
            <a:r>
              <a:rPr lang="en-US" b="1" dirty="0"/>
              <a:t>Complete Binary Tree</a:t>
            </a:r>
          </a:p>
          <a:p>
            <a:pPr marL="530352" lvl="1" indent="0">
              <a:buNone/>
            </a:pPr>
            <a:r>
              <a:rPr lang="en-US" dirty="0"/>
              <a:t>A complete binary tree is a binary tree in which all the levels, except possibly the last, are completely filled, and all nodes are as far left as possible.</a:t>
            </a:r>
          </a:p>
          <a:p>
            <a:endParaRPr lang="en-US" dirty="0"/>
          </a:p>
        </p:txBody>
      </p:sp>
      <p:pic>
        <p:nvPicPr>
          <p:cNvPr id="5" name="Picture 4">
            <a:extLst>
              <a:ext uri="{FF2B5EF4-FFF2-40B4-BE49-F238E27FC236}">
                <a16:creationId xmlns:a16="http://schemas.microsoft.com/office/drawing/2014/main" id="{CDF66480-6339-41ED-870A-DA09914BF93A}"/>
              </a:ext>
            </a:extLst>
          </p:cNvPr>
          <p:cNvPicPr>
            <a:picLocks noChangeAspect="1"/>
          </p:cNvPicPr>
          <p:nvPr/>
        </p:nvPicPr>
        <p:blipFill>
          <a:blip r:embed="rId2"/>
          <a:stretch>
            <a:fillRect/>
          </a:stretch>
        </p:blipFill>
        <p:spPr>
          <a:xfrm>
            <a:off x="4427372" y="3580689"/>
            <a:ext cx="3658338" cy="3153353"/>
          </a:xfrm>
          <a:prstGeom prst="rect">
            <a:avLst/>
          </a:prstGeom>
        </p:spPr>
      </p:pic>
    </p:spTree>
    <p:extLst>
      <p:ext uri="{BB962C8B-B14F-4D97-AF65-F5344CB8AC3E}">
        <p14:creationId xmlns:p14="http://schemas.microsoft.com/office/powerpoint/2010/main" val="2977402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926E0-8765-B546-B166-CF0587A8FBA8}"/>
              </a:ext>
            </a:extLst>
          </p:cNvPr>
          <p:cNvSpPr>
            <a:spLocks noGrp="1"/>
          </p:cNvSpPr>
          <p:nvPr>
            <p:ph type="title"/>
          </p:nvPr>
        </p:nvSpPr>
        <p:spPr/>
        <p:txBody>
          <a:bodyPr/>
          <a:lstStyle/>
          <a:p>
            <a:r>
              <a:rPr lang="en-US" b="1" dirty="0"/>
              <a:t>Types of Binary Tree</a:t>
            </a:r>
            <a:br>
              <a:rPr lang="en-US" b="1" dirty="0"/>
            </a:br>
            <a:endParaRPr lang="en-US" dirty="0"/>
          </a:p>
        </p:txBody>
      </p:sp>
      <p:sp>
        <p:nvSpPr>
          <p:cNvPr id="3" name="Content Placeholder 2">
            <a:extLst>
              <a:ext uri="{FF2B5EF4-FFF2-40B4-BE49-F238E27FC236}">
                <a16:creationId xmlns:a16="http://schemas.microsoft.com/office/drawing/2014/main" id="{F7535CC1-4648-C1FE-DFF0-5FC757F8B4B4}"/>
              </a:ext>
            </a:extLst>
          </p:cNvPr>
          <p:cNvSpPr>
            <a:spLocks noGrp="1"/>
          </p:cNvSpPr>
          <p:nvPr>
            <p:ph idx="1"/>
          </p:nvPr>
        </p:nvSpPr>
        <p:spPr/>
        <p:txBody>
          <a:bodyPr/>
          <a:lstStyle/>
          <a:p>
            <a:r>
              <a:rPr lang="en-US" b="1" dirty="0"/>
              <a:t>Degenerate Tree</a:t>
            </a:r>
          </a:p>
          <a:p>
            <a:pPr marL="530352" lvl="1" indent="0">
              <a:buNone/>
            </a:pPr>
            <a:r>
              <a:rPr lang="en-US" dirty="0"/>
              <a:t>In degenerate trees, the parent nodes have at most one child node. </a:t>
            </a:r>
          </a:p>
          <a:p>
            <a:endParaRPr lang="en-US" dirty="0"/>
          </a:p>
        </p:txBody>
      </p:sp>
      <p:pic>
        <p:nvPicPr>
          <p:cNvPr id="5" name="Picture 4">
            <a:extLst>
              <a:ext uri="{FF2B5EF4-FFF2-40B4-BE49-F238E27FC236}">
                <a16:creationId xmlns:a16="http://schemas.microsoft.com/office/drawing/2014/main" id="{442C42A1-6EF0-D8BC-B4A8-4D368E9A8B9B}"/>
              </a:ext>
            </a:extLst>
          </p:cNvPr>
          <p:cNvPicPr>
            <a:picLocks noChangeAspect="1"/>
          </p:cNvPicPr>
          <p:nvPr/>
        </p:nvPicPr>
        <p:blipFill>
          <a:blip r:embed="rId2"/>
          <a:stretch>
            <a:fillRect/>
          </a:stretch>
        </p:blipFill>
        <p:spPr>
          <a:xfrm>
            <a:off x="5755509" y="3186513"/>
            <a:ext cx="2000064" cy="3254203"/>
          </a:xfrm>
          <a:prstGeom prst="rect">
            <a:avLst/>
          </a:prstGeom>
        </p:spPr>
      </p:pic>
    </p:spTree>
    <p:extLst>
      <p:ext uri="{BB962C8B-B14F-4D97-AF65-F5344CB8AC3E}">
        <p14:creationId xmlns:p14="http://schemas.microsoft.com/office/powerpoint/2010/main" val="2284845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12B92-067D-2068-6147-4A5414761EA1}"/>
              </a:ext>
            </a:extLst>
          </p:cNvPr>
          <p:cNvSpPr>
            <a:spLocks noGrp="1"/>
          </p:cNvSpPr>
          <p:nvPr>
            <p:ph type="title"/>
          </p:nvPr>
        </p:nvSpPr>
        <p:spPr/>
        <p:txBody>
          <a:bodyPr/>
          <a:lstStyle/>
          <a:p>
            <a:r>
              <a:rPr lang="en-US" b="1" dirty="0"/>
              <a:t>Types of Binary Tree</a:t>
            </a:r>
            <a:br>
              <a:rPr lang="en-US" b="1" dirty="0"/>
            </a:br>
            <a:endParaRPr lang="en-US" dirty="0"/>
          </a:p>
        </p:txBody>
      </p:sp>
      <p:sp>
        <p:nvSpPr>
          <p:cNvPr id="3" name="Content Placeholder 2">
            <a:extLst>
              <a:ext uri="{FF2B5EF4-FFF2-40B4-BE49-F238E27FC236}">
                <a16:creationId xmlns:a16="http://schemas.microsoft.com/office/drawing/2014/main" id="{FA7D9B45-C79D-150D-A874-327E8F83C82C}"/>
              </a:ext>
            </a:extLst>
          </p:cNvPr>
          <p:cNvSpPr>
            <a:spLocks noGrp="1"/>
          </p:cNvSpPr>
          <p:nvPr>
            <p:ph idx="1"/>
          </p:nvPr>
        </p:nvSpPr>
        <p:spPr>
          <a:xfrm>
            <a:off x="1371600" y="2286000"/>
            <a:ext cx="7066873" cy="3581400"/>
          </a:xfrm>
        </p:spPr>
        <p:txBody>
          <a:bodyPr>
            <a:normAutofit/>
          </a:bodyPr>
          <a:lstStyle/>
          <a:p>
            <a:r>
              <a:rPr lang="en-US" b="1" dirty="0"/>
              <a:t>Complete Binary Tree</a:t>
            </a:r>
          </a:p>
          <a:p>
            <a:pPr marL="530352" lvl="1" indent="0">
              <a:buNone/>
            </a:pPr>
            <a:r>
              <a:rPr lang="en-US" dirty="0"/>
              <a:t>A complete binary tree is a binary tree in which all the levels, except possibly the last, are completely filled, and all nodes are as far left as possible.</a:t>
            </a:r>
          </a:p>
          <a:p>
            <a:pPr marL="0" indent="0">
              <a:buNone/>
            </a:pPr>
            <a:r>
              <a:rPr lang="en-US" dirty="0"/>
              <a:t>A complete binary tree is just like a full binary tree, but with two major differences</a:t>
            </a:r>
          </a:p>
          <a:p>
            <a:pPr>
              <a:buFont typeface="+mj-lt"/>
              <a:buAutoNum type="arabicPeriod"/>
            </a:pPr>
            <a:r>
              <a:rPr lang="en-US" dirty="0"/>
              <a:t>All the leaf elements must lean towards the left.</a:t>
            </a:r>
          </a:p>
          <a:p>
            <a:pPr>
              <a:buFont typeface="+mj-lt"/>
              <a:buAutoNum type="arabicPeriod"/>
            </a:pPr>
            <a:r>
              <a:rPr lang="en-US" dirty="0"/>
              <a:t>The last leaf element might not have a right sibling i.e. a complete binary tree doesn't have to be a full binary tree.</a:t>
            </a:r>
          </a:p>
          <a:p>
            <a:pPr marL="530352" lvl="1" indent="0">
              <a:buNone/>
            </a:pPr>
            <a:endParaRPr lang="en-US" dirty="0"/>
          </a:p>
          <a:p>
            <a:endParaRPr lang="en-US" dirty="0"/>
          </a:p>
        </p:txBody>
      </p:sp>
      <p:pic>
        <p:nvPicPr>
          <p:cNvPr id="5" name="Picture 4">
            <a:extLst>
              <a:ext uri="{FF2B5EF4-FFF2-40B4-BE49-F238E27FC236}">
                <a16:creationId xmlns:a16="http://schemas.microsoft.com/office/drawing/2014/main" id="{D2E816AA-BCF4-3F88-08A0-F3D755082781}"/>
              </a:ext>
            </a:extLst>
          </p:cNvPr>
          <p:cNvPicPr>
            <a:picLocks noChangeAspect="1"/>
          </p:cNvPicPr>
          <p:nvPr/>
        </p:nvPicPr>
        <p:blipFill>
          <a:blip r:embed="rId2"/>
          <a:stretch>
            <a:fillRect/>
          </a:stretch>
        </p:blipFill>
        <p:spPr>
          <a:xfrm>
            <a:off x="8438473" y="2491151"/>
            <a:ext cx="3301825" cy="3313018"/>
          </a:xfrm>
          <a:prstGeom prst="rect">
            <a:avLst/>
          </a:prstGeom>
        </p:spPr>
      </p:pic>
    </p:spTree>
    <p:extLst>
      <p:ext uri="{BB962C8B-B14F-4D97-AF65-F5344CB8AC3E}">
        <p14:creationId xmlns:p14="http://schemas.microsoft.com/office/powerpoint/2010/main" val="3814688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FC0D7-E385-7589-0B62-B24DB9E1E798}"/>
              </a:ext>
            </a:extLst>
          </p:cNvPr>
          <p:cNvSpPr>
            <a:spLocks noGrp="1"/>
          </p:cNvSpPr>
          <p:nvPr>
            <p:ph type="title"/>
          </p:nvPr>
        </p:nvSpPr>
        <p:spPr/>
        <p:txBody>
          <a:bodyPr/>
          <a:lstStyle/>
          <a:p>
            <a:r>
              <a:rPr lang="en-US" dirty="0"/>
              <a:t>Full Binary Tree vs Complete Binary Tree</a:t>
            </a:r>
          </a:p>
        </p:txBody>
      </p:sp>
      <p:pic>
        <p:nvPicPr>
          <p:cNvPr id="5" name="Content Placeholder 4">
            <a:extLst>
              <a:ext uri="{FF2B5EF4-FFF2-40B4-BE49-F238E27FC236}">
                <a16:creationId xmlns:a16="http://schemas.microsoft.com/office/drawing/2014/main" id="{C9CD9414-8F42-502F-64DB-DC6586C065C0}"/>
              </a:ext>
            </a:extLst>
          </p:cNvPr>
          <p:cNvPicPr>
            <a:picLocks noGrp="1" noChangeAspect="1"/>
          </p:cNvPicPr>
          <p:nvPr>
            <p:ph idx="1"/>
          </p:nvPr>
        </p:nvPicPr>
        <p:blipFill>
          <a:blip r:embed="rId2"/>
          <a:stretch>
            <a:fillRect/>
          </a:stretch>
        </p:blipFill>
        <p:spPr>
          <a:xfrm>
            <a:off x="3200058" y="1995665"/>
            <a:ext cx="6469501" cy="4335511"/>
          </a:xfrm>
        </p:spPr>
      </p:pic>
    </p:spTree>
    <p:extLst>
      <p:ext uri="{BB962C8B-B14F-4D97-AF65-F5344CB8AC3E}">
        <p14:creationId xmlns:p14="http://schemas.microsoft.com/office/powerpoint/2010/main" val="1947226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7DD04-C20C-EC54-3A4B-0BF24B5F7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10EEB-A596-65CC-0802-7F6299227F62}"/>
              </a:ext>
            </a:extLst>
          </p:cNvPr>
          <p:cNvSpPr>
            <a:spLocks noGrp="1"/>
          </p:cNvSpPr>
          <p:nvPr>
            <p:ph type="title"/>
          </p:nvPr>
        </p:nvSpPr>
        <p:spPr/>
        <p:txBody>
          <a:bodyPr/>
          <a:lstStyle/>
          <a:p>
            <a:r>
              <a:rPr lang="en-US" dirty="0"/>
              <a:t>Full Binary Tree vs Complete Binary Tree</a:t>
            </a:r>
          </a:p>
        </p:txBody>
      </p:sp>
      <p:sp>
        <p:nvSpPr>
          <p:cNvPr id="4" name="Content Placeholder 3">
            <a:extLst>
              <a:ext uri="{FF2B5EF4-FFF2-40B4-BE49-F238E27FC236}">
                <a16:creationId xmlns:a16="http://schemas.microsoft.com/office/drawing/2014/main" id="{4072AABA-8623-6191-7AC1-E086EF2C554F}"/>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135E0314-1F5C-B89B-78E2-2BCE43C67181}"/>
              </a:ext>
            </a:extLst>
          </p:cNvPr>
          <p:cNvPicPr>
            <a:picLocks noChangeAspect="1"/>
          </p:cNvPicPr>
          <p:nvPr/>
        </p:nvPicPr>
        <p:blipFill>
          <a:blip r:embed="rId2"/>
          <a:stretch>
            <a:fillRect/>
          </a:stretch>
        </p:blipFill>
        <p:spPr>
          <a:xfrm>
            <a:off x="2736241" y="1908784"/>
            <a:ext cx="7034226" cy="4742664"/>
          </a:xfrm>
          <a:prstGeom prst="rect">
            <a:avLst/>
          </a:prstGeom>
        </p:spPr>
      </p:pic>
    </p:spTree>
    <p:extLst>
      <p:ext uri="{BB962C8B-B14F-4D97-AF65-F5344CB8AC3E}">
        <p14:creationId xmlns:p14="http://schemas.microsoft.com/office/powerpoint/2010/main" val="51258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B9594-6EC7-D4E7-E1B4-693FD1A121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00847-0EA7-4797-7258-51723E7BE810}"/>
              </a:ext>
            </a:extLst>
          </p:cNvPr>
          <p:cNvSpPr>
            <a:spLocks noGrp="1"/>
          </p:cNvSpPr>
          <p:nvPr>
            <p:ph type="title"/>
          </p:nvPr>
        </p:nvSpPr>
        <p:spPr/>
        <p:txBody>
          <a:bodyPr/>
          <a:lstStyle/>
          <a:p>
            <a:r>
              <a:rPr lang="en-US" dirty="0"/>
              <a:t>Full Binary Tree vs Complete Binary Tree</a:t>
            </a:r>
          </a:p>
        </p:txBody>
      </p:sp>
      <p:sp>
        <p:nvSpPr>
          <p:cNvPr id="4" name="Content Placeholder 3">
            <a:extLst>
              <a:ext uri="{FF2B5EF4-FFF2-40B4-BE49-F238E27FC236}">
                <a16:creationId xmlns:a16="http://schemas.microsoft.com/office/drawing/2014/main" id="{A0B12935-AB36-DC1F-C2F6-7D38DD024F43}"/>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E007D9FD-5EA2-FF98-1CC0-05A3EA3CC4D1}"/>
              </a:ext>
            </a:extLst>
          </p:cNvPr>
          <p:cNvPicPr>
            <a:picLocks noChangeAspect="1"/>
          </p:cNvPicPr>
          <p:nvPr/>
        </p:nvPicPr>
        <p:blipFill>
          <a:blip r:embed="rId2"/>
          <a:stretch>
            <a:fillRect/>
          </a:stretch>
        </p:blipFill>
        <p:spPr>
          <a:xfrm>
            <a:off x="2617523" y="2002342"/>
            <a:ext cx="7181277" cy="4714089"/>
          </a:xfrm>
          <a:prstGeom prst="rect">
            <a:avLst/>
          </a:prstGeom>
        </p:spPr>
      </p:pic>
    </p:spTree>
    <p:extLst>
      <p:ext uri="{BB962C8B-B14F-4D97-AF65-F5344CB8AC3E}">
        <p14:creationId xmlns:p14="http://schemas.microsoft.com/office/powerpoint/2010/main" val="3272677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9885-E13E-96E8-2CB6-19AAFD31BF78}"/>
              </a:ext>
            </a:extLst>
          </p:cNvPr>
          <p:cNvSpPr>
            <a:spLocks noGrp="1"/>
          </p:cNvSpPr>
          <p:nvPr>
            <p:ph type="title"/>
          </p:nvPr>
        </p:nvSpPr>
        <p:spPr/>
        <p:txBody>
          <a:bodyPr/>
          <a:lstStyle/>
          <a:p>
            <a:r>
              <a:rPr lang="en-US" dirty="0"/>
              <a:t>Full Binary Tree vs Complete Binary Tree</a:t>
            </a:r>
          </a:p>
        </p:txBody>
      </p:sp>
      <p:sp>
        <p:nvSpPr>
          <p:cNvPr id="3" name="Content Placeholder 2">
            <a:extLst>
              <a:ext uri="{FF2B5EF4-FFF2-40B4-BE49-F238E27FC236}">
                <a16:creationId xmlns:a16="http://schemas.microsoft.com/office/drawing/2014/main" id="{F12722D3-76C4-E59D-E149-73B9F96F1B4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29A453A-0A4C-179E-3C07-B3D3898C51A3}"/>
              </a:ext>
            </a:extLst>
          </p:cNvPr>
          <p:cNvPicPr>
            <a:picLocks noChangeAspect="1"/>
          </p:cNvPicPr>
          <p:nvPr/>
        </p:nvPicPr>
        <p:blipFill>
          <a:blip r:embed="rId2"/>
          <a:stretch>
            <a:fillRect/>
          </a:stretch>
        </p:blipFill>
        <p:spPr>
          <a:xfrm>
            <a:off x="2586540" y="1820835"/>
            <a:ext cx="7711454" cy="4914162"/>
          </a:xfrm>
          <a:prstGeom prst="rect">
            <a:avLst/>
          </a:prstGeom>
        </p:spPr>
      </p:pic>
    </p:spTree>
    <p:extLst>
      <p:ext uri="{BB962C8B-B14F-4D97-AF65-F5344CB8AC3E}">
        <p14:creationId xmlns:p14="http://schemas.microsoft.com/office/powerpoint/2010/main" val="4036442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09DDE-1B12-342A-E0EA-40B7893008B8}"/>
              </a:ext>
            </a:extLst>
          </p:cNvPr>
          <p:cNvSpPr>
            <a:spLocks noGrp="1"/>
          </p:cNvSpPr>
          <p:nvPr>
            <p:ph type="title"/>
          </p:nvPr>
        </p:nvSpPr>
        <p:spPr/>
        <p:txBody>
          <a:bodyPr/>
          <a:lstStyle/>
          <a:p>
            <a:r>
              <a:rPr lang="en-US" b="1" dirty="0"/>
              <a:t>How a Complete Binary Tree is Created?</a:t>
            </a:r>
          </a:p>
        </p:txBody>
      </p:sp>
      <p:pic>
        <p:nvPicPr>
          <p:cNvPr id="5" name="Content Placeholder 4">
            <a:extLst>
              <a:ext uri="{FF2B5EF4-FFF2-40B4-BE49-F238E27FC236}">
                <a16:creationId xmlns:a16="http://schemas.microsoft.com/office/drawing/2014/main" id="{F008FDC3-0E4B-C52C-A87A-5E8AA321BF42}"/>
              </a:ext>
            </a:extLst>
          </p:cNvPr>
          <p:cNvPicPr>
            <a:picLocks noGrp="1" noChangeAspect="1"/>
          </p:cNvPicPr>
          <p:nvPr>
            <p:ph idx="1"/>
          </p:nvPr>
        </p:nvPicPr>
        <p:blipFill>
          <a:blip r:embed="rId2"/>
          <a:stretch>
            <a:fillRect/>
          </a:stretch>
        </p:blipFill>
        <p:spPr>
          <a:xfrm>
            <a:off x="3622521" y="1762172"/>
            <a:ext cx="5809259" cy="5010345"/>
          </a:xfrm>
        </p:spPr>
      </p:pic>
    </p:spTree>
    <p:extLst>
      <p:ext uri="{BB962C8B-B14F-4D97-AF65-F5344CB8AC3E}">
        <p14:creationId xmlns:p14="http://schemas.microsoft.com/office/powerpoint/2010/main" val="3325292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179EEE-7326-26DD-7504-A353A9D8122C}"/>
              </a:ext>
            </a:extLst>
          </p:cNvPr>
          <p:cNvSpPr>
            <a:spLocks noGrp="1"/>
          </p:cNvSpPr>
          <p:nvPr>
            <p:ph type="ctrTitle"/>
          </p:nvPr>
        </p:nvSpPr>
        <p:spPr/>
        <p:txBody>
          <a:bodyPr/>
          <a:lstStyle/>
          <a:p>
            <a:r>
              <a:rPr lang="en-US" b="1" dirty="0"/>
              <a:t>Heap Sort</a:t>
            </a:r>
            <a:endParaRPr lang="en-US" dirty="0"/>
          </a:p>
        </p:txBody>
      </p:sp>
      <p:sp>
        <p:nvSpPr>
          <p:cNvPr id="5" name="Subtitle 4">
            <a:extLst>
              <a:ext uri="{FF2B5EF4-FFF2-40B4-BE49-F238E27FC236}">
                <a16:creationId xmlns:a16="http://schemas.microsoft.com/office/drawing/2014/main" id="{22908BB2-55DF-EB3F-5E48-51B4ED60103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25847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9D7FE-E604-4F3A-23D4-92A8F215EFA7}"/>
              </a:ext>
            </a:extLst>
          </p:cNvPr>
          <p:cNvSpPr>
            <a:spLocks noGrp="1"/>
          </p:cNvSpPr>
          <p:nvPr>
            <p:ph type="title"/>
          </p:nvPr>
        </p:nvSpPr>
        <p:spPr/>
        <p:txBody>
          <a:bodyPr/>
          <a:lstStyle/>
          <a:p>
            <a:r>
              <a:rPr lang="en-US" b="1" dirty="0"/>
              <a:t>Heap Sort</a:t>
            </a:r>
            <a:endParaRPr lang="en-US" dirty="0"/>
          </a:p>
        </p:txBody>
      </p:sp>
      <p:sp>
        <p:nvSpPr>
          <p:cNvPr id="3" name="Content Placeholder 2">
            <a:extLst>
              <a:ext uri="{FF2B5EF4-FFF2-40B4-BE49-F238E27FC236}">
                <a16:creationId xmlns:a16="http://schemas.microsoft.com/office/drawing/2014/main" id="{50AC3C2C-14A7-9167-5F95-4E10038D87A9}"/>
              </a:ext>
            </a:extLst>
          </p:cNvPr>
          <p:cNvSpPr>
            <a:spLocks noGrp="1"/>
          </p:cNvSpPr>
          <p:nvPr>
            <p:ph idx="1"/>
          </p:nvPr>
        </p:nvSpPr>
        <p:spPr/>
        <p:txBody>
          <a:bodyPr/>
          <a:lstStyle/>
          <a:p>
            <a:pPr marL="0" indent="0">
              <a:buNone/>
            </a:pPr>
            <a:r>
              <a:rPr lang="en-US" dirty="0"/>
              <a:t>Heap Sort is a popular and efficient sorting algorithm in computer programming. Learning how to write the heap sort algorithm requires knowledge of two types of data structures - arrays and trees.</a:t>
            </a:r>
          </a:p>
          <a:p>
            <a:pPr marL="0" indent="0">
              <a:buNone/>
            </a:pPr>
            <a:r>
              <a:rPr lang="en-US" dirty="0"/>
              <a:t>The initial set of numbers that we want to sort is stored in an array e.g. [10, 3, 76, 34, 23, 32] and after sorting, we get a sorted array [3,10,23,32,34,76].</a:t>
            </a:r>
          </a:p>
          <a:p>
            <a:pPr marL="0" indent="0">
              <a:buNone/>
            </a:pPr>
            <a:r>
              <a:rPr lang="en-US" dirty="0"/>
              <a:t>Heap sort works by visualizing the elements of the array as a special kind of complete binary tree called a heap.</a:t>
            </a:r>
          </a:p>
        </p:txBody>
      </p:sp>
    </p:spTree>
    <p:extLst>
      <p:ext uri="{BB962C8B-B14F-4D97-AF65-F5344CB8AC3E}">
        <p14:creationId xmlns:p14="http://schemas.microsoft.com/office/powerpoint/2010/main" val="12388926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A9B4B-89D4-A612-DF54-C507CCA5CEF9}"/>
              </a:ext>
            </a:extLst>
          </p:cNvPr>
          <p:cNvSpPr>
            <a:spLocks noGrp="1"/>
          </p:cNvSpPr>
          <p:nvPr>
            <p:ph type="title"/>
          </p:nvPr>
        </p:nvSpPr>
        <p:spPr/>
        <p:txBody>
          <a:bodyPr>
            <a:normAutofit fontScale="90000"/>
          </a:bodyPr>
          <a:lstStyle/>
          <a:p>
            <a:r>
              <a:rPr lang="en-US" b="1" dirty="0"/>
              <a:t>Relationship between Array Indexes and Tree Elements</a:t>
            </a:r>
            <a:br>
              <a:rPr lang="en-US" b="1" dirty="0"/>
            </a:br>
            <a:endParaRPr lang="en-US" dirty="0"/>
          </a:p>
        </p:txBody>
      </p:sp>
      <p:pic>
        <p:nvPicPr>
          <p:cNvPr id="5" name="Content Placeholder 4">
            <a:extLst>
              <a:ext uri="{FF2B5EF4-FFF2-40B4-BE49-F238E27FC236}">
                <a16:creationId xmlns:a16="http://schemas.microsoft.com/office/drawing/2014/main" id="{3FE16EAA-56CF-72AE-C026-19F0B104A246}"/>
              </a:ext>
            </a:extLst>
          </p:cNvPr>
          <p:cNvPicPr>
            <a:picLocks noGrp="1" noChangeAspect="1"/>
          </p:cNvPicPr>
          <p:nvPr>
            <p:ph idx="1"/>
          </p:nvPr>
        </p:nvPicPr>
        <p:blipFill>
          <a:blip r:embed="rId2"/>
          <a:stretch>
            <a:fillRect/>
          </a:stretch>
        </p:blipFill>
        <p:spPr>
          <a:xfrm>
            <a:off x="2752483" y="2111204"/>
            <a:ext cx="7866339" cy="4189522"/>
          </a:xfrm>
        </p:spPr>
      </p:pic>
    </p:spTree>
    <p:extLst>
      <p:ext uri="{BB962C8B-B14F-4D97-AF65-F5344CB8AC3E}">
        <p14:creationId xmlns:p14="http://schemas.microsoft.com/office/powerpoint/2010/main" val="7709059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05F8E-B07A-4E83-5FDB-85A1D58C009C}"/>
              </a:ext>
            </a:extLst>
          </p:cNvPr>
          <p:cNvSpPr>
            <a:spLocks noGrp="1"/>
          </p:cNvSpPr>
          <p:nvPr>
            <p:ph type="title"/>
          </p:nvPr>
        </p:nvSpPr>
        <p:spPr/>
        <p:txBody>
          <a:bodyPr/>
          <a:lstStyle/>
          <a:p>
            <a:r>
              <a:rPr lang="en-US" dirty="0"/>
              <a:t>What is Heap Data Structure?</a:t>
            </a:r>
          </a:p>
        </p:txBody>
      </p:sp>
      <p:sp>
        <p:nvSpPr>
          <p:cNvPr id="3" name="Content Placeholder 2">
            <a:extLst>
              <a:ext uri="{FF2B5EF4-FFF2-40B4-BE49-F238E27FC236}">
                <a16:creationId xmlns:a16="http://schemas.microsoft.com/office/drawing/2014/main" id="{519377AC-B7CD-BADC-A927-8D444C9EFE14}"/>
              </a:ext>
            </a:extLst>
          </p:cNvPr>
          <p:cNvSpPr>
            <a:spLocks noGrp="1"/>
          </p:cNvSpPr>
          <p:nvPr>
            <p:ph idx="1"/>
          </p:nvPr>
        </p:nvSpPr>
        <p:spPr/>
        <p:txBody>
          <a:bodyPr/>
          <a:lstStyle/>
          <a:p>
            <a:pPr marL="0" indent="0">
              <a:buNone/>
            </a:pPr>
            <a:r>
              <a:rPr lang="en-US" dirty="0"/>
              <a:t>A binary heap is a complete binary tree with heap property. Hence, a binary heap has the following properties:</a:t>
            </a:r>
          </a:p>
          <a:p>
            <a:pPr>
              <a:buFont typeface="Arial" panose="020B0604020202020204" pitchFamily="34" charset="0"/>
              <a:buChar char="•"/>
            </a:pPr>
            <a:r>
              <a:rPr lang="en-US" dirty="0"/>
              <a:t>It is a complete binary tree.</a:t>
            </a:r>
          </a:p>
          <a:p>
            <a:pPr>
              <a:buFont typeface="Arial" panose="020B0604020202020204" pitchFamily="34" charset="0"/>
              <a:buChar char="•"/>
            </a:pPr>
            <a:r>
              <a:rPr lang="en-US" dirty="0"/>
              <a:t>It satisfies the heap property (either max-heap or min-heap). </a:t>
            </a:r>
          </a:p>
          <a:p>
            <a:pPr marL="0" indent="0">
              <a:buNone/>
            </a:pPr>
            <a:r>
              <a:rPr lang="en-US" dirty="0"/>
              <a:t>All nodes in the tree follow the property that they are greater than their children i.e. the largest element is at the root and both its children and smaller than the root and so on. Such a heap is called a </a:t>
            </a:r>
            <a:r>
              <a:rPr lang="en-US" b="1" dirty="0"/>
              <a:t>max-heap</a:t>
            </a:r>
            <a:r>
              <a:rPr lang="en-US" dirty="0"/>
              <a:t>. If instead, all nodes are smaller than their children, it is called a </a:t>
            </a:r>
            <a:r>
              <a:rPr lang="en-US" b="1" dirty="0"/>
              <a:t>min-heap</a:t>
            </a:r>
          </a:p>
        </p:txBody>
      </p:sp>
    </p:spTree>
    <p:extLst>
      <p:ext uri="{BB962C8B-B14F-4D97-AF65-F5344CB8AC3E}">
        <p14:creationId xmlns:p14="http://schemas.microsoft.com/office/powerpoint/2010/main" val="3378269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08A35-B732-4F54-27B8-19C73CC0F3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6C1FE5-AA70-A3FE-DF2C-5184F7676165}"/>
              </a:ext>
            </a:extLst>
          </p:cNvPr>
          <p:cNvSpPr>
            <a:spLocks noGrp="1"/>
          </p:cNvSpPr>
          <p:nvPr>
            <p:ph type="title"/>
          </p:nvPr>
        </p:nvSpPr>
        <p:spPr/>
        <p:txBody>
          <a:bodyPr/>
          <a:lstStyle/>
          <a:p>
            <a:r>
              <a:rPr lang="en-US" dirty="0"/>
              <a:t>What is Heap Data Structure </a:t>
            </a:r>
            <a:r>
              <a:rPr lang="en-US" dirty="0" err="1"/>
              <a:t>Cont</a:t>
            </a:r>
            <a:r>
              <a:rPr lang="en-US" dirty="0"/>
              <a:t>…</a:t>
            </a:r>
          </a:p>
        </p:txBody>
      </p:sp>
      <p:pic>
        <p:nvPicPr>
          <p:cNvPr id="5" name="Content Placeholder 4">
            <a:extLst>
              <a:ext uri="{FF2B5EF4-FFF2-40B4-BE49-F238E27FC236}">
                <a16:creationId xmlns:a16="http://schemas.microsoft.com/office/drawing/2014/main" id="{DE0C6499-4917-1AE5-C6E8-35272FDF6F16}"/>
              </a:ext>
            </a:extLst>
          </p:cNvPr>
          <p:cNvPicPr>
            <a:picLocks noGrp="1" noChangeAspect="1"/>
          </p:cNvPicPr>
          <p:nvPr>
            <p:ph idx="1"/>
          </p:nvPr>
        </p:nvPicPr>
        <p:blipFill>
          <a:blip r:embed="rId2"/>
          <a:stretch>
            <a:fillRect/>
          </a:stretch>
        </p:blipFill>
        <p:spPr>
          <a:xfrm>
            <a:off x="2600841" y="2081661"/>
            <a:ext cx="7930758" cy="4365555"/>
          </a:xfrm>
        </p:spPr>
      </p:pic>
    </p:spTree>
    <p:extLst>
      <p:ext uri="{BB962C8B-B14F-4D97-AF65-F5344CB8AC3E}">
        <p14:creationId xmlns:p14="http://schemas.microsoft.com/office/powerpoint/2010/main" val="32087681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BB9F1-4C5B-3957-4585-F3D219E04B4E}"/>
              </a:ext>
            </a:extLst>
          </p:cNvPr>
          <p:cNvSpPr>
            <a:spLocks noGrp="1"/>
          </p:cNvSpPr>
          <p:nvPr>
            <p:ph type="title"/>
          </p:nvPr>
        </p:nvSpPr>
        <p:spPr/>
        <p:txBody>
          <a:bodyPr/>
          <a:lstStyle/>
          <a:p>
            <a:r>
              <a:rPr lang="en-US" b="1" dirty="0" err="1"/>
              <a:t>Heapify</a:t>
            </a:r>
            <a:endParaRPr lang="en-US" dirty="0"/>
          </a:p>
        </p:txBody>
      </p:sp>
      <p:sp>
        <p:nvSpPr>
          <p:cNvPr id="3" name="Content Placeholder 2">
            <a:extLst>
              <a:ext uri="{FF2B5EF4-FFF2-40B4-BE49-F238E27FC236}">
                <a16:creationId xmlns:a16="http://schemas.microsoft.com/office/drawing/2014/main" id="{E5033D4E-90DF-184C-BB54-926382668446}"/>
              </a:ext>
            </a:extLst>
          </p:cNvPr>
          <p:cNvSpPr>
            <a:spLocks noGrp="1"/>
          </p:cNvSpPr>
          <p:nvPr>
            <p:ph idx="1"/>
          </p:nvPr>
        </p:nvSpPr>
        <p:spPr>
          <a:xfrm>
            <a:off x="1371600" y="2285999"/>
            <a:ext cx="9601200" cy="4472205"/>
          </a:xfrm>
        </p:spPr>
        <p:txBody>
          <a:bodyPr>
            <a:normAutofit/>
          </a:bodyPr>
          <a:lstStyle/>
          <a:p>
            <a:pPr marL="0" indent="0">
              <a:buNone/>
            </a:pPr>
            <a:r>
              <a:rPr lang="en-US" dirty="0" err="1"/>
              <a:t>Heapify</a:t>
            </a:r>
            <a:r>
              <a:rPr lang="en-US" dirty="0"/>
              <a:t> is the process of rearranging nodes in a binary tree such that every node satisfies the heap property.</a:t>
            </a:r>
          </a:p>
          <a:p>
            <a:pPr marL="0" indent="0">
              <a:buNone/>
            </a:pPr>
            <a:r>
              <a:rPr lang="en-US" dirty="0"/>
              <a:t>There are two types of </a:t>
            </a:r>
            <a:r>
              <a:rPr lang="en-US" dirty="0" err="1"/>
              <a:t>heapify</a:t>
            </a:r>
            <a:r>
              <a:rPr lang="en-US" dirty="0"/>
              <a:t> operations:</a:t>
            </a:r>
          </a:p>
          <a:p>
            <a:pPr>
              <a:buNone/>
            </a:pPr>
            <a:r>
              <a:rPr lang="en-US" b="1" dirty="0" err="1"/>
              <a:t>Heapify</a:t>
            </a:r>
            <a:r>
              <a:rPr lang="en-US" b="1" dirty="0"/>
              <a:t> Up: </a:t>
            </a:r>
            <a:r>
              <a:rPr lang="en-US" dirty="0" err="1"/>
              <a:t>Heapfiy</a:t>
            </a:r>
            <a:r>
              <a:rPr lang="en-US" dirty="0"/>
              <a:t> up moves up the tree (from leaf to root) while comparing to the current parent element and swapping if needed.</a:t>
            </a:r>
          </a:p>
          <a:p>
            <a:pPr marL="0" indent="0">
              <a:buNone/>
            </a:pPr>
            <a:r>
              <a:rPr lang="en-US" dirty="0"/>
              <a:t>It's used to restore the heap property after inserting a new element to the heap.</a:t>
            </a:r>
          </a:p>
          <a:p>
            <a:pPr>
              <a:buNone/>
            </a:pPr>
            <a:r>
              <a:rPr lang="en-US" b="1" dirty="0" err="1"/>
              <a:t>Heapify</a:t>
            </a:r>
            <a:r>
              <a:rPr lang="en-US" b="1" dirty="0"/>
              <a:t> Down: </a:t>
            </a:r>
            <a:r>
              <a:rPr lang="en-US" dirty="0" err="1"/>
              <a:t>Heapify</a:t>
            </a:r>
            <a:r>
              <a:rPr lang="en-US" dirty="0"/>
              <a:t> down moves down the tree, comparing the root to its children and swapping if needed.</a:t>
            </a:r>
          </a:p>
          <a:p>
            <a:r>
              <a:rPr lang="en-US" dirty="0"/>
              <a:t>It's used to restore the heap property after we have removed the root node from the heap.</a:t>
            </a:r>
          </a:p>
          <a:p>
            <a:endParaRPr lang="en-US" b="1" dirty="0"/>
          </a:p>
        </p:txBody>
      </p:sp>
    </p:spTree>
    <p:extLst>
      <p:ext uri="{BB962C8B-B14F-4D97-AF65-F5344CB8AC3E}">
        <p14:creationId xmlns:p14="http://schemas.microsoft.com/office/powerpoint/2010/main" val="33758516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3705F-2D48-A015-53DF-1138E6C319AA}"/>
              </a:ext>
            </a:extLst>
          </p:cNvPr>
          <p:cNvSpPr>
            <a:spLocks noGrp="1"/>
          </p:cNvSpPr>
          <p:nvPr>
            <p:ph type="title"/>
          </p:nvPr>
        </p:nvSpPr>
        <p:spPr/>
        <p:txBody>
          <a:bodyPr/>
          <a:lstStyle/>
          <a:p>
            <a:r>
              <a:rPr lang="en-US" b="1" dirty="0"/>
              <a:t>Heap Sort Algorithm</a:t>
            </a:r>
            <a:br>
              <a:rPr lang="en-US" b="1" dirty="0"/>
            </a:br>
            <a:endParaRPr lang="en-US" dirty="0"/>
          </a:p>
        </p:txBody>
      </p:sp>
      <p:sp>
        <p:nvSpPr>
          <p:cNvPr id="3" name="Content Placeholder 2">
            <a:extLst>
              <a:ext uri="{FF2B5EF4-FFF2-40B4-BE49-F238E27FC236}">
                <a16:creationId xmlns:a16="http://schemas.microsoft.com/office/drawing/2014/main" id="{19D91372-7177-ECD1-9177-3322B538F4A8}"/>
              </a:ext>
            </a:extLst>
          </p:cNvPr>
          <p:cNvSpPr>
            <a:spLocks noGrp="1"/>
          </p:cNvSpPr>
          <p:nvPr>
            <p:ph idx="1"/>
          </p:nvPr>
        </p:nvSpPr>
        <p:spPr/>
        <p:txBody>
          <a:bodyPr>
            <a:normAutofit fontScale="92500" lnSpcReduction="20000"/>
          </a:bodyPr>
          <a:lstStyle/>
          <a:p>
            <a:pPr marL="0" indent="0">
              <a:buNone/>
            </a:pPr>
            <a:r>
              <a:rPr lang="en-US" dirty="0"/>
              <a:t>First convert the array into a max heap using </a:t>
            </a:r>
            <a:r>
              <a:rPr lang="en-US" dirty="0" err="1"/>
              <a:t>heapify</a:t>
            </a:r>
            <a:r>
              <a:rPr lang="en-US" dirty="0"/>
              <a:t>, Please note that this happens in-place. The array elements are re-arranged to follow heap properties. Then one by one delete the root node of the Max-heap and replace it with the last node and </a:t>
            </a:r>
            <a:r>
              <a:rPr lang="en-US" dirty="0" err="1"/>
              <a:t>heapify</a:t>
            </a:r>
            <a:r>
              <a:rPr lang="en-US" dirty="0"/>
              <a:t>. Repeat this process while size of heap is greater than 1.</a:t>
            </a:r>
          </a:p>
          <a:p>
            <a:r>
              <a:rPr lang="en-US" dirty="0"/>
              <a:t>Rearrange array elements so that they form a Max Heap.</a:t>
            </a:r>
          </a:p>
          <a:p>
            <a:r>
              <a:rPr lang="en-US" dirty="0"/>
              <a:t>Repeat the following steps until the heap contains only one element:</a:t>
            </a:r>
          </a:p>
          <a:p>
            <a:pPr lvl="2"/>
            <a:r>
              <a:rPr lang="en-US" dirty="0"/>
              <a:t>Swap the root element of the heap (which is the largest element in current heap) with the last element of the heap.</a:t>
            </a:r>
          </a:p>
          <a:p>
            <a:pPr lvl="2"/>
            <a:r>
              <a:rPr lang="en-US" dirty="0"/>
              <a:t>Remove the last element of the heap (which is now in the correct position). We mainly reduce heap size and do not remove element from the actual array.</a:t>
            </a:r>
          </a:p>
          <a:p>
            <a:pPr lvl="2"/>
            <a:r>
              <a:rPr lang="en-US" dirty="0" err="1"/>
              <a:t>Heapify</a:t>
            </a:r>
            <a:r>
              <a:rPr lang="en-US" dirty="0"/>
              <a:t> the remaining elements of the heap. </a:t>
            </a:r>
          </a:p>
          <a:p>
            <a:r>
              <a:rPr lang="en-US" dirty="0"/>
              <a:t>Finally we get sorted array.</a:t>
            </a:r>
          </a:p>
        </p:txBody>
      </p:sp>
    </p:spTree>
    <p:extLst>
      <p:ext uri="{BB962C8B-B14F-4D97-AF65-F5344CB8AC3E}">
        <p14:creationId xmlns:p14="http://schemas.microsoft.com/office/powerpoint/2010/main" val="5604494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E0204-E1C7-998F-2E6B-F21634CF3C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AD25BE-F788-56E0-B453-ED8C0ACE5E25}"/>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93FB3F3B-B80C-69F7-A5C5-9A7A145559F5}"/>
              </a:ext>
            </a:extLst>
          </p:cNvPr>
          <p:cNvPicPr>
            <a:picLocks noChangeAspect="1"/>
          </p:cNvPicPr>
          <p:nvPr/>
        </p:nvPicPr>
        <p:blipFill>
          <a:blip r:embed="rId3"/>
          <a:stretch>
            <a:fillRect/>
          </a:stretch>
        </p:blipFill>
        <p:spPr>
          <a:xfrm>
            <a:off x="998711" y="1036206"/>
            <a:ext cx="10978327" cy="4965414"/>
          </a:xfrm>
          <a:prstGeom prst="rect">
            <a:avLst/>
          </a:prstGeom>
        </p:spPr>
      </p:pic>
    </p:spTree>
    <p:extLst>
      <p:ext uri="{BB962C8B-B14F-4D97-AF65-F5344CB8AC3E}">
        <p14:creationId xmlns:p14="http://schemas.microsoft.com/office/powerpoint/2010/main" val="1882011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0BCC6-C5CE-B197-C228-FA76542EDCA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7D5C8625-D2AE-3FDE-2737-874470B04911}"/>
              </a:ext>
            </a:extLst>
          </p:cNvPr>
          <p:cNvSpPr>
            <a:spLocks noGrp="1"/>
          </p:cNvSpPr>
          <p:nvPr>
            <p:ph idx="1"/>
          </p:nvPr>
        </p:nvSpPr>
        <p:spPr/>
        <p:txBody>
          <a:bodyPr/>
          <a:lstStyle/>
          <a:p>
            <a:r>
              <a:rPr lang="en-US" dirty="0">
                <a:hlinkClick r:id="rId2"/>
              </a:rPr>
              <a:t>https://www.geeksforgeeks.org/heap-sort/</a:t>
            </a:r>
            <a:endParaRPr lang="en-US" dirty="0"/>
          </a:p>
          <a:p>
            <a:r>
              <a:rPr lang="en-US" dirty="0">
                <a:hlinkClick r:id="rId3"/>
              </a:rPr>
              <a:t>https://www.programiz.com/dsa/heap-sort</a:t>
            </a:r>
            <a:endParaRPr lang="en-US" dirty="0"/>
          </a:p>
          <a:p>
            <a:r>
              <a:rPr lang="en-US" dirty="0">
                <a:hlinkClick r:id="rId4"/>
              </a:rPr>
              <a:t>https://www.youtube.com/watch?v=HqPJF2L5h9U&amp;t=926s</a:t>
            </a:r>
            <a:endParaRPr lang="en-US" dirty="0"/>
          </a:p>
        </p:txBody>
      </p:sp>
    </p:spTree>
    <p:extLst>
      <p:ext uri="{BB962C8B-B14F-4D97-AF65-F5344CB8AC3E}">
        <p14:creationId xmlns:p14="http://schemas.microsoft.com/office/powerpoint/2010/main" val="4033167789"/>
      </p:ext>
    </p:extLst>
  </p:cSld>
  <p:clrMapOvr>
    <a:masterClrMapping/>
  </p:clrMapOvr>
</p:sld>
</file>

<file path=ppt/theme/theme1.xml><?xml version="1.0" encoding="utf-8"?>
<a:theme xmlns:a="http://schemas.openxmlformats.org/drawingml/2006/main" name="Crop">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{A4E75ED7-B88C-4C24-93C2-5B310B25FD96}tf10001105</Template>
  <TotalTime>97</TotalTime>
  <Words>1375</Words>
  <Application>Microsoft Office PowerPoint</Application>
  <PresentationFormat>Widescreen</PresentationFormat>
  <Paragraphs>122</Paragraphs>
  <Slides>31</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Aptos</vt:lpstr>
      <vt:lpstr>Arial</vt:lpstr>
      <vt:lpstr>Franklin Gothic Book</vt:lpstr>
      <vt:lpstr>Crop</vt:lpstr>
      <vt:lpstr>TREE DATA STRUCTURE</vt:lpstr>
      <vt:lpstr>Introduction to Trees</vt:lpstr>
      <vt:lpstr>Why Tree Data Structure?</vt:lpstr>
      <vt:lpstr>Tree Terminologies</vt:lpstr>
      <vt:lpstr>Tree Terminologies Cont…</vt:lpstr>
      <vt:lpstr>PowerPoint Presentation</vt:lpstr>
      <vt:lpstr>Tree Terminologies Cont…</vt:lpstr>
      <vt:lpstr>Tree Terminologies Cont…</vt:lpstr>
      <vt:lpstr>Tree Terminologies Cont…</vt:lpstr>
      <vt:lpstr>Tree Applications </vt:lpstr>
      <vt:lpstr>Binary Tree </vt:lpstr>
      <vt:lpstr>Types of Binary Tree </vt:lpstr>
      <vt:lpstr>Types of Binary Tree </vt:lpstr>
      <vt:lpstr>Types of Binary Tree </vt:lpstr>
      <vt:lpstr>Types of Binary Tree </vt:lpstr>
      <vt:lpstr>Types of Binary Tree </vt:lpstr>
      <vt:lpstr>Types of Binary Tree </vt:lpstr>
      <vt:lpstr>Full Binary Tree vs Complete Binary Tree</vt:lpstr>
      <vt:lpstr>Full Binary Tree vs Complete Binary Tree</vt:lpstr>
      <vt:lpstr>Full Binary Tree vs Complete Binary Tree</vt:lpstr>
      <vt:lpstr>Full Binary Tree vs Complete Binary Tree</vt:lpstr>
      <vt:lpstr>How a Complete Binary Tree is Created?</vt:lpstr>
      <vt:lpstr>Heap Sort</vt:lpstr>
      <vt:lpstr>Heap Sort</vt:lpstr>
      <vt:lpstr>Relationship between Array Indexes and Tree Elements </vt:lpstr>
      <vt:lpstr>What is Heap Data Structure?</vt:lpstr>
      <vt:lpstr>What is Heap Data Structure Cont…</vt:lpstr>
      <vt:lpstr>Heapify</vt:lpstr>
      <vt:lpstr>Heap Sort Algorithm </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Zohaib ALI</dc:creator>
  <cp:lastModifiedBy>Zohaib ALI</cp:lastModifiedBy>
  <cp:revision>4</cp:revision>
  <dcterms:created xsi:type="dcterms:W3CDTF">2025-04-21T16:33:17Z</dcterms:created>
  <dcterms:modified xsi:type="dcterms:W3CDTF">2025-04-21T18:11:16Z</dcterms:modified>
</cp:coreProperties>
</file>