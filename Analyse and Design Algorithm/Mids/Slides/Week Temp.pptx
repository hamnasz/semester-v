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07" d="100"/>
          <a:sy n="107" d="100"/>
        </p:scale>
        <p:origin x="73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EDC0DF-3661-437B-84B7-CFA1A54A1428}" type="datetimeFigureOut">
              <a:rPr lang="en-US" smtClean="0"/>
              <a:t>3/7/2025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034775-9FCB-4D9D-A730-52668DA945DB}" type="slidenum">
              <a:rPr lang="en-US" smtClean="0"/>
              <a:t>‹#›</a:t>
            </a:fld>
            <a:endParaRPr lang="en-US"/>
          </a:p>
        </p:txBody>
      </p:sp>
    </p:spTree>
    <p:extLst>
      <p:ext uri="{BB962C8B-B14F-4D97-AF65-F5344CB8AC3E}">
        <p14:creationId xmlns:p14="http://schemas.microsoft.com/office/powerpoint/2010/main" val="35770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34775-9FCB-4D9D-A730-52668DA945DB}" type="slidenum">
              <a:rPr lang="en-US" smtClean="0"/>
              <a:t>5</a:t>
            </a:fld>
            <a:endParaRPr lang="en-US"/>
          </a:p>
        </p:txBody>
      </p:sp>
    </p:spTree>
    <p:extLst>
      <p:ext uri="{BB962C8B-B14F-4D97-AF65-F5344CB8AC3E}">
        <p14:creationId xmlns:p14="http://schemas.microsoft.com/office/powerpoint/2010/main" val="1601436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3/7/2025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3/7/2025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3/7/2025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3/7/2025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3/7/2025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3/7/2025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3/7/2025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3/7/2025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3/7/2025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programiz.com/dsa/merge-sor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programiz.com/dsa/greedy-algorithm" TargetMode="External"/><Relationship Id="rId2" Type="http://schemas.openxmlformats.org/officeDocument/2006/relationships/hyperlink" Target="https://www.programiz.com/dsa/dynamic-programming" TargetMode="External"/><Relationship Id="rId1" Type="http://schemas.openxmlformats.org/officeDocument/2006/relationships/slideLayout" Target="../slideLayouts/slideLayout2.xml"/><Relationship Id="rId4" Type="http://schemas.openxmlformats.org/officeDocument/2006/relationships/hyperlink" Target="https://www.geeksforgeeks.org/comparison-among-greedy-divide-and-conquer-and-dynamic-programming-algorith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586B6-57D4-5F9B-3A34-273AB1110A3D}"/>
              </a:ext>
            </a:extLst>
          </p:cNvPr>
          <p:cNvSpPr>
            <a:spLocks noGrp="1"/>
          </p:cNvSpPr>
          <p:nvPr>
            <p:ph type="ctrTitle"/>
          </p:nvPr>
        </p:nvSpPr>
        <p:spPr/>
        <p:txBody>
          <a:bodyPr/>
          <a:lstStyle/>
          <a:p>
            <a:r>
              <a:rPr lang="en-US" sz="3600" dirty="0"/>
              <a:t>Algorithmic Paradigms: Mastering D&amp;C, DP &amp; Greedy Strategies</a:t>
            </a:r>
          </a:p>
        </p:txBody>
      </p:sp>
      <p:sp>
        <p:nvSpPr>
          <p:cNvPr id="3" name="Subtitle 2">
            <a:extLst>
              <a:ext uri="{FF2B5EF4-FFF2-40B4-BE49-F238E27FC236}">
                <a16:creationId xmlns:a16="http://schemas.microsoft.com/office/drawing/2014/main" id="{C9E275C5-4646-9431-B3B2-8B4DBF2C11B1}"/>
              </a:ext>
            </a:extLst>
          </p:cNvPr>
          <p:cNvSpPr>
            <a:spLocks noGrp="1"/>
          </p:cNvSpPr>
          <p:nvPr>
            <p:ph type="subTitle" idx="1"/>
          </p:nvPr>
        </p:nvSpPr>
        <p:spPr/>
        <p:txBody>
          <a:bodyPr/>
          <a:lstStyle/>
          <a:p>
            <a:r>
              <a:rPr lang="en-US" dirty="0"/>
              <a:t>Zohaib Ali</a:t>
            </a:r>
          </a:p>
        </p:txBody>
      </p:sp>
    </p:spTree>
    <p:extLst>
      <p:ext uri="{BB962C8B-B14F-4D97-AF65-F5344CB8AC3E}">
        <p14:creationId xmlns:p14="http://schemas.microsoft.com/office/powerpoint/2010/main" val="1001781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CDF0C-DB70-872F-3F02-451784E9F984}"/>
              </a:ext>
            </a:extLst>
          </p:cNvPr>
          <p:cNvSpPr>
            <a:spLocks noGrp="1"/>
          </p:cNvSpPr>
          <p:nvPr>
            <p:ph type="title"/>
          </p:nvPr>
        </p:nvSpPr>
        <p:spPr/>
        <p:txBody>
          <a:bodyPr/>
          <a:lstStyle/>
          <a:p>
            <a:r>
              <a:rPr lang="en-US" b="1" dirty="0"/>
              <a:t>Divide and Conquer Algorithm</a:t>
            </a:r>
            <a:br>
              <a:rPr lang="en-US" b="1" dirty="0"/>
            </a:br>
            <a:endParaRPr lang="en-US" dirty="0"/>
          </a:p>
        </p:txBody>
      </p:sp>
      <p:sp>
        <p:nvSpPr>
          <p:cNvPr id="3" name="Content Placeholder 2">
            <a:extLst>
              <a:ext uri="{FF2B5EF4-FFF2-40B4-BE49-F238E27FC236}">
                <a16:creationId xmlns:a16="http://schemas.microsoft.com/office/drawing/2014/main" id="{40F9910F-9A7F-12C7-35A6-E3225150F4FF}"/>
              </a:ext>
            </a:extLst>
          </p:cNvPr>
          <p:cNvSpPr>
            <a:spLocks noGrp="1"/>
          </p:cNvSpPr>
          <p:nvPr>
            <p:ph idx="1"/>
          </p:nvPr>
        </p:nvSpPr>
        <p:spPr/>
        <p:txBody>
          <a:bodyPr/>
          <a:lstStyle/>
          <a:p>
            <a:r>
              <a:rPr lang="en-US" dirty="0"/>
              <a:t>A </a:t>
            </a:r>
            <a:r>
              <a:rPr lang="en-US" b="1" dirty="0"/>
              <a:t>divide and conquer algorithm</a:t>
            </a:r>
            <a:r>
              <a:rPr lang="en-US" dirty="0"/>
              <a:t> is a strategy of solving a large problem by</a:t>
            </a:r>
          </a:p>
          <a:p>
            <a:pPr>
              <a:buFont typeface="+mj-lt"/>
              <a:buAutoNum type="arabicPeriod"/>
            </a:pPr>
            <a:r>
              <a:rPr lang="en-US" dirty="0"/>
              <a:t>breaking the problem into smaller sub-problems</a:t>
            </a:r>
          </a:p>
          <a:p>
            <a:pPr>
              <a:buFont typeface="+mj-lt"/>
              <a:buAutoNum type="arabicPeriod"/>
            </a:pPr>
            <a:r>
              <a:rPr lang="en-US" dirty="0"/>
              <a:t>solving the sub-problems, and</a:t>
            </a:r>
          </a:p>
          <a:p>
            <a:pPr>
              <a:buFont typeface="+mj-lt"/>
              <a:buAutoNum type="arabicPeriod"/>
            </a:pPr>
            <a:r>
              <a:rPr lang="en-US" dirty="0"/>
              <a:t>combining them to get the desired output.</a:t>
            </a:r>
          </a:p>
          <a:p>
            <a:r>
              <a:rPr lang="en-US" dirty="0"/>
              <a:t>To use the divide and conquer algorithm, </a:t>
            </a:r>
            <a:r>
              <a:rPr lang="en-US" b="1" dirty="0"/>
              <a:t>recursion</a:t>
            </a:r>
            <a:r>
              <a:rPr lang="en-US" dirty="0"/>
              <a:t> is used.</a:t>
            </a:r>
          </a:p>
        </p:txBody>
      </p:sp>
    </p:spTree>
    <p:extLst>
      <p:ext uri="{BB962C8B-B14F-4D97-AF65-F5344CB8AC3E}">
        <p14:creationId xmlns:p14="http://schemas.microsoft.com/office/powerpoint/2010/main" val="377172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8855A-D6A9-0028-0C23-CB05B2048BCA}"/>
              </a:ext>
            </a:extLst>
          </p:cNvPr>
          <p:cNvSpPr>
            <a:spLocks noGrp="1"/>
          </p:cNvSpPr>
          <p:nvPr>
            <p:ph type="title"/>
          </p:nvPr>
        </p:nvSpPr>
        <p:spPr/>
        <p:txBody>
          <a:bodyPr>
            <a:normAutofit/>
          </a:bodyPr>
          <a:lstStyle/>
          <a:p>
            <a:r>
              <a:rPr lang="en-US" b="1" dirty="0"/>
              <a:t>How Divide and Conquer Algorithms Work?</a:t>
            </a:r>
            <a:endParaRPr lang="en-US" dirty="0"/>
          </a:p>
        </p:txBody>
      </p:sp>
      <p:sp>
        <p:nvSpPr>
          <p:cNvPr id="3" name="Content Placeholder 2">
            <a:extLst>
              <a:ext uri="{FF2B5EF4-FFF2-40B4-BE49-F238E27FC236}">
                <a16:creationId xmlns:a16="http://schemas.microsoft.com/office/drawing/2014/main" id="{31D10124-2FC9-B1B6-8E8F-19FAA9691C5E}"/>
              </a:ext>
            </a:extLst>
          </p:cNvPr>
          <p:cNvSpPr>
            <a:spLocks noGrp="1"/>
          </p:cNvSpPr>
          <p:nvPr>
            <p:ph idx="1"/>
          </p:nvPr>
        </p:nvSpPr>
        <p:spPr/>
        <p:txBody>
          <a:bodyPr>
            <a:normAutofit/>
          </a:bodyPr>
          <a:lstStyle/>
          <a:p>
            <a:r>
              <a:rPr lang="en-US" dirty="0"/>
              <a:t>Here are the steps involved:</a:t>
            </a:r>
          </a:p>
          <a:p>
            <a:pPr>
              <a:buFont typeface="+mj-lt"/>
              <a:buAutoNum type="arabicPeriod"/>
            </a:pPr>
            <a:r>
              <a:rPr lang="en-US" b="1" dirty="0"/>
              <a:t>Divide</a:t>
            </a:r>
            <a:r>
              <a:rPr lang="en-US" dirty="0"/>
              <a:t>: Divide the given problem into sub-problems using recursion.</a:t>
            </a:r>
          </a:p>
          <a:p>
            <a:pPr>
              <a:buFont typeface="+mj-lt"/>
              <a:buAutoNum type="arabicPeriod"/>
            </a:pPr>
            <a:r>
              <a:rPr lang="en-US" b="1" dirty="0"/>
              <a:t>Conquer</a:t>
            </a:r>
            <a:r>
              <a:rPr lang="en-US" dirty="0"/>
              <a:t>: Solve the smaller sub-problems recursively. If the subproblem is small enough, then solve it directly.</a:t>
            </a:r>
          </a:p>
          <a:p>
            <a:pPr>
              <a:buFont typeface="+mj-lt"/>
              <a:buAutoNum type="arabicPeriod"/>
            </a:pPr>
            <a:r>
              <a:rPr lang="en-US" b="1" dirty="0"/>
              <a:t>Combine:</a:t>
            </a:r>
            <a:r>
              <a:rPr lang="en-US" dirty="0"/>
              <a:t> Combine the solutions of the sub-problems that are part of the recursive process to solve the actual problem.</a:t>
            </a:r>
          </a:p>
          <a:p>
            <a:r>
              <a:rPr lang="en-US" dirty="0"/>
              <a:t>Let us understand this concept with the help of an example.</a:t>
            </a:r>
          </a:p>
          <a:p>
            <a:r>
              <a:rPr lang="en-US" dirty="0"/>
              <a:t>Here, we will sort an array using the divide and conquer approach (</a:t>
            </a:r>
            <a:r>
              <a:rPr lang="en-US" dirty="0" err="1"/>
              <a:t>ie</a:t>
            </a:r>
            <a:r>
              <a:rPr lang="en-US" dirty="0"/>
              <a:t>. </a:t>
            </a:r>
            <a:r>
              <a:rPr lang="en-US" dirty="0">
                <a:hlinkClick r:id="rId2"/>
              </a:rPr>
              <a:t>merge sort</a:t>
            </a:r>
            <a:r>
              <a:rPr lang="en-US" dirty="0"/>
              <a:t>).</a:t>
            </a:r>
          </a:p>
          <a:p>
            <a:pPr marL="0" indent="0">
              <a:buNone/>
            </a:pPr>
            <a:endParaRPr lang="en-US" dirty="0"/>
          </a:p>
        </p:txBody>
      </p:sp>
    </p:spTree>
    <p:extLst>
      <p:ext uri="{BB962C8B-B14F-4D97-AF65-F5344CB8AC3E}">
        <p14:creationId xmlns:p14="http://schemas.microsoft.com/office/powerpoint/2010/main" val="333066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5C4F31C-629D-D34F-670A-9EB61F009628}"/>
              </a:ext>
            </a:extLst>
          </p:cNvPr>
          <p:cNvSpPr>
            <a:spLocks noGrp="1"/>
          </p:cNvSpPr>
          <p:nvPr>
            <p:ph type="title"/>
          </p:nvPr>
        </p:nvSpPr>
        <p:spPr/>
        <p:txBody>
          <a:bodyPr/>
          <a:lstStyle/>
          <a:p>
            <a:r>
              <a:rPr lang="en-US" dirty="0"/>
              <a:t>Merger Sort Example</a:t>
            </a:r>
          </a:p>
        </p:txBody>
      </p:sp>
      <p:sp>
        <p:nvSpPr>
          <p:cNvPr id="3" name="Content Placeholder 2">
            <a:extLst>
              <a:ext uri="{FF2B5EF4-FFF2-40B4-BE49-F238E27FC236}">
                <a16:creationId xmlns:a16="http://schemas.microsoft.com/office/drawing/2014/main" id="{DDB6862E-CB9A-1329-E88C-E10C41047200}"/>
              </a:ext>
            </a:extLst>
          </p:cNvPr>
          <p:cNvSpPr>
            <a:spLocks noGrp="1"/>
          </p:cNvSpPr>
          <p:nvPr>
            <p:ph sz="half" idx="1"/>
          </p:nvPr>
        </p:nvSpPr>
        <p:spPr/>
        <p:txBody>
          <a:bodyPr/>
          <a:lstStyle/>
          <a:p>
            <a:pPr marL="457200" indent="-457200">
              <a:buFont typeface="+mj-lt"/>
              <a:buAutoNum type="arabicPeriod"/>
            </a:pPr>
            <a:r>
              <a:rPr lang="en-US" dirty="0"/>
              <a:t>Let the given array be: </a:t>
            </a:r>
          </a:p>
          <a:p>
            <a:endParaRPr lang="en-US" dirty="0"/>
          </a:p>
          <a:p>
            <a:endParaRPr lang="en-US" dirty="0"/>
          </a:p>
          <a:p>
            <a:endParaRPr lang="en-US" dirty="0"/>
          </a:p>
          <a:p>
            <a:pPr marL="457200" indent="-457200">
              <a:buFont typeface="+mj-lt"/>
              <a:buAutoNum type="arabicPeriod" startAt="2"/>
            </a:pPr>
            <a:r>
              <a:rPr lang="en-US" b="1" dirty="0"/>
              <a:t>Divide</a:t>
            </a:r>
            <a:r>
              <a:rPr lang="en-US" dirty="0"/>
              <a:t> the array into two halves. </a:t>
            </a:r>
          </a:p>
        </p:txBody>
      </p:sp>
      <p:sp>
        <p:nvSpPr>
          <p:cNvPr id="15" name="Content Placeholder 14">
            <a:extLst>
              <a:ext uri="{FF2B5EF4-FFF2-40B4-BE49-F238E27FC236}">
                <a16:creationId xmlns:a16="http://schemas.microsoft.com/office/drawing/2014/main" id="{022CF3DB-927A-7E51-B2AA-D59A0182FA39}"/>
              </a:ext>
            </a:extLst>
          </p:cNvPr>
          <p:cNvSpPr>
            <a:spLocks noGrp="1"/>
          </p:cNvSpPr>
          <p:nvPr>
            <p:ph sz="half" idx="2"/>
          </p:nvPr>
        </p:nvSpPr>
        <p:spPr/>
        <p:txBody>
          <a:bodyPr/>
          <a:lstStyle/>
          <a:p>
            <a:pPr marL="0" indent="0">
              <a:buNone/>
            </a:pPr>
            <a:r>
              <a:rPr lang="en-US" dirty="0"/>
              <a:t>Again, divide each subpart recursively into two halves until you get individual elements. </a:t>
            </a:r>
          </a:p>
          <a:p>
            <a:pPr marL="0" indent="0">
              <a:buNone/>
            </a:pPr>
            <a:endParaRPr lang="en-US" dirty="0"/>
          </a:p>
        </p:txBody>
      </p:sp>
      <p:pic>
        <p:nvPicPr>
          <p:cNvPr id="7" name="Picture 6" descr="A blue rectangular with white numbers">
            <a:extLst>
              <a:ext uri="{FF2B5EF4-FFF2-40B4-BE49-F238E27FC236}">
                <a16:creationId xmlns:a16="http://schemas.microsoft.com/office/drawing/2014/main" id="{8678684C-4317-B2A1-8C28-487F19F3C492}"/>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874814" y="2759592"/>
            <a:ext cx="3067406" cy="937263"/>
          </a:xfrm>
          <a:prstGeom prst="rect">
            <a:avLst/>
          </a:prstGeom>
        </p:spPr>
      </p:pic>
      <p:sp>
        <p:nvSpPr>
          <p:cNvPr id="9" name="TextBox 8">
            <a:extLst>
              <a:ext uri="{FF2B5EF4-FFF2-40B4-BE49-F238E27FC236}">
                <a16:creationId xmlns:a16="http://schemas.microsoft.com/office/drawing/2014/main" id="{DDA17BFB-A042-C1EC-755C-EC73AAA0BB02}"/>
              </a:ext>
            </a:extLst>
          </p:cNvPr>
          <p:cNvSpPr txBox="1"/>
          <p:nvPr/>
        </p:nvSpPr>
        <p:spPr>
          <a:xfrm>
            <a:off x="2486118" y="3512189"/>
            <a:ext cx="2104235" cy="369332"/>
          </a:xfrm>
          <a:prstGeom prst="rect">
            <a:avLst/>
          </a:prstGeom>
          <a:noFill/>
        </p:spPr>
        <p:txBody>
          <a:bodyPr wrap="square">
            <a:spAutoFit/>
          </a:bodyPr>
          <a:lstStyle/>
          <a:p>
            <a:r>
              <a:rPr lang="en-US" dirty="0"/>
              <a:t>Array for merge sort</a:t>
            </a:r>
          </a:p>
        </p:txBody>
      </p:sp>
      <p:pic>
        <p:nvPicPr>
          <p:cNvPr id="11" name="Picture 10" descr="A screenshot of a computer&#10;&#10;AI-generated content may be incorrect.">
            <a:extLst>
              <a:ext uri="{FF2B5EF4-FFF2-40B4-BE49-F238E27FC236}">
                <a16:creationId xmlns:a16="http://schemas.microsoft.com/office/drawing/2014/main" id="{D3450067-FE62-F4D1-BAE9-27E55F6A74A9}"/>
              </a:ext>
            </a:extLst>
          </p:cNvPr>
          <p:cNvPicPr>
            <a:picLocks noChangeAspect="1"/>
          </p:cNvPicPr>
          <p:nvPr/>
        </p:nvPicPr>
        <p:blipFill>
          <a:blip r:embed="rId3"/>
          <a:stretch>
            <a:fillRect/>
          </a:stretch>
        </p:blipFill>
        <p:spPr>
          <a:xfrm>
            <a:off x="1700947" y="4359622"/>
            <a:ext cx="3620416" cy="1507680"/>
          </a:xfrm>
          <a:prstGeom prst="rect">
            <a:avLst/>
          </a:prstGeom>
        </p:spPr>
      </p:pic>
      <p:sp>
        <p:nvSpPr>
          <p:cNvPr id="13" name="TextBox 12">
            <a:extLst>
              <a:ext uri="{FF2B5EF4-FFF2-40B4-BE49-F238E27FC236}">
                <a16:creationId xmlns:a16="http://schemas.microsoft.com/office/drawing/2014/main" id="{AF98DCC1-3E91-352F-695A-6DF1A6455993}"/>
              </a:ext>
            </a:extLst>
          </p:cNvPr>
          <p:cNvSpPr txBox="1"/>
          <p:nvPr/>
        </p:nvSpPr>
        <p:spPr>
          <a:xfrm>
            <a:off x="1764466" y="5867302"/>
            <a:ext cx="4205125" cy="276999"/>
          </a:xfrm>
          <a:prstGeom prst="rect">
            <a:avLst/>
          </a:prstGeom>
          <a:noFill/>
        </p:spPr>
        <p:txBody>
          <a:bodyPr wrap="square">
            <a:spAutoFit/>
          </a:bodyPr>
          <a:lstStyle/>
          <a:p>
            <a:r>
              <a:rPr lang="en-US" sz="1200" i="1" dirty="0"/>
              <a:t>Figure: Divide the array into two subparts</a:t>
            </a:r>
          </a:p>
        </p:txBody>
      </p:sp>
      <p:pic>
        <p:nvPicPr>
          <p:cNvPr id="16" name="Picture 15" descr="A diagram of numbers and arrows">
            <a:extLst>
              <a:ext uri="{FF2B5EF4-FFF2-40B4-BE49-F238E27FC236}">
                <a16:creationId xmlns:a16="http://schemas.microsoft.com/office/drawing/2014/main" id="{839B3C11-EDF4-E16E-BAB5-72A228FDB85B}"/>
              </a:ext>
            </a:extLst>
          </p:cNvPr>
          <p:cNvPicPr>
            <a:picLocks noChangeAspect="1"/>
          </p:cNvPicPr>
          <p:nvPr/>
        </p:nvPicPr>
        <p:blipFill>
          <a:blip r:embed="rId4"/>
          <a:stretch>
            <a:fillRect/>
          </a:stretch>
        </p:blipFill>
        <p:spPr>
          <a:xfrm>
            <a:off x="6322600" y="3228223"/>
            <a:ext cx="4607047" cy="2676293"/>
          </a:xfrm>
          <a:prstGeom prst="rect">
            <a:avLst/>
          </a:prstGeom>
        </p:spPr>
      </p:pic>
      <p:sp>
        <p:nvSpPr>
          <p:cNvPr id="18" name="TextBox 17">
            <a:extLst>
              <a:ext uri="{FF2B5EF4-FFF2-40B4-BE49-F238E27FC236}">
                <a16:creationId xmlns:a16="http://schemas.microsoft.com/office/drawing/2014/main" id="{095AC44F-6415-94DA-3F58-C1D4A38EDC5D}"/>
              </a:ext>
            </a:extLst>
          </p:cNvPr>
          <p:cNvSpPr txBox="1"/>
          <p:nvPr/>
        </p:nvSpPr>
        <p:spPr>
          <a:xfrm>
            <a:off x="6720741" y="5867302"/>
            <a:ext cx="3107910" cy="276999"/>
          </a:xfrm>
          <a:prstGeom prst="rect">
            <a:avLst/>
          </a:prstGeom>
          <a:noFill/>
        </p:spPr>
        <p:txBody>
          <a:bodyPr wrap="square">
            <a:spAutoFit/>
          </a:bodyPr>
          <a:lstStyle/>
          <a:p>
            <a:r>
              <a:rPr lang="en-US" sz="1200" i="1" dirty="0"/>
              <a:t>Figure: Divide the array into smaller subparts</a:t>
            </a:r>
          </a:p>
        </p:txBody>
      </p:sp>
    </p:spTree>
    <p:extLst>
      <p:ext uri="{BB962C8B-B14F-4D97-AF65-F5344CB8AC3E}">
        <p14:creationId xmlns:p14="http://schemas.microsoft.com/office/powerpoint/2010/main" val="1703056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B7F1A7-1F36-33DE-4948-EEC273A62830}"/>
              </a:ext>
            </a:extLst>
          </p:cNvPr>
          <p:cNvSpPr>
            <a:spLocks noGrp="1"/>
          </p:cNvSpPr>
          <p:nvPr>
            <p:ph type="title"/>
          </p:nvPr>
        </p:nvSpPr>
        <p:spPr/>
        <p:txBody>
          <a:bodyPr/>
          <a:lstStyle/>
          <a:p>
            <a:r>
              <a:rPr lang="en-US" dirty="0"/>
              <a:t>Merger Sort Example…</a:t>
            </a:r>
          </a:p>
        </p:txBody>
      </p:sp>
      <p:sp>
        <p:nvSpPr>
          <p:cNvPr id="3" name="Content Placeholder 2">
            <a:extLst>
              <a:ext uri="{FF2B5EF4-FFF2-40B4-BE49-F238E27FC236}">
                <a16:creationId xmlns:a16="http://schemas.microsoft.com/office/drawing/2014/main" id="{36EC39B4-D3D0-4F47-C4C5-2AD90D2325D6}"/>
              </a:ext>
            </a:extLst>
          </p:cNvPr>
          <p:cNvSpPr>
            <a:spLocks noGrp="1"/>
          </p:cNvSpPr>
          <p:nvPr>
            <p:ph sz="half" idx="1"/>
          </p:nvPr>
        </p:nvSpPr>
        <p:spPr/>
        <p:txBody>
          <a:bodyPr/>
          <a:lstStyle/>
          <a:p>
            <a:pPr marL="0" indent="0">
              <a:buNone/>
            </a:pPr>
            <a:r>
              <a:rPr lang="en-US" dirty="0"/>
              <a:t>Again, divide each subpart recursively into two halves until you get individual elements. </a:t>
            </a:r>
          </a:p>
        </p:txBody>
      </p:sp>
      <p:sp>
        <p:nvSpPr>
          <p:cNvPr id="7" name="Content Placeholder 6">
            <a:extLst>
              <a:ext uri="{FF2B5EF4-FFF2-40B4-BE49-F238E27FC236}">
                <a16:creationId xmlns:a16="http://schemas.microsoft.com/office/drawing/2014/main" id="{CFF30721-DB6F-5396-79A0-4BC70C629132}"/>
              </a:ext>
            </a:extLst>
          </p:cNvPr>
          <p:cNvSpPr>
            <a:spLocks noGrp="1"/>
          </p:cNvSpPr>
          <p:nvPr>
            <p:ph sz="half" idx="2"/>
          </p:nvPr>
        </p:nvSpPr>
        <p:spPr/>
        <p:txBody>
          <a:bodyPr/>
          <a:lstStyle/>
          <a:p>
            <a:pPr marL="457200" indent="-457200">
              <a:buFont typeface="+mj-lt"/>
              <a:buAutoNum type="arabicPeriod" startAt="3"/>
            </a:pPr>
            <a:r>
              <a:rPr lang="en-US" dirty="0"/>
              <a:t>Now, combine the individual elements in a sorted manner. Here, </a:t>
            </a:r>
            <a:r>
              <a:rPr lang="en-US" b="1" dirty="0"/>
              <a:t>conquer</a:t>
            </a:r>
            <a:r>
              <a:rPr lang="en-US" dirty="0"/>
              <a:t> and </a:t>
            </a:r>
            <a:r>
              <a:rPr lang="en-US" b="1" dirty="0"/>
              <a:t>combine</a:t>
            </a:r>
            <a:r>
              <a:rPr lang="en-US" dirty="0"/>
              <a:t> steps go side by side. </a:t>
            </a:r>
          </a:p>
        </p:txBody>
      </p:sp>
      <p:pic>
        <p:nvPicPr>
          <p:cNvPr id="5" name="Picture 4" descr="A diagram of numbers and arrows">
            <a:extLst>
              <a:ext uri="{FF2B5EF4-FFF2-40B4-BE49-F238E27FC236}">
                <a16:creationId xmlns:a16="http://schemas.microsoft.com/office/drawing/2014/main" id="{753F1652-122E-4654-75B3-070B665503AF}"/>
              </a:ext>
            </a:extLst>
          </p:cNvPr>
          <p:cNvPicPr>
            <a:picLocks noChangeAspect="1"/>
          </p:cNvPicPr>
          <p:nvPr/>
        </p:nvPicPr>
        <p:blipFill>
          <a:blip r:embed="rId3"/>
          <a:stretch>
            <a:fillRect/>
          </a:stretch>
        </p:blipFill>
        <p:spPr>
          <a:xfrm>
            <a:off x="1248905" y="3265077"/>
            <a:ext cx="4607047" cy="2676293"/>
          </a:xfrm>
          <a:prstGeom prst="rect">
            <a:avLst/>
          </a:prstGeom>
        </p:spPr>
      </p:pic>
      <p:sp>
        <p:nvSpPr>
          <p:cNvPr id="9" name="TextBox 8">
            <a:extLst>
              <a:ext uri="{FF2B5EF4-FFF2-40B4-BE49-F238E27FC236}">
                <a16:creationId xmlns:a16="http://schemas.microsoft.com/office/drawing/2014/main" id="{56E96B82-1B0C-C60F-6F31-FB604C925F07}"/>
              </a:ext>
            </a:extLst>
          </p:cNvPr>
          <p:cNvSpPr txBox="1"/>
          <p:nvPr/>
        </p:nvSpPr>
        <p:spPr>
          <a:xfrm>
            <a:off x="1713225" y="5935719"/>
            <a:ext cx="6095256" cy="276999"/>
          </a:xfrm>
          <a:prstGeom prst="rect">
            <a:avLst/>
          </a:prstGeom>
          <a:noFill/>
        </p:spPr>
        <p:txBody>
          <a:bodyPr wrap="square">
            <a:spAutoFit/>
          </a:bodyPr>
          <a:lstStyle/>
          <a:p>
            <a:r>
              <a:rPr lang="en-US" sz="1200" i="1" dirty="0"/>
              <a:t>Figure: Divide the array into smaller subparts</a:t>
            </a:r>
          </a:p>
        </p:txBody>
      </p:sp>
      <p:pic>
        <p:nvPicPr>
          <p:cNvPr id="11" name="Picture 10" descr="A diagram of numbers and arrows">
            <a:extLst>
              <a:ext uri="{FF2B5EF4-FFF2-40B4-BE49-F238E27FC236}">
                <a16:creationId xmlns:a16="http://schemas.microsoft.com/office/drawing/2014/main" id="{8E8FA93D-F499-6F08-5B30-54C488DCC495}"/>
              </a:ext>
            </a:extLst>
          </p:cNvPr>
          <p:cNvPicPr>
            <a:picLocks noChangeAspect="1"/>
          </p:cNvPicPr>
          <p:nvPr/>
        </p:nvPicPr>
        <p:blipFill>
          <a:blip r:embed="rId4"/>
          <a:stretch>
            <a:fillRect/>
          </a:stretch>
        </p:blipFill>
        <p:spPr>
          <a:xfrm>
            <a:off x="6847763" y="3516295"/>
            <a:ext cx="4455968" cy="2425075"/>
          </a:xfrm>
          <a:prstGeom prst="rect">
            <a:avLst/>
          </a:prstGeom>
        </p:spPr>
      </p:pic>
      <p:sp>
        <p:nvSpPr>
          <p:cNvPr id="13" name="TextBox 12">
            <a:extLst>
              <a:ext uri="{FF2B5EF4-FFF2-40B4-BE49-F238E27FC236}">
                <a16:creationId xmlns:a16="http://schemas.microsoft.com/office/drawing/2014/main" id="{EA9E960A-FA91-1267-6568-0E4FD182C477}"/>
              </a:ext>
            </a:extLst>
          </p:cNvPr>
          <p:cNvSpPr txBox="1"/>
          <p:nvPr/>
        </p:nvSpPr>
        <p:spPr>
          <a:xfrm>
            <a:off x="7925172" y="5889702"/>
            <a:ext cx="2712195" cy="276999"/>
          </a:xfrm>
          <a:prstGeom prst="rect">
            <a:avLst/>
          </a:prstGeom>
          <a:noFill/>
        </p:spPr>
        <p:txBody>
          <a:bodyPr wrap="square">
            <a:spAutoFit/>
          </a:bodyPr>
          <a:lstStyle/>
          <a:p>
            <a:r>
              <a:rPr lang="en-US" sz="1200" i="1" dirty="0"/>
              <a:t>Figure: Combine the subparts</a:t>
            </a:r>
          </a:p>
        </p:txBody>
      </p:sp>
    </p:spTree>
    <p:extLst>
      <p:ext uri="{BB962C8B-B14F-4D97-AF65-F5344CB8AC3E}">
        <p14:creationId xmlns:p14="http://schemas.microsoft.com/office/powerpoint/2010/main" val="1887931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1FDBC-8866-3504-CAD2-90E3CC58E73F}"/>
              </a:ext>
            </a:extLst>
          </p:cNvPr>
          <p:cNvSpPr>
            <a:spLocks noGrp="1"/>
          </p:cNvSpPr>
          <p:nvPr>
            <p:ph type="title"/>
          </p:nvPr>
        </p:nvSpPr>
        <p:spPr/>
        <p:txBody>
          <a:bodyPr/>
          <a:lstStyle/>
          <a:p>
            <a:r>
              <a:rPr lang="en-US" dirty="0"/>
              <a:t>What is Dynamic Programming?</a:t>
            </a:r>
          </a:p>
        </p:txBody>
      </p:sp>
      <p:sp>
        <p:nvSpPr>
          <p:cNvPr id="5" name="Content Placeholder 4">
            <a:extLst>
              <a:ext uri="{FF2B5EF4-FFF2-40B4-BE49-F238E27FC236}">
                <a16:creationId xmlns:a16="http://schemas.microsoft.com/office/drawing/2014/main" id="{73C5C24A-5DB5-1724-B063-1D10F901A90E}"/>
              </a:ext>
            </a:extLst>
          </p:cNvPr>
          <p:cNvSpPr>
            <a:spLocks noGrp="1"/>
          </p:cNvSpPr>
          <p:nvPr>
            <p:ph idx="1"/>
          </p:nvPr>
        </p:nvSpPr>
        <p:spPr>
          <a:xfrm>
            <a:off x="1371600" y="2285999"/>
            <a:ext cx="9601200" cy="4030051"/>
          </a:xfrm>
        </p:spPr>
        <p:txBody>
          <a:bodyPr>
            <a:noAutofit/>
          </a:bodyPr>
          <a:lstStyle/>
          <a:p>
            <a:pPr marL="0" indent="0" algn="just">
              <a:buNone/>
            </a:pPr>
            <a:r>
              <a:rPr lang="en-US" dirty="0"/>
              <a:t>Dynamic Programming (DP) is a method for solving complex problems by breaking them into smaller </a:t>
            </a:r>
            <a:r>
              <a:rPr lang="en-US" b="1" dirty="0"/>
              <a:t>overlapping subproblems</a:t>
            </a:r>
            <a:r>
              <a:rPr lang="en-US" dirty="0"/>
              <a:t>. </a:t>
            </a:r>
          </a:p>
          <a:p>
            <a:pPr marL="0" indent="0" algn="just">
              <a:buNone/>
            </a:pPr>
            <a:r>
              <a:rPr lang="en-US" dirty="0"/>
              <a:t>By solving each subproblem only once and storing its result, DP avoids redundant computations, making it highly efficient for specific types of problems.</a:t>
            </a:r>
          </a:p>
          <a:p>
            <a:pPr marL="0" indent="0">
              <a:buNone/>
            </a:pPr>
            <a:r>
              <a:rPr lang="en-US" b="1" dirty="0"/>
              <a:t>Real-Life Analogy</a:t>
            </a:r>
          </a:p>
          <a:p>
            <a:pPr marL="0" indent="0">
              <a:buNone/>
            </a:pPr>
            <a:r>
              <a:rPr lang="en-US" dirty="0"/>
              <a:t>Imagine you're planning a road trip and want to visit several cities with the least cost. You might:</a:t>
            </a:r>
          </a:p>
          <a:p>
            <a:pPr>
              <a:buFont typeface="+mj-lt"/>
              <a:buAutoNum type="arabicPeriod"/>
            </a:pPr>
            <a:r>
              <a:rPr lang="en-US" dirty="0"/>
              <a:t>Calculate the cost of all routes from your starting city to the next city.</a:t>
            </a:r>
          </a:p>
          <a:p>
            <a:pPr>
              <a:buFont typeface="+mj-lt"/>
              <a:buAutoNum type="arabicPeriod"/>
            </a:pPr>
            <a:r>
              <a:rPr lang="en-US" dirty="0"/>
              <a:t>Store the cheapest cost to each city.</a:t>
            </a:r>
          </a:p>
          <a:p>
            <a:pPr>
              <a:buFont typeface="+mj-lt"/>
              <a:buAutoNum type="arabicPeriod"/>
            </a:pPr>
            <a:r>
              <a:rPr lang="en-US" dirty="0"/>
              <a:t>Reuse this information as you calculate costs to subsequent cities.</a:t>
            </a:r>
          </a:p>
          <a:p>
            <a:pPr marL="0" indent="0">
              <a:buNone/>
            </a:pPr>
            <a:endParaRPr lang="en-US" dirty="0"/>
          </a:p>
        </p:txBody>
      </p:sp>
    </p:spTree>
    <p:extLst>
      <p:ext uri="{BB962C8B-B14F-4D97-AF65-F5344CB8AC3E}">
        <p14:creationId xmlns:p14="http://schemas.microsoft.com/office/powerpoint/2010/main" val="1069126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9FEDB-FEFC-2131-F505-EF584D672341}"/>
              </a:ext>
            </a:extLst>
          </p:cNvPr>
          <p:cNvSpPr>
            <a:spLocks noGrp="1"/>
          </p:cNvSpPr>
          <p:nvPr>
            <p:ph type="title"/>
          </p:nvPr>
        </p:nvSpPr>
        <p:spPr/>
        <p:txBody>
          <a:bodyPr/>
          <a:lstStyle/>
          <a:p>
            <a:r>
              <a:rPr lang="en-US" b="1" dirty="0"/>
              <a:t>Why Dynamic Programming?</a:t>
            </a:r>
            <a:br>
              <a:rPr lang="en-US" b="1" dirty="0"/>
            </a:br>
            <a:endParaRPr lang="en-US" dirty="0"/>
          </a:p>
        </p:txBody>
      </p:sp>
      <p:sp>
        <p:nvSpPr>
          <p:cNvPr id="3" name="Content Placeholder 2">
            <a:extLst>
              <a:ext uri="{FF2B5EF4-FFF2-40B4-BE49-F238E27FC236}">
                <a16:creationId xmlns:a16="http://schemas.microsoft.com/office/drawing/2014/main" id="{3FE920C2-1E11-0E39-6545-D90ECA437B7E}"/>
              </a:ext>
            </a:extLst>
          </p:cNvPr>
          <p:cNvSpPr>
            <a:spLocks noGrp="1"/>
          </p:cNvSpPr>
          <p:nvPr>
            <p:ph idx="1"/>
          </p:nvPr>
        </p:nvSpPr>
        <p:spPr/>
        <p:txBody>
          <a:bodyPr/>
          <a:lstStyle/>
          <a:p>
            <a:pPr marL="0" indent="0">
              <a:buNone/>
            </a:pPr>
            <a:r>
              <a:rPr lang="en-US" dirty="0"/>
              <a:t>Dynamic programming is essential for solving problems with:</a:t>
            </a:r>
          </a:p>
          <a:p>
            <a:pPr marL="0" indent="0">
              <a:buNone/>
            </a:pPr>
            <a:r>
              <a:rPr lang="en-US" b="1" dirty="0"/>
              <a:t>1. Overlapping Subproblems</a:t>
            </a:r>
            <a:endParaRPr lang="en-US" dirty="0"/>
          </a:p>
          <a:p>
            <a:pPr marL="0" indent="0">
              <a:buNone/>
            </a:pPr>
            <a:r>
              <a:rPr lang="en-US" dirty="0"/>
              <a:t>These are problems where the same problem is solved multiple times.</a:t>
            </a:r>
          </a:p>
          <a:p>
            <a:pPr marL="0" indent="0">
              <a:buNone/>
            </a:pPr>
            <a:r>
              <a:rPr lang="en-US" b="1" dirty="0"/>
              <a:t>2. Optimal Substructure</a:t>
            </a:r>
            <a:endParaRPr lang="en-US" dirty="0"/>
          </a:p>
          <a:p>
            <a:pPr marL="0" indent="0">
              <a:buNone/>
            </a:pPr>
            <a:r>
              <a:rPr lang="en-US" dirty="0"/>
              <a:t>In such problems, the optimal solution of the problem can be constructed from the optimal solutions of its subproblems.</a:t>
            </a:r>
          </a:p>
          <a:p>
            <a:pPr marL="0" indent="0">
              <a:buNone/>
            </a:pPr>
            <a:endParaRPr lang="en-US" dirty="0"/>
          </a:p>
        </p:txBody>
      </p:sp>
    </p:spTree>
    <p:extLst>
      <p:ext uri="{BB962C8B-B14F-4D97-AF65-F5344CB8AC3E}">
        <p14:creationId xmlns:p14="http://schemas.microsoft.com/office/powerpoint/2010/main" val="3155578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7AC09-529A-56C3-F884-FE4423D9EA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1DC525-40BB-7FB5-4153-72568140C47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F82AB91-4946-C91E-70DD-4043C051376A}"/>
              </a:ext>
            </a:extLst>
          </p:cNvPr>
          <p:cNvPicPr>
            <a:picLocks noChangeAspect="1"/>
          </p:cNvPicPr>
          <p:nvPr/>
        </p:nvPicPr>
        <p:blipFill>
          <a:blip r:embed="rId2"/>
          <a:stretch>
            <a:fillRect/>
          </a:stretch>
        </p:blipFill>
        <p:spPr>
          <a:xfrm>
            <a:off x="2263447" y="452352"/>
            <a:ext cx="7665106" cy="5323980"/>
          </a:xfrm>
          <a:prstGeom prst="rect">
            <a:avLst/>
          </a:prstGeom>
        </p:spPr>
      </p:pic>
    </p:spTree>
    <p:extLst>
      <p:ext uri="{BB962C8B-B14F-4D97-AF65-F5344CB8AC3E}">
        <p14:creationId xmlns:p14="http://schemas.microsoft.com/office/powerpoint/2010/main" val="1006767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F06B-4BB0-C0BF-7C12-AAF874F0B0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84DDDA-D3FA-51FD-A224-7549F7A0F0E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6F4748E-0AA1-932B-D28A-5FC951A16AA5}"/>
              </a:ext>
            </a:extLst>
          </p:cNvPr>
          <p:cNvPicPr>
            <a:picLocks noChangeAspect="1"/>
          </p:cNvPicPr>
          <p:nvPr/>
        </p:nvPicPr>
        <p:blipFill>
          <a:blip r:embed="rId2"/>
          <a:stretch>
            <a:fillRect/>
          </a:stretch>
        </p:blipFill>
        <p:spPr>
          <a:xfrm>
            <a:off x="2261467" y="247282"/>
            <a:ext cx="7740851" cy="6452661"/>
          </a:xfrm>
          <a:prstGeom prst="rect">
            <a:avLst/>
          </a:prstGeom>
        </p:spPr>
      </p:pic>
    </p:spTree>
    <p:extLst>
      <p:ext uri="{BB962C8B-B14F-4D97-AF65-F5344CB8AC3E}">
        <p14:creationId xmlns:p14="http://schemas.microsoft.com/office/powerpoint/2010/main" val="3833064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DCB7A-413F-9E3D-B445-CD00B5273823}"/>
              </a:ext>
            </a:extLst>
          </p:cNvPr>
          <p:cNvSpPr>
            <a:spLocks noGrp="1"/>
          </p:cNvSpPr>
          <p:nvPr>
            <p:ph type="title"/>
          </p:nvPr>
        </p:nvSpPr>
        <p:spPr/>
        <p:txBody>
          <a:bodyPr/>
          <a:lstStyle/>
          <a:p>
            <a:r>
              <a:rPr lang="en-US" b="1" dirty="0"/>
              <a:t>Overlapping Subproblems Property</a:t>
            </a:r>
            <a:br>
              <a:rPr lang="en-US" b="1" dirty="0"/>
            </a:br>
            <a:endParaRPr lang="en-US" dirty="0"/>
          </a:p>
        </p:txBody>
      </p:sp>
      <p:sp>
        <p:nvSpPr>
          <p:cNvPr id="3" name="Content Placeholder 2">
            <a:extLst>
              <a:ext uri="{FF2B5EF4-FFF2-40B4-BE49-F238E27FC236}">
                <a16:creationId xmlns:a16="http://schemas.microsoft.com/office/drawing/2014/main" id="{00D03AE1-E0F4-9CB8-A808-92CEC2074DD8}"/>
              </a:ext>
            </a:extLst>
          </p:cNvPr>
          <p:cNvSpPr>
            <a:spLocks noGrp="1"/>
          </p:cNvSpPr>
          <p:nvPr>
            <p:ph idx="1"/>
          </p:nvPr>
        </p:nvSpPr>
        <p:spPr/>
        <p:txBody>
          <a:bodyPr>
            <a:normAutofit lnSpcReduction="10000"/>
          </a:bodyPr>
          <a:lstStyle/>
          <a:p>
            <a:pPr marL="0" indent="0">
              <a:buNone/>
            </a:pPr>
            <a:r>
              <a:rPr lang="en-US" sz="1800" dirty="0"/>
              <a:t>Sometimes, the same subproblem occurs multiple times during the computation of a larger problem. Such problems are known as overlapping subproblems.</a:t>
            </a:r>
          </a:p>
          <a:p>
            <a:pPr marL="0" indent="0">
              <a:buNone/>
            </a:pPr>
            <a:r>
              <a:rPr lang="en-US" sz="1800" dirty="0"/>
              <a:t>Dynamic programming frees us from the need of solving these subproblems each and every time. Instead, you can just save the solution and reuse it when you face the subproblem again.</a:t>
            </a:r>
          </a:p>
          <a:p>
            <a:pPr marL="0" indent="0">
              <a:buNone/>
            </a:pPr>
            <a:r>
              <a:rPr lang="en-US" sz="1800" dirty="0"/>
              <a:t>By reusing previously computed results, you reduce the redundancy and enhance performance.</a:t>
            </a:r>
          </a:p>
          <a:p>
            <a:pPr marL="0" indent="0">
              <a:buNone/>
            </a:pPr>
            <a:r>
              <a:rPr lang="en-US" sz="1800" b="1" dirty="0"/>
              <a:t>Real-Life Analogy</a:t>
            </a:r>
            <a:r>
              <a:rPr lang="en-US" sz="1800" dirty="0"/>
              <a:t> </a:t>
            </a:r>
          </a:p>
          <a:p>
            <a:pPr marL="0" indent="0">
              <a:buNone/>
            </a:pPr>
            <a:r>
              <a:rPr lang="en-US" sz="1800" dirty="0"/>
              <a:t>Imagine preparing dinner, where multiple dishes in your menu require chopped onions.</a:t>
            </a:r>
          </a:p>
          <a:p>
            <a:pPr marL="0" indent="0">
              <a:buNone/>
            </a:pPr>
            <a:r>
              <a:rPr lang="en-US" sz="1800" dirty="0"/>
              <a:t>Instead of chopping onions separately each time you prepare a dish, you prepare a batch in advance and use them whenever needed.</a:t>
            </a:r>
          </a:p>
          <a:p>
            <a:pPr marL="0" indent="0">
              <a:buNone/>
            </a:pPr>
            <a:r>
              <a:rPr lang="en-US" sz="1800" dirty="0"/>
              <a:t>As a result, you save a lot of time and effort, which is just like reusing computed results.</a:t>
            </a:r>
          </a:p>
          <a:p>
            <a:pPr marL="0" indent="0">
              <a:buNone/>
            </a:pPr>
            <a:endParaRPr lang="en-US" sz="1800" dirty="0"/>
          </a:p>
        </p:txBody>
      </p:sp>
    </p:spTree>
    <p:extLst>
      <p:ext uri="{BB962C8B-B14F-4D97-AF65-F5344CB8AC3E}">
        <p14:creationId xmlns:p14="http://schemas.microsoft.com/office/powerpoint/2010/main" val="1820903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AF1DC-60D4-FEE6-5DC3-B4E57336F4C4}"/>
              </a:ext>
            </a:extLst>
          </p:cNvPr>
          <p:cNvSpPr>
            <a:spLocks noGrp="1"/>
          </p:cNvSpPr>
          <p:nvPr>
            <p:ph type="title"/>
          </p:nvPr>
        </p:nvSpPr>
        <p:spPr/>
        <p:txBody>
          <a:bodyPr/>
          <a:lstStyle/>
          <a:p>
            <a:r>
              <a:rPr lang="en-US" b="1" dirty="0"/>
              <a:t>Optimal Substructure Property</a:t>
            </a:r>
            <a:endParaRPr lang="en-US" dirty="0"/>
          </a:p>
        </p:txBody>
      </p:sp>
      <p:sp>
        <p:nvSpPr>
          <p:cNvPr id="3" name="Content Placeholder 2">
            <a:extLst>
              <a:ext uri="{FF2B5EF4-FFF2-40B4-BE49-F238E27FC236}">
                <a16:creationId xmlns:a16="http://schemas.microsoft.com/office/drawing/2014/main" id="{EDC26371-B5B3-53D8-F9C6-EB316FB13437}"/>
              </a:ext>
            </a:extLst>
          </p:cNvPr>
          <p:cNvSpPr>
            <a:spLocks noGrp="1"/>
          </p:cNvSpPr>
          <p:nvPr>
            <p:ph idx="1"/>
          </p:nvPr>
        </p:nvSpPr>
        <p:spPr/>
        <p:txBody>
          <a:bodyPr>
            <a:normAutofit fontScale="92500" lnSpcReduction="10000"/>
          </a:bodyPr>
          <a:lstStyle/>
          <a:p>
            <a:pPr marL="0" indent="0">
              <a:buNone/>
            </a:pPr>
            <a:r>
              <a:rPr lang="en-US" dirty="0"/>
              <a:t>Optimal substructure refers to the principle that the solution to a problem can be constructed efficiently from the solutions to its subproblems.</a:t>
            </a:r>
          </a:p>
          <a:p>
            <a:pPr marL="0" indent="0">
              <a:buNone/>
            </a:pPr>
            <a:r>
              <a:rPr lang="en-US" dirty="0"/>
              <a:t>In dynamic programming, the optimal substructure property guides us to break down complex problems into manageable subproblems, allowing us to build up a solution efficiently by combining smaller solutions.</a:t>
            </a:r>
          </a:p>
          <a:p>
            <a:pPr marL="0" indent="0">
              <a:buNone/>
            </a:pPr>
            <a:r>
              <a:rPr lang="en-US" b="1" dirty="0"/>
              <a:t>Real-Life Analogy</a:t>
            </a:r>
            <a:r>
              <a:rPr lang="en-US" dirty="0"/>
              <a:t> </a:t>
            </a:r>
          </a:p>
          <a:p>
            <a:pPr marL="0" indent="0">
              <a:buNone/>
            </a:pPr>
            <a:r>
              <a:rPr lang="en-US" dirty="0"/>
              <a:t>Think of constructing a complex Lego structure. Each small Lego piece represents a solution to a subproblem. By efficiently assembling these pieces, you create the entire intricate structure. </a:t>
            </a:r>
          </a:p>
          <a:p>
            <a:pPr marL="0" indent="0">
              <a:buNone/>
            </a:pPr>
            <a:r>
              <a:rPr lang="en-US" dirty="0"/>
              <a:t>Now that you have some idea about dynamic programming, let's see how we can implement it.</a:t>
            </a:r>
          </a:p>
          <a:p>
            <a:pPr marL="0" indent="0">
              <a:buNone/>
            </a:pPr>
            <a:endParaRPr lang="en-US" dirty="0"/>
          </a:p>
        </p:txBody>
      </p:sp>
    </p:spTree>
    <p:extLst>
      <p:ext uri="{BB962C8B-B14F-4D97-AF65-F5344CB8AC3E}">
        <p14:creationId xmlns:p14="http://schemas.microsoft.com/office/powerpoint/2010/main" val="1561044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AD42-26C7-03BD-D43A-8BF570A88C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806B31-A2BC-4278-6E0E-279A607E6C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1F76CE7-5D77-CDDE-EB9E-210070A01B07}"/>
              </a:ext>
            </a:extLst>
          </p:cNvPr>
          <p:cNvPicPr>
            <a:picLocks noChangeAspect="1"/>
          </p:cNvPicPr>
          <p:nvPr/>
        </p:nvPicPr>
        <p:blipFill>
          <a:blip r:embed="rId2"/>
          <a:stretch>
            <a:fillRect/>
          </a:stretch>
        </p:blipFill>
        <p:spPr>
          <a:xfrm>
            <a:off x="2540833" y="230255"/>
            <a:ext cx="7698426" cy="5987665"/>
          </a:xfrm>
          <a:prstGeom prst="rect">
            <a:avLst/>
          </a:prstGeom>
        </p:spPr>
      </p:pic>
    </p:spTree>
    <p:extLst>
      <p:ext uri="{BB962C8B-B14F-4D97-AF65-F5344CB8AC3E}">
        <p14:creationId xmlns:p14="http://schemas.microsoft.com/office/powerpoint/2010/main" val="2155639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683A-E859-77C6-0684-A681C5E7C6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785681-8684-5842-0A89-3761E9835C6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D424022-552D-E913-72D4-930B020B2211}"/>
              </a:ext>
            </a:extLst>
          </p:cNvPr>
          <p:cNvPicPr>
            <a:picLocks noChangeAspect="1"/>
          </p:cNvPicPr>
          <p:nvPr/>
        </p:nvPicPr>
        <p:blipFill>
          <a:blip r:embed="rId2"/>
          <a:stretch>
            <a:fillRect/>
          </a:stretch>
        </p:blipFill>
        <p:spPr>
          <a:xfrm>
            <a:off x="3067858" y="189851"/>
            <a:ext cx="6594486" cy="6389369"/>
          </a:xfrm>
          <a:prstGeom prst="rect">
            <a:avLst/>
          </a:prstGeom>
        </p:spPr>
      </p:pic>
    </p:spTree>
    <p:extLst>
      <p:ext uri="{BB962C8B-B14F-4D97-AF65-F5344CB8AC3E}">
        <p14:creationId xmlns:p14="http://schemas.microsoft.com/office/powerpoint/2010/main" val="3170546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D95EB-92FD-9FC0-A986-7997C70BEB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93D464-408C-7EBB-1000-2C17905EB73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3C52BCC-72BD-B633-8F93-20403699E051}"/>
              </a:ext>
            </a:extLst>
          </p:cNvPr>
          <p:cNvPicPr>
            <a:picLocks noChangeAspect="1"/>
          </p:cNvPicPr>
          <p:nvPr/>
        </p:nvPicPr>
        <p:blipFill>
          <a:blip r:embed="rId2"/>
          <a:stretch>
            <a:fillRect/>
          </a:stretch>
        </p:blipFill>
        <p:spPr>
          <a:xfrm>
            <a:off x="2426590" y="539075"/>
            <a:ext cx="7603397" cy="5393374"/>
          </a:xfrm>
          <a:prstGeom prst="rect">
            <a:avLst/>
          </a:prstGeom>
        </p:spPr>
      </p:pic>
    </p:spTree>
    <p:extLst>
      <p:ext uri="{BB962C8B-B14F-4D97-AF65-F5344CB8AC3E}">
        <p14:creationId xmlns:p14="http://schemas.microsoft.com/office/powerpoint/2010/main" val="3911608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49F99-CEA0-1451-A21D-73EC9F4D4A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ECE28F-5711-53BD-2E4A-B55FC0DD16F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0AD2F74-75C8-6D1A-72C9-6800A4389A60}"/>
              </a:ext>
            </a:extLst>
          </p:cNvPr>
          <p:cNvPicPr>
            <a:picLocks noChangeAspect="1"/>
          </p:cNvPicPr>
          <p:nvPr/>
        </p:nvPicPr>
        <p:blipFill>
          <a:blip r:embed="rId2"/>
          <a:stretch>
            <a:fillRect/>
          </a:stretch>
        </p:blipFill>
        <p:spPr>
          <a:xfrm>
            <a:off x="2582622" y="314723"/>
            <a:ext cx="6921189" cy="6147324"/>
          </a:xfrm>
          <a:prstGeom prst="rect">
            <a:avLst/>
          </a:prstGeom>
        </p:spPr>
      </p:pic>
    </p:spTree>
    <p:extLst>
      <p:ext uri="{BB962C8B-B14F-4D97-AF65-F5344CB8AC3E}">
        <p14:creationId xmlns:p14="http://schemas.microsoft.com/office/powerpoint/2010/main" val="1430334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43AB-FA74-99BE-0503-9001F03CD25A}"/>
              </a:ext>
            </a:extLst>
          </p:cNvPr>
          <p:cNvSpPr>
            <a:spLocks noGrp="1"/>
          </p:cNvSpPr>
          <p:nvPr>
            <p:ph type="title"/>
          </p:nvPr>
        </p:nvSpPr>
        <p:spPr/>
        <p:txBody>
          <a:bodyPr>
            <a:normAutofit fontScale="90000"/>
          </a:bodyPr>
          <a:lstStyle/>
          <a:p>
            <a:r>
              <a:rPr lang="en-US" dirty="0"/>
              <a:t>Pros and Cons of the Optimized Approach</a:t>
            </a:r>
            <a:br>
              <a:rPr lang="en-US" dirty="0"/>
            </a:br>
            <a:endParaRPr lang="en-US" dirty="0"/>
          </a:p>
        </p:txBody>
      </p:sp>
      <p:sp>
        <p:nvSpPr>
          <p:cNvPr id="3" name="Content Placeholder 2">
            <a:extLst>
              <a:ext uri="{FF2B5EF4-FFF2-40B4-BE49-F238E27FC236}">
                <a16:creationId xmlns:a16="http://schemas.microsoft.com/office/drawing/2014/main" id="{7E1D469A-CD0A-5373-1E9F-DB1177BC2F34}"/>
              </a:ext>
            </a:extLst>
          </p:cNvPr>
          <p:cNvSpPr>
            <a:spLocks noGrp="1"/>
          </p:cNvSpPr>
          <p:nvPr>
            <p:ph idx="1"/>
          </p:nvPr>
        </p:nvSpPr>
        <p:spPr/>
        <p:txBody>
          <a:bodyPr>
            <a:normAutofit/>
          </a:bodyPr>
          <a:lstStyle/>
          <a:p>
            <a:pPr marL="0" indent="0">
              <a:buNone/>
            </a:pPr>
            <a:endParaRPr lang="en-US" dirty="0"/>
          </a:p>
          <a:p>
            <a:r>
              <a:rPr lang="en-US" b="1" dirty="0"/>
              <a:t>Advantage: Reduced Time Complexity</a:t>
            </a:r>
          </a:p>
          <a:p>
            <a:pPr marL="0" indent="0">
              <a:buNone/>
            </a:pPr>
            <a:r>
              <a:rPr lang="en-US" dirty="0"/>
              <a:t>The optimized approach eliminates the need for nested loops. Instead, it processes the vector in a single pass, making the time complexity O(n).</a:t>
            </a:r>
          </a:p>
          <a:p>
            <a:endParaRPr lang="en-US" b="1" dirty="0"/>
          </a:p>
          <a:p>
            <a:r>
              <a:rPr lang="en-US" b="1" dirty="0"/>
              <a:t>Acceptable Disadvantage: Increased Space Complexity</a:t>
            </a:r>
          </a:p>
          <a:p>
            <a:pPr marL="0" indent="0">
              <a:buNone/>
            </a:pPr>
            <a:r>
              <a:rPr lang="en-US" dirty="0"/>
              <a:t>The seen set requires additional space proportional to the size of the vector. However, this tradeoff is often acceptable for the gain in performance.</a:t>
            </a:r>
          </a:p>
        </p:txBody>
      </p:sp>
    </p:spTree>
    <p:extLst>
      <p:ext uri="{BB962C8B-B14F-4D97-AF65-F5344CB8AC3E}">
        <p14:creationId xmlns:p14="http://schemas.microsoft.com/office/powerpoint/2010/main" val="174388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3619-45CA-091B-F709-FA097FCA9E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33BF25-C049-89D0-C928-A7205B1BDB1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B2B7667-9DD5-D946-70E0-8430DA7CE63A}"/>
              </a:ext>
            </a:extLst>
          </p:cNvPr>
          <p:cNvPicPr>
            <a:picLocks noChangeAspect="1"/>
          </p:cNvPicPr>
          <p:nvPr/>
        </p:nvPicPr>
        <p:blipFill>
          <a:blip r:embed="rId2"/>
          <a:stretch>
            <a:fillRect/>
          </a:stretch>
        </p:blipFill>
        <p:spPr>
          <a:xfrm>
            <a:off x="1843057" y="639995"/>
            <a:ext cx="8209844" cy="5716200"/>
          </a:xfrm>
          <a:prstGeom prst="rect">
            <a:avLst/>
          </a:prstGeom>
        </p:spPr>
      </p:pic>
    </p:spTree>
    <p:extLst>
      <p:ext uri="{BB962C8B-B14F-4D97-AF65-F5344CB8AC3E}">
        <p14:creationId xmlns:p14="http://schemas.microsoft.com/office/powerpoint/2010/main" val="3853821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BF2A4-A18C-3256-C14A-4AEB9DEEF1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0A1FA7-EC87-5B6F-5205-AAB2F327304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93F8586-01EC-4BFA-6CD4-F321E5925124}"/>
              </a:ext>
            </a:extLst>
          </p:cNvPr>
          <p:cNvPicPr>
            <a:picLocks noChangeAspect="1"/>
          </p:cNvPicPr>
          <p:nvPr/>
        </p:nvPicPr>
        <p:blipFill>
          <a:blip r:embed="rId2"/>
          <a:stretch>
            <a:fillRect/>
          </a:stretch>
        </p:blipFill>
        <p:spPr>
          <a:xfrm>
            <a:off x="2472934" y="404748"/>
            <a:ext cx="7398531" cy="5884678"/>
          </a:xfrm>
          <a:prstGeom prst="rect">
            <a:avLst/>
          </a:prstGeom>
        </p:spPr>
      </p:pic>
    </p:spTree>
    <p:extLst>
      <p:ext uri="{BB962C8B-B14F-4D97-AF65-F5344CB8AC3E}">
        <p14:creationId xmlns:p14="http://schemas.microsoft.com/office/powerpoint/2010/main" val="4108906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D7DF-629E-CC1E-858E-3867A23EF6CE}"/>
              </a:ext>
            </a:extLst>
          </p:cNvPr>
          <p:cNvSpPr>
            <a:spLocks noGrp="1"/>
          </p:cNvSpPr>
          <p:nvPr>
            <p:ph type="title"/>
          </p:nvPr>
        </p:nvSpPr>
        <p:spPr/>
        <p:txBody>
          <a:bodyPr/>
          <a:lstStyle/>
          <a:p>
            <a:r>
              <a:rPr lang="en-US" dirty="0"/>
              <a:t>Optimization Problems</a:t>
            </a:r>
          </a:p>
        </p:txBody>
      </p:sp>
      <p:sp>
        <p:nvSpPr>
          <p:cNvPr id="3" name="Content Placeholder 2">
            <a:extLst>
              <a:ext uri="{FF2B5EF4-FFF2-40B4-BE49-F238E27FC236}">
                <a16:creationId xmlns:a16="http://schemas.microsoft.com/office/drawing/2014/main" id="{EAF994D7-9FC6-FB5D-0791-59277FF3246C}"/>
              </a:ext>
            </a:extLst>
          </p:cNvPr>
          <p:cNvSpPr>
            <a:spLocks noGrp="1"/>
          </p:cNvSpPr>
          <p:nvPr>
            <p:ph idx="1"/>
          </p:nvPr>
        </p:nvSpPr>
        <p:spPr/>
        <p:txBody>
          <a:bodyPr/>
          <a:lstStyle/>
          <a:p>
            <a:pPr algn="l"/>
            <a:endParaRPr lang="en-US" sz="1800" b="0" i="0" u="none" strike="noStrike" baseline="0" dirty="0">
              <a:solidFill>
                <a:srgbClr val="000000"/>
              </a:solidFill>
              <a:latin typeface="Arial" panose="020B0604020202020204" pitchFamily="34" charset="0"/>
            </a:endParaRPr>
          </a:p>
          <a:p>
            <a:r>
              <a:rPr lang="en-US" sz="1800" b="0" i="0" u="none" strike="noStrike" baseline="0" dirty="0">
                <a:solidFill>
                  <a:schemeClr val="tx1"/>
                </a:solidFill>
                <a:latin typeface="Arial" panose="020B0604020202020204" pitchFamily="34" charset="0"/>
              </a:rPr>
              <a:t>For most optimization problems you want to find, not just </a:t>
            </a:r>
            <a:r>
              <a:rPr lang="en-US" sz="1800" b="1" i="1" u="none" strike="noStrike" baseline="0" dirty="0" err="1">
                <a:solidFill>
                  <a:schemeClr val="tx1"/>
                </a:solidFill>
                <a:latin typeface="Arial" panose="020B0604020202020204" pitchFamily="34" charset="0"/>
              </a:rPr>
              <a:t>a</a:t>
            </a:r>
            <a:r>
              <a:rPr lang="en-US" sz="1800" b="0" i="0" u="none" strike="noStrike" baseline="0" dirty="0" err="1">
                <a:solidFill>
                  <a:schemeClr val="tx1"/>
                </a:solidFill>
                <a:latin typeface="Arial" panose="020B0604020202020204" pitchFamily="34" charset="0"/>
              </a:rPr>
              <a:t>solution</a:t>
            </a:r>
            <a:r>
              <a:rPr lang="en-US" sz="1800" b="0" i="0" u="none" strike="noStrike" baseline="0" dirty="0">
                <a:solidFill>
                  <a:schemeClr val="tx1"/>
                </a:solidFill>
                <a:latin typeface="Arial" panose="020B0604020202020204" pitchFamily="34" charset="0"/>
              </a:rPr>
              <a:t>, but the </a:t>
            </a:r>
            <a:r>
              <a:rPr lang="en-US" sz="1800" b="1" i="1" u="none" strike="noStrike" baseline="0" dirty="0" err="1">
                <a:solidFill>
                  <a:schemeClr val="tx1"/>
                </a:solidFill>
                <a:latin typeface="Arial" panose="020B0604020202020204" pitchFamily="34" charset="0"/>
              </a:rPr>
              <a:t>best</a:t>
            </a:r>
            <a:r>
              <a:rPr lang="en-US" sz="1800" b="0" i="0" u="none" strike="noStrike" baseline="0" dirty="0" err="1">
                <a:solidFill>
                  <a:schemeClr val="tx1"/>
                </a:solidFill>
                <a:latin typeface="Arial" panose="020B0604020202020204" pitchFamily="34" charset="0"/>
              </a:rPr>
              <a:t>solution</a:t>
            </a:r>
            <a:r>
              <a:rPr lang="en-US" sz="1800" b="0" i="0" u="none" strike="noStrike" baseline="0" dirty="0">
                <a:solidFill>
                  <a:schemeClr val="tx1"/>
                </a:solidFill>
                <a:latin typeface="Arial" panose="020B0604020202020204" pitchFamily="34" charset="0"/>
              </a:rPr>
              <a:t>.</a:t>
            </a:r>
          </a:p>
          <a:p>
            <a:r>
              <a:rPr lang="en-US" sz="1800" b="0" i="0" u="none" strike="noStrike" baseline="0" dirty="0">
                <a:solidFill>
                  <a:schemeClr val="tx1"/>
                </a:solidFill>
                <a:latin typeface="Arial" panose="020B0604020202020204" pitchFamily="34" charset="0"/>
              </a:rPr>
              <a:t>●A </a:t>
            </a:r>
            <a:r>
              <a:rPr lang="en-US" sz="1800" b="1" i="1" u="none" strike="noStrike" baseline="0" dirty="0">
                <a:solidFill>
                  <a:schemeClr val="tx1"/>
                </a:solidFill>
                <a:latin typeface="Arial" panose="020B0604020202020204" pitchFamily="34" charset="0"/>
              </a:rPr>
              <a:t>greedy algorithm </a:t>
            </a:r>
            <a:r>
              <a:rPr lang="en-US" sz="1800" b="0" i="0" u="none" strike="noStrike" baseline="0" dirty="0">
                <a:solidFill>
                  <a:schemeClr val="tx1"/>
                </a:solidFill>
                <a:latin typeface="Arial" panose="020B0604020202020204" pitchFamily="34" charset="0"/>
              </a:rPr>
              <a:t>sometimes works well for optimization problems. It works in phases. At each phase:</a:t>
            </a:r>
          </a:p>
          <a:p>
            <a:pPr marL="0" indent="0">
              <a:buNone/>
            </a:pPr>
            <a:r>
              <a:rPr lang="en-US" sz="1800" b="0" i="0" u="none" strike="noStrike" baseline="0" dirty="0">
                <a:solidFill>
                  <a:schemeClr val="tx1"/>
                </a:solidFill>
                <a:latin typeface="Arial" panose="020B0604020202020204" pitchFamily="34" charset="0"/>
              </a:rPr>
              <a:t>       ○You take the best you can get right now, without regard for future consequences.</a:t>
            </a:r>
          </a:p>
          <a:p>
            <a:pPr marL="0" indent="0">
              <a:buNone/>
            </a:pPr>
            <a:r>
              <a:rPr lang="en-US" sz="1800" b="0" i="0" u="none" strike="noStrike" baseline="0" dirty="0">
                <a:solidFill>
                  <a:schemeClr val="tx1"/>
                </a:solidFill>
                <a:latin typeface="Arial" panose="020B0604020202020204" pitchFamily="34" charset="0"/>
              </a:rPr>
              <a:t>       ○You hope that by choosing a </a:t>
            </a:r>
            <a:r>
              <a:rPr lang="en-US" sz="1800" b="0" i="1" u="none" strike="noStrike" baseline="0" dirty="0" err="1">
                <a:solidFill>
                  <a:schemeClr val="tx1"/>
                </a:solidFill>
                <a:latin typeface="Arial" panose="020B0604020202020204" pitchFamily="34" charset="0"/>
              </a:rPr>
              <a:t>local</a:t>
            </a:r>
            <a:r>
              <a:rPr lang="en-US" sz="1800" b="0" i="0" u="none" strike="noStrike" baseline="0" dirty="0" err="1">
                <a:solidFill>
                  <a:schemeClr val="tx1"/>
                </a:solidFill>
                <a:latin typeface="Arial" panose="020B0604020202020204" pitchFamily="34" charset="0"/>
              </a:rPr>
              <a:t>optimum</a:t>
            </a:r>
            <a:r>
              <a:rPr lang="en-US" sz="1800" b="0" i="0" u="none" strike="noStrike" baseline="0" dirty="0">
                <a:solidFill>
                  <a:schemeClr val="tx1"/>
                </a:solidFill>
                <a:latin typeface="Arial" panose="020B0604020202020204" pitchFamily="34" charset="0"/>
              </a:rPr>
              <a:t> at each step, you will end up at a </a:t>
            </a:r>
            <a:r>
              <a:rPr lang="en-US" sz="1800" b="0" i="1" u="none" strike="noStrike" baseline="0" dirty="0">
                <a:solidFill>
                  <a:schemeClr val="tx1"/>
                </a:solidFill>
                <a:latin typeface="Arial" panose="020B0604020202020204" pitchFamily="34" charset="0"/>
              </a:rPr>
              <a:t>global optimum</a:t>
            </a:r>
            <a:r>
              <a:rPr lang="en-US" sz="1800" b="0" i="0" u="none" strike="noStrike" baseline="0" dirty="0">
                <a:solidFill>
                  <a:schemeClr val="tx1"/>
                </a:solidFill>
                <a:latin typeface="Arial" panose="020B0604020202020204" pitchFamily="34" charset="0"/>
              </a:rPr>
              <a:t>.</a:t>
            </a:r>
          </a:p>
          <a:p>
            <a:pPr marL="0" indent="0">
              <a:buNone/>
            </a:pPr>
            <a:endParaRPr lang="en-US" dirty="0"/>
          </a:p>
        </p:txBody>
      </p:sp>
    </p:spTree>
    <p:extLst>
      <p:ext uri="{BB962C8B-B14F-4D97-AF65-F5344CB8AC3E}">
        <p14:creationId xmlns:p14="http://schemas.microsoft.com/office/powerpoint/2010/main" val="1320317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01F1-4C75-DD30-09AA-C011021F1351}"/>
              </a:ext>
            </a:extLst>
          </p:cNvPr>
          <p:cNvSpPr>
            <a:spLocks noGrp="1"/>
          </p:cNvSpPr>
          <p:nvPr>
            <p:ph type="title"/>
          </p:nvPr>
        </p:nvSpPr>
        <p:spPr/>
        <p:txBody>
          <a:bodyPr/>
          <a:lstStyle/>
          <a:p>
            <a:r>
              <a:rPr lang="en-US" dirty="0"/>
              <a:t>THE GREEDY PARADIGM</a:t>
            </a:r>
          </a:p>
        </p:txBody>
      </p:sp>
      <p:sp>
        <p:nvSpPr>
          <p:cNvPr id="3" name="Content Placeholder 2">
            <a:extLst>
              <a:ext uri="{FF2B5EF4-FFF2-40B4-BE49-F238E27FC236}">
                <a16:creationId xmlns:a16="http://schemas.microsoft.com/office/drawing/2014/main" id="{295F5EB0-C1BC-AB13-6908-BC16FC1CDCDE}"/>
              </a:ext>
            </a:extLst>
          </p:cNvPr>
          <p:cNvSpPr>
            <a:spLocks noGrp="1"/>
          </p:cNvSpPr>
          <p:nvPr>
            <p:ph idx="1"/>
          </p:nvPr>
        </p:nvSpPr>
        <p:spPr/>
        <p:txBody>
          <a:bodyPr>
            <a:normAutofit/>
          </a:bodyPr>
          <a:lstStyle/>
          <a:p>
            <a:pPr marL="0" indent="0" algn="ctr">
              <a:buNone/>
            </a:pPr>
            <a:endParaRPr lang="en-US" sz="2800" b="1" dirty="0"/>
          </a:p>
          <a:p>
            <a:pPr marL="0" indent="0" algn="ctr">
              <a:buNone/>
            </a:pPr>
            <a:r>
              <a:rPr lang="en-US" sz="2800" b="1" dirty="0"/>
              <a:t>Commit to choices one at a time,</a:t>
            </a:r>
          </a:p>
          <a:p>
            <a:pPr marL="0" indent="0" algn="ctr">
              <a:buNone/>
            </a:pPr>
            <a:r>
              <a:rPr lang="en-US" sz="2800" b="1" dirty="0"/>
              <a:t>never look back,</a:t>
            </a:r>
          </a:p>
          <a:p>
            <a:pPr marL="0" indent="0" algn="ctr">
              <a:buNone/>
            </a:pPr>
            <a:r>
              <a:rPr lang="en-US" sz="2800" b="1" dirty="0"/>
              <a:t>and hope for the best.</a:t>
            </a:r>
          </a:p>
        </p:txBody>
      </p:sp>
    </p:spTree>
    <p:extLst>
      <p:ext uri="{BB962C8B-B14F-4D97-AF65-F5344CB8AC3E}">
        <p14:creationId xmlns:p14="http://schemas.microsoft.com/office/powerpoint/2010/main" val="5246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5C9B6-6FD4-88D6-385C-3CFB48A9CDF2}"/>
              </a:ext>
            </a:extLst>
          </p:cNvPr>
          <p:cNvSpPr>
            <a:spLocks noGrp="1"/>
          </p:cNvSpPr>
          <p:nvPr>
            <p:ph type="title"/>
          </p:nvPr>
        </p:nvSpPr>
        <p:spPr/>
        <p:txBody>
          <a:bodyPr/>
          <a:lstStyle/>
          <a:p>
            <a:r>
              <a:rPr lang="en-US" b="1" dirty="0"/>
              <a:t>Greedy Algorithm</a:t>
            </a:r>
            <a:br>
              <a:rPr lang="en-US" b="1" dirty="0"/>
            </a:br>
            <a:endParaRPr lang="en-US" dirty="0"/>
          </a:p>
        </p:txBody>
      </p:sp>
      <p:sp>
        <p:nvSpPr>
          <p:cNvPr id="3" name="Content Placeholder 2">
            <a:extLst>
              <a:ext uri="{FF2B5EF4-FFF2-40B4-BE49-F238E27FC236}">
                <a16:creationId xmlns:a16="http://schemas.microsoft.com/office/drawing/2014/main" id="{1FA10CD0-2F0E-629F-C2AC-7083BB17AA7F}"/>
              </a:ext>
            </a:extLst>
          </p:cNvPr>
          <p:cNvSpPr>
            <a:spLocks noGrp="1"/>
          </p:cNvSpPr>
          <p:nvPr>
            <p:ph idx="1"/>
          </p:nvPr>
        </p:nvSpPr>
        <p:spPr/>
        <p:txBody>
          <a:bodyPr/>
          <a:lstStyle/>
          <a:p>
            <a:pPr marL="0" indent="0">
              <a:buNone/>
            </a:pPr>
            <a:r>
              <a:rPr lang="en-US" dirty="0"/>
              <a:t>A greedy algorithm is a simple approach to solving a problem by selecting the best option at the moment without worrying about the future.</a:t>
            </a:r>
          </a:p>
          <a:p>
            <a:pPr marL="0" indent="0">
              <a:buNone/>
            </a:pPr>
            <a:r>
              <a:rPr lang="en-US" dirty="0"/>
              <a:t>This method works in a top-down approach, where a bigger problem is broken down into smaller parts.</a:t>
            </a:r>
          </a:p>
          <a:p>
            <a:pPr marL="0" indent="0">
              <a:buNone/>
            </a:pPr>
            <a:endParaRPr lang="en-US" dirty="0"/>
          </a:p>
        </p:txBody>
      </p:sp>
    </p:spTree>
    <p:extLst>
      <p:ext uri="{BB962C8B-B14F-4D97-AF65-F5344CB8AC3E}">
        <p14:creationId xmlns:p14="http://schemas.microsoft.com/office/powerpoint/2010/main" val="260474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990212-BBC4-F77C-C5A8-878C9E56DB9A}"/>
              </a:ext>
            </a:extLst>
          </p:cNvPr>
          <p:cNvSpPr>
            <a:spLocks noGrp="1"/>
          </p:cNvSpPr>
          <p:nvPr>
            <p:ph type="title"/>
          </p:nvPr>
        </p:nvSpPr>
        <p:spPr/>
        <p:txBody>
          <a:bodyPr/>
          <a:lstStyle/>
          <a:p>
            <a:r>
              <a:rPr lang="en-US" dirty="0"/>
              <a:t>Greedy Algorithm Example</a:t>
            </a:r>
          </a:p>
        </p:txBody>
      </p:sp>
      <p:sp>
        <p:nvSpPr>
          <p:cNvPr id="5" name="Content Placeholder 4">
            <a:extLst>
              <a:ext uri="{FF2B5EF4-FFF2-40B4-BE49-F238E27FC236}">
                <a16:creationId xmlns:a16="http://schemas.microsoft.com/office/drawing/2014/main" id="{CECA6F54-E940-1579-34A3-130B08ABC048}"/>
              </a:ext>
            </a:extLst>
          </p:cNvPr>
          <p:cNvSpPr>
            <a:spLocks noGrp="1"/>
          </p:cNvSpPr>
          <p:nvPr>
            <p:ph sz="half" idx="1"/>
          </p:nvPr>
        </p:nvSpPr>
        <p:spPr/>
        <p:txBody>
          <a:bodyPr/>
          <a:lstStyle/>
          <a:p>
            <a:pPr marL="0" indent="0">
              <a:buNone/>
            </a:pPr>
            <a:r>
              <a:rPr lang="en-US" dirty="0"/>
              <a:t>Imagine you are in a room with four exits, and you can only choose one path to exit. Each path has two circles that give you points. </a:t>
            </a:r>
          </a:p>
          <a:p>
            <a:pPr marL="0" indent="0">
              <a:buNone/>
            </a:pPr>
            <a:r>
              <a:rPr lang="en-US" dirty="0"/>
              <a:t>Your goal is to maximize the points. Keep in mind that you can't change a path once you have decided on it.</a:t>
            </a:r>
          </a:p>
          <a:p>
            <a:pPr marL="0" indent="0">
              <a:buNone/>
            </a:pPr>
            <a:endParaRPr lang="en-US" dirty="0"/>
          </a:p>
        </p:txBody>
      </p:sp>
      <p:pic>
        <p:nvPicPr>
          <p:cNvPr id="8" name="Content Placeholder 7" descr="A screenshot of a game&#10;&#10;AI-generated content may be incorrect.">
            <a:extLst>
              <a:ext uri="{FF2B5EF4-FFF2-40B4-BE49-F238E27FC236}">
                <a16:creationId xmlns:a16="http://schemas.microsoft.com/office/drawing/2014/main" id="{48B14864-7047-815D-6B0C-A0E6F76A075C}"/>
              </a:ext>
            </a:extLst>
          </p:cNvPr>
          <p:cNvPicPr>
            <a:picLocks noGrp="1" noChangeAspect="1"/>
          </p:cNvPicPr>
          <p:nvPr>
            <p:ph sz="half" idx="2"/>
          </p:nvPr>
        </p:nvPicPr>
        <p:blipFill>
          <a:blip r:embed="rId2"/>
          <a:stretch>
            <a:fillRect/>
          </a:stretch>
        </p:blipFill>
        <p:spPr>
          <a:xfrm>
            <a:off x="6096000" y="1793745"/>
            <a:ext cx="5181939" cy="3581401"/>
          </a:xfrm>
        </p:spPr>
      </p:pic>
      <p:sp>
        <p:nvSpPr>
          <p:cNvPr id="10" name="TextBox 9">
            <a:extLst>
              <a:ext uri="{FF2B5EF4-FFF2-40B4-BE49-F238E27FC236}">
                <a16:creationId xmlns:a16="http://schemas.microsoft.com/office/drawing/2014/main" id="{9241EA90-E837-9D18-9B78-FE5E89322537}"/>
              </a:ext>
            </a:extLst>
          </p:cNvPr>
          <p:cNvSpPr txBox="1"/>
          <p:nvPr/>
        </p:nvSpPr>
        <p:spPr>
          <a:xfrm>
            <a:off x="7525496" y="5145617"/>
            <a:ext cx="3752443" cy="276999"/>
          </a:xfrm>
          <a:prstGeom prst="rect">
            <a:avLst/>
          </a:prstGeom>
          <a:noFill/>
        </p:spPr>
        <p:txBody>
          <a:bodyPr wrap="square">
            <a:spAutoFit/>
          </a:bodyPr>
          <a:lstStyle/>
          <a:p>
            <a:r>
              <a:rPr lang="en-US" sz="1200" i="1" dirty="0"/>
              <a:t>Figure: Example of Greedy Algorithm </a:t>
            </a:r>
          </a:p>
        </p:txBody>
      </p:sp>
    </p:spTree>
    <p:extLst>
      <p:ext uri="{BB962C8B-B14F-4D97-AF65-F5344CB8AC3E}">
        <p14:creationId xmlns:p14="http://schemas.microsoft.com/office/powerpoint/2010/main" val="3924024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AD4D-C9AA-181B-7DF5-1157CB69C0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179C2F-1829-39E3-F3B1-04F9D5C61046}"/>
              </a:ext>
            </a:extLst>
          </p:cNvPr>
          <p:cNvSpPr>
            <a:spLocks noGrp="1"/>
          </p:cNvSpPr>
          <p:nvPr>
            <p:ph sz="half" idx="1"/>
          </p:nvPr>
        </p:nvSpPr>
        <p:spPr/>
        <p:txBody>
          <a:bodyPr/>
          <a:lstStyle/>
          <a:p>
            <a:pPr marL="0" indent="0">
              <a:buNone/>
            </a:pPr>
            <a:r>
              <a:rPr lang="en-US" dirty="0"/>
              <a:t>We take the path with the highest point</a:t>
            </a:r>
          </a:p>
          <a:p>
            <a:pPr marL="0" indent="0">
              <a:buNone/>
            </a:pPr>
            <a:r>
              <a:rPr lang="en-US" dirty="0"/>
              <a:t>s in the first circle, which is </a:t>
            </a:r>
            <a:r>
              <a:rPr lang="en-US" b="1" dirty="0"/>
              <a:t>Path1</a:t>
            </a:r>
            <a:r>
              <a:rPr lang="en-US" dirty="0"/>
              <a:t>.</a:t>
            </a:r>
          </a:p>
        </p:txBody>
      </p:sp>
      <p:sp>
        <p:nvSpPr>
          <p:cNvPr id="4" name="Content Placeholder 3">
            <a:extLst>
              <a:ext uri="{FF2B5EF4-FFF2-40B4-BE49-F238E27FC236}">
                <a16:creationId xmlns:a16="http://schemas.microsoft.com/office/drawing/2014/main" id="{7B0BBE7C-D7DB-989F-60AD-7DAE8D78BB81}"/>
              </a:ext>
            </a:extLst>
          </p:cNvPr>
          <p:cNvSpPr>
            <a:spLocks noGrp="1"/>
          </p:cNvSpPr>
          <p:nvPr>
            <p:ph sz="half" idx="2"/>
          </p:nvPr>
        </p:nvSpPr>
        <p:spPr/>
        <p:txBody>
          <a:bodyPr/>
          <a:lstStyle/>
          <a:p>
            <a:endParaRPr lang="en-US" dirty="0"/>
          </a:p>
        </p:txBody>
      </p:sp>
      <p:pic>
        <p:nvPicPr>
          <p:cNvPr id="12" name="Picture 11" descr="A screenshot of a game">
            <a:extLst>
              <a:ext uri="{FF2B5EF4-FFF2-40B4-BE49-F238E27FC236}">
                <a16:creationId xmlns:a16="http://schemas.microsoft.com/office/drawing/2014/main" id="{88F4AABE-7D2A-7401-EC14-D64DFF6605FD}"/>
              </a:ext>
            </a:extLst>
          </p:cNvPr>
          <p:cNvPicPr>
            <a:picLocks noChangeAspect="1"/>
          </p:cNvPicPr>
          <p:nvPr/>
        </p:nvPicPr>
        <p:blipFill>
          <a:blip r:embed="rId2"/>
          <a:srcRect l="18030" t="10812" r="17541" b="10474"/>
          <a:stretch/>
        </p:blipFill>
        <p:spPr>
          <a:xfrm>
            <a:off x="6837928" y="2488953"/>
            <a:ext cx="3639758" cy="3073276"/>
          </a:xfrm>
          <a:prstGeom prst="rect">
            <a:avLst/>
          </a:prstGeom>
        </p:spPr>
      </p:pic>
      <p:sp>
        <p:nvSpPr>
          <p:cNvPr id="14" name="TextBox 13">
            <a:extLst>
              <a:ext uri="{FF2B5EF4-FFF2-40B4-BE49-F238E27FC236}">
                <a16:creationId xmlns:a16="http://schemas.microsoft.com/office/drawing/2014/main" id="{C0B56671-4C8B-4EA5-F972-45164B803167}"/>
              </a:ext>
            </a:extLst>
          </p:cNvPr>
          <p:cNvSpPr txBox="1"/>
          <p:nvPr/>
        </p:nvSpPr>
        <p:spPr>
          <a:xfrm>
            <a:off x="7606247" y="5650654"/>
            <a:ext cx="1923731" cy="276999"/>
          </a:xfrm>
          <a:prstGeom prst="rect">
            <a:avLst/>
          </a:prstGeom>
          <a:noFill/>
        </p:spPr>
        <p:txBody>
          <a:bodyPr wrap="square">
            <a:spAutoFit/>
          </a:bodyPr>
          <a:lstStyle/>
          <a:p>
            <a:r>
              <a:rPr lang="en-US" sz="1200" i="1" dirty="0"/>
              <a:t>Figure: Choosing Path1 </a:t>
            </a:r>
          </a:p>
        </p:txBody>
      </p:sp>
    </p:spTree>
    <p:extLst>
      <p:ext uri="{BB962C8B-B14F-4D97-AF65-F5344CB8AC3E}">
        <p14:creationId xmlns:p14="http://schemas.microsoft.com/office/powerpoint/2010/main" val="3897071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3CEA-C46E-5DB0-CA8C-868C79FE4F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0CB516-92C7-F3D0-7FA3-B39C348C0E34}"/>
              </a:ext>
            </a:extLst>
          </p:cNvPr>
          <p:cNvSpPr>
            <a:spLocks noGrp="1"/>
          </p:cNvSpPr>
          <p:nvPr>
            <p:ph sz="half" idx="1"/>
          </p:nvPr>
        </p:nvSpPr>
        <p:spPr/>
        <p:txBody>
          <a:bodyPr>
            <a:normAutofit/>
          </a:bodyPr>
          <a:lstStyle/>
          <a:p>
            <a:pPr marL="0" indent="0">
              <a:buNone/>
            </a:pPr>
            <a:r>
              <a:rPr lang="en-US" dirty="0"/>
              <a:t>Since we can't change paths now, you end up with the most points, </a:t>
            </a:r>
            <a:r>
              <a:rPr lang="en-US" b="1" dirty="0"/>
              <a:t>75</a:t>
            </a:r>
            <a:r>
              <a:rPr lang="en-US" dirty="0"/>
              <a:t> (</a:t>
            </a:r>
            <a:r>
              <a:rPr lang="en-US" b="1" dirty="0"/>
              <a:t>25</a:t>
            </a:r>
            <a:r>
              <a:rPr lang="en-US" dirty="0"/>
              <a:t> from the first circle and </a:t>
            </a:r>
            <a:r>
              <a:rPr lang="en-US" b="1" dirty="0"/>
              <a:t>50</a:t>
            </a:r>
            <a:r>
              <a:rPr lang="en-US" dirty="0"/>
              <a:t> from the second circle).</a:t>
            </a:r>
          </a:p>
          <a:p>
            <a:pPr marL="0" indent="0">
              <a:buNone/>
            </a:pPr>
            <a:r>
              <a:rPr lang="en-US" dirty="0"/>
              <a:t>In this case, the path we chose is optimal but this may not always be the case.</a:t>
            </a:r>
          </a:p>
          <a:p>
            <a:pPr marL="0" indent="0">
              <a:buNone/>
            </a:pPr>
            <a:r>
              <a:rPr lang="en-US" dirty="0"/>
              <a:t>For example, if the path had the values in the figure below, our chosen path wouldn't be the best.</a:t>
            </a:r>
          </a:p>
          <a:p>
            <a:pPr marL="0" indent="0">
              <a:buNone/>
            </a:pPr>
            <a:endParaRPr lang="en-US" dirty="0"/>
          </a:p>
        </p:txBody>
      </p:sp>
      <p:pic>
        <p:nvPicPr>
          <p:cNvPr id="8" name="Content Placeholder 7" descr="A screenshot of a game&#10;&#10;AI-generated content may be incorrect.">
            <a:extLst>
              <a:ext uri="{FF2B5EF4-FFF2-40B4-BE49-F238E27FC236}">
                <a16:creationId xmlns:a16="http://schemas.microsoft.com/office/drawing/2014/main" id="{3024B769-CB63-B44B-4B3B-303681794178}"/>
              </a:ext>
            </a:extLst>
          </p:cNvPr>
          <p:cNvPicPr>
            <a:picLocks noGrp="1" noChangeAspect="1"/>
          </p:cNvPicPr>
          <p:nvPr>
            <p:ph sz="half" idx="2"/>
          </p:nvPr>
        </p:nvPicPr>
        <p:blipFill>
          <a:blip r:embed="rId2"/>
          <a:srcRect l="16563" t="8374" r="17350" b="12083"/>
          <a:stretch/>
        </p:blipFill>
        <p:spPr>
          <a:xfrm>
            <a:off x="6782183" y="2355926"/>
            <a:ext cx="3666789" cy="3050249"/>
          </a:xfrm>
        </p:spPr>
      </p:pic>
      <p:sp>
        <p:nvSpPr>
          <p:cNvPr id="10" name="TextBox 9">
            <a:extLst>
              <a:ext uri="{FF2B5EF4-FFF2-40B4-BE49-F238E27FC236}">
                <a16:creationId xmlns:a16="http://schemas.microsoft.com/office/drawing/2014/main" id="{F9FB4A66-4785-2C78-ACA5-C5DF898A22FF}"/>
              </a:ext>
            </a:extLst>
          </p:cNvPr>
          <p:cNvSpPr txBox="1"/>
          <p:nvPr/>
        </p:nvSpPr>
        <p:spPr>
          <a:xfrm>
            <a:off x="7216368" y="5590401"/>
            <a:ext cx="6095256" cy="276999"/>
          </a:xfrm>
          <a:prstGeom prst="rect">
            <a:avLst/>
          </a:prstGeom>
          <a:noFill/>
        </p:spPr>
        <p:txBody>
          <a:bodyPr wrap="square">
            <a:spAutoFit/>
          </a:bodyPr>
          <a:lstStyle/>
          <a:p>
            <a:r>
              <a:rPr lang="en-US" sz="1200" i="1" dirty="0"/>
              <a:t>Figure: Greedy Solution isn't Always Optimal</a:t>
            </a:r>
          </a:p>
        </p:txBody>
      </p:sp>
    </p:spTree>
    <p:extLst>
      <p:ext uri="{BB962C8B-B14F-4D97-AF65-F5344CB8AC3E}">
        <p14:creationId xmlns:p14="http://schemas.microsoft.com/office/powerpoint/2010/main" val="3861954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9BD01-12BF-B815-B706-A14EAFE92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7A247-9605-7021-9CE4-526BF05D46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24E849-C887-C162-9F22-7504EDA52013}"/>
              </a:ext>
            </a:extLst>
          </p:cNvPr>
          <p:cNvSpPr>
            <a:spLocks noGrp="1"/>
          </p:cNvSpPr>
          <p:nvPr>
            <p:ph sz="half" idx="1"/>
          </p:nvPr>
        </p:nvSpPr>
        <p:spPr/>
        <p:txBody>
          <a:bodyPr>
            <a:normAutofit/>
          </a:bodyPr>
          <a:lstStyle/>
          <a:p>
            <a:pPr marL="0" indent="0">
              <a:buNone/>
            </a:pPr>
            <a:r>
              <a:rPr lang="en-US" dirty="0"/>
              <a:t>Here </a:t>
            </a:r>
            <a:r>
              <a:rPr lang="en-US" b="1" dirty="0"/>
              <a:t>Path1</a:t>
            </a:r>
            <a:r>
              <a:rPr lang="en-US" dirty="0"/>
              <a:t> only gives you 75 points whereas </a:t>
            </a:r>
            <a:r>
              <a:rPr lang="en-US" b="1" dirty="0"/>
              <a:t>Path</a:t>
            </a:r>
            <a:r>
              <a:rPr lang="en-US" dirty="0"/>
              <a:t> </a:t>
            </a:r>
            <a:r>
              <a:rPr lang="en-US" b="1" dirty="0"/>
              <a:t>4</a:t>
            </a:r>
            <a:r>
              <a:rPr lang="en-US" dirty="0"/>
              <a:t> could have given you </a:t>
            </a:r>
            <a:r>
              <a:rPr lang="en-US" b="1" dirty="0"/>
              <a:t>105</a:t>
            </a:r>
            <a:r>
              <a:rPr lang="en-US" dirty="0"/>
              <a:t> points, and </a:t>
            </a:r>
            <a:r>
              <a:rPr lang="en-US" b="1" dirty="0"/>
              <a:t>Path 3</a:t>
            </a:r>
            <a:r>
              <a:rPr lang="en-US" dirty="0"/>
              <a:t> could have given you </a:t>
            </a:r>
            <a:r>
              <a:rPr lang="en-US" b="1" dirty="0"/>
              <a:t>80</a:t>
            </a:r>
            <a:r>
              <a:rPr lang="en-US" dirty="0"/>
              <a:t> points.</a:t>
            </a:r>
          </a:p>
          <a:p>
            <a:pPr marL="0" indent="0">
              <a:buNone/>
            </a:pPr>
            <a:r>
              <a:rPr lang="en-US" dirty="0"/>
              <a:t>Thus, this simple approach may not always get you the most points. </a:t>
            </a:r>
          </a:p>
          <a:p>
            <a:pPr marL="0" indent="0">
              <a:buNone/>
            </a:pPr>
            <a:endParaRPr lang="en-US" dirty="0"/>
          </a:p>
          <a:p>
            <a:pPr marL="0" indent="0">
              <a:buNone/>
            </a:pPr>
            <a:r>
              <a:rPr lang="en-US" b="1" dirty="0"/>
              <a:t>Note:</a:t>
            </a:r>
            <a:r>
              <a:rPr lang="en-US" dirty="0"/>
              <a:t> Greedy algorithms like this focus on the best immediate choice, not necessarily the best overall outcome.</a:t>
            </a:r>
          </a:p>
        </p:txBody>
      </p:sp>
      <p:pic>
        <p:nvPicPr>
          <p:cNvPr id="8" name="Content Placeholder 7" descr="A screenshot of a game&#10;&#10;AI-generated content may be incorrect.">
            <a:extLst>
              <a:ext uri="{FF2B5EF4-FFF2-40B4-BE49-F238E27FC236}">
                <a16:creationId xmlns:a16="http://schemas.microsoft.com/office/drawing/2014/main" id="{A45701D7-D805-0A2E-C6AF-4815C15AAD84}"/>
              </a:ext>
            </a:extLst>
          </p:cNvPr>
          <p:cNvPicPr>
            <a:picLocks noGrp="1" noChangeAspect="1"/>
          </p:cNvPicPr>
          <p:nvPr>
            <p:ph sz="half" idx="2"/>
          </p:nvPr>
        </p:nvPicPr>
        <p:blipFill>
          <a:blip r:embed="rId2"/>
          <a:srcRect l="16563" t="8374" r="17350" b="12083"/>
          <a:stretch/>
        </p:blipFill>
        <p:spPr>
          <a:xfrm>
            <a:off x="6782183" y="2355926"/>
            <a:ext cx="3666789" cy="3050249"/>
          </a:xfrm>
        </p:spPr>
      </p:pic>
      <p:sp>
        <p:nvSpPr>
          <p:cNvPr id="10" name="TextBox 9">
            <a:extLst>
              <a:ext uri="{FF2B5EF4-FFF2-40B4-BE49-F238E27FC236}">
                <a16:creationId xmlns:a16="http://schemas.microsoft.com/office/drawing/2014/main" id="{7313D84B-60E4-CBE4-7E1E-9EEBB888AA6B}"/>
              </a:ext>
            </a:extLst>
          </p:cNvPr>
          <p:cNvSpPr txBox="1"/>
          <p:nvPr/>
        </p:nvSpPr>
        <p:spPr>
          <a:xfrm>
            <a:off x="7216368" y="5590401"/>
            <a:ext cx="6095256" cy="276999"/>
          </a:xfrm>
          <a:prstGeom prst="rect">
            <a:avLst/>
          </a:prstGeom>
          <a:noFill/>
        </p:spPr>
        <p:txBody>
          <a:bodyPr wrap="square">
            <a:spAutoFit/>
          </a:bodyPr>
          <a:lstStyle/>
          <a:p>
            <a:r>
              <a:rPr lang="en-US" sz="1200" i="1" dirty="0"/>
              <a:t>Figure: Greedy Solution isn't Always Optimal</a:t>
            </a:r>
          </a:p>
        </p:txBody>
      </p:sp>
    </p:spTree>
    <p:extLst>
      <p:ext uri="{BB962C8B-B14F-4D97-AF65-F5344CB8AC3E}">
        <p14:creationId xmlns:p14="http://schemas.microsoft.com/office/powerpoint/2010/main" val="1698281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7C0F4-552C-CBE3-2025-0DF17F31582D}"/>
              </a:ext>
            </a:extLst>
          </p:cNvPr>
          <p:cNvSpPr>
            <a:spLocks noGrp="1"/>
          </p:cNvSpPr>
          <p:nvPr>
            <p:ph type="title"/>
          </p:nvPr>
        </p:nvSpPr>
        <p:spPr/>
        <p:txBody>
          <a:bodyPr/>
          <a:lstStyle/>
          <a:p>
            <a:r>
              <a:rPr lang="en-US" dirty="0"/>
              <a:t>Principles of Greedy Algorithms</a:t>
            </a:r>
          </a:p>
        </p:txBody>
      </p:sp>
      <p:sp>
        <p:nvSpPr>
          <p:cNvPr id="6" name="Content Placeholder 5">
            <a:extLst>
              <a:ext uri="{FF2B5EF4-FFF2-40B4-BE49-F238E27FC236}">
                <a16:creationId xmlns:a16="http://schemas.microsoft.com/office/drawing/2014/main" id="{117948C3-4FFF-960A-B9C8-E676D9297D39}"/>
              </a:ext>
            </a:extLst>
          </p:cNvPr>
          <p:cNvSpPr>
            <a:spLocks noGrp="1"/>
          </p:cNvSpPr>
          <p:nvPr>
            <p:ph idx="1"/>
          </p:nvPr>
        </p:nvSpPr>
        <p:spPr/>
        <p:txBody>
          <a:bodyPr/>
          <a:lstStyle/>
          <a:p>
            <a:pPr marL="0" indent="0">
              <a:buNone/>
            </a:pPr>
            <a:r>
              <a:rPr lang="en-US" dirty="0"/>
              <a:t>There are three things to note about greedy algorithms:</a:t>
            </a:r>
          </a:p>
          <a:p>
            <a:pPr>
              <a:buFont typeface="+mj-lt"/>
              <a:buAutoNum type="arabicPeriod"/>
            </a:pPr>
            <a:r>
              <a:rPr lang="en-US" b="1" dirty="0"/>
              <a:t>Short-Sighted:</a:t>
            </a:r>
            <a:r>
              <a:rPr lang="en-US" dirty="0"/>
              <a:t> Greedy algorithms choose the best option at the moment without thinking about the consequences in the future. </a:t>
            </a:r>
          </a:p>
          <a:p>
            <a:pPr>
              <a:buFont typeface="+mj-lt"/>
              <a:buAutoNum type="arabicPeriod"/>
            </a:pPr>
            <a:r>
              <a:rPr lang="en-US" b="1" dirty="0"/>
              <a:t>No Looking Back</a:t>
            </a:r>
            <a:r>
              <a:rPr lang="en-US" dirty="0"/>
              <a:t>: Once a decision is made, greedy algorithms don't change their minds, even if it proves to be a suboptimal choice in the end. </a:t>
            </a:r>
          </a:p>
          <a:p>
            <a:pPr>
              <a:buFont typeface="+mj-lt"/>
              <a:buAutoNum type="arabicPeriod"/>
            </a:pPr>
            <a:r>
              <a:rPr lang="en-US" b="1" dirty="0"/>
              <a:t>Iterative Approach</a:t>
            </a:r>
            <a:r>
              <a:rPr lang="en-US" dirty="0"/>
              <a:t>: Greedy algorithms solve problems step by step, always choosing what looks best right now.</a:t>
            </a:r>
          </a:p>
          <a:p>
            <a:pPr marL="0" indent="0">
              <a:buNone/>
            </a:pPr>
            <a:endParaRPr lang="en-US" dirty="0"/>
          </a:p>
        </p:txBody>
      </p:sp>
    </p:spTree>
    <p:extLst>
      <p:ext uri="{BB962C8B-B14F-4D97-AF65-F5344CB8AC3E}">
        <p14:creationId xmlns:p14="http://schemas.microsoft.com/office/powerpoint/2010/main" val="2987584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5789-39A7-F506-C43F-1645A1939D6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4FEF74E-8A0E-9945-8F30-C14089FE621F}"/>
              </a:ext>
            </a:extLst>
          </p:cNvPr>
          <p:cNvPicPr>
            <a:picLocks noGrp="1" noChangeAspect="1"/>
          </p:cNvPicPr>
          <p:nvPr>
            <p:ph idx="1"/>
          </p:nvPr>
        </p:nvPicPr>
        <p:blipFill>
          <a:blip r:embed="rId2"/>
          <a:stretch>
            <a:fillRect/>
          </a:stretch>
        </p:blipFill>
        <p:spPr>
          <a:xfrm>
            <a:off x="2404336" y="592130"/>
            <a:ext cx="8184141" cy="5181600"/>
          </a:xfrm>
        </p:spPr>
      </p:pic>
    </p:spTree>
    <p:extLst>
      <p:ext uri="{BB962C8B-B14F-4D97-AF65-F5344CB8AC3E}">
        <p14:creationId xmlns:p14="http://schemas.microsoft.com/office/powerpoint/2010/main" val="2814355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A271A-A3D5-B7CE-8E6D-C851AC330C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B5B39E-F9BF-30BB-0481-D36E044E57D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82EC5AA-D160-494B-71CC-1B20ED3E5D03}"/>
              </a:ext>
            </a:extLst>
          </p:cNvPr>
          <p:cNvPicPr>
            <a:picLocks noChangeAspect="1"/>
          </p:cNvPicPr>
          <p:nvPr/>
        </p:nvPicPr>
        <p:blipFill>
          <a:blip r:embed="rId2"/>
          <a:stretch>
            <a:fillRect/>
          </a:stretch>
        </p:blipFill>
        <p:spPr>
          <a:xfrm>
            <a:off x="2309537" y="200488"/>
            <a:ext cx="7800971" cy="6204772"/>
          </a:xfrm>
          <a:prstGeom prst="rect">
            <a:avLst/>
          </a:prstGeom>
        </p:spPr>
      </p:pic>
    </p:spTree>
    <p:extLst>
      <p:ext uri="{BB962C8B-B14F-4D97-AF65-F5344CB8AC3E}">
        <p14:creationId xmlns:p14="http://schemas.microsoft.com/office/powerpoint/2010/main" val="2953042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2B45-AD08-39CD-45E1-7FCDE04C28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8B63E3-6525-9360-D11B-631655BA959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462ED03-D13A-5BF0-2184-F8902EA31068}"/>
              </a:ext>
            </a:extLst>
          </p:cNvPr>
          <p:cNvPicPr>
            <a:picLocks noChangeAspect="1"/>
          </p:cNvPicPr>
          <p:nvPr/>
        </p:nvPicPr>
        <p:blipFill>
          <a:blip r:embed="rId2"/>
          <a:stretch>
            <a:fillRect/>
          </a:stretch>
        </p:blipFill>
        <p:spPr>
          <a:xfrm>
            <a:off x="2528132" y="126336"/>
            <a:ext cx="7135735" cy="6396448"/>
          </a:xfrm>
          <a:prstGeom prst="rect">
            <a:avLst/>
          </a:prstGeom>
        </p:spPr>
      </p:pic>
    </p:spTree>
    <p:extLst>
      <p:ext uri="{BB962C8B-B14F-4D97-AF65-F5344CB8AC3E}">
        <p14:creationId xmlns:p14="http://schemas.microsoft.com/office/powerpoint/2010/main" val="3050268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D1835-86D7-0365-4666-02D76FCE715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7011FE8-9630-13C9-A41F-45883AE43CC7}"/>
              </a:ext>
            </a:extLst>
          </p:cNvPr>
          <p:cNvPicPr>
            <a:picLocks noGrp="1" noChangeAspect="1"/>
          </p:cNvPicPr>
          <p:nvPr>
            <p:ph idx="1"/>
          </p:nvPr>
        </p:nvPicPr>
        <p:blipFill>
          <a:blip r:embed="rId2"/>
          <a:stretch>
            <a:fillRect/>
          </a:stretch>
        </p:blipFill>
        <p:spPr>
          <a:xfrm>
            <a:off x="3635298" y="408134"/>
            <a:ext cx="5769420" cy="6214593"/>
          </a:xfrm>
        </p:spPr>
      </p:pic>
    </p:spTree>
    <p:extLst>
      <p:ext uri="{BB962C8B-B14F-4D97-AF65-F5344CB8AC3E}">
        <p14:creationId xmlns:p14="http://schemas.microsoft.com/office/powerpoint/2010/main" val="13175948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67466-2A52-A141-3F7C-8A1A802D4A4D}"/>
              </a:ext>
            </a:extLst>
          </p:cNvPr>
          <p:cNvSpPr>
            <a:spLocks noGrp="1"/>
          </p:cNvSpPr>
          <p:nvPr>
            <p:ph type="title"/>
          </p:nvPr>
        </p:nvSpPr>
        <p:spPr/>
        <p:txBody>
          <a:bodyPr/>
          <a:lstStyle/>
          <a:p>
            <a:r>
              <a:rPr lang="en-US" dirty="0"/>
              <a:t>D&amp;C vs. DP vs. </a:t>
            </a:r>
            <a:r>
              <a:rPr lang="en-US"/>
              <a:t>GREEDY</a:t>
            </a:r>
          </a:p>
        </p:txBody>
      </p:sp>
      <p:sp>
        <p:nvSpPr>
          <p:cNvPr id="3" name="Content Placeholder 2">
            <a:extLst>
              <a:ext uri="{FF2B5EF4-FFF2-40B4-BE49-F238E27FC236}">
                <a16:creationId xmlns:a16="http://schemas.microsoft.com/office/drawing/2014/main" id="{4E6DE178-AAD3-5A0D-4D26-E1E75EDDCBF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6DF33C3-C2E7-D87A-64DF-B58556F335BE}"/>
              </a:ext>
            </a:extLst>
          </p:cNvPr>
          <p:cNvPicPr>
            <a:picLocks noChangeAspect="1"/>
          </p:cNvPicPr>
          <p:nvPr/>
        </p:nvPicPr>
        <p:blipFill>
          <a:blip r:embed="rId2"/>
          <a:stretch>
            <a:fillRect/>
          </a:stretch>
        </p:blipFill>
        <p:spPr>
          <a:xfrm>
            <a:off x="1219200" y="1835744"/>
            <a:ext cx="10180320" cy="4649439"/>
          </a:xfrm>
          <a:prstGeom prst="rect">
            <a:avLst/>
          </a:prstGeom>
        </p:spPr>
      </p:pic>
    </p:spTree>
    <p:extLst>
      <p:ext uri="{BB962C8B-B14F-4D97-AF65-F5344CB8AC3E}">
        <p14:creationId xmlns:p14="http://schemas.microsoft.com/office/powerpoint/2010/main" val="2069899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38AC-3B39-DABA-5280-22F1A16AEC5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A064069-F49B-1F63-A100-E97D29A0DE62}"/>
              </a:ext>
            </a:extLst>
          </p:cNvPr>
          <p:cNvSpPr>
            <a:spLocks noGrp="1"/>
          </p:cNvSpPr>
          <p:nvPr>
            <p:ph idx="1"/>
          </p:nvPr>
        </p:nvSpPr>
        <p:spPr/>
        <p:txBody>
          <a:bodyPr/>
          <a:lstStyle/>
          <a:p>
            <a:r>
              <a:rPr lang="en-US" dirty="0">
                <a:hlinkClick r:id="rId2"/>
              </a:rPr>
              <a:t>https://www.programiz.com/dsa/divide-and-conquer</a:t>
            </a:r>
          </a:p>
          <a:p>
            <a:r>
              <a:rPr lang="en-US" dirty="0">
                <a:hlinkClick r:id="rId2"/>
              </a:rPr>
              <a:t>https://www.programiz.com/dsa/dynamic-programming</a:t>
            </a:r>
            <a:endParaRPr lang="en-US" dirty="0"/>
          </a:p>
          <a:p>
            <a:r>
              <a:rPr lang="en-US" dirty="0">
                <a:hlinkClick r:id="rId3"/>
              </a:rPr>
              <a:t>https://www.programiz.com/dsa/greedy-algorithm</a:t>
            </a:r>
            <a:endParaRPr lang="en-US" dirty="0"/>
          </a:p>
          <a:p>
            <a:r>
              <a:rPr lang="en-US" dirty="0">
                <a:hlinkClick r:id="rId4"/>
              </a:rPr>
              <a:t>https://www.geeksforgeeks.org/comparison-among-greedy-divide-and-conquer-and-dynamic-programming-algorithm/</a:t>
            </a:r>
            <a:endParaRPr lang="en-US" dirty="0"/>
          </a:p>
          <a:p>
            <a:endParaRPr lang="en-US" dirty="0"/>
          </a:p>
        </p:txBody>
      </p:sp>
    </p:spTree>
    <p:extLst>
      <p:ext uri="{BB962C8B-B14F-4D97-AF65-F5344CB8AC3E}">
        <p14:creationId xmlns:p14="http://schemas.microsoft.com/office/powerpoint/2010/main" val="2946312718"/>
      </p:ext>
    </p:extLst>
  </p:cSld>
  <p:clrMapOvr>
    <a:masterClrMapping/>
  </p:clrMapOvr>
</p:sld>
</file>

<file path=ppt/theme/theme1.xml><?xml version="1.0" encoding="utf-8"?>
<a:theme xmlns:a="http://schemas.openxmlformats.org/drawingml/2006/main" name="Crop">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97</TotalTime>
  <Words>1263</Words>
  <Application>Microsoft Office PowerPoint</Application>
  <PresentationFormat>Widescreen</PresentationFormat>
  <Paragraphs>107</Paragraphs>
  <Slides>32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Arial</vt:lpstr>
      <vt:lpstr>Franklin Gothic Book</vt:lpstr>
      <vt:lpstr>Crop</vt:lpstr>
      <vt:lpstr>Algorithmic Paradigms: Mastering D&amp;C, DP &amp; Greedy Strategies</vt:lpstr>
      <vt:lpstr>Divide and Conquer Algorithm </vt:lpstr>
      <vt:lpstr>How Divide and Conquer Algorithms Work?</vt:lpstr>
      <vt:lpstr>Merger Sort Example</vt:lpstr>
      <vt:lpstr>Merger Sort Example…</vt:lpstr>
      <vt:lpstr>What is Dynamic Programming?</vt:lpstr>
      <vt:lpstr>Why Dynamic Programming? </vt:lpstr>
      <vt:lpstr>PowerPoint Presentation</vt:lpstr>
      <vt:lpstr>PowerPoint Presentation</vt:lpstr>
      <vt:lpstr>Overlapping Subproblems Property </vt:lpstr>
      <vt:lpstr>Optimal Substructure Property</vt:lpstr>
      <vt:lpstr>PowerPoint Presentation</vt:lpstr>
      <vt:lpstr>PowerPoint Presentation</vt:lpstr>
      <vt:lpstr>PowerPoint Presentation</vt:lpstr>
      <vt:lpstr>PowerPoint Presentation</vt:lpstr>
      <vt:lpstr>Pros and Cons of the Optimized Approach </vt:lpstr>
      <vt:lpstr>PowerPoint Presentation</vt:lpstr>
      <vt:lpstr>PowerPoint Presentation</vt:lpstr>
      <vt:lpstr>Optimization Problems</vt:lpstr>
      <vt:lpstr>THE GREEDY PARADIGM</vt:lpstr>
      <vt:lpstr>Greedy Algorithm </vt:lpstr>
      <vt:lpstr>Greedy Algorithm Example</vt:lpstr>
      <vt:lpstr>PowerPoint Presentation</vt:lpstr>
      <vt:lpstr>PowerPoint Presentation</vt:lpstr>
      <vt:lpstr>PowerPoint Presentation</vt:lpstr>
      <vt:lpstr>Principles of Greedy Algorithms</vt:lpstr>
      <vt:lpstr>PowerPoint Presentation</vt:lpstr>
      <vt:lpstr>PowerPoint Presentation</vt:lpstr>
      <vt:lpstr>PowerPoint Presentation</vt:lpstr>
      <vt:lpstr>PowerPoint Presentation</vt:lpstr>
      <vt:lpstr>D&amp;C vs. DP vs. GREEDY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Zohaib ALI</dc:creator>
  <cp:lastModifiedBy>Zohaib ALI</cp:lastModifiedBy>
  <cp:revision>2</cp:revision>
  <dcterms:created xsi:type="dcterms:W3CDTF">2025-03-06T17:44:50Z</dcterms:created>
  <dcterms:modified xsi:type="dcterms:W3CDTF">2025-03-06T19:24:30Z</dcterms:modified>
</cp:coreProperties>
</file>